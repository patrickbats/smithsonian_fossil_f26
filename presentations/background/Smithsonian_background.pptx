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SAY:</a:t>
            </a:r>
          </a:p>
          <a:p>
            <a:r>
              <a:t>Pollen can survive as a fossil long after the plant itself is gone. By identifying it, researchers can work out what kinds of plants lived in an area and learn about past environments. Our project focuses on North American vegetation from about fifty million years ago. The challenge is that microscope slides contain lots of tiny specimens, and identifying them by hand takes expert time. We want to use machine learning to help with that process.</a:t>
            </a:r>
          </a:p>
          <a:p/>
          <a:p>
            <a:r>
              <a:t>SOURCE / PRESENTER CONTEXT (not spoken):</a:t>
            </a:r>
          </a:p>
          <a:p>
            <a:r>
              <a:t>Scientific motivation from the supplied sponsor presentation and initial report. Image: expert-labeled Platycarya platycarioides focus-stacked crop from the project dataset; not a model prediction.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BACKGROUND</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Tiny fossils help us understand ancient environments</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PROJECT BACKGROUND</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1</a:t>
            </a:r>
          </a:p>
        </p:txBody>
      </p:sp>
      <p:sp>
        <p:nvSpPr>
          <p:cNvPr id="9" name="TextBox 8"/>
          <p:cNvSpPr txBox="1"/>
          <p:nvPr/>
        </p:nvSpPr>
        <p:spPr>
          <a:xfrm>
            <a:off x="457200" y="1841500"/>
            <a:ext cx="5994400" cy="995679"/>
          </a:xfrm>
          <a:prstGeom prst="rect">
            <a:avLst/>
          </a:prstGeom>
          <a:noFill/>
        </p:spPr>
        <p:txBody>
          <a:bodyPr wrap="none" lIns="0" rIns="0" tIns="0" bIns="0">
            <a:spAutoFit/>
          </a:bodyPr>
          <a:lstStyle/>
          <a:p>
            <a:pPr>
              <a:lnSpc>
                <a:spcPts val="3719"/>
              </a:lnSpc>
              <a:spcAft>
                <a:spcPts val="0"/>
              </a:spcAft>
              <a:defRPr sz="3100" b="1">
                <a:solidFill>
                  <a:srgbClr val="202D48"/>
                </a:solidFill>
                <a:latin typeface="Lato"/>
              </a:defRPr>
            </a:pPr>
            <a:r>
              <a:t>Pollen preserves a record</a:t>
            </a:r>
          </a:p>
          <a:p>
            <a:pPr>
              <a:lnSpc>
                <a:spcPts val="3719"/>
              </a:lnSpc>
              <a:spcAft>
                <a:spcPts val="0"/>
              </a:spcAft>
              <a:defRPr sz="3100" b="1">
                <a:solidFill>
                  <a:srgbClr val="202D48"/>
                </a:solidFill>
                <a:latin typeface="Lato"/>
              </a:defRPr>
            </a:pPr>
            <a:r>
              <a:t>of past plant life.</a:t>
            </a:r>
          </a:p>
        </p:txBody>
      </p:sp>
      <p:sp>
        <p:nvSpPr>
          <p:cNvPr id="10" name="TextBox 9"/>
          <p:cNvSpPr txBox="1"/>
          <p:nvPr/>
        </p:nvSpPr>
        <p:spPr>
          <a:xfrm>
            <a:off x="457200" y="3238500"/>
            <a:ext cx="5842000" cy="1102360"/>
          </a:xfrm>
          <a:prstGeom prst="rect">
            <a:avLst/>
          </a:prstGeom>
          <a:noFill/>
        </p:spPr>
        <p:txBody>
          <a:bodyPr wrap="none" lIns="0" rIns="0" tIns="0" bIns="0">
            <a:spAutoFit/>
          </a:bodyPr>
          <a:lstStyle/>
          <a:p>
            <a:pPr>
              <a:lnSpc>
                <a:spcPts val="2760"/>
              </a:lnSpc>
              <a:spcAft>
                <a:spcPts val="0"/>
              </a:spcAft>
              <a:defRPr sz="2300" b="0">
                <a:solidFill>
                  <a:srgbClr val="596477"/>
                </a:solidFill>
                <a:latin typeface="Lato"/>
              </a:defRPr>
            </a:pPr>
            <a:r>
              <a:t>Smithsonian researchers study North</a:t>
            </a:r>
          </a:p>
          <a:p>
            <a:pPr>
              <a:lnSpc>
                <a:spcPts val="2760"/>
              </a:lnSpc>
              <a:spcAft>
                <a:spcPts val="0"/>
              </a:spcAft>
              <a:defRPr sz="2300" b="0">
                <a:solidFill>
                  <a:srgbClr val="596477"/>
                </a:solidFill>
                <a:latin typeface="Lato"/>
              </a:defRPr>
            </a:pPr>
            <a:r>
              <a:t>American vegetation from about 50 million</a:t>
            </a:r>
          </a:p>
          <a:p>
            <a:pPr>
              <a:lnSpc>
                <a:spcPts val="2760"/>
              </a:lnSpc>
              <a:spcAft>
                <a:spcPts val="0"/>
              </a:spcAft>
              <a:defRPr sz="2300" b="0">
                <a:solidFill>
                  <a:srgbClr val="596477"/>
                </a:solidFill>
                <a:latin typeface="Lato"/>
              </a:defRPr>
            </a:pPr>
            <a:r>
              <a:t>years ago.</a:t>
            </a:r>
          </a:p>
        </p:txBody>
      </p:sp>
      <p:sp>
        <p:nvSpPr>
          <p:cNvPr id="11" name="TextBox 10"/>
          <p:cNvSpPr txBox="1"/>
          <p:nvPr/>
        </p:nvSpPr>
        <p:spPr>
          <a:xfrm>
            <a:off x="457200" y="4559300"/>
            <a:ext cx="5842000" cy="751840"/>
          </a:xfrm>
          <a:prstGeom prst="rect">
            <a:avLst/>
          </a:prstGeom>
          <a:noFill/>
        </p:spPr>
        <p:txBody>
          <a:bodyPr wrap="none" lIns="0" rIns="0" tIns="0" bIns="0">
            <a:spAutoFit/>
          </a:bodyPr>
          <a:lstStyle/>
          <a:p>
            <a:pPr>
              <a:lnSpc>
                <a:spcPts val="2760"/>
              </a:lnSpc>
              <a:spcAft>
                <a:spcPts val="0"/>
              </a:spcAft>
              <a:defRPr sz="2300" b="1">
                <a:solidFill>
                  <a:srgbClr val="202D48"/>
                </a:solidFill>
                <a:latin typeface="Lato"/>
              </a:defRPr>
            </a:pPr>
            <a:r>
              <a:t>Identifying thousands of specimens by hand</a:t>
            </a:r>
          </a:p>
          <a:p>
            <a:pPr>
              <a:lnSpc>
                <a:spcPts val="2760"/>
              </a:lnSpc>
              <a:spcAft>
                <a:spcPts val="0"/>
              </a:spcAft>
              <a:defRPr sz="2300" b="1">
                <a:solidFill>
                  <a:srgbClr val="202D48"/>
                </a:solidFill>
                <a:latin typeface="Lato"/>
              </a:defRPr>
            </a:pPr>
            <a:r>
              <a:t>takes expert time.</a:t>
            </a:r>
          </a:p>
        </p:txBody>
      </p:sp>
      <p:pic>
        <p:nvPicPr>
          <p:cNvPr id="12" name="Picture 11" descr="shard_0_target_008_crop.png"/>
          <p:cNvPicPr>
            <a:picLocks noChangeAspect="1"/>
          </p:cNvPicPr>
          <p:nvPr/>
        </p:nvPicPr>
        <p:blipFill>
          <a:blip r:embed="rId2"/>
          <a:stretch>
            <a:fillRect/>
          </a:stretch>
        </p:blipFill>
        <p:spPr>
          <a:xfrm>
            <a:off x="7429500" y="1765300"/>
            <a:ext cx="3619500" cy="3619500"/>
          </a:xfrm>
          <a:prstGeom prst="rect">
            <a:avLst/>
          </a:prstGeom>
        </p:spPr>
      </p:pic>
      <p:sp>
        <p:nvSpPr>
          <p:cNvPr id="13" name="TextBox 12"/>
          <p:cNvSpPr txBox="1"/>
          <p:nvPr/>
        </p:nvSpPr>
        <p:spPr>
          <a:xfrm>
            <a:off x="7023100" y="5511800"/>
            <a:ext cx="4699000" cy="264160"/>
          </a:xfrm>
          <a:prstGeom prst="rect">
            <a:avLst/>
          </a:prstGeom>
          <a:noFill/>
        </p:spPr>
        <p:txBody>
          <a:bodyPr wrap="none" lIns="0" rIns="0" tIns="0" bIns="0">
            <a:spAutoFit/>
          </a:bodyPr>
          <a:lstStyle/>
          <a:p>
            <a:pPr>
              <a:lnSpc>
                <a:spcPts val="1680"/>
              </a:lnSpc>
              <a:spcAft>
                <a:spcPts val="0"/>
              </a:spcAft>
              <a:defRPr sz="1400" b="0">
                <a:solidFill>
                  <a:srgbClr val="596477"/>
                </a:solidFill>
                <a:latin typeface="Lato"/>
              </a:defRPr>
            </a:pPr>
            <a:r>
              <a:t>Fossil pollen • expert-labeled specimen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