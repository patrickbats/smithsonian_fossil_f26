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64" r:id="rId18"/>
    <p:sldId id="256" r:id="rId6"/>
    <p:sldId id="257" r:id="rId7"/>
    <p:sldId id="258" r:id="rId8"/>
    <p:sldId id="259" r:id="rId9"/>
    <p:sldId id="260" r:id="rId10"/>
    <p:sldId id="261" r:id="rId11"/>
    <p:sldId id="262" r:id="rId12"/>
    <p:sldId id="263" r:id="rId13"/>
    <p:sldId id="265" r:id="rId19"/>
  </p:sldIdLst>
  <p:sldSz cy="5143500" cx="9144000"/>
  <p:notesSz cx="6858000" cy="9144000"/>
  <p:embeddedFontLst>
    <p:embeddedFont>
      <p:font typeface="La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Lato-regular.fntdata"/><Relationship Id="rId15" Type="http://schemas.openxmlformats.org/officeDocument/2006/relationships/font" Target="fonts/Lato-bold.fntdata"/><Relationship Id="rId16" Type="http://schemas.openxmlformats.org/officeDocument/2006/relationships/font" Target="fonts/Lato-italic.fntdata"/><Relationship Id="rId17" Type="http://schemas.openxmlformats.org/officeDocument/2006/relationships/font" Target="fonts/Lato-boldItalic.fntdata"/><Relationship Id="rId18" Type="http://schemas.openxmlformats.org/officeDocument/2006/relationships/slide" Target="slides/slide9.xml"/><Relationship Id="rId19"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7d84c1533fb0bfa7_16_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h7d84c1533fb0bfa7_16_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1</a:t>
            </a:r>
          </a:p>
          <a:p/>
          <a:p>
            <a:r>
              <a:t>SAY:</a:t>
            </a:r>
          </a:p>
          <a:p>
            <a:r>
              <a:t>Fossil pollen gives us clues about which plants lived in the past. Smithsonian researchers use it to understand North American vegetation about fifty million years ago. The challenge is that identifying these tiny specimens takes expert time. The previous Rice team developed a detector that finds specimens. We want to build on that by identifying their categories.</a:t>
            </a:r>
          </a:p>
        </p:txBody>
      </p:sp>
      <p:sp>
        <p:nvSpPr>
          <p:cNvPr id="84" name="Google Shape;84;h7d84c1533fb0bfa7_16_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7d84c1533fb0bfa7_16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h7d84c1533fb0bfa7_16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25 seconds | PRESENTER 2</a:t>
            </a:r>
          </a:p>
          <a:p/>
          <a:p>
            <a:r>
              <a:t>SAY:</a:t>
            </a:r>
          </a:p>
          <a:p>
            <a:r>
              <a:t>This shows the difference between finding a specimen and identifying it. On the left, the box marks one pollen grain in a crowded microscope image. On the right, we can inspect its shape and surface details. Detection asks, where is it? Classification asks, what kind is it? Our project connects those two tasks.</a:t>
            </a:r>
          </a:p>
        </p:txBody>
      </p:sp>
      <p:sp>
        <p:nvSpPr>
          <p:cNvPr id="111" name="Google Shape;111;h7d84c1533fb0bfa7_16_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5120ca0066a62b66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h5120ca0066a62b66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25 seconds | PRESENTER 2</a:t>
            </a:r>
          </a:p>
          <a:p/>
          <a:p>
            <a:r>
              <a:t>SAY:</a:t>
            </a:r>
          </a:p>
          <a:p>
            <a:r>
              <a:t>These studies give us two foundations. Punyasena and Martinsen locate specimens and then classify individual crops. Abbas Shaikh and colleagues developed a pipeline for detecting specimens across large, multifocal slides. We want to build on that detection work and add category identification, comparing separate and combined approaches.</a:t>
            </a:r>
          </a:p>
        </p:txBody>
      </p:sp>
      <p:sp>
        <p:nvSpPr>
          <p:cNvPr id="124" name="Google Shape;124;h5120ca0066a62b66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7d84c1533fb0bfa7_6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h7d84c1533fb0bfa7_6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20 seconds | PRESENTER 3</a:t>
            </a:r>
          </a:p>
          <a:p/>
          <a:p>
            <a:r>
              <a:t>SAY:</a:t>
            </a:r>
          </a:p>
          <a:p>
            <a:r>
              <a:t>The images also capture different focal depths. Here, the same specimen appears across twenty-five focal planes, and this example’s full scan is about thirty gigabytes. We’ll work with smaller image regions and use the focal views to make the specimen’s details easier to see.</a:t>
            </a:r>
          </a:p>
        </p:txBody>
      </p:sp>
      <p:sp>
        <p:nvSpPr>
          <p:cNvPr id="145" name="Google Shape;145;h7d84c1533fb0bfa7_6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7d84c1533fb0bfa7_7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h7d84c1533fb0bfa7_7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3</a:t>
            </a:r>
          </a:p>
          <a:p/>
          <a:p>
            <a:r>
              <a:t>SAY:</a:t>
            </a:r>
          </a:p>
          <a:p>
            <a:r>
              <a:t>Our collection has eighty-three microscope images paired with expert annotations. We’re starting with thirty-two priority categories containing two thousand two hundred ninety annotations. The chart shows that some categories have many more examples than others. That matters because categories with fewer examples can be harder to learn. We’ll account for that when training and evaluating the models.</a:t>
            </a:r>
          </a:p>
        </p:txBody>
      </p:sp>
      <p:sp>
        <p:nvSpPr>
          <p:cNvPr id="161" name="Google Shape;161;h7d84c1533fb0bfa7_7_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7d84c1533fb0bfa7_7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7d84c1533fb0bfa7_7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30 seconds | PRESENTER 4</a:t>
            </a:r>
          </a:p>
          <a:p/>
          <a:p>
            <a:r>
              <a:t>SAY:</a:t>
            </a:r>
          </a:p>
          <a:p>
            <a:r>
              <a:t>First, we organize the examples. Each microscope image is matched with its annotation file, which gives us specimen locations and expert labels. We connect those labels to the categories we want to recognize. Then we check that the marks point to the right specimens and look for missing labels or duplicates. This keeps each example linked to its source.</a:t>
            </a:r>
          </a:p>
        </p:txBody>
      </p:sp>
      <p:sp>
        <p:nvSpPr>
          <p:cNvPr id="175" name="Google Shape;175;h7d84c1533fb0bfa7_7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7d84c1533fb0bfa7_6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h7d84c1533fb0bfa7_6_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35 seconds | PRESENTER 4</a:t>
            </a:r>
          </a:p>
          <a:p/>
          <a:p>
            <a:r>
              <a:t>SAY:</a:t>
            </a:r>
          </a:p>
          <a:p>
            <a:r>
              <a:t>Next, we separate the data for training, validation, and testing. Examples from the same microscope slide stay together, so the test checks performance on unfamiliar slides. We then extract smaller regions and check their position and focus. Larger regions help the detector find specimens, while individual crops help the classifier identify them. Any extra image variations or category balancing are applied only to training examples.</a:t>
            </a:r>
          </a:p>
        </p:txBody>
      </p:sp>
      <p:sp>
        <p:nvSpPr>
          <p:cNvPr id="203" name="Google Shape;203;h7d84c1533fb0bfa7_6_10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d84c1533fb0bfa7_14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h7d84c1533fb0bfa7_1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TARGET: 50 seconds | PRESENTER 5</a:t>
            </a:r>
          </a:p>
          <a:p/>
          <a:p>
            <a:r>
              <a:t>SAY:</a:t>
            </a:r>
          </a:p>
          <a:p>
            <a:r>
              <a:t>We’ll compare two approaches. The first uses RF-DETR to find each specimen and predict its category at the same time. The second uses RF-DETR just to find specimens. We then crop each specimen and pass it to Swin-Tiny, a separate classifier. This comparison helps us see whether identifying specimens separately works better than doing both tasks together. We’ll check whether the models find the right locations and assign the right categories, including categories with fewer examples. These are our proposed approaches; training and evaluation are the next steps.</a:t>
            </a:r>
          </a:p>
        </p:txBody>
      </p:sp>
      <p:sp>
        <p:nvSpPr>
          <p:cNvPr id="231" name="Google Shape;231;h7d84c1533fb0bfa7_14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TARGET: 10 seconds | PRESENTER 1</a:t>
            </a:r>
          </a:p>
          <a:p/>
          <a:p>
            <a:r>
              <a:t>SAY:</a:t>
            </a:r>
          </a:p>
          <a:p>
            <a:r>
              <a:t>Hi everyone. We’re the Rice D2K Smithsonian team. Our project is about helping researchers identify fossil pollen using machine learning.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TARGET: 25 seconds | PRESENTER 5</a:t>
            </a:r>
          </a:p>
          <a:p/>
          <a:p>
            <a:r>
              <a:t>SAY:</a:t>
            </a:r>
          </a:p>
          <a:p>
            <a:r>
              <a:t>The main idea is to move from finding pollen to identifying it. Next, we’ll prepare the specimen images, train the initial models, and look closely at their mistakes. The goal is to give experts a useful starting point for identification, so they can study past vegetation more efficiently.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 name="Google Shape;13;p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 name="Google Shape;14;p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597819"/>
            <a:ext cx="5829300" cy="1102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 name="Google Shape;17;p3"/>
          <p:cNvSpPr txBox="1"/>
          <p:nvPr>
            <p:ph idx="1" type="subTitle"/>
          </p:nvPr>
        </p:nvSpPr>
        <p:spPr>
          <a:xfrm>
            <a:off x="1028700" y="2914650"/>
            <a:ext cx="4800600" cy="131460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8" name="Google Shape;18;p3"/>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3"/>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 name="Google Shape;20;p3"/>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 name="Google Shape;23;p4"/>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4" name="Google Shape;24;p4"/>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 name="Google Shape;25;p4"/>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 name="Google Shape;26;p4"/>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541735" y="3305175"/>
            <a:ext cx="5829300" cy="10215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 name="Google Shape;29;p5"/>
          <p:cNvSpPr txBox="1"/>
          <p:nvPr>
            <p:ph idx="1" type="body"/>
          </p:nvPr>
        </p:nvSpPr>
        <p:spPr>
          <a:xfrm>
            <a:off x="541735" y="2180035"/>
            <a:ext cx="5829300" cy="112500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30" name="Google Shape;30;p5"/>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 name="Google Shape;31;p5"/>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 name="Google Shape;32;p5"/>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 name="Google Shape;35;p6"/>
          <p:cNvSpPr txBox="1"/>
          <p:nvPr>
            <p:ph idx="1" type="body"/>
          </p:nvPr>
        </p:nvSpPr>
        <p:spPr>
          <a:xfrm>
            <a:off x="34290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6" name="Google Shape;36;p6"/>
          <p:cNvSpPr txBox="1"/>
          <p:nvPr>
            <p:ph idx="2" type="body"/>
          </p:nvPr>
        </p:nvSpPr>
        <p:spPr>
          <a:xfrm>
            <a:off x="3486150"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37" name="Google Shape;37;p6"/>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6"/>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 name="Google Shape;39;p6"/>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 name="Google Shape;42;p7"/>
          <p:cNvSpPr txBox="1"/>
          <p:nvPr>
            <p:ph idx="1" type="body"/>
          </p:nvPr>
        </p:nvSpPr>
        <p:spPr>
          <a:xfrm>
            <a:off x="342900" y="1151335"/>
            <a:ext cx="30300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3" name="Google Shape;43;p7"/>
          <p:cNvSpPr txBox="1"/>
          <p:nvPr>
            <p:ph idx="2" type="body"/>
          </p:nvPr>
        </p:nvSpPr>
        <p:spPr>
          <a:xfrm>
            <a:off x="342900" y="1631156"/>
            <a:ext cx="30300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4" name="Google Shape;44;p7"/>
          <p:cNvSpPr txBox="1"/>
          <p:nvPr>
            <p:ph idx="3" type="body"/>
          </p:nvPr>
        </p:nvSpPr>
        <p:spPr>
          <a:xfrm>
            <a:off x="3483769" y="1151335"/>
            <a:ext cx="3031200" cy="4797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45" name="Google Shape;45;p7"/>
          <p:cNvSpPr txBox="1"/>
          <p:nvPr>
            <p:ph idx="4" type="body"/>
          </p:nvPr>
        </p:nvSpPr>
        <p:spPr>
          <a:xfrm>
            <a:off x="3483769" y="1631156"/>
            <a:ext cx="30312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6" name="Google Shape;46;p7"/>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 name="Google Shape;47;p7"/>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7"/>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8"/>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8"/>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Google Shape;53;p8"/>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00" y="204788"/>
            <a:ext cx="2256300" cy="8715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Google Shape;56;p9"/>
          <p:cNvSpPr txBox="1"/>
          <p:nvPr>
            <p:ph idx="1" type="body"/>
          </p:nvPr>
        </p:nvSpPr>
        <p:spPr>
          <a:xfrm>
            <a:off x="2681288" y="204788"/>
            <a:ext cx="3833700" cy="4389900"/>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57" name="Google Shape;57;p9"/>
          <p:cNvSpPr txBox="1"/>
          <p:nvPr>
            <p:ph idx="2" type="body"/>
          </p:nvPr>
        </p:nvSpPr>
        <p:spPr>
          <a:xfrm>
            <a:off x="342900"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58" name="Google Shape;58;p9"/>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9"/>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9"/>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216" y="3600450"/>
            <a:ext cx="41148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0"/>
          <p:cNvSpPr/>
          <p:nvPr>
            <p:ph idx="2" type="pic"/>
          </p:nvPr>
        </p:nvSpPr>
        <p:spPr>
          <a:xfrm>
            <a:off x="1344216" y="459581"/>
            <a:ext cx="4114800" cy="3086100"/>
          </a:xfrm>
          <a:prstGeom prst="rect">
            <a:avLst/>
          </a:prstGeom>
          <a:noFill/>
          <a:ln>
            <a:noFill/>
          </a:ln>
        </p:spPr>
      </p:sp>
      <p:sp>
        <p:nvSpPr>
          <p:cNvPr id="64" name="Google Shape;64;p10"/>
          <p:cNvSpPr txBox="1"/>
          <p:nvPr>
            <p:ph idx="1" type="body"/>
          </p:nvPr>
        </p:nvSpPr>
        <p:spPr>
          <a:xfrm>
            <a:off x="1344216"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65" name="Google Shape;65;p10"/>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0"/>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0"/>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1"/>
          <p:cNvSpPr txBox="1"/>
          <p:nvPr>
            <p:ph idx="1" type="body"/>
          </p:nvPr>
        </p:nvSpPr>
        <p:spPr>
          <a:xfrm rot="5400000">
            <a:off x="1731750" y="-188700"/>
            <a:ext cx="3394500"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1" name="Google Shape;71;p1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3549300" y="1628879"/>
            <a:ext cx="4388700" cy="1542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2"/>
          <p:cNvSpPr txBox="1"/>
          <p:nvPr>
            <p:ph idx="1" type="body"/>
          </p:nvPr>
        </p:nvSpPr>
        <p:spPr>
          <a:xfrm rot="5400000">
            <a:off x="406050" y="142978"/>
            <a:ext cx="4388700" cy="45147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7" name="Google Shape;77;p12"/>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2"/>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2"/>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ba06cb1d3e1abe9_9_0)">
  <p:cSld name="Generated (h6ba06cb1d3e1abe9_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05978"/>
            <a:ext cx="6172200" cy="85740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42900" y="1200150"/>
            <a:ext cx="6172200" cy="3394500"/>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p:nvPr/>
        </p:nvSpPr>
        <p:spPr>
          <a:xfrm>
            <a:off x="0" y="0"/>
            <a:ext cx="9144000" cy="5143500"/>
          </a:xfrm>
          <a:prstGeom prst="rect">
            <a:avLst/>
          </a:prstGeom>
          <a:solidFill>
            <a:srgbClr val="F8F5E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 name="Google Shape;87;p14"/>
          <p:cNvSpPr/>
          <p:nvPr/>
        </p:nvSpPr>
        <p:spPr>
          <a:xfrm>
            <a:off x="342900" y="266700"/>
            <a:ext cx="238200" cy="38100"/>
          </a:xfrm>
          <a:prstGeom prst="rect">
            <a:avLst/>
          </a:prstGeom>
          <a:solidFill>
            <a:srgbClr val="9345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8" name="Google Shape;88;p14"/>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02 / BACKGROUND</a:t>
            </a:r>
            <a:endParaRPr sz="1100"/>
          </a:p>
        </p:txBody>
      </p:sp>
      <p:sp>
        <p:nvSpPr>
          <p:cNvPr id="89" name="Google Shape;89;p14"/>
          <p:cNvSpPr/>
          <p:nvPr/>
        </p:nvSpPr>
        <p:spPr>
          <a:xfrm>
            <a:off x="342900" y="4810125"/>
            <a:ext cx="8458200" cy="9600"/>
          </a:xfrm>
          <a:prstGeom prst="rect">
            <a:avLst/>
          </a:prstGeom>
          <a:solidFill>
            <a:srgbClr val="EEE3D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0" name="Google Shape;90;p14"/>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91" name="Google Shape;91;p14"/>
          <p:cNvSpPr txBox="1"/>
          <p:nvPr/>
        </p:nvSpPr>
        <p:spPr>
          <a:xfrm>
            <a:off x="8572500" y="4895850"/>
            <a:ext cx="2286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2</a:t>
            </a:r>
            <a:endParaRPr sz="1100"/>
          </a:p>
        </p:txBody>
      </p:sp>
      <p:sp>
        <p:nvSpPr>
          <p:cNvPr id="92" name="Google Shape;92;p14"/>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Why fossil pollen matters</a:t>
            </a:r>
            <a:endParaRPr sz="1100"/>
          </a:p>
        </p:txBody>
      </p:sp>
      <p:grpSp>
        <p:nvGrpSpPr>
          <p:cNvPr id="93" name="Google Shape;93;p14"/>
          <p:cNvGrpSpPr/>
          <p:nvPr/>
        </p:nvGrpSpPr>
        <p:grpSpPr>
          <a:xfrm>
            <a:off x="342900" y="1047750"/>
            <a:ext cx="2705100" cy="3524400"/>
            <a:chOff x="0" y="0"/>
            <a:chExt cx="2705100" cy="3524400"/>
          </a:xfrm>
        </p:grpSpPr>
        <p:sp>
          <p:nvSpPr>
            <p:cNvPr id="94" name="Google Shape;94;p14"/>
            <p:cNvSpPr/>
            <p:nvPr/>
          </p:nvSpPr>
          <p:spPr>
            <a:xfrm>
              <a:off x="0" y="0"/>
              <a:ext cx="2705100" cy="3524400"/>
            </a:xfrm>
            <a:prstGeom prst="roundRect">
              <a:avLst>
                <a:gd fmla="val 140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90500" y="190500"/>
              <a:ext cx="2324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93451F"/>
                  </a:solidFill>
                  <a:latin typeface="Lato"/>
                  <a:ea typeface="Lato"/>
                  <a:cs typeface="Lato"/>
                  <a:sym typeface="Lato"/>
                </a:rPr>
                <a:t>01</a:t>
              </a:r>
              <a:endParaRPr b="1" sz="1100">
                <a:solidFill>
                  <a:srgbClr val="93451F"/>
                </a:solidFill>
                <a:latin typeface="Lato"/>
                <a:ea typeface="Lato"/>
                <a:cs typeface="Lato"/>
                <a:sym typeface="Lato"/>
              </a:endParaRPr>
            </a:p>
          </p:txBody>
        </p:sp>
        <p:sp>
          <p:nvSpPr>
            <p:cNvPr id="96" name="Google Shape;96;p14"/>
            <p:cNvSpPr txBox="1"/>
            <p:nvPr/>
          </p:nvSpPr>
          <p:spPr>
            <a:xfrm>
              <a:off x="190500" y="419100"/>
              <a:ext cx="232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02D48"/>
                  </a:solidFill>
                  <a:latin typeface="Lato"/>
                  <a:ea typeface="Lato"/>
                  <a:cs typeface="Lato"/>
                  <a:sym typeface="Lato"/>
                </a:rPr>
                <a:t>Why it matters</a:t>
              </a:r>
              <a:endParaRPr b="1" sz="1600">
                <a:solidFill>
                  <a:srgbClr val="202D48"/>
                </a:solidFill>
                <a:latin typeface="Lato"/>
                <a:ea typeface="Lato"/>
                <a:cs typeface="Lato"/>
                <a:sym typeface="Lato"/>
              </a:endParaRPr>
            </a:p>
          </p:txBody>
        </p:sp>
        <p:sp>
          <p:nvSpPr>
            <p:cNvPr id="97" name="Google Shape;97;p14"/>
            <p:cNvSpPr txBox="1"/>
            <p:nvPr/>
          </p:nvSpPr>
          <p:spPr>
            <a:xfrm>
              <a:off x="190500" y="800100"/>
              <a:ext cx="2324100" cy="2476500"/>
            </a:xfrm>
            <a:prstGeom prst="rect">
              <a:avLst/>
            </a:prstGeom>
            <a:solidFill>
              <a:srgbClr val="000000">
                <a:alpha val="0"/>
              </a:srgbClr>
            </a:solidFill>
            <a:ln>
              <a:noFill/>
            </a:ln>
          </p:spPr>
          <p:txBody>
            <a:bodyPr anchorCtr="0" anchor="t" bIns="0" lIns="0" spcFirstLastPara="1" rIns="0" wrap="square" tIns="0">
              <a:noAutofit/>
            </a:bodyPr>
            <a:lstStyle/>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Pollen survives in sediment.</a:t>
              </a:r>
              <a:endParaRPr b="0" i="0" sz="1100">
                <a:solidFill>
                  <a:srgbClr val="596477"/>
                </a:solidFill>
                <a:latin typeface="Lato"/>
                <a:ea typeface="Lato"/>
                <a:cs typeface="Lato"/>
                <a:sym typeface="Lato"/>
              </a:endParaRPr>
            </a:p>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It records ancient plant life.</a:t>
              </a:r>
            </a:p>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We study vegetation about 50 million years ago.</a:t>
              </a:r>
            </a:p>
          </p:txBody>
        </p:sp>
      </p:grpSp>
      <p:grpSp>
        <p:nvGrpSpPr>
          <p:cNvPr id="98" name="Google Shape;98;p14"/>
          <p:cNvGrpSpPr/>
          <p:nvPr/>
        </p:nvGrpSpPr>
        <p:grpSpPr>
          <a:xfrm>
            <a:off x="3219450" y="1047750"/>
            <a:ext cx="2705100" cy="3524400"/>
            <a:chOff x="0" y="0"/>
            <a:chExt cx="2705100" cy="3524400"/>
          </a:xfrm>
        </p:grpSpPr>
        <p:sp>
          <p:nvSpPr>
            <p:cNvPr id="99" name="Google Shape;99;p14"/>
            <p:cNvSpPr/>
            <p:nvPr/>
          </p:nvSpPr>
          <p:spPr>
            <a:xfrm>
              <a:off x="0" y="0"/>
              <a:ext cx="2705100" cy="3524400"/>
            </a:xfrm>
            <a:prstGeom prst="roundRect">
              <a:avLst>
                <a:gd fmla="val 140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txBox="1"/>
            <p:nvPr/>
          </p:nvSpPr>
          <p:spPr>
            <a:xfrm>
              <a:off x="190500" y="190500"/>
              <a:ext cx="2324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93451F"/>
                  </a:solidFill>
                  <a:latin typeface="Lato"/>
                  <a:ea typeface="Lato"/>
                  <a:cs typeface="Lato"/>
                  <a:sym typeface="Lato"/>
                </a:rPr>
                <a:t>02</a:t>
              </a:r>
              <a:endParaRPr b="1" sz="1100">
                <a:solidFill>
                  <a:srgbClr val="93451F"/>
                </a:solidFill>
                <a:latin typeface="Lato"/>
                <a:ea typeface="Lato"/>
                <a:cs typeface="Lato"/>
                <a:sym typeface="Lato"/>
              </a:endParaRPr>
            </a:p>
          </p:txBody>
        </p:sp>
        <p:sp>
          <p:nvSpPr>
            <p:cNvPr id="101" name="Google Shape;101;p14"/>
            <p:cNvSpPr txBox="1"/>
            <p:nvPr/>
          </p:nvSpPr>
          <p:spPr>
            <a:xfrm>
              <a:off x="190500" y="419100"/>
              <a:ext cx="232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700">
                  <a:solidFill>
                    <a:srgbClr val="202D48"/>
                  </a:solidFill>
                  <a:latin typeface="Lato"/>
                  <a:ea typeface="Lato"/>
                  <a:cs typeface="Lato"/>
                  <a:sym typeface="Lato"/>
                </a:rPr>
                <a:t>The challenge</a:t>
              </a:r>
              <a:endParaRPr b="1" sz="1600">
                <a:solidFill>
                  <a:srgbClr val="202D48"/>
                </a:solidFill>
                <a:latin typeface="Lato"/>
                <a:ea typeface="Lato"/>
                <a:cs typeface="Lato"/>
                <a:sym typeface="Lato"/>
              </a:endParaRPr>
            </a:p>
          </p:txBody>
        </p:sp>
        <p:sp>
          <p:nvSpPr>
            <p:cNvPr id="102" name="Google Shape;102;p14"/>
            <p:cNvSpPr txBox="1"/>
            <p:nvPr/>
          </p:nvSpPr>
          <p:spPr>
            <a:xfrm>
              <a:off x="190500" y="800100"/>
              <a:ext cx="2324100" cy="2476500"/>
            </a:xfrm>
            <a:prstGeom prst="rect">
              <a:avLst/>
            </a:prstGeom>
            <a:solidFill>
              <a:srgbClr val="000000">
                <a:alpha val="0"/>
              </a:srgbClr>
            </a:solidFill>
            <a:ln>
              <a:noFill/>
            </a:ln>
          </p:spPr>
          <p:txBody>
            <a:bodyPr anchorCtr="0" anchor="t" bIns="0" lIns="0" spcFirstLastPara="1" rIns="0" wrap="square" tIns="0">
              <a:noAutofit/>
            </a:bodyPr>
            <a:lstStyle/>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Microscope images contain many specimens and debris.</a:t>
              </a:r>
              <a:endParaRPr b="0" i="0" sz="1100">
                <a:solidFill>
                  <a:srgbClr val="596477"/>
                </a:solidFill>
                <a:latin typeface="Lato"/>
                <a:ea typeface="Lato"/>
                <a:cs typeface="Lato"/>
                <a:sym typeface="Lato"/>
              </a:endParaRPr>
            </a:p>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Identifying each specimen takes expert time.</a:t>
              </a:r>
            </a:p>
          </p:txBody>
        </p:sp>
      </p:grpSp>
      <p:grpSp>
        <p:nvGrpSpPr>
          <p:cNvPr id="103" name="Google Shape;103;p14"/>
          <p:cNvGrpSpPr/>
          <p:nvPr/>
        </p:nvGrpSpPr>
        <p:grpSpPr>
          <a:xfrm>
            <a:off x="6096000" y="1047750"/>
            <a:ext cx="2705100" cy="3524400"/>
            <a:chOff x="0" y="0"/>
            <a:chExt cx="2705100" cy="3524400"/>
          </a:xfrm>
        </p:grpSpPr>
        <p:sp>
          <p:nvSpPr>
            <p:cNvPr id="104" name="Google Shape;104;p14"/>
            <p:cNvSpPr/>
            <p:nvPr/>
          </p:nvSpPr>
          <p:spPr>
            <a:xfrm>
              <a:off x="0" y="0"/>
              <a:ext cx="2705100" cy="3524400"/>
            </a:xfrm>
            <a:prstGeom prst="roundRect">
              <a:avLst>
                <a:gd fmla="val 140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txBox="1"/>
            <p:nvPr/>
          </p:nvSpPr>
          <p:spPr>
            <a:xfrm>
              <a:off x="190500" y="190500"/>
              <a:ext cx="2324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93451F"/>
                  </a:solidFill>
                  <a:latin typeface="Lato"/>
                  <a:ea typeface="Lato"/>
                  <a:cs typeface="Lato"/>
                  <a:sym typeface="Lato"/>
                </a:rPr>
                <a:t>03</a:t>
              </a:r>
              <a:endParaRPr b="1" sz="1100">
                <a:solidFill>
                  <a:srgbClr val="93451F"/>
                </a:solidFill>
                <a:latin typeface="Lato"/>
                <a:ea typeface="Lato"/>
                <a:cs typeface="Lato"/>
                <a:sym typeface="Lato"/>
              </a:endParaRPr>
            </a:p>
          </p:txBody>
        </p:sp>
        <p:sp>
          <p:nvSpPr>
            <p:cNvPr id="106" name="Google Shape;106;p14"/>
            <p:cNvSpPr txBox="1"/>
            <p:nvPr/>
          </p:nvSpPr>
          <p:spPr>
            <a:xfrm>
              <a:off x="190500" y="419100"/>
              <a:ext cx="232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700">
                  <a:solidFill>
                    <a:srgbClr val="202D48"/>
                  </a:solidFill>
                  <a:latin typeface="Lato"/>
                  <a:ea typeface="Lato"/>
                  <a:cs typeface="Lato"/>
                  <a:sym typeface="Lato"/>
                </a:rPr>
                <a:t>Our starting point</a:t>
              </a:r>
              <a:endParaRPr b="1" sz="1600">
                <a:solidFill>
                  <a:srgbClr val="202D48"/>
                </a:solidFill>
                <a:latin typeface="Lato"/>
                <a:ea typeface="Lato"/>
                <a:cs typeface="Lato"/>
                <a:sym typeface="Lato"/>
              </a:endParaRPr>
            </a:p>
          </p:txBody>
        </p:sp>
        <p:sp>
          <p:nvSpPr>
            <p:cNvPr id="107" name="Google Shape;107;p14"/>
            <p:cNvSpPr txBox="1"/>
            <p:nvPr/>
          </p:nvSpPr>
          <p:spPr>
            <a:xfrm>
              <a:off x="190500" y="800100"/>
              <a:ext cx="2324100" cy="2476500"/>
            </a:xfrm>
            <a:prstGeom prst="rect">
              <a:avLst/>
            </a:prstGeom>
            <a:solidFill>
              <a:srgbClr val="000000">
                <a:alpha val="0"/>
              </a:srgbClr>
            </a:solidFill>
            <a:ln>
              <a:noFill/>
            </a:ln>
          </p:spPr>
          <p:txBody>
            <a:bodyPr anchorCtr="0" anchor="t" bIns="0" lIns="0" spcFirstLastPara="1" rIns="0" wrap="square" tIns="0">
              <a:noAutofit/>
            </a:bodyPr>
            <a:lstStyle/>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The previous Rice team developed a detector.</a:t>
              </a:r>
              <a:endParaRPr b="0" i="0" sz="1100">
                <a:solidFill>
                  <a:srgbClr val="596477"/>
                </a:solidFill>
                <a:latin typeface="Lato"/>
                <a:ea typeface="Lato"/>
                <a:cs typeface="Lato"/>
                <a:sym typeface="Lato"/>
              </a:endParaRPr>
            </a:p>
            <a:p>
              <a:pPr indent="-298450" lvl="0" marL="457200" rtl="0" algn="l">
                <a:spcBef>
                  <a:spcPts val="600"/>
                </a:spcBef>
                <a:spcAft>
                  <a:spcPts val="0"/>
                </a:spcAft>
                <a:buClr>
                  <a:srgbClr val="596477"/>
                </a:buClr>
                <a:buSzPts val="1100"/>
                <a:buFont typeface="Lato"/>
                <a:buChar char="●"/>
              </a:pPr>
              <a:r>
                <a:rPr b="0" i="0" lang="en" sz="1400">
                  <a:solidFill>
                    <a:srgbClr val="596477"/>
                  </a:solidFill>
                  <a:latin typeface="Lato"/>
                  <a:ea typeface="Lato"/>
                  <a:cs typeface="Lato"/>
                  <a:sym typeface="Lato"/>
                </a:rPr>
                <a:t>Our next step is identifying the category of each specimen.</a:t>
              </a: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0"/>
            <a:ext cx="9144000" cy="5143500"/>
          </a:xfrm>
          <a:prstGeom prst="rect">
            <a:avLst/>
          </a:prstGeom>
          <a:solidFill>
            <a:srgbClr val="F8F5E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 name="Google Shape;114;p15"/>
          <p:cNvSpPr/>
          <p:nvPr/>
        </p:nvSpPr>
        <p:spPr>
          <a:xfrm>
            <a:off x="342900" y="266700"/>
            <a:ext cx="238200" cy="38100"/>
          </a:xfrm>
          <a:prstGeom prst="rect">
            <a:avLst/>
          </a:prstGeom>
          <a:solidFill>
            <a:srgbClr val="9345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 name="Google Shape;115;p15"/>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03 / THE PROBLEM</a:t>
            </a:r>
            <a:endParaRPr sz="1100"/>
          </a:p>
        </p:txBody>
      </p:sp>
      <p:sp>
        <p:nvSpPr>
          <p:cNvPr id="116" name="Google Shape;116;p15"/>
          <p:cNvSpPr/>
          <p:nvPr/>
        </p:nvSpPr>
        <p:spPr>
          <a:xfrm>
            <a:off x="342900" y="4810125"/>
            <a:ext cx="8458200" cy="9600"/>
          </a:xfrm>
          <a:prstGeom prst="rect">
            <a:avLst/>
          </a:prstGeom>
          <a:solidFill>
            <a:srgbClr val="EEE3D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 name="Google Shape;117;p15"/>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18" name="Google Shape;118;p15"/>
          <p:cNvSpPr txBox="1"/>
          <p:nvPr/>
        </p:nvSpPr>
        <p:spPr>
          <a:xfrm>
            <a:off x="8572500" y="4895850"/>
            <a:ext cx="2286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3</a:t>
            </a:r>
            <a:endParaRPr sz="1100"/>
          </a:p>
        </p:txBody>
      </p:sp>
      <p:sp>
        <p:nvSpPr>
          <p:cNvPr id="119" name="Google Shape;119;p15"/>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One slide, thousands of specimens</a:t>
            </a:r>
            <a:endParaRPr sz="1100"/>
          </a:p>
        </p:txBody>
      </p:sp>
      <p:pic>
        <p:nvPicPr>
          <p:cNvPr id="120" name="Google Shape;120;p15"/>
          <p:cNvPicPr preferRelativeResize="0"/>
          <p:nvPr/>
        </p:nvPicPr>
        <p:blipFill>
          <a:blip r:embed="rId3">
            <a:alphaModFix/>
          </a:blip>
          <a:stretch>
            <a:fillRect/>
          </a:stretch>
        </p:blipFill>
        <p:spPr>
          <a:xfrm>
            <a:off x="1370650" y="1095076"/>
            <a:ext cx="6402700" cy="3440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Rectangle 125"/>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04 / PRIOR WORK</a:t>
            </a:r>
          </a:p>
        </p:txBody>
      </p:sp>
      <p:sp>
        <p:nvSpPr>
          <p:cNvPr id="129" name="TextBox 128"/>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What earlier studies suggest</a:t>
            </a:r>
          </a:p>
        </p:txBody>
      </p:sp>
      <p:sp>
        <p:nvSpPr>
          <p:cNvPr id="130" name="Rectangle 129"/>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132" name="TextBox 131"/>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4</a:t>
            </a:r>
          </a:p>
        </p:txBody>
      </p:sp>
      <p:sp>
        <p:nvSpPr>
          <p:cNvPr id="133" name="Rectangle 132"/>
          <p:cNvSpPr/>
          <p:nvPr/>
        </p:nvSpPr>
        <p:spPr>
          <a:xfrm>
            <a:off x="36576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3035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01</a:t>
            </a:r>
          </a:p>
        </p:txBody>
      </p:sp>
      <p:sp>
        <p:nvSpPr>
          <p:cNvPr id="135" name="TextBox 134"/>
          <p:cNvSpPr txBox="1"/>
          <p:nvPr/>
        </p:nvSpPr>
        <p:spPr>
          <a:xfrm>
            <a:off x="53035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Punyasena et al.</a:t>
            </a:r>
          </a:p>
        </p:txBody>
      </p:sp>
      <p:sp>
        <p:nvSpPr>
          <p:cNvPr id="136" name="TextBox 135"/>
          <p:cNvSpPr txBox="1"/>
          <p:nvPr/>
        </p:nvSpPr>
        <p:spPr>
          <a:xfrm>
            <a:off x="53035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Locate pollen</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Crop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Identify categories</a:t>
            </a:r>
          </a:p>
        </p:txBody>
      </p:sp>
      <p:sp>
        <p:nvSpPr>
          <p:cNvPr id="137" name="Rectangle 136"/>
          <p:cNvSpPr/>
          <p:nvPr/>
        </p:nvSpPr>
        <p:spPr>
          <a:xfrm>
            <a:off x="324612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41071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02</a:t>
            </a:r>
          </a:p>
        </p:txBody>
      </p:sp>
      <p:sp>
        <p:nvSpPr>
          <p:cNvPr id="139" name="TextBox 138"/>
          <p:cNvSpPr txBox="1"/>
          <p:nvPr/>
        </p:nvSpPr>
        <p:spPr>
          <a:xfrm>
            <a:off x="341071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Martinsen et al.</a:t>
            </a:r>
          </a:p>
        </p:txBody>
      </p:sp>
      <p:sp>
        <p:nvSpPr>
          <p:cNvPr id="140" name="TextBox 139"/>
          <p:cNvSpPr txBox="1"/>
          <p:nvPr/>
        </p:nvSpPr>
        <p:spPr>
          <a:xfrm>
            <a:off x="341071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Locate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Crop specimens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Identify categories</a:t>
            </a:r>
          </a:p>
        </p:txBody>
      </p:sp>
      <p:sp>
        <p:nvSpPr>
          <p:cNvPr id="141" name="Rectangle 140"/>
          <p:cNvSpPr/>
          <p:nvPr/>
        </p:nvSpPr>
        <p:spPr>
          <a:xfrm>
            <a:off x="6126480" y="1298448"/>
            <a:ext cx="265176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91072" y="1499616"/>
            <a:ext cx="2322576"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03</a:t>
            </a:r>
          </a:p>
        </p:txBody>
      </p:sp>
      <p:sp>
        <p:nvSpPr>
          <p:cNvPr id="143" name="TextBox 142"/>
          <p:cNvSpPr txBox="1"/>
          <p:nvPr/>
        </p:nvSpPr>
        <p:spPr>
          <a:xfrm>
            <a:off x="6291072" y="1856231"/>
            <a:ext cx="2322576" cy="338328"/>
          </a:xfrm>
          <a:prstGeom prst="rect">
            <a:avLst/>
          </a:prstGeom>
          <a:noFill/>
        </p:spPr>
        <p:txBody>
          <a:bodyPr wrap="square" lIns="0" rIns="0" tIns="0" bIns="0">
            <a:spAutoFit/>
          </a:bodyPr>
          <a:lstStyle/>
          <a:p>
            <a:pPr>
              <a:spcAft>
                <a:spcPts val="500"/>
              </a:spcAft>
              <a:defRPr sz="1700" b="1">
                <a:solidFill>
                  <a:srgbClr val="202D48"/>
                </a:solidFill>
                <a:latin typeface="Lato"/>
              </a:defRPr>
            </a:pPr>
            <a:r>
              <a:t>Abbas Shaikh et al.</a:t>
            </a:r>
          </a:p>
        </p:txBody>
      </p:sp>
      <p:sp>
        <p:nvSpPr>
          <p:cNvPr id="144" name="TextBox 143"/>
          <p:cNvSpPr txBox="1"/>
          <p:nvPr/>
        </p:nvSpPr>
        <p:spPr>
          <a:xfrm>
            <a:off x="6291072" y="2414016"/>
            <a:ext cx="2322576" cy="1508760"/>
          </a:xfrm>
          <a:prstGeom prst="rect">
            <a:avLst/>
          </a:prstGeom>
          <a:noFill/>
        </p:spPr>
        <p:txBody>
          <a:bodyPr wrap="square" lIns="0" rIns="0" tIns="0" bIns="0">
            <a:spAutoFit/>
          </a:bodyPr>
          <a:lstStyle/>
          <a:p>
            <a:pPr algn="ctr">
              <a:spcAft>
                <a:spcPts val="100"/>
              </a:spcAft>
              <a:defRPr sz="1500" b="0">
                <a:solidFill>
                  <a:srgbClr val="596477"/>
                </a:solidFill>
                <a:latin typeface="Lato"/>
              </a:defRPr>
            </a:pPr>
            <a:r>
              <a:t>Multifocal slides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Image tiles</a:t>
            </a:r>
          </a:p>
          <a:p>
            <a:pPr algn="ctr">
              <a:spcAft>
                <a:spcPts val="100"/>
              </a:spcAft>
              <a:defRPr sz="1500" b="0">
                <a:solidFill>
                  <a:srgbClr val="596477"/>
                </a:solidFill>
                <a:latin typeface="Lato"/>
              </a:defRPr>
            </a:pPr>
            <a:r>
              <a:t>↓</a:t>
            </a:r>
          </a:p>
          <a:p>
            <a:pPr algn="ctr">
              <a:spcAft>
                <a:spcPts val="100"/>
              </a:spcAft>
              <a:defRPr sz="1500" b="0">
                <a:solidFill>
                  <a:srgbClr val="596477"/>
                </a:solidFill>
                <a:latin typeface="Lato"/>
              </a:defRPr>
            </a:pPr>
            <a:r>
              <a:t>Detect specimens</a:t>
            </a:r>
          </a:p>
        </p:txBody>
      </p:sp>
      <p:sp>
        <p:nvSpPr>
          <p:cNvPr id="145" name="TextBox 144"/>
          <p:cNvSpPr txBox="1"/>
          <p:nvPr/>
        </p:nvSpPr>
        <p:spPr>
          <a:xfrm>
            <a:off x="365760" y="4343400"/>
            <a:ext cx="8412480" cy="292608"/>
          </a:xfrm>
          <a:prstGeom prst="rect">
            <a:avLst/>
          </a:prstGeom>
          <a:noFill/>
        </p:spPr>
        <p:txBody>
          <a:bodyPr wrap="square" lIns="0" rIns="0" tIns="0" bIns="0">
            <a:spAutoFit/>
          </a:bodyPr>
          <a:lstStyle/>
          <a:p>
            <a:pPr>
              <a:spcAft>
                <a:spcPts val="500"/>
              </a:spcAft>
              <a:defRPr sz="1600" b="1">
                <a:solidFill>
                  <a:srgbClr val="93451F"/>
                </a:solidFill>
                <a:latin typeface="Lato"/>
              </a:defRPr>
            </a:pPr>
            <a:r>
              <a:t>Build on whole-slide detection; add category identification.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rgbClr val="F8F5E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8" name="Google Shape;148;p17"/>
          <p:cNvSpPr/>
          <p:nvPr/>
        </p:nvSpPr>
        <p:spPr>
          <a:xfrm>
            <a:off x="342900" y="266700"/>
            <a:ext cx="238125" cy="38100"/>
          </a:xfrm>
          <a:prstGeom prst="rect">
            <a:avLst/>
          </a:prstGeom>
          <a:solidFill>
            <a:srgbClr val="93451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17"/>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05 / MICROSCOPY DATA</a:t>
            </a:r>
            <a:endParaRPr sz="1100"/>
          </a:p>
        </p:txBody>
      </p:sp>
      <p:sp>
        <p:nvSpPr>
          <p:cNvPr id="150" name="Google Shape;150;p17"/>
          <p:cNvSpPr/>
          <p:nvPr/>
        </p:nvSpPr>
        <p:spPr>
          <a:xfrm>
            <a:off x="342900" y="4810125"/>
            <a:ext cx="8458200" cy="9525"/>
          </a:xfrm>
          <a:prstGeom prst="rect">
            <a:avLst/>
          </a:prstGeom>
          <a:solidFill>
            <a:srgbClr val="EEE3D6"/>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1" name="Google Shape;151;p17"/>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52" name="Google Shape;152;p17"/>
          <p:cNvSpPr txBox="1"/>
          <p:nvPr/>
        </p:nvSpPr>
        <p:spPr>
          <a:xfrm>
            <a:off x="8572500" y="4895850"/>
            <a:ext cx="228600" cy="16383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5</a:t>
            </a:r>
            <a:endParaRPr sz="1100"/>
          </a:p>
        </p:txBody>
      </p:sp>
      <p:pic>
        <p:nvPicPr>
          <p:cNvPr id="153" name="Google Shape;153;p17"/>
          <p:cNvPicPr preferRelativeResize="0"/>
          <p:nvPr/>
        </p:nvPicPr>
        <p:blipFill>
          <a:blip r:embed="rId3">
            <a:alphaModFix/>
          </a:blip>
          <a:stretch>
            <a:fillRect/>
          </a:stretch>
        </p:blipFill>
        <p:spPr>
          <a:xfrm>
            <a:off x="695325" y="1887913"/>
            <a:ext cx="4459001" cy="2477225"/>
          </a:xfrm>
          <a:prstGeom prst="rect">
            <a:avLst/>
          </a:prstGeom>
          <a:solidFill>
            <a:srgbClr val="F8F5EF"/>
          </a:solidFill>
          <a:ln>
            <a:noFill/>
          </a:ln>
          <a:effectLst>
            <a:outerShdw blurRad="40000" rotWithShape="0" dir="5400000" dist="23000">
              <a:srgbClr val="000000">
                <a:alpha val="34900"/>
              </a:srgbClr>
            </a:outerShdw>
          </a:effectLst>
        </p:spPr>
      </p:pic>
      <p:sp>
        <p:nvSpPr>
          <p:cNvPr id="154" name="Google Shape;154;p17"/>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One specimen, multiple focal views</a:t>
            </a:r>
            <a:endParaRPr sz="1100"/>
          </a:p>
        </p:txBody>
      </p:sp>
      <p:pic>
        <p:nvPicPr>
          <p:cNvPr id="155" name="Google Shape;155;p17"/>
          <p:cNvPicPr preferRelativeResize="0"/>
          <p:nvPr/>
        </p:nvPicPr>
        <p:blipFill>
          <a:blip r:embed="rId4">
            <a:alphaModFix/>
          </a:blip>
          <a:stretch>
            <a:fillRect/>
          </a:stretch>
        </p:blipFill>
        <p:spPr>
          <a:xfrm>
            <a:off x="5825250" y="1914825"/>
            <a:ext cx="2423401" cy="2423401"/>
          </a:xfrm>
          <a:prstGeom prst="rect">
            <a:avLst/>
          </a:prstGeom>
          <a:solidFill>
            <a:srgbClr val="F8F5EF"/>
          </a:solidFill>
          <a:ln>
            <a:noFill/>
          </a:ln>
          <a:effectLst>
            <a:outerShdw blurRad="40000" rotWithShape="0" dir="5400000" dist="23000">
              <a:srgbClr val="000000">
                <a:alpha val="34900"/>
              </a:srgbClr>
            </a:outerShdw>
          </a:effectLst>
        </p:spPr>
      </p:pic>
      <p:sp>
        <p:nvSpPr>
          <p:cNvPr id="156" name="Google Shape;156;p17"/>
          <p:cNvSpPr txBox="1"/>
          <p:nvPr/>
        </p:nvSpPr>
        <p:spPr>
          <a:xfrm>
            <a:off x="695325" y="1429725"/>
            <a:ext cx="3098700" cy="2154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dk1"/>
              </a:buClr>
              <a:buSzPts val="1100"/>
              <a:buChar char="●"/>
            </a:pPr>
            <a:r>
              <a:rPr lang="en">
                <a:solidFill>
                  <a:srgbClr val="596477"/>
                </a:solidFill>
                <a:latin typeface="Lato"/>
                <a:ea typeface="Lato"/>
                <a:cs typeface="Lato"/>
                <a:sym typeface="Lato"/>
              </a:rPr>
              <a:t>An expert-annotated pollen grain</a:t>
            </a:r>
            <a:endParaRPr>
              <a:solidFill>
                <a:srgbClr val="596477"/>
              </a:solidFill>
              <a:latin typeface="Lato"/>
              <a:ea typeface="Lato"/>
              <a:cs typeface="Lato"/>
              <a:sym typeface="Lato"/>
            </a:endParaRPr>
          </a:p>
        </p:txBody>
      </p:sp>
      <p:sp>
        <p:nvSpPr>
          <p:cNvPr id="157" name="TextBox 156"/>
          <p:cNvSpPr txBox="1"/>
          <p:nvPr/>
        </p:nvSpPr>
        <p:spPr>
          <a:xfrm>
            <a:off x="5824728" y="1179576"/>
            <a:ext cx="2606040" cy="594360"/>
          </a:xfrm>
          <a:prstGeom prst="rect">
            <a:avLst/>
          </a:prstGeom>
          <a:noFill/>
        </p:spPr>
        <p:txBody>
          <a:bodyPr wrap="square" lIns="0" rIns="0" tIns="0" bIns="0">
            <a:spAutoFit/>
          </a:bodyPr>
          <a:lstStyle/>
          <a:p>
            <a:pPr>
              <a:spcAft>
                <a:spcPts val="500"/>
              </a:spcAft>
              <a:defRPr sz="1200" b="0">
                <a:solidFill>
                  <a:srgbClr val="596477"/>
                </a:solidFill>
                <a:latin typeface="Lato"/>
              </a:defRPr>
            </a:pPr>
            <a:r>
              <a:t>This example: 25 focal planes</a:t>
            </a:r>
          </a:p>
          <a:p>
            <a:pPr>
              <a:spcAft>
                <a:spcPts val="500"/>
              </a:spcAft>
              <a:defRPr sz="1200" b="0">
                <a:solidFill>
                  <a:srgbClr val="596477"/>
                </a:solidFill>
                <a:latin typeface="Lato"/>
              </a:defRPr>
            </a:pPr>
            <a:r>
              <a:t>About 30 GB for the full scan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p:nvPr/>
        </p:nvSpPr>
        <p:spPr>
          <a:xfrm>
            <a:off x="0" y="0"/>
            <a:ext cx="9144000" cy="5143500"/>
          </a:xfrm>
          <a:prstGeom prst="rect">
            <a:avLst/>
          </a:prstGeom>
          <a:solidFill>
            <a:srgbClr val="F8F5E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4" name="Google Shape;164;p18"/>
          <p:cNvSpPr/>
          <p:nvPr/>
        </p:nvSpPr>
        <p:spPr>
          <a:xfrm>
            <a:off x="342900" y="266700"/>
            <a:ext cx="238200" cy="38100"/>
          </a:xfrm>
          <a:prstGeom prst="rect">
            <a:avLst/>
          </a:prstGeom>
          <a:solidFill>
            <a:srgbClr val="9345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18"/>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06 / ANNOTATION INVENTORY</a:t>
            </a:r>
            <a:endParaRPr sz="1100"/>
          </a:p>
        </p:txBody>
      </p:sp>
      <p:sp>
        <p:nvSpPr>
          <p:cNvPr id="166" name="Google Shape;166;p18"/>
          <p:cNvSpPr/>
          <p:nvPr/>
        </p:nvSpPr>
        <p:spPr>
          <a:xfrm>
            <a:off x="342900" y="4810125"/>
            <a:ext cx="8458200" cy="9600"/>
          </a:xfrm>
          <a:prstGeom prst="rect">
            <a:avLst/>
          </a:prstGeom>
          <a:solidFill>
            <a:srgbClr val="EEE3D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7" name="Google Shape;167;p18"/>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68" name="Google Shape;168;p18"/>
          <p:cNvSpPr txBox="1"/>
          <p:nvPr/>
        </p:nvSpPr>
        <p:spPr>
          <a:xfrm>
            <a:off x="8572500" y="4895850"/>
            <a:ext cx="2286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6</a:t>
            </a:r>
            <a:endParaRPr sz="1100"/>
          </a:p>
        </p:txBody>
      </p:sp>
      <p:pic>
        <p:nvPicPr>
          <p:cNvPr id="169" name="Google Shape;169;p18"/>
          <p:cNvPicPr preferRelativeResize="0"/>
          <p:nvPr/>
        </p:nvPicPr>
        <p:blipFill>
          <a:blip r:embed="rId3">
            <a:alphaModFix/>
          </a:blip>
          <a:stretch>
            <a:fillRect/>
          </a:stretch>
        </p:blipFill>
        <p:spPr>
          <a:xfrm>
            <a:off x="2960928" y="1143500"/>
            <a:ext cx="5787851" cy="3435350"/>
          </a:xfrm>
          <a:prstGeom prst="rect">
            <a:avLst/>
          </a:prstGeom>
          <a:solidFill>
            <a:srgbClr val="F8F5EF"/>
          </a:solidFill>
          <a:ln>
            <a:noFill/>
          </a:ln>
          <a:effectLst>
            <a:outerShdw blurRad="40000" rotWithShape="0" dir="5400000" dist="23000">
              <a:srgbClr val="000000">
                <a:alpha val="34900"/>
              </a:srgbClr>
            </a:outerShdw>
          </a:effectLst>
        </p:spPr>
      </p:pic>
      <p:sp>
        <p:nvSpPr>
          <p:cNvPr id="171" name="Google Shape;171;p18"/>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2400">
                <a:solidFill>
                  <a:srgbClr val="202D48"/>
                </a:solidFill>
                <a:latin typeface="Lato"/>
                <a:ea typeface="Lato"/>
                <a:cs typeface="Lato"/>
                <a:sym typeface="Lato"/>
              </a:rPr>
              <a:t>Annotation inventory</a:t>
            </a:r>
            <a:endParaRPr sz="1100"/>
          </a:p>
        </p:txBody>
      </p:sp>
      <p:sp>
        <p:nvSpPr>
          <p:cNvPr id="172" name="TextBox 171"/>
          <p:cNvSpPr txBox="1"/>
          <p:nvPr/>
        </p:nvSpPr>
        <p:spPr>
          <a:xfrm>
            <a:off x="365760" y="1307592"/>
            <a:ext cx="2286000" cy="438912"/>
          </a:xfrm>
          <a:prstGeom prst="rect">
            <a:avLst/>
          </a:prstGeom>
          <a:noFill/>
        </p:spPr>
        <p:txBody>
          <a:bodyPr wrap="square" lIns="0" rIns="0" tIns="0" bIns="0">
            <a:spAutoFit/>
          </a:bodyPr>
          <a:lstStyle/>
          <a:p>
            <a:pPr>
              <a:spcAft>
                <a:spcPts val="500"/>
              </a:spcAft>
              <a:defRPr sz="2800" b="1">
                <a:solidFill>
                  <a:srgbClr val="202D48"/>
                </a:solidFill>
                <a:latin typeface="Lato"/>
              </a:defRPr>
            </a:pPr>
            <a:r>
              <a:t>83</a:t>
            </a:r>
          </a:p>
        </p:txBody>
      </p:sp>
      <p:sp>
        <p:nvSpPr>
          <p:cNvPr id="173" name="TextBox 172"/>
          <p:cNvSpPr txBox="1"/>
          <p:nvPr/>
        </p:nvSpPr>
        <p:spPr>
          <a:xfrm>
            <a:off x="365760" y="1764792"/>
            <a:ext cx="2423160" cy="246888"/>
          </a:xfrm>
          <a:prstGeom prst="rect">
            <a:avLst/>
          </a:prstGeom>
          <a:noFill/>
        </p:spPr>
        <p:txBody>
          <a:bodyPr wrap="square" lIns="0" rIns="0" tIns="0" bIns="0">
            <a:spAutoFit/>
          </a:bodyPr>
          <a:lstStyle/>
          <a:p>
            <a:pPr>
              <a:spcAft>
                <a:spcPts val="500"/>
              </a:spcAft>
              <a:defRPr sz="1200" b="0">
                <a:solidFill>
                  <a:srgbClr val="596477"/>
                </a:solidFill>
                <a:latin typeface="Lato"/>
              </a:defRPr>
            </a:pPr>
            <a:r>
              <a:t>image–annotation pairs</a:t>
            </a:r>
          </a:p>
        </p:txBody>
      </p:sp>
      <p:sp>
        <p:nvSpPr>
          <p:cNvPr id="174" name="TextBox 173"/>
          <p:cNvSpPr txBox="1"/>
          <p:nvPr/>
        </p:nvSpPr>
        <p:spPr>
          <a:xfrm>
            <a:off x="365760" y="2185416"/>
            <a:ext cx="2286000" cy="438912"/>
          </a:xfrm>
          <a:prstGeom prst="rect">
            <a:avLst/>
          </a:prstGeom>
          <a:noFill/>
        </p:spPr>
        <p:txBody>
          <a:bodyPr wrap="square" lIns="0" rIns="0" tIns="0" bIns="0">
            <a:spAutoFit/>
          </a:bodyPr>
          <a:lstStyle/>
          <a:p>
            <a:pPr>
              <a:spcAft>
                <a:spcPts val="500"/>
              </a:spcAft>
              <a:defRPr sz="2800" b="1">
                <a:solidFill>
                  <a:srgbClr val="202D48"/>
                </a:solidFill>
                <a:latin typeface="Lato"/>
              </a:defRPr>
            </a:pPr>
            <a:r>
              <a:t>32</a:t>
            </a:r>
          </a:p>
        </p:txBody>
      </p:sp>
      <p:sp>
        <p:nvSpPr>
          <p:cNvPr id="175" name="TextBox 174"/>
          <p:cNvSpPr txBox="1"/>
          <p:nvPr/>
        </p:nvSpPr>
        <p:spPr>
          <a:xfrm>
            <a:off x="365760" y="2642616"/>
            <a:ext cx="2423160" cy="246888"/>
          </a:xfrm>
          <a:prstGeom prst="rect">
            <a:avLst/>
          </a:prstGeom>
          <a:noFill/>
        </p:spPr>
        <p:txBody>
          <a:bodyPr wrap="square" lIns="0" rIns="0" tIns="0" bIns="0">
            <a:spAutoFit/>
          </a:bodyPr>
          <a:lstStyle/>
          <a:p>
            <a:pPr>
              <a:spcAft>
                <a:spcPts val="500"/>
              </a:spcAft>
              <a:defRPr sz="1200" b="0">
                <a:solidFill>
                  <a:srgbClr val="596477"/>
                </a:solidFill>
                <a:latin typeface="Lato"/>
              </a:defRPr>
            </a:pPr>
            <a:r>
              <a:t>priority categories</a:t>
            </a:r>
          </a:p>
        </p:txBody>
      </p:sp>
      <p:sp>
        <p:nvSpPr>
          <p:cNvPr id="176" name="TextBox 175"/>
          <p:cNvSpPr txBox="1"/>
          <p:nvPr/>
        </p:nvSpPr>
        <p:spPr>
          <a:xfrm>
            <a:off x="365760" y="3063240"/>
            <a:ext cx="2286000" cy="438912"/>
          </a:xfrm>
          <a:prstGeom prst="rect">
            <a:avLst/>
          </a:prstGeom>
          <a:noFill/>
        </p:spPr>
        <p:txBody>
          <a:bodyPr wrap="square" lIns="0" rIns="0" tIns="0" bIns="0">
            <a:spAutoFit/>
          </a:bodyPr>
          <a:lstStyle/>
          <a:p>
            <a:pPr>
              <a:spcAft>
                <a:spcPts val="500"/>
              </a:spcAft>
              <a:defRPr sz="2800" b="1">
                <a:solidFill>
                  <a:srgbClr val="202D48"/>
                </a:solidFill>
                <a:latin typeface="Lato"/>
              </a:defRPr>
            </a:pPr>
            <a:r>
              <a:t>2,290</a:t>
            </a:r>
          </a:p>
        </p:txBody>
      </p:sp>
      <p:sp>
        <p:nvSpPr>
          <p:cNvPr id="177" name="TextBox 176"/>
          <p:cNvSpPr txBox="1"/>
          <p:nvPr/>
        </p:nvSpPr>
        <p:spPr>
          <a:xfrm>
            <a:off x="365760" y="3520440"/>
            <a:ext cx="2423160" cy="246888"/>
          </a:xfrm>
          <a:prstGeom prst="rect">
            <a:avLst/>
          </a:prstGeom>
          <a:noFill/>
        </p:spPr>
        <p:txBody>
          <a:bodyPr wrap="square" lIns="0" rIns="0" tIns="0" bIns="0">
            <a:spAutoFit/>
          </a:bodyPr>
          <a:lstStyle/>
          <a:p>
            <a:pPr>
              <a:spcAft>
                <a:spcPts val="500"/>
              </a:spcAft>
              <a:defRPr sz="1200" b="0">
                <a:solidFill>
                  <a:srgbClr val="596477"/>
                </a:solidFill>
                <a:latin typeface="Lato"/>
              </a:defRPr>
            </a:pPr>
            <a:r>
              <a:t>annotations</a:t>
            </a:r>
          </a:p>
        </p:txBody>
      </p:sp>
      <p:sp>
        <p:nvSpPr>
          <p:cNvPr id="178" name="TextBox 177"/>
          <p:cNvSpPr txBox="1"/>
          <p:nvPr/>
        </p:nvSpPr>
        <p:spPr>
          <a:xfrm>
            <a:off x="365760" y="4133087"/>
            <a:ext cx="2468880" cy="429768"/>
          </a:xfrm>
          <a:prstGeom prst="rect">
            <a:avLst/>
          </a:prstGeom>
          <a:noFill/>
        </p:spPr>
        <p:txBody>
          <a:bodyPr wrap="square" lIns="0" rIns="0" tIns="0" bIns="0">
            <a:spAutoFit/>
          </a:bodyPr>
          <a:lstStyle/>
          <a:p>
            <a:pPr>
              <a:spcAft>
                <a:spcPts val="500"/>
              </a:spcAft>
              <a:defRPr sz="1200" b="1">
                <a:solidFill>
                  <a:srgbClr val="93451F"/>
                </a:solidFill>
                <a:latin typeface="Lato"/>
              </a:defRPr>
            </a:pPr>
            <a:r>
              <a:t>Some categories have</a:t>
            </a:r>
          </a:p>
          <a:p>
            <a:pPr>
              <a:spcAft>
                <a:spcPts val="500"/>
              </a:spcAft>
              <a:defRPr sz="1200" b="1">
                <a:solidFill>
                  <a:srgbClr val="93451F"/>
                </a:solidFill>
                <a:latin typeface="Lato"/>
              </a:defRPr>
            </a:pPr>
            <a:r>
              <a:t>far fewer examples.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p:nvPr/>
        </p:nvSpPr>
        <p:spPr>
          <a:xfrm>
            <a:off x="0" y="0"/>
            <a:ext cx="9144000" cy="5143500"/>
          </a:xfrm>
          <a:prstGeom prst="rect">
            <a:avLst/>
          </a:prstGeom>
          <a:solidFill>
            <a:srgbClr val="F8F5E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8" name="Google Shape;178;p19"/>
          <p:cNvSpPr/>
          <p:nvPr/>
        </p:nvSpPr>
        <p:spPr>
          <a:xfrm>
            <a:off x="342900" y="266700"/>
            <a:ext cx="238200" cy="38100"/>
          </a:xfrm>
          <a:prstGeom prst="rect">
            <a:avLst/>
          </a:prstGeom>
          <a:solidFill>
            <a:srgbClr val="9345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9" name="Google Shape;179;p19"/>
          <p:cNvSpPr txBox="1"/>
          <p:nvPr/>
        </p:nvSpPr>
        <p:spPr>
          <a:xfrm>
            <a:off x="695325" y="190500"/>
            <a:ext cx="80964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07 / DATA PIPELINE</a:t>
            </a:r>
            <a:endParaRPr sz="1100"/>
          </a:p>
        </p:txBody>
      </p:sp>
      <p:sp>
        <p:nvSpPr>
          <p:cNvPr id="180" name="Google Shape;180;p19"/>
          <p:cNvSpPr txBox="1"/>
          <p:nvPr/>
        </p:nvSpPr>
        <p:spPr>
          <a:xfrm>
            <a:off x="342900" y="542925"/>
            <a:ext cx="8458200" cy="36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2400" u="none" cap="none" strike="noStrike">
                <a:solidFill>
                  <a:srgbClr val="202D48"/>
                </a:solidFill>
                <a:latin typeface="Lato"/>
                <a:ea typeface="Lato"/>
                <a:cs typeface="Lato"/>
                <a:sym typeface="Lato"/>
              </a:rPr>
              <a:t>Connect images, locations, and expert labels</a:t>
            </a:r>
            <a:endParaRPr sz="1100"/>
          </a:p>
        </p:txBody>
      </p:sp>
      <p:sp>
        <p:nvSpPr>
          <p:cNvPr id="181" name="Google Shape;181;p19"/>
          <p:cNvSpPr/>
          <p:nvPr/>
        </p:nvSpPr>
        <p:spPr>
          <a:xfrm>
            <a:off x="342900" y="4810125"/>
            <a:ext cx="8458200" cy="9600"/>
          </a:xfrm>
          <a:prstGeom prst="rect">
            <a:avLst/>
          </a:prstGeom>
          <a:solidFill>
            <a:srgbClr val="EEE3D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2" name="Google Shape;182;p19"/>
          <p:cNvSpPr txBox="1"/>
          <p:nvPr/>
        </p:nvSpPr>
        <p:spPr>
          <a:xfrm>
            <a:off x="342900" y="4914900"/>
            <a:ext cx="7905900" cy="10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183" name="Google Shape;183;p19"/>
          <p:cNvSpPr txBox="1"/>
          <p:nvPr/>
        </p:nvSpPr>
        <p:spPr>
          <a:xfrm>
            <a:off x="8572500" y="4895850"/>
            <a:ext cx="228600" cy="12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7</a:t>
            </a:r>
            <a:endParaRPr sz="1100"/>
          </a:p>
        </p:txBody>
      </p:sp>
      <p:sp>
        <p:nvSpPr>
          <p:cNvPr id="184" name="Google Shape;184;p19"/>
          <p:cNvSpPr/>
          <p:nvPr/>
        </p:nvSpPr>
        <p:spPr>
          <a:xfrm>
            <a:off x="342900" y="1343025"/>
            <a:ext cx="2705100" cy="22098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5" name="Google Shape;185;p19"/>
          <p:cNvSpPr txBox="1"/>
          <p:nvPr/>
        </p:nvSpPr>
        <p:spPr>
          <a:xfrm>
            <a:off x="514350" y="1514475"/>
            <a:ext cx="23526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01</a:t>
            </a:r>
            <a:endParaRPr sz="1100"/>
          </a:p>
        </p:txBody>
      </p:sp>
      <p:sp>
        <p:nvSpPr>
          <p:cNvPr id="186" name="Google Shape;186;p19"/>
          <p:cNvSpPr txBox="1"/>
          <p:nvPr/>
        </p:nvSpPr>
        <p:spPr>
          <a:xfrm>
            <a:off x="514350" y="1914525"/>
            <a:ext cx="2352600" cy="292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800" u="none" cap="none" strike="noStrike">
                <a:solidFill>
                  <a:srgbClr val="202D48"/>
                </a:solidFill>
                <a:latin typeface="Lato"/>
                <a:ea typeface="Lato"/>
                <a:cs typeface="Lato"/>
                <a:sym typeface="Lato"/>
              </a:rPr>
              <a:t>Match the files</a:t>
            </a:r>
            <a:endParaRPr sz="1100"/>
          </a:p>
        </p:txBody>
      </p:sp>
      <p:sp>
        <p:nvSpPr>
          <p:cNvPr id="187" name="Google Shape;187;p19"/>
          <p:cNvSpPr txBox="1"/>
          <p:nvPr/>
        </p:nvSpPr>
        <p:spPr>
          <a:xfrm>
            <a:off x="514350" y="2686050"/>
            <a:ext cx="23526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Pair each microscope image</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with its annotation file.</a:t>
            </a:r>
            <a:endParaRPr sz="1100"/>
          </a:p>
        </p:txBody>
      </p:sp>
      <p:sp>
        <p:nvSpPr>
          <p:cNvPr id="188" name="Google Shape;188;p19"/>
          <p:cNvSpPr/>
          <p:nvPr/>
        </p:nvSpPr>
        <p:spPr>
          <a:xfrm>
            <a:off x="3219450" y="1343025"/>
            <a:ext cx="2705100" cy="22098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9" name="Google Shape;189;p19"/>
          <p:cNvSpPr txBox="1"/>
          <p:nvPr/>
        </p:nvSpPr>
        <p:spPr>
          <a:xfrm>
            <a:off x="3390900" y="1514475"/>
            <a:ext cx="23526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02</a:t>
            </a:r>
            <a:endParaRPr sz="1100"/>
          </a:p>
        </p:txBody>
      </p:sp>
      <p:sp>
        <p:nvSpPr>
          <p:cNvPr id="190" name="Google Shape;190;p19"/>
          <p:cNvSpPr txBox="1"/>
          <p:nvPr/>
        </p:nvSpPr>
        <p:spPr>
          <a:xfrm>
            <a:off x="3390900" y="1914525"/>
            <a:ext cx="2352600" cy="292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900" u="none" cap="none" strike="noStrike">
                <a:solidFill>
                  <a:srgbClr val="202D48"/>
                </a:solidFill>
                <a:latin typeface="Lato"/>
                <a:ea typeface="Lato"/>
                <a:cs typeface="Lato"/>
                <a:sym typeface="Lato"/>
              </a:rPr>
              <a:t>Map expert labels</a:t>
            </a:r>
            <a:endParaRPr sz="1100"/>
          </a:p>
        </p:txBody>
      </p:sp>
      <p:sp>
        <p:nvSpPr>
          <p:cNvPr id="191" name="Google Shape;191;p19"/>
          <p:cNvSpPr txBox="1"/>
          <p:nvPr/>
        </p:nvSpPr>
        <p:spPr>
          <a:xfrm>
            <a:off x="3390900" y="2686050"/>
            <a:ext cx="23526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Link original annotation titles</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to the target categories.</a:t>
            </a:r>
            <a:endParaRPr sz="1100"/>
          </a:p>
        </p:txBody>
      </p:sp>
      <p:sp>
        <p:nvSpPr>
          <p:cNvPr id="192" name="Google Shape;192;p19"/>
          <p:cNvSpPr/>
          <p:nvPr/>
        </p:nvSpPr>
        <p:spPr>
          <a:xfrm>
            <a:off x="6096000" y="1343025"/>
            <a:ext cx="2705100" cy="22098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3" name="Google Shape;193;p19"/>
          <p:cNvSpPr txBox="1"/>
          <p:nvPr/>
        </p:nvSpPr>
        <p:spPr>
          <a:xfrm>
            <a:off x="6267450" y="1514475"/>
            <a:ext cx="23526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03</a:t>
            </a:r>
            <a:endParaRPr sz="1100"/>
          </a:p>
        </p:txBody>
      </p:sp>
      <p:sp>
        <p:nvSpPr>
          <p:cNvPr id="194" name="Google Shape;194;p19"/>
          <p:cNvSpPr txBox="1"/>
          <p:nvPr/>
        </p:nvSpPr>
        <p:spPr>
          <a:xfrm>
            <a:off x="6267450" y="1914525"/>
            <a:ext cx="2352600" cy="292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800" u="none" cap="none" strike="noStrike">
                <a:solidFill>
                  <a:srgbClr val="202D48"/>
                </a:solidFill>
                <a:latin typeface="Lato"/>
                <a:ea typeface="Lato"/>
                <a:cs typeface="Lato"/>
                <a:sym typeface="Lato"/>
              </a:rPr>
              <a:t>Check the examples</a:t>
            </a:r>
            <a:endParaRPr sz="1100"/>
          </a:p>
        </p:txBody>
      </p:sp>
      <p:sp>
        <p:nvSpPr>
          <p:cNvPr id="195" name="Google Shape;195;p19"/>
          <p:cNvSpPr txBox="1"/>
          <p:nvPr/>
        </p:nvSpPr>
        <p:spPr>
          <a:xfrm>
            <a:off x="6267450" y="2686050"/>
            <a:ext cx="25338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Check positions, missing</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labels, and duplicates.</a:t>
            </a:r>
          </a:p>
        </p:txBody>
      </p:sp>
      <p:sp>
        <p:nvSpPr>
          <p:cNvPr id="196" name="Google Shape;196;p19"/>
          <p:cNvSpPr txBox="1"/>
          <p:nvPr/>
        </p:nvSpPr>
        <p:spPr>
          <a:xfrm>
            <a:off x="3038475" y="2266950"/>
            <a:ext cx="1905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a:t>
            </a:r>
            <a:endParaRPr sz="1100"/>
          </a:p>
        </p:txBody>
      </p:sp>
      <p:sp>
        <p:nvSpPr>
          <p:cNvPr id="197" name="Google Shape;197;p19"/>
          <p:cNvSpPr txBox="1"/>
          <p:nvPr/>
        </p:nvSpPr>
        <p:spPr>
          <a:xfrm>
            <a:off x="5915025" y="2266950"/>
            <a:ext cx="1905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a:t>
            </a:r>
            <a:endParaRPr sz="1100"/>
          </a:p>
        </p:txBody>
      </p:sp>
      <p:sp>
        <p:nvSpPr>
          <p:cNvPr id="198" name="Google Shape;198;p19"/>
          <p:cNvSpPr txBox="1"/>
          <p:nvPr/>
        </p:nvSpPr>
        <p:spPr>
          <a:xfrm>
            <a:off x="342900" y="3752850"/>
            <a:ext cx="1000200" cy="15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000" u="none" cap="none" strike="noStrike">
                <a:solidFill>
                  <a:srgbClr val="93451F"/>
                </a:solidFill>
                <a:latin typeface="Lato"/>
                <a:ea typeface="Lato"/>
                <a:cs typeface="Lato"/>
                <a:sym typeface="Lato"/>
              </a:rPr>
              <a:t>OUTPUT</a:t>
            </a:r>
            <a:endParaRPr sz="1100"/>
          </a:p>
        </p:txBody>
      </p:sp>
      <p:sp>
        <p:nvSpPr>
          <p:cNvPr id="199" name="Google Shape;199;p19"/>
          <p:cNvSpPr txBox="1"/>
          <p:nvPr/>
        </p:nvSpPr>
        <p:spPr>
          <a:xfrm>
            <a:off x="1438275" y="3695700"/>
            <a:ext cx="73629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202D48"/>
                </a:solidFill>
                <a:latin typeface="Lato"/>
                <a:ea typeface="Lato"/>
                <a:cs typeface="Lato"/>
                <a:sym typeface="Lato"/>
              </a:rPr>
              <a:t>Each specimen linked to its image, location, and category</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0"/>
          <p:cNvSpPr/>
          <p:nvPr/>
        </p:nvSpPr>
        <p:spPr>
          <a:xfrm>
            <a:off x="0" y="0"/>
            <a:ext cx="9144000" cy="5143500"/>
          </a:xfrm>
          <a:prstGeom prst="rect">
            <a:avLst/>
          </a:prstGeom>
          <a:solidFill>
            <a:srgbClr val="F8F5E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6" name="Google Shape;206;p20"/>
          <p:cNvSpPr/>
          <p:nvPr/>
        </p:nvSpPr>
        <p:spPr>
          <a:xfrm>
            <a:off x="342900" y="266700"/>
            <a:ext cx="238125" cy="38100"/>
          </a:xfrm>
          <a:prstGeom prst="rect">
            <a:avLst/>
          </a:prstGeom>
          <a:solidFill>
            <a:srgbClr val="93451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7" name="Google Shape;207;p20"/>
          <p:cNvSpPr txBox="1"/>
          <p:nvPr/>
        </p:nvSpPr>
        <p:spPr>
          <a:xfrm>
            <a:off x="695325" y="190500"/>
            <a:ext cx="8096250" cy="16383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08 / DATA PIPELINE</a:t>
            </a:r>
            <a:endParaRPr sz="1100"/>
          </a:p>
        </p:txBody>
      </p:sp>
      <p:sp>
        <p:nvSpPr>
          <p:cNvPr id="208" name="Google Shape;208;p20"/>
          <p:cNvSpPr txBox="1"/>
          <p:nvPr/>
        </p:nvSpPr>
        <p:spPr>
          <a:xfrm>
            <a:off x="342900" y="542925"/>
            <a:ext cx="8458200" cy="4038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2400" u="none" cap="none" strike="noStrike">
                <a:solidFill>
                  <a:srgbClr val="202D48"/>
                </a:solidFill>
                <a:latin typeface="Lato"/>
                <a:ea typeface="Lato"/>
                <a:cs typeface="Lato"/>
                <a:sym typeface="Lato"/>
              </a:rPr>
              <a:t>Prepare examples for a fair test</a:t>
            </a:r>
            <a:endParaRPr sz="1100"/>
          </a:p>
        </p:txBody>
      </p:sp>
      <p:sp>
        <p:nvSpPr>
          <p:cNvPr id="209" name="Google Shape;209;p20"/>
          <p:cNvSpPr/>
          <p:nvPr/>
        </p:nvSpPr>
        <p:spPr>
          <a:xfrm>
            <a:off x="342900" y="4810125"/>
            <a:ext cx="8458200" cy="9525"/>
          </a:xfrm>
          <a:prstGeom prst="rect">
            <a:avLst/>
          </a:prstGeom>
          <a:solidFill>
            <a:srgbClr val="EEE3D6"/>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0" name="Google Shape;210;p20"/>
          <p:cNvSpPr txBox="1"/>
          <p:nvPr/>
        </p:nvSpPr>
        <p:spPr>
          <a:xfrm>
            <a:off x="342900" y="4914900"/>
            <a:ext cx="7905750" cy="1409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00" u="none" cap="none" strike="noStrike">
                <a:solidFill>
                  <a:srgbClr val="596477"/>
                </a:solidFill>
                <a:latin typeface="Lato"/>
                <a:ea typeface="Lato"/>
                <a:cs typeface="Lato"/>
                <a:sym typeface="Lato"/>
              </a:rPr>
              <a:t>SMITHSONIAN × RICE D2K</a:t>
            </a:r>
            <a:endParaRPr sz="1100"/>
          </a:p>
        </p:txBody>
      </p:sp>
      <p:sp>
        <p:nvSpPr>
          <p:cNvPr id="211" name="Google Shape;211;p20"/>
          <p:cNvSpPr txBox="1"/>
          <p:nvPr/>
        </p:nvSpPr>
        <p:spPr>
          <a:xfrm>
            <a:off x="8572500" y="4895850"/>
            <a:ext cx="228600" cy="16383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800" u="none" cap="none" strike="noStrike">
                <a:solidFill>
                  <a:srgbClr val="93451F"/>
                </a:solidFill>
                <a:latin typeface="Lato"/>
                <a:ea typeface="Lato"/>
                <a:cs typeface="Lato"/>
                <a:sym typeface="Lato"/>
              </a:rPr>
              <a:t>8</a:t>
            </a:r>
            <a:endParaRPr sz="1100"/>
          </a:p>
        </p:txBody>
      </p:sp>
      <p:sp>
        <p:nvSpPr>
          <p:cNvPr id="212" name="Google Shape;212;p20"/>
          <p:cNvSpPr/>
          <p:nvPr/>
        </p:nvSpPr>
        <p:spPr>
          <a:xfrm>
            <a:off x="342900" y="1343025"/>
            <a:ext cx="2705100" cy="22098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20"/>
          <p:cNvSpPr txBox="1"/>
          <p:nvPr/>
        </p:nvSpPr>
        <p:spPr>
          <a:xfrm>
            <a:off x="514350" y="1514475"/>
            <a:ext cx="2352675" cy="2438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01</a:t>
            </a:r>
            <a:endParaRPr sz="1100"/>
          </a:p>
        </p:txBody>
      </p:sp>
      <p:sp>
        <p:nvSpPr>
          <p:cNvPr id="214" name="Google Shape;214;p20"/>
          <p:cNvSpPr txBox="1"/>
          <p:nvPr/>
        </p:nvSpPr>
        <p:spPr>
          <a:xfrm>
            <a:off x="514350" y="1914525"/>
            <a:ext cx="2352675" cy="3238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900" u="none" cap="none" strike="noStrike">
                <a:solidFill>
                  <a:srgbClr val="202D48"/>
                </a:solidFill>
                <a:latin typeface="Lato"/>
                <a:ea typeface="Lato"/>
                <a:cs typeface="Lato"/>
                <a:sym typeface="Lato"/>
              </a:rPr>
              <a:t>Group and split</a:t>
            </a:r>
            <a:endParaRPr sz="1100"/>
          </a:p>
        </p:txBody>
      </p:sp>
      <p:sp>
        <p:nvSpPr>
          <p:cNvPr id="215" name="Google Shape;215;p20"/>
          <p:cNvSpPr txBox="1"/>
          <p:nvPr/>
        </p:nvSpPr>
        <p:spPr>
          <a:xfrm>
            <a:off x="514350" y="2619375"/>
            <a:ext cx="2352675" cy="4724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Keep related slides and every</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view of a specimen together.</a:t>
            </a:r>
            <a:endParaRPr sz="1100"/>
          </a:p>
        </p:txBody>
      </p:sp>
      <p:sp>
        <p:nvSpPr>
          <p:cNvPr id="216" name="Google Shape;216;p20"/>
          <p:cNvSpPr/>
          <p:nvPr/>
        </p:nvSpPr>
        <p:spPr>
          <a:xfrm>
            <a:off x="3219450" y="1343025"/>
            <a:ext cx="2705100" cy="22098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7" name="Google Shape;217;p20"/>
          <p:cNvSpPr txBox="1"/>
          <p:nvPr/>
        </p:nvSpPr>
        <p:spPr>
          <a:xfrm>
            <a:off x="3390900" y="1514475"/>
            <a:ext cx="2352675" cy="2438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02</a:t>
            </a:r>
            <a:endParaRPr sz="1100"/>
          </a:p>
        </p:txBody>
      </p:sp>
      <p:sp>
        <p:nvSpPr>
          <p:cNvPr id="218" name="Google Shape;218;p20"/>
          <p:cNvSpPr txBox="1"/>
          <p:nvPr/>
        </p:nvSpPr>
        <p:spPr>
          <a:xfrm>
            <a:off x="3390900" y="1914525"/>
            <a:ext cx="2352675" cy="3238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900" u="none" cap="none" strike="noStrike">
                <a:solidFill>
                  <a:srgbClr val="202D48"/>
                </a:solidFill>
                <a:latin typeface="Lato"/>
                <a:ea typeface="Lato"/>
                <a:cs typeface="Lato"/>
                <a:sym typeface="Lato"/>
              </a:rPr>
              <a:t>Extract and inspect</a:t>
            </a:r>
            <a:endParaRPr sz="1100"/>
          </a:p>
        </p:txBody>
      </p:sp>
      <p:sp>
        <p:nvSpPr>
          <p:cNvPr id="219" name="Google Shape;219;p20"/>
          <p:cNvSpPr txBox="1"/>
          <p:nvPr/>
        </p:nvSpPr>
        <p:spPr>
          <a:xfrm>
            <a:off x="3390900" y="2619375"/>
            <a:ext cx="2352675" cy="68960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Extract small image regions;</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check position and focus.</a:t>
            </a:r>
          </a:p>
        </p:txBody>
      </p:sp>
      <p:sp>
        <p:nvSpPr>
          <p:cNvPr id="220" name="Google Shape;220;p20"/>
          <p:cNvSpPr/>
          <p:nvPr/>
        </p:nvSpPr>
        <p:spPr>
          <a:xfrm>
            <a:off x="6096000" y="1343025"/>
            <a:ext cx="2705100" cy="22098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1" name="Google Shape;221;p20"/>
          <p:cNvSpPr txBox="1"/>
          <p:nvPr/>
        </p:nvSpPr>
        <p:spPr>
          <a:xfrm>
            <a:off x="6267450" y="1514475"/>
            <a:ext cx="2352675" cy="2438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03</a:t>
            </a:r>
            <a:endParaRPr sz="1100"/>
          </a:p>
        </p:txBody>
      </p:sp>
      <p:sp>
        <p:nvSpPr>
          <p:cNvPr id="222" name="Google Shape;222;p20"/>
          <p:cNvSpPr txBox="1"/>
          <p:nvPr/>
        </p:nvSpPr>
        <p:spPr>
          <a:xfrm>
            <a:off x="6267450" y="1914525"/>
            <a:ext cx="2352675" cy="3238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900" u="none" cap="none" strike="noStrike">
                <a:solidFill>
                  <a:srgbClr val="202D48"/>
                </a:solidFill>
                <a:latin typeface="Lato"/>
                <a:ea typeface="Lato"/>
                <a:cs typeface="Lato"/>
                <a:sym typeface="Lato"/>
              </a:rPr>
              <a:t>Build model inputs</a:t>
            </a:r>
            <a:endParaRPr sz="1100"/>
          </a:p>
        </p:txBody>
      </p:sp>
      <p:sp>
        <p:nvSpPr>
          <p:cNvPr id="223" name="Google Shape;223;p20"/>
          <p:cNvSpPr txBox="1"/>
          <p:nvPr/>
        </p:nvSpPr>
        <p:spPr>
          <a:xfrm>
            <a:off x="6267450" y="2619375"/>
            <a:ext cx="2352675" cy="68960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Regions for detection;</a:t>
            </a:r>
            <a:endParaRPr sz="1100"/>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specimen crops for</a:t>
            </a:r>
          </a:p>
          <a:p>
            <a:pPr indent="0" lvl="0" marL="0" marR="0" rtl="0" algn="l">
              <a:lnSpc>
                <a:spcPct val="120000"/>
              </a:lnSpc>
              <a:spcBef>
                <a:spcPts val="0"/>
              </a:spcBef>
              <a:spcAft>
                <a:spcPts val="0"/>
              </a:spcAft>
              <a:buNone/>
            </a:pPr>
            <a:r>
              <a:rPr b="0" i="0" lang="en" sz="1400" u="none" cap="none" strike="noStrike">
                <a:solidFill>
                  <a:srgbClr val="596477"/>
                </a:solidFill>
                <a:latin typeface="Lato"/>
                <a:ea typeface="Lato"/>
                <a:cs typeface="Lato"/>
                <a:sym typeface="Lato"/>
              </a:rPr>
              <a:t>classification.</a:t>
            </a:r>
          </a:p>
        </p:txBody>
      </p:sp>
      <p:sp>
        <p:nvSpPr>
          <p:cNvPr id="224" name="Google Shape;224;p20"/>
          <p:cNvSpPr txBox="1"/>
          <p:nvPr/>
        </p:nvSpPr>
        <p:spPr>
          <a:xfrm>
            <a:off x="3038475" y="2266950"/>
            <a:ext cx="190500" cy="2438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a:t>
            </a:r>
            <a:endParaRPr sz="1100"/>
          </a:p>
        </p:txBody>
      </p:sp>
      <p:sp>
        <p:nvSpPr>
          <p:cNvPr id="225" name="Google Shape;225;p20"/>
          <p:cNvSpPr txBox="1"/>
          <p:nvPr/>
        </p:nvSpPr>
        <p:spPr>
          <a:xfrm>
            <a:off x="5915025" y="2266950"/>
            <a:ext cx="190500" cy="2438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93451F"/>
                </a:solidFill>
                <a:latin typeface="Lato"/>
                <a:ea typeface="Lato"/>
                <a:cs typeface="Lato"/>
                <a:sym typeface="Lato"/>
              </a:rPr>
              <a:t>→</a:t>
            </a:r>
            <a:endParaRPr sz="1100"/>
          </a:p>
        </p:txBody>
      </p:sp>
      <p:sp>
        <p:nvSpPr>
          <p:cNvPr id="226" name="Google Shape;226;p20"/>
          <p:cNvSpPr txBox="1"/>
          <p:nvPr/>
        </p:nvSpPr>
        <p:spPr>
          <a:xfrm>
            <a:off x="342900" y="3771900"/>
            <a:ext cx="1619250" cy="1866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000" u="none" cap="none" strike="noStrike">
                <a:solidFill>
                  <a:srgbClr val="93451F"/>
                </a:solidFill>
                <a:latin typeface="Lato"/>
                <a:ea typeface="Lato"/>
                <a:cs typeface="Lato"/>
                <a:sym typeface="Lato"/>
              </a:rPr>
              <a:t>TRAINING ONLY</a:t>
            </a:r>
            <a:endParaRPr sz="1100"/>
          </a:p>
        </p:txBody>
      </p:sp>
      <p:sp>
        <p:nvSpPr>
          <p:cNvPr id="227" name="Google Shape;227;p20"/>
          <p:cNvSpPr txBox="1"/>
          <p:nvPr/>
        </p:nvSpPr>
        <p:spPr>
          <a:xfrm>
            <a:off x="2084275" y="3749750"/>
            <a:ext cx="66675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 sz="1400" u="none" cap="none" strike="noStrike">
                <a:solidFill>
                  <a:srgbClr val="202D48"/>
                </a:solidFill>
                <a:latin typeface="Lato"/>
                <a:ea typeface="Lato"/>
                <a:cs typeface="Lato"/>
                <a:sym typeface="Lato"/>
              </a:rPr>
              <a:t>Vary training examples and balance categories.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Rectangle 23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09 / PROPOSED METHODS</a:t>
            </a:r>
          </a:p>
        </p:txBody>
      </p:sp>
      <p:sp>
        <p:nvSpPr>
          <p:cNvPr id="236" name="TextBox 235"/>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Two ways to identify specimens</a:t>
            </a:r>
          </a:p>
        </p:txBody>
      </p:sp>
      <p:sp>
        <p:nvSpPr>
          <p:cNvPr id="237" name="Rectangle 236"/>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239" name="TextBox 238"/>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9</a:t>
            </a:r>
          </a:p>
        </p:txBody>
      </p:sp>
      <p:sp>
        <p:nvSpPr>
          <p:cNvPr id="240" name="TextBox 239"/>
          <p:cNvSpPr txBox="1"/>
          <p:nvPr/>
        </p:nvSpPr>
        <p:spPr>
          <a:xfrm>
            <a:off x="365760" y="1207008"/>
            <a:ext cx="8229600" cy="274320"/>
          </a:xfrm>
          <a:prstGeom prst="rect">
            <a:avLst/>
          </a:prstGeom>
          <a:noFill/>
        </p:spPr>
        <p:txBody>
          <a:bodyPr wrap="square" lIns="0" rIns="0" tIns="0" bIns="0">
            <a:spAutoFit/>
          </a:bodyPr>
          <a:lstStyle/>
          <a:p>
            <a:pPr>
              <a:spcAft>
                <a:spcPts val="500"/>
              </a:spcAft>
              <a:defRPr sz="1300" b="1">
                <a:solidFill>
                  <a:srgbClr val="93451F"/>
                </a:solidFill>
                <a:latin typeface="Lato"/>
              </a:defRPr>
            </a:pPr>
            <a:r>
              <a:t>1   FIND AND IDENTIFY TOGETHER</a:t>
            </a:r>
          </a:p>
        </p:txBody>
      </p:sp>
      <p:sp>
        <p:nvSpPr>
          <p:cNvPr id="241" name="Rectangle 240"/>
          <p:cNvSpPr/>
          <p:nvPr/>
        </p:nvSpPr>
        <p:spPr>
          <a:xfrm>
            <a:off x="365760" y="1691640"/>
            <a:ext cx="3749039"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548640" y="1847088"/>
            <a:ext cx="3383280" cy="411480"/>
          </a:xfrm>
          <a:prstGeom prst="rect">
            <a:avLst/>
          </a:prstGeom>
          <a:noFill/>
        </p:spPr>
        <p:txBody>
          <a:bodyPr wrap="square" lIns="0" rIns="0" tIns="0" bIns="0">
            <a:spAutoFit/>
          </a:bodyPr>
          <a:lstStyle/>
          <a:p>
            <a:pPr>
              <a:spcAft>
                <a:spcPts val="500"/>
              </a:spcAft>
              <a:defRPr sz="2000" b="1">
                <a:solidFill>
                  <a:srgbClr val="202D48"/>
                </a:solidFill>
                <a:latin typeface="Lato"/>
              </a:defRPr>
            </a:pPr>
            <a:r>
              <a:t>RF-DETR</a:t>
            </a:r>
          </a:p>
        </p:txBody>
      </p:sp>
      <p:sp>
        <p:nvSpPr>
          <p:cNvPr id="243" name="TextBox 242"/>
          <p:cNvSpPr txBox="1"/>
          <p:nvPr/>
        </p:nvSpPr>
        <p:spPr>
          <a:xfrm>
            <a:off x="4251960" y="1847088"/>
            <a:ext cx="457200" cy="365760"/>
          </a:xfrm>
          <a:prstGeom prst="rect">
            <a:avLst/>
          </a:prstGeom>
          <a:noFill/>
        </p:spPr>
        <p:txBody>
          <a:bodyPr wrap="square" lIns="0" rIns="0" tIns="0" bIns="0">
            <a:spAutoFit/>
          </a:bodyPr>
          <a:lstStyle/>
          <a:p>
            <a:pPr>
              <a:spcAft>
                <a:spcPts val="500"/>
              </a:spcAft>
              <a:defRPr sz="2300" b="0">
                <a:solidFill>
                  <a:srgbClr val="93451F"/>
                </a:solidFill>
                <a:latin typeface="Lato"/>
              </a:defRPr>
            </a:pPr>
            <a:r>
              <a:t>→</a:t>
            </a:r>
          </a:p>
        </p:txBody>
      </p:sp>
      <p:sp>
        <p:nvSpPr>
          <p:cNvPr id="244" name="Rectangle 243"/>
          <p:cNvSpPr/>
          <p:nvPr/>
        </p:nvSpPr>
        <p:spPr>
          <a:xfrm>
            <a:off x="4800600" y="1691640"/>
            <a:ext cx="3977639" cy="73152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4983480" y="1865376"/>
            <a:ext cx="3611880" cy="411480"/>
          </a:xfrm>
          <a:prstGeom prst="rect">
            <a:avLst/>
          </a:prstGeom>
          <a:noFill/>
        </p:spPr>
        <p:txBody>
          <a:bodyPr wrap="square" lIns="0" rIns="0" tIns="0" bIns="0">
            <a:spAutoFit/>
          </a:bodyPr>
          <a:lstStyle/>
          <a:p>
            <a:pPr>
              <a:spcAft>
                <a:spcPts val="500"/>
              </a:spcAft>
              <a:defRPr sz="1900" b="1">
                <a:solidFill>
                  <a:srgbClr val="202D48"/>
                </a:solidFill>
                <a:latin typeface="Lato"/>
              </a:defRPr>
            </a:pPr>
            <a:r>
              <a:t>Location + category</a:t>
            </a:r>
          </a:p>
        </p:txBody>
      </p:sp>
      <p:sp>
        <p:nvSpPr>
          <p:cNvPr id="246" name="TextBox 245"/>
          <p:cNvSpPr txBox="1"/>
          <p:nvPr/>
        </p:nvSpPr>
        <p:spPr>
          <a:xfrm>
            <a:off x="365760" y="2743200"/>
            <a:ext cx="8229600" cy="274320"/>
          </a:xfrm>
          <a:prstGeom prst="rect">
            <a:avLst/>
          </a:prstGeom>
          <a:noFill/>
        </p:spPr>
        <p:txBody>
          <a:bodyPr wrap="square" lIns="0" rIns="0" tIns="0" bIns="0">
            <a:spAutoFit/>
          </a:bodyPr>
          <a:lstStyle/>
          <a:p>
            <a:pPr>
              <a:spcAft>
                <a:spcPts val="500"/>
              </a:spcAft>
              <a:defRPr sz="1300" b="1">
                <a:solidFill>
                  <a:srgbClr val="93451F"/>
                </a:solidFill>
                <a:latin typeface="Lato"/>
              </a:defRPr>
            </a:pPr>
            <a:r>
              <a:t>2   FIND FIRST, IDENTIFY SECOND</a:t>
            </a:r>
          </a:p>
        </p:txBody>
      </p:sp>
      <p:sp>
        <p:nvSpPr>
          <p:cNvPr id="247" name="Rectangle 246"/>
          <p:cNvSpPr/>
          <p:nvPr/>
        </p:nvSpPr>
        <p:spPr>
          <a:xfrm>
            <a:off x="365760" y="3218688"/>
            <a:ext cx="24231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512064" y="3337560"/>
            <a:ext cx="2130552" cy="274320"/>
          </a:xfrm>
          <a:prstGeom prst="rect">
            <a:avLst/>
          </a:prstGeom>
          <a:noFill/>
        </p:spPr>
        <p:txBody>
          <a:bodyPr wrap="square" lIns="0" rIns="0" tIns="0" bIns="0">
            <a:spAutoFit/>
          </a:bodyPr>
          <a:lstStyle/>
          <a:p>
            <a:pPr>
              <a:spcAft>
                <a:spcPts val="500"/>
              </a:spcAft>
              <a:defRPr sz="1800" b="1">
                <a:solidFill>
                  <a:srgbClr val="202D48"/>
                </a:solidFill>
                <a:latin typeface="Lato"/>
              </a:defRPr>
            </a:pPr>
            <a:r>
              <a:t>RF-DETR</a:t>
            </a:r>
          </a:p>
        </p:txBody>
      </p:sp>
      <p:sp>
        <p:nvSpPr>
          <p:cNvPr id="249" name="TextBox 248"/>
          <p:cNvSpPr txBox="1"/>
          <p:nvPr/>
        </p:nvSpPr>
        <p:spPr>
          <a:xfrm>
            <a:off x="512064" y="3703320"/>
            <a:ext cx="2130552" cy="256032"/>
          </a:xfrm>
          <a:prstGeom prst="rect">
            <a:avLst/>
          </a:prstGeom>
          <a:noFill/>
        </p:spPr>
        <p:txBody>
          <a:bodyPr wrap="square" lIns="0" rIns="0" tIns="0" bIns="0">
            <a:spAutoFit/>
          </a:bodyPr>
          <a:lstStyle/>
          <a:p>
            <a:pPr>
              <a:spcAft>
                <a:spcPts val="500"/>
              </a:spcAft>
              <a:defRPr sz="1200" b="0">
                <a:solidFill>
                  <a:srgbClr val="596477"/>
                </a:solidFill>
                <a:latin typeface="Lato"/>
              </a:defRPr>
            </a:pPr>
            <a:r>
              <a:t>Find specimens</a:t>
            </a:r>
          </a:p>
        </p:txBody>
      </p:sp>
      <p:sp>
        <p:nvSpPr>
          <p:cNvPr id="250" name="Rectangle 249"/>
          <p:cNvSpPr/>
          <p:nvPr/>
        </p:nvSpPr>
        <p:spPr>
          <a:xfrm>
            <a:off x="3337560" y="3218688"/>
            <a:ext cx="24231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3483864" y="3337560"/>
            <a:ext cx="2130552" cy="274320"/>
          </a:xfrm>
          <a:prstGeom prst="rect">
            <a:avLst/>
          </a:prstGeom>
          <a:noFill/>
        </p:spPr>
        <p:txBody>
          <a:bodyPr wrap="square" lIns="0" rIns="0" tIns="0" bIns="0">
            <a:spAutoFit/>
          </a:bodyPr>
          <a:lstStyle/>
          <a:p>
            <a:pPr>
              <a:spcAft>
                <a:spcPts val="500"/>
              </a:spcAft>
              <a:defRPr sz="1800" b="1">
                <a:solidFill>
                  <a:srgbClr val="202D48"/>
                </a:solidFill>
                <a:latin typeface="Lato"/>
              </a:defRPr>
            </a:pPr>
            <a:r>
              <a:t>Specimen crops</a:t>
            </a:r>
          </a:p>
        </p:txBody>
      </p:sp>
      <p:sp>
        <p:nvSpPr>
          <p:cNvPr id="252" name="TextBox 251"/>
          <p:cNvSpPr txBox="1"/>
          <p:nvPr/>
        </p:nvSpPr>
        <p:spPr>
          <a:xfrm>
            <a:off x="3483864" y="3703320"/>
            <a:ext cx="2130552" cy="256032"/>
          </a:xfrm>
          <a:prstGeom prst="rect">
            <a:avLst/>
          </a:prstGeom>
          <a:noFill/>
        </p:spPr>
        <p:txBody>
          <a:bodyPr wrap="square" lIns="0" rIns="0" tIns="0" bIns="0">
            <a:spAutoFit/>
          </a:bodyPr>
          <a:lstStyle/>
          <a:p>
            <a:pPr>
              <a:spcAft>
                <a:spcPts val="500"/>
              </a:spcAft>
              <a:defRPr sz="1200" b="0">
                <a:solidFill>
                  <a:srgbClr val="596477"/>
                </a:solidFill>
                <a:latin typeface="Lato"/>
              </a:defRPr>
            </a:pPr>
            <a:r>
              <a:t>Isolate each example</a:t>
            </a:r>
          </a:p>
        </p:txBody>
      </p:sp>
      <p:sp>
        <p:nvSpPr>
          <p:cNvPr id="253" name="Rectangle 252"/>
          <p:cNvSpPr/>
          <p:nvPr/>
        </p:nvSpPr>
        <p:spPr>
          <a:xfrm>
            <a:off x="6309360" y="3218688"/>
            <a:ext cx="246888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6455664" y="3337560"/>
            <a:ext cx="2176272" cy="274320"/>
          </a:xfrm>
          <a:prstGeom prst="rect">
            <a:avLst/>
          </a:prstGeom>
          <a:noFill/>
        </p:spPr>
        <p:txBody>
          <a:bodyPr wrap="square" lIns="0" rIns="0" tIns="0" bIns="0">
            <a:spAutoFit/>
          </a:bodyPr>
          <a:lstStyle/>
          <a:p>
            <a:pPr>
              <a:spcAft>
                <a:spcPts val="500"/>
              </a:spcAft>
              <a:defRPr sz="1800" b="1">
                <a:solidFill>
                  <a:srgbClr val="202D48"/>
                </a:solidFill>
                <a:latin typeface="Lato"/>
              </a:defRPr>
            </a:pPr>
            <a:r>
              <a:t>Swin-Tiny</a:t>
            </a:r>
          </a:p>
        </p:txBody>
      </p:sp>
      <p:sp>
        <p:nvSpPr>
          <p:cNvPr id="255" name="TextBox 254"/>
          <p:cNvSpPr txBox="1"/>
          <p:nvPr/>
        </p:nvSpPr>
        <p:spPr>
          <a:xfrm>
            <a:off x="6455664" y="3703320"/>
            <a:ext cx="2176272" cy="256032"/>
          </a:xfrm>
          <a:prstGeom prst="rect">
            <a:avLst/>
          </a:prstGeom>
          <a:noFill/>
        </p:spPr>
        <p:txBody>
          <a:bodyPr wrap="square" lIns="0" rIns="0" tIns="0" bIns="0">
            <a:spAutoFit/>
          </a:bodyPr>
          <a:lstStyle/>
          <a:p>
            <a:pPr>
              <a:spcAft>
                <a:spcPts val="500"/>
              </a:spcAft>
              <a:defRPr sz="1200" b="0">
                <a:solidFill>
                  <a:srgbClr val="596477"/>
                </a:solidFill>
                <a:latin typeface="Lato"/>
              </a:defRPr>
            </a:pPr>
            <a:r>
              <a:t>Identify its category</a:t>
            </a:r>
          </a:p>
        </p:txBody>
      </p:sp>
      <p:sp>
        <p:nvSpPr>
          <p:cNvPr id="256" name="TextBox 255"/>
          <p:cNvSpPr txBox="1"/>
          <p:nvPr/>
        </p:nvSpPr>
        <p:spPr>
          <a:xfrm>
            <a:off x="2880360" y="3493008"/>
            <a:ext cx="365760" cy="365760"/>
          </a:xfrm>
          <a:prstGeom prst="rect">
            <a:avLst/>
          </a:prstGeom>
          <a:noFill/>
        </p:spPr>
        <p:txBody>
          <a:bodyPr wrap="square" lIns="0" rIns="0" tIns="0" bIns="0">
            <a:spAutoFit/>
          </a:bodyPr>
          <a:lstStyle/>
          <a:p>
            <a:pPr>
              <a:spcAft>
                <a:spcPts val="500"/>
              </a:spcAft>
              <a:defRPr sz="2300" b="0">
                <a:solidFill>
                  <a:srgbClr val="93451F"/>
                </a:solidFill>
                <a:latin typeface="Lato"/>
              </a:defRPr>
            </a:pPr>
            <a:r>
              <a:t>→</a:t>
            </a:r>
          </a:p>
        </p:txBody>
      </p:sp>
      <p:sp>
        <p:nvSpPr>
          <p:cNvPr id="257" name="TextBox 256"/>
          <p:cNvSpPr txBox="1"/>
          <p:nvPr/>
        </p:nvSpPr>
        <p:spPr>
          <a:xfrm>
            <a:off x="5852160" y="3493008"/>
            <a:ext cx="365760" cy="365760"/>
          </a:xfrm>
          <a:prstGeom prst="rect">
            <a:avLst/>
          </a:prstGeom>
          <a:noFill/>
        </p:spPr>
        <p:txBody>
          <a:bodyPr wrap="square" lIns="0" rIns="0" tIns="0" bIns="0">
            <a:spAutoFit/>
          </a:bodyPr>
          <a:lstStyle/>
          <a:p>
            <a:pPr>
              <a:spcAft>
                <a:spcPts val="500"/>
              </a:spcAft>
              <a:defRPr sz="2300" b="0">
                <a:solidFill>
                  <a:srgbClr val="93451F"/>
                </a:solidFill>
                <a:latin typeface="Lato"/>
              </a:defRPr>
            </a:pPr>
            <a:r>
              <a:t>→</a:t>
            </a:r>
          </a:p>
        </p:txBody>
      </p:sp>
      <p:sp>
        <p:nvSpPr>
          <p:cNvPr id="258" name="TextBox 257"/>
          <p:cNvSpPr txBox="1"/>
          <p:nvPr/>
        </p:nvSpPr>
        <p:spPr>
          <a:xfrm>
            <a:off x="365760" y="4370832"/>
            <a:ext cx="8412480" cy="274320"/>
          </a:xfrm>
          <a:prstGeom prst="rect">
            <a:avLst/>
          </a:prstGeom>
          <a:noFill/>
        </p:spPr>
        <p:txBody>
          <a:bodyPr wrap="square" lIns="0" rIns="0" tIns="0" bIns="0">
            <a:spAutoFit/>
          </a:bodyPr>
          <a:lstStyle/>
          <a:p>
            <a:pPr>
              <a:spcAft>
                <a:spcPts val="500"/>
              </a:spcAft>
              <a:defRPr sz="1500" b="1">
                <a:solidFill>
                  <a:srgbClr val="93451F"/>
                </a:solidFill>
                <a:latin typeface="Lato"/>
              </a:defRPr>
            </a:pPr>
            <a:r>
              <a:t>Compare location accuracy and category identification.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01 / WELCOME</a:t>
            </a:r>
          </a:p>
        </p:txBody>
      </p:sp>
      <p:sp>
        <p:nvSpPr>
          <p:cNvPr id="6" name="Rectangle 5"/>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8" name="TextBox 7"/>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1</a:t>
            </a:r>
          </a:p>
        </p:txBody>
      </p:sp>
      <p:sp>
        <p:nvSpPr>
          <p:cNvPr id="9" name="Rectangle 8"/>
          <p:cNvSpPr/>
          <p:nvPr/>
        </p:nvSpPr>
        <p:spPr>
          <a:xfrm>
            <a:off x="365760" y="1234440"/>
            <a:ext cx="50292" cy="210312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52728"/>
            <a:ext cx="5669280" cy="1508760"/>
          </a:xfrm>
          <a:prstGeom prst="rect">
            <a:avLst/>
          </a:prstGeom>
          <a:noFill/>
        </p:spPr>
        <p:txBody>
          <a:bodyPr wrap="square" lIns="0" rIns="0" tIns="0" bIns="0">
            <a:spAutoFit/>
          </a:bodyPr>
          <a:lstStyle/>
          <a:p>
            <a:pPr>
              <a:spcAft>
                <a:spcPts val="500"/>
              </a:spcAft>
              <a:defRPr sz="3000" b="1">
                <a:solidFill>
                  <a:srgbClr val="202D48"/>
                </a:solidFill>
                <a:latin typeface="Lato"/>
              </a:defRPr>
            </a:pPr>
            <a:r>
              <a:t>Identifying Fossil Pollen</a:t>
            </a:r>
          </a:p>
          <a:p>
            <a:pPr>
              <a:spcAft>
                <a:spcPts val="500"/>
              </a:spcAft>
              <a:defRPr sz="3000" b="1">
                <a:solidFill>
                  <a:srgbClr val="202D48"/>
                </a:solidFill>
                <a:latin typeface="Lato"/>
              </a:defRPr>
            </a:pPr>
            <a:r>
              <a:t>with Machine Learning</a:t>
            </a:r>
          </a:p>
        </p:txBody>
      </p:sp>
      <p:sp>
        <p:nvSpPr>
          <p:cNvPr id="11" name="TextBox 10"/>
          <p:cNvSpPr txBox="1"/>
          <p:nvPr/>
        </p:nvSpPr>
        <p:spPr>
          <a:xfrm>
            <a:off x="640080" y="2880360"/>
            <a:ext cx="5212080" cy="594360"/>
          </a:xfrm>
          <a:prstGeom prst="rect">
            <a:avLst/>
          </a:prstGeom>
          <a:noFill/>
        </p:spPr>
        <p:txBody>
          <a:bodyPr wrap="square" lIns="0" rIns="0" tIns="0" bIns="0">
            <a:spAutoFit/>
          </a:bodyPr>
          <a:lstStyle/>
          <a:p>
            <a:pPr>
              <a:spcAft>
                <a:spcPts val="500"/>
              </a:spcAft>
              <a:defRPr sz="1700" b="0">
                <a:solidFill>
                  <a:srgbClr val="596477"/>
                </a:solidFill>
                <a:latin typeface="Lato"/>
              </a:defRPr>
            </a:pPr>
            <a:r>
              <a:t>Help researchers identify fossil pollen</a:t>
            </a:r>
          </a:p>
          <a:p>
            <a:pPr>
              <a:spcAft>
                <a:spcPts val="500"/>
              </a:spcAft>
              <a:defRPr sz="1700" b="0">
                <a:solidFill>
                  <a:srgbClr val="596477"/>
                </a:solidFill>
                <a:latin typeface="Lato"/>
              </a:defRPr>
            </a:pPr>
            <a:r>
              <a:t>categories more efficiently.</a:t>
            </a:r>
          </a:p>
        </p:txBody>
      </p:sp>
      <p:pic>
        <p:nvPicPr>
          <p:cNvPr id="12" name="Picture 11" descr="shard_0_target_027_crop.png"/>
          <p:cNvPicPr>
            <a:picLocks noChangeAspect="1"/>
          </p:cNvPicPr>
          <p:nvPr/>
        </p:nvPicPr>
        <p:blipFill>
          <a:blip r:embed="rId2"/>
          <a:stretch>
            <a:fillRect/>
          </a:stretch>
        </p:blipFill>
        <p:spPr>
          <a:xfrm>
            <a:off x="6446520" y="1399032"/>
            <a:ext cx="2240280" cy="2240280"/>
          </a:xfrm>
          <a:prstGeom prst="rect">
            <a:avLst/>
          </a:prstGeom>
        </p:spPr>
      </p:pic>
      <p:sp>
        <p:nvSpPr>
          <p:cNvPr id="13" name="TextBox 12"/>
          <p:cNvSpPr txBox="1"/>
          <p:nvPr/>
        </p:nvSpPr>
        <p:spPr>
          <a:xfrm>
            <a:off x="640080" y="4096512"/>
            <a:ext cx="7955279" cy="365760"/>
          </a:xfrm>
          <a:prstGeom prst="rect">
            <a:avLst/>
          </a:prstGeom>
          <a:noFill/>
        </p:spPr>
        <p:txBody>
          <a:bodyPr wrap="square" lIns="0" rIns="0" tIns="0" bIns="0">
            <a:spAutoFit/>
          </a:bodyPr>
          <a:lstStyle/>
          <a:p>
            <a:pPr>
              <a:spcAft>
                <a:spcPts val="500"/>
              </a:spcAft>
              <a:defRPr sz="1200" b="0">
                <a:solidFill>
                  <a:srgbClr val="596477"/>
                </a:solidFill>
                <a:latin typeface="Lato"/>
              </a:defRPr>
            </a:pPr>
            <a:r>
              <a:t>Patrick Batsell · Yun Ying Tsai · Yeonju Kim · Yunfan Bao · Alan Yang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9144000" cy="51435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472" y="265176"/>
            <a:ext cx="237744" cy="36576"/>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82880"/>
            <a:ext cx="8092440" cy="182880"/>
          </a:xfrm>
          <a:prstGeom prst="rect">
            <a:avLst/>
          </a:prstGeom>
          <a:noFill/>
        </p:spPr>
        <p:txBody>
          <a:bodyPr wrap="square" lIns="0" rIns="0" tIns="0" bIns="0">
            <a:spAutoFit/>
          </a:bodyPr>
          <a:lstStyle/>
          <a:p>
            <a:pPr>
              <a:spcAft>
                <a:spcPts val="500"/>
              </a:spcAft>
              <a:defRPr sz="800" b="1">
                <a:solidFill>
                  <a:srgbClr val="93451F"/>
                </a:solidFill>
                <a:latin typeface="Lato"/>
              </a:defRPr>
            </a:pPr>
            <a:r>
              <a:t>10 / CONCLUSION</a:t>
            </a:r>
          </a:p>
        </p:txBody>
      </p:sp>
      <p:sp>
        <p:nvSpPr>
          <p:cNvPr id="6" name="TextBox 5"/>
          <p:cNvSpPr txBox="1"/>
          <p:nvPr/>
        </p:nvSpPr>
        <p:spPr>
          <a:xfrm>
            <a:off x="347472" y="539496"/>
            <a:ext cx="8458200" cy="548640"/>
          </a:xfrm>
          <a:prstGeom prst="rect">
            <a:avLst/>
          </a:prstGeom>
          <a:noFill/>
        </p:spPr>
        <p:txBody>
          <a:bodyPr wrap="square" lIns="0" rIns="0" tIns="0" bIns="0">
            <a:spAutoFit/>
          </a:bodyPr>
          <a:lstStyle/>
          <a:p>
            <a:pPr>
              <a:spcAft>
                <a:spcPts val="500"/>
              </a:spcAft>
              <a:defRPr sz="2400" b="1">
                <a:solidFill>
                  <a:srgbClr val="202D48"/>
                </a:solidFill>
                <a:latin typeface="Lato"/>
              </a:defRPr>
            </a:pPr>
            <a:r>
              <a:t>From finding pollen to identifying it</a:t>
            </a:r>
          </a:p>
        </p:txBody>
      </p:sp>
      <p:sp>
        <p:nvSpPr>
          <p:cNvPr id="7" name="Rectangle 6"/>
          <p:cNvSpPr/>
          <p:nvPr/>
        </p:nvSpPr>
        <p:spPr>
          <a:xfrm>
            <a:off x="347472" y="4809744"/>
            <a:ext cx="8458200" cy="8229"/>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4901184"/>
            <a:ext cx="7909560" cy="164592"/>
          </a:xfrm>
          <a:prstGeom prst="rect">
            <a:avLst/>
          </a:prstGeom>
          <a:noFill/>
        </p:spPr>
        <p:txBody>
          <a:bodyPr wrap="square" lIns="0" rIns="0" tIns="0" bIns="0">
            <a:spAutoFit/>
          </a:bodyPr>
          <a:lstStyle/>
          <a:p>
            <a:pPr>
              <a:spcAft>
                <a:spcPts val="500"/>
              </a:spcAft>
              <a:defRPr sz="700" b="0">
                <a:solidFill>
                  <a:srgbClr val="596477"/>
                </a:solidFill>
                <a:latin typeface="Lato"/>
              </a:defRPr>
            </a:pPr>
            <a:r>
              <a:t>SMITHSONIAN × RICE D2K</a:t>
            </a:r>
          </a:p>
        </p:txBody>
      </p:sp>
      <p:sp>
        <p:nvSpPr>
          <p:cNvPr id="9" name="TextBox 8"/>
          <p:cNvSpPr txBox="1"/>
          <p:nvPr/>
        </p:nvSpPr>
        <p:spPr>
          <a:xfrm>
            <a:off x="8549640" y="4882896"/>
            <a:ext cx="274320" cy="182880"/>
          </a:xfrm>
          <a:prstGeom prst="rect">
            <a:avLst/>
          </a:prstGeom>
          <a:noFill/>
        </p:spPr>
        <p:txBody>
          <a:bodyPr wrap="square" lIns="0" rIns="0" tIns="0" bIns="0">
            <a:spAutoFit/>
          </a:bodyPr>
          <a:lstStyle/>
          <a:p>
            <a:pPr>
              <a:spcAft>
                <a:spcPts val="500"/>
              </a:spcAft>
              <a:defRPr sz="800" b="0">
                <a:solidFill>
                  <a:srgbClr val="596477"/>
                </a:solidFill>
                <a:latin typeface="Lato"/>
              </a:defRPr>
            </a:pPr>
            <a:r>
              <a:t>10</a:t>
            </a:r>
          </a:p>
        </p:txBody>
      </p:sp>
      <p:sp>
        <p:nvSpPr>
          <p:cNvPr id="10" name="TextBox 9"/>
          <p:cNvSpPr txBox="1"/>
          <p:nvPr/>
        </p:nvSpPr>
        <p:spPr>
          <a:xfrm>
            <a:off x="411480" y="1389888"/>
            <a:ext cx="8138160" cy="548640"/>
          </a:xfrm>
          <a:prstGeom prst="rect">
            <a:avLst/>
          </a:prstGeom>
          <a:noFill/>
        </p:spPr>
        <p:txBody>
          <a:bodyPr wrap="square" lIns="0" rIns="0" tIns="0" bIns="0">
            <a:spAutoFit/>
          </a:bodyPr>
          <a:lstStyle/>
          <a:p>
            <a:pPr>
              <a:spcAft>
                <a:spcPts val="500"/>
              </a:spcAft>
              <a:defRPr sz="2300" b="1">
                <a:solidFill>
                  <a:srgbClr val="202D48"/>
                </a:solidFill>
                <a:latin typeface="Lato"/>
              </a:defRPr>
            </a:pPr>
            <a:r>
              <a:t>Compare two approaches to automated identification.</a:t>
            </a:r>
          </a:p>
        </p:txBody>
      </p:sp>
      <p:sp>
        <p:nvSpPr>
          <p:cNvPr id="11" name="Rectangle 10"/>
          <p:cNvSpPr/>
          <p:nvPr/>
        </p:nvSpPr>
        <p:spPr>
          <a:xfrm>
            <a:off x="411480" y="2331720"/>
            <a:ext cx="2560320" cy="1170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2496312"/>
            <a:ext cx="2240280"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01</a:t>
            </a:r>
          </a:p>
        </p:txBody>
      </p:sp>
      <p:sp>
        <p:nvSpPr>
          <p:cNvPr id="13" name="TextBox 12"/>
          <p:cNvSpPr txBox="1"/>
          <p:nvPr/>
        </p:nvSpPr>
        <p:spPr>
          <a:xfrm>
            <a:off x="576072" y="2852928"/>
            <a:ext cx="2221992" cy="502920"/>
          </a:xfrm>
          <a:prstGeom prst="rect">
            <a:avLst/>
          </a:prstGeom>
          <a:noFill/>
        </p:spPr>
        <p:txBody>
          <a:bodyPr wrap="square" lIns="0" rIns="0" tIns="0" bIns="0">
            <a:spAutoFit/>
          </a:bodyPr>
          <a:lstStyle/>
          <a:p>
            <a:pPr>
              <a:spcAft>
                <a:spcPts val="500"/>
              </a:spcAft>
              <a:defRPr sz="1700" b="1">
                <a:solidFill>
                  <a:srgbClr val="202D48"/>
                </a:solidFill>
                <a:latin typeface="Lato"/>
              </a:defRPr>
            </a:pPr>
            <a:r>
              <a:t>Prepare specimen images</a:t>
            </a:r>
          </a:p>
        </p:txBody>
      </p:sp>
      <p:sp>
        <p:nvSpPr>
          <p:cNvPr id="14" name="Rectangle 13"/>
          <p:cNvSpPr/>
          <p:nvPr/>
        </p:nvSpPr>
        <p:spPr>
          <a:xfrm>
            <a:off x="3291840" y="2331720"/>
            <a:ext cx="2560320" cy="1170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496312"/>
            <a:ext cx="2240280"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02</a:t>
            </a:r>
          </a:p>
        </p:txBody>
      </p:sp>
      <p:sp>
        <p:nvSpPr>
          <p:cNvPr id="16" name="TextBox 15"/>
          <p:cNvSpPr txBox="1"/>
          <p:nvPr/>
        </p:nvSpPr>
        <p:spPr>
          <a:xfrm>
            <a:off x="3456432" y="2852928"/>
            <a:ext cx="2221992" cy="502920"/>
          </a:xfrm>
          <a:prstGeom prst="rect">
            <a:avLst/>
          </a:prstGeom>
          <a:noFill/>
        </p:spPr>
        <p:txBody>
          <a:bodyPr wrap="square" lIns="0" rIns="0" tIns="0" bIns="0">
            <a:spAutoFit/>
          </a:bodyPr>
          <a:lstStyle/>
          <a:p>
            <a:pPr>
              <a:spcAft>
                <a:spcPts val="500"/>
              </a:spcAft>
              <a:defRPr sz="1700" b="1">
                <a:solidFill>
                  <a:srgbClr val="202D48"/>
                </a:solidFill>
                <a:latin typeface="Lato"/>
              </a:defRPr>
            </a:pPr>
            <a:r>
              <a:t>Train initial models</a:t>
            </a:r>
          </a:p>
        </p:txBody>
      </p:sp>
      <p:sp>
        <p:nvSpPr>
          <p:cNvPr id="17" name="Rectangle 16"/>
          <p:cNvSpPr/>
          <p:nvPr/>
        </p:nvSpPr>
        <p:spPr>
          <a:xfrm>
            <a:off x="6172200" y="2331720"/>
            <a:ext cx="2560320" cy="1170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496312"/>
            <a:ext cx="2240280" cy="228600"/>
          </a:xfrm>
          <a:prstGeom prst="rect">
            <a:avLst/>
          </a:prstGeom>
          <a:noFill/>
        </p:spPr>
        <p:txBody>
          <a:bodyPr wrap="square" lIns="0" rIns="0" tIns="0" bIns="0">
            <a:spAutoFit/>
          </a:bodyPr>
          <a:lstStyle/>
          <a:p>
            <a:pPr>
              <a:spcAft>
                <a:spcPts val="500"/>
              </a:spcAft>
              <a:defRPr sz="1200" b="1">
                <a:solidFill>
                  <a:srgbClr val="93451F"/>
                </a:solidFill>
                <a:latin typeface="Lato"/>
              </a:defRPr>
            </a:pPr>
            <a:r>
              <a:t>03</a:t>
            </a:r>
          </a:p>
        </p:txBody>
      </p:sp>
      <p:sp>
        <p:nvSpPr>
          <p:cNvPr id="19" name="TextBox 18"/>
          <p:cNvSpPr txBox="1"/>
          <p:nvPr/>
        </p:nvSpPr>
        <p:spPr>
          <a:xfrm>
            <a:off x="6336792" y="2852928"/>
            <a:ext cx="2221992" cy="502920"/>
          </a:xfrm>
          <a:prstGeom prst="rect">
            <a:avLst/>
          </a:prstGeom>
          <a:noFill/>
        </p:spPr>
        <p:txBody>
          <a:bodyPr wrap="square" lIns="0" rIns="0" tIns="0" bIns="0">
            <a:spAutoFit/>
          </a:bodyPr>
          <a:lstStyle/>
          <a:p>
            <a:pPr>
              <a:spcAft>
                <a:spcPts val="500"/>
              </a:spcAft>
              <a:defRPr sz="1700" b="1">
                <a:solidFill>
                  <a:srgbClr val="202D48"/>
                </a:solidFill>
                <a:latin typeface="Lato"/>
              </a:defRPr>
            </a:pPr>
            <a:r>
              <a:t>Evaluate mistakes</a:t>
            </a:r>
          </a:p>
        </p:txBody>
      </p:sp>
      <p:sp>
        <p:nvSpPr>
          <p:cNvPr id="20" name="TextBox 19"/>
          <p:cNvSpPr txBox="1"/>
          <p:nvPr/>
        </p:nvSpPr>
        <p:spPr>
          <a:xfrm>
            <a:off x="411480" y="3977639"/>
            <a:ext cx="8229600" cy="502920"/>
          </a:xfrm>
          <a:prstGeom prst="rect">
            <a:avLst/>
          </a:prstGeom>
          <a:noFill/>
        </p:spPr>
        <p:txBody>
          <a:bodyPr wrap="square" lIns="0" rIns="0" tIns="0" bIns="0">
            <a:spAutoFit/>
          </a:bodyPr>
          <a:lstStyle/>
          <a:p>
            <a:pPr>
              <a:spcAft>
                <a:spcPts val="500"/>
              </a:spcAft>
              <a:defRPr sz="2100" b="1">
                <a:solidFill>
                  <a:srgbClr val="93451F"/>
                </a:solidFill>
                <a:latin typeface="Lato"/>
              </a:defRPr>
            </a:pPr>
            <a:r>
              <a:t>Help experts study past vegetation more efficiently.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