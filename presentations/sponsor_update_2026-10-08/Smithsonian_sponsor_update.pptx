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We’ve organized this update into two parts. First is the RF-DETR method, which aims to locate specimens and identify their categories together. Then we’ll cover the classifier backbones, which identify categories from prepared specimen crops. We kept the same 2,283 specimens and grouped the original 32 labels into 28 broader categories. Four Momipites labels now form one group, and two Caryapollenites labels form another. The images here are real examples with expert labels.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 seconds</a:t>
            </a:r>
          </a:p>
          <a:p/>
          <a:p>
            <a:r>
              <a:t>PLACEHOLDER — not a spoken script. RF-DETR team to add its method, progress and results. Allow approximately 60 seconds if the full presentation should stay near five minutes. No RF-DETR results are supplied or implied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The microscope scans show each specimen at several focal depths. On the left is the original view; on the right is a sharper view of the same specimen. We used a sharpness score to choose one plane for each crop. In our earlier 32-category experiment, with the same Swin training settings, validation accuracy on unfamiliar slides increased from about 32 to 38 percent. This example illustrates the focus change; it doesn’t mean this particular specimen caused that improvement. We’d also like to know when identification requires features visible across several depths, rather than just one sharp image.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50 seconds</a:t>
            </a:r>
          </a:p>
          <a:p/>
          <a:p>
            <a:r>
              <a:t>We checked performance in two situations. In the unseen-slide experiment, all specimens from a slide stay together, so the model is checked on slides it hasn’t learned from. In the shared-slide experiment, it learns from some grains and is checked on other grains from the same slides. We never reuse the exact same specimen in both sets. Shared slides can have familiar staining and imaging conditions, so that is an easier situation. Both experiments have the same number of training and validation examples, but the actual examples differ. A separate final test set remains unused.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55 seconds</a:t>
            </a:r>
          </a:p>
          <a:p/>
          <a:p>
            <a:r>
              <a:t>We trained both models again using the 28 broader categories. Swin reached about 43 percent on unseen slides and 71 percent with shared slides. DINO reached 50 percent and 74 percent, so it still leads both comparisons. But grouping categories makes the task easier. If we simply regroup our earlier DINO predictions, we already get about 50 and 74 percent. So retraining on the broader labels has added very little accuracy so far. These are validation results for prepared crops; we have not evaluated the final test 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These three categories remain difficult in both settings: Bombacacidites, Polyatriopollenites, and Psilatricolpites. The counts show how many examples were identified correctly. They have relatively few labeled examples, which may contribute, but some other small categories perform well. We haven’t established the main cause. We’ll inspect which categories they get confused with and whether focus or crop quality is hiding useful details. The shared-slide results use only seven or eight examples per category, so the percentages are uncertain. The merged Momipites group now gets about 80 percent correct in both settings and is no longer a main weakness.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C5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C5A2FF"/>
                </a:solidFill>
                <a:latin typeface="Lato"/>
              </a:defRPr>
            </a:pPr>
            <a:r>
              <a:t>01 / PROJECT UPDATE</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F5F2FF"/>
                </a:solidFill>
                <a:latin typeface="Lato"/>
              </a:defRPr>
            </a:pPr>
            <a:r>
              <a:t>Two approaches to identifying fossil pollen</a:t>
            </a:r>
          </a:p>
        </p:txBody>
      </p:sp>
      <p:sp>
        <p:nvSpPr>
          <p:cNvPr id="6" name="Rectangle 5"/>
          <p:cNvSpPr/>
          <p:nvPr/>
        </p:nvSpPr>
        <p:spPr>
          <a:xfrm>
            <a:off x="533400" y="6413500"/>
            <a:ext cx="11125200" cy="127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B9B2CC"/>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B9B2CC"/>
                </a:solidFill>
                <a:latin typeface="Lato"/>
              </a:defRPr>
            </a:pPr>
            <a:r>
              <a:t>1</a:t>
            </a:r>
          </a:p>
        </p:txBody>
      </p:sp>
      <p:sp>
        <p:nvSpPr>
          <p:cNvPr id="9" name="TextBox 8"/>
          <p:cNvSpPr txBox="1"/>
          <p:nvPr/>
        </p:nvSpPr>
        <p:spPr>
          <a:xfrm>
            <a:off x="558800" y="1612900"/>
            <a:ext cx="10922000" cy="406400"/>
          </a:xfrm>
          <a:prstGeom prst="rect">
            <a:avLst/>
          </a:prstGeom>
          <a:noFill/>
        </p:spPr>
        <p:txBody>
          <a:bodyPr wrap="none" tIns="0" bIns="0" lIns="0" rIns="0">
            <a:spAutoFit/>
          </a:bodyPr>
          <a:lstStyle/>
          <a:p>
            <a:pPr>
              <a:lnSpc>
                <a:spcPct val="112000"/>
              </a:lnSpc>
              <a:spcBef>
                <a:spcPts val="0"/>
              </a:spcBef>
              <a:spcAft>
                <a:spcPts val="0"/>
              </a:spcAft>
              <a:defRPr sz="2100" b="0">
                <a:solidFill>
                  <a:srgbClr val="B9B2CC"/>
                </a:solidFill>
                <a:latin typeface="Lato"/>
              </a:defRPr>
            </a:pPr>
            <a:r>
              <a:t>RF-DETR method first · classifier backbones second</a:t>
            </a:r>
          </a:p>
        </p:txBody>
      </p:sp>
      <p:sp>
        <p:nvSpPr>
          <p:cNvPr id="10" name="Rectangle 9"/>
          <p:cNvSpPr/>
          <p:nvPr/>
        </p:nvSpPr>
        <p:spPr>
          <a:xfrm>
            <a:off x="558800" y="2451100"/>
            <a:ext cx="4749800" cy="12700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300" y="2628900"/>
            <a:ext cx="508000" cy="368300"/>
          </a:xfrm>
          <a:prstGeom prst="rect">
            <a:avLst/>
          </a:prstGeom>
          <a:noFill/>
        </p:spPr>
        <p:txBody>
          <a:bodyPr wrap="none" tIns="0" bIns="0" lIns="0" rIns="0">
            <a:spAutoFit/>
          </a:bodyPr>
          <a:lstStyle/>
          <a:p>
            <a:pPr>
              <a:lnSpc>
                <a:spcPct val="112000"/>
              </a:lnSpc>
              <a:spcBef>
                <a:spcPts val="0"/>
              </a:spcBef>
              <a:spcAft>
                <a:spcPts val="0"/>
              </a:spcAft>
              <a:defRPr sz="1800" b="1">
                <a:solidFill>
                  <a:srgbClr val="BE95FF"/>
                </a:solidFill>
                <a:latin typeface="Lato"/>
              </a:defRPr>
            </a:pPr>
            <a:r>
              <a:t>01</a:t>
            </a:r>
          </a:p>
        </p:txBody>
      </p:sp>
      <p:sp>
        <p:nvSpPr>
          <p:cNvPr id="12" name="TextBox 11"/>
          <p:cNvSpPr txBox="1"/>
          <p:nvPr/>
        </p:nvSpPr>
        <p:spPr>
          <a:xfrm>
            <a:off x="1333500" y="2603500"/>
            <a:ext cx="3810000" cy="431800"/>
          </a:xfrm>
          <a:prstGeom prst="rect">
            <a:avLst/>
          </a:prstGeom>
          <a:noFill/>
        </p:spPr>
        <p:txBody>
          <a:bodyPr wrap="none" tIns="0" bIns="0" lIns="0" rIns="0">
            <a:spAutoFit/>
          </a:bodyPr>
          <a:lstStyle/>
          <a:p>
            <a:pPr>
              <a:lnSpc>
                <a:spcPct val="112000"/>
              </a:lnSpc>
              <a:spcBef>
                <a:spcPts val="0"/>
              </a:spcBef>
              <a:spcAft>
                <a:spcPts val="0"/>
              </a:spcAft>
              <a:defRPr sz="2400" b="1">
                <a:solidFill>
                  <a:srgbClr val="F5F2FF"/>
                </a:solidFill>
                <a:latin typeface="Lato"/>
              </a:defRPr>
            </a:pPr>
            <a:r>
              <a:t>RF-DETR</a:t>
            </a:r>
          </a:p>
        </p:txBody>
      </p:sp>
      <p:sp>
        <p:nvSpPr>
          <p:cNvPr id="13" name="TextBox 12"/>
          <p:cNvSpPr txBox="1"/>
          <p:nvPr/>
        </p:nvSpPr>
        <p:spPr>
          <a:xfrm>
            <a:off x="749300" y="3238500"/>
            <a:ext cx="43688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B9B2CC"/>
                </a:solidFill>
                <a:latin typeface="Lato"/>
              </a:defRPr>
            </a:pPr>
            <a:r>
              <a:t>Find specimens and identify categories.</a:t>
            </a:r>
          </a:p>
        </p:txBody>
      </p:sp>
      <p:sp>
        <p:nvSpPr>
          <p:cNvPr id="14" name="Rectangle 13"/>
          <p:cNvSpPr/>
          <p:nvPr/>
        </p:nvSpPr>
        <p:spPr>
          <a:xfrm>
            <a:off x="558800" y="4013200"/>
            <a:ext cx="4749800" cy="12700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300" y="4191000"/>
            <a:ext cx="508000" cy="368300"/>
          </a:xfrm>
          <a:prstGeom prst="rect">
            <a:avLst/>
          </a:prstGeom>
          <a:noFill/>
        </p:spPr>
        <p:txBody>
          <a:bodyPr wrap="none" tIns="0" bIns="0" lIns="0" rIns="0">
            <a:spAutoFit/>
          </a:bodyPr>
          <a:lstStyle/>
          <a:p>
            <a:pPr>
              <a:lnSpc>
                <a:spcPct val="112000"/>
              </a:lnSpc>
              <a:spcBef>
                <a:spcPts val="0"/>
              </a:spcBef>
              <a:spcAft>
                <a:spcPts val="0"/>
              </a:spcAft>
              <a:defRPr sz="1800" b="1">
                <a:solidFill>
                  <a:srgbClr val="BE95FF"/>
                </a:solidFill>
                <a:latin typeface="Lato"/>
              </a:defRPr>
            </a:pPr>
            <a:r>
              <a:t>02</a:t>
            </a:r>
          </a:p>
        </p:txBody>
      </p:sp>
      <p:sp>
        <p:nvSpPr>
          <p:cNvPr id="16" name="TextBox 15"/>
          <p:cNvSpPr txBox="1"/>
          <p:nvPr/>
        </p:nvSpPr>
        <p:spPr>
          <a:xfrm>
            <a:off x="1333500" y="4165600"/>
            <a:ext cx="3810000" cy="431800"/>
          </a:xfrm>
          <a:prstGeom prst="rect">
            <a:avLst/>
          </a:prstGeom>
          <a:noFill/>
        </p:spPr>
        <p:txBody>
          <a:bodyPr wrap="none" tIns="0" bIns="0" lIns="0" rIns="0">
            <a:spAutoFit/>
          </a:bodyPr>
          <a:lstStyle/>
          <a:p>
            <a:pPr>
              <a:lnSpc>
                <a:spcPct val="112000"/>
              </a:lnSpc>
              <a:spcBef>
                <a:spcPts val="0"/>
              </a:spcBef>
              <a:spcAft>
                <a:spcPts val="0"/>
              </a:spcAft>
              <a:defRPr sz="2400" b="1">
                <a:solidFill>
                  <a:srgbClr val="F5F2FF"/>
                </a:solidFill>
                <a:latin typeface="Lato"/>
              </a:defRPr>
            </a:pPr>
            <a:r>
              <a:t>Classifier backbones</a:t>
            </a:r>
          </a:p>
        </p:txBody>
      </p:sp>
      <p:sp>
        <p:nvSpPr>
          <p:cNvPr id="17" name="TextBox 16"/>
          <p:cNvSpPr txBox="1"/>
          <p:nvPr/>
        </p:nvSpPr>
        <p:spPr>
          <a:xfrm>
            <a:off x="749300" y="4800600"/>
            <a:ext cx="43688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B9B2CC"/>
                </a:solidFill>
                <a:latin typeface="Lato"/>
              </a:defRPr>
            </a:pPr>
            <a:r>
              <a:t>Identify categories from specimen crops.</a:t>
            </a:r>
          </a:p>
        </p:txBody>
      </p:sp>
      <p:sp>
        <p:nvSpPr>
          <p:cNvPr id="18" name="Rectangle 17"/>
          <p:cNvSpPr/>
          <p:nvPr/>
        </p:nvSpPr>
        <p:spPr>
          <a:xfrm>
            <a:off x="5765800" y="2717800"/>
            <a:ext cx="1841500" cy="24130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ero_0.png"/>
          <p:cNvPicPr>
            <a:picLocks noChangeAspect="1"/>
          </p:cNvPicPr>
          <p:nvPr/>
        </p:nvPicPr>
        <p:blipFill>
          <a:blip r:embed="rId2"/>
          <a:stretch>
            <a:fillRect/>
          </a:stretch>
        </p:blipFill>
        <p:spPr>
          <a:xfrm>
            <a:off x="5842000" y="2870200"/>
            <a:ext cx="1689100" cy="1689100"/>
          </a:xfrm>
          <a:prstGeom prst="rect">
            <a:avLst/>
          </a:prstGeom>
        </p:spPr>
      </p:pic>
      <p:sp>
        <p:nvSpPr>
          <p:cNvPr id="20" name="TextBox 19"/>
          <p:cNvSpPr txBox="1"/>
          <p:nvPr/>
        </p:nvSpPr>
        <p:spPr>
          <a:xfrm>
            <a:off x="58547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B9B2CC"/>
                </a:solidFill>
                <a:latin typeface="Lato"/>
              </a:defRPr>
            </a:pPr>
            <a:r>
              <a:t>Bisaccate</a:t>
            </a:r>
          </a:p>
        </p:txBody>
      </p:sp>
      <p:sp>
        <p:nvSpPr>
          <p:cNvPr id="21" name="Rectangle 20"/>
          <p:cNvSpPr/>
          <p:nvPr/>
        </p:nvSpPr>
        <p:spPr>
          <a:xfrm>
            <a:off x="7734300" y="2717800"/>
            <a:ext cx="1841500" cy="24130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hero_1.png"/>
          <p:cNvPicPr>
            <a:picLocks noChangeAspect="1"/>
          </p:cNvPicPr>
          <p:nvPr/>
        </p:nvPicPr>
        <p:blipFill>
          <a:blip r:embed="rId3"/>
          <a:stretch>
            <a:fillRect/>
          </a:stretch>
        </p:blipFill>
        <p:spPr>
          <a:xfrm>
            <a:off x="7810500" y="2870200"/>
            <a:ext cx="1689100" cy="1689100"/>
          </a:xfrm>
          <a:prstGeom prst="rect">
            <a:avLst/>
          </a:prstGeom>
        </p:spPr>
      </p:pic>
      <p:sp>
        <p:nvSpPr>
          <p:cNvPr id="23" name="TextBox 22"/>
          <p:cNvSpPr txBox="1"/>
          <p:nvPr/>
        </p:nvSpPr>
        <p:spPr>
          <a:xfrm>
            <a:off x="78232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B9B2CC"/>
                </a:solidFill>
                <a:latin typeface="Lato"/>
              </a:defRPr>
            </a:pPr>
            <a:r>
              <a:t>Bombacacidites sp.</a:t>
            </a:r>
          </a:p>
        </p:txBody>
      </p:sp>
      <p:sp>
        <p:nvSpPr>
          <p:cNvPr id="24" name="Rectangle 23"/>
          <p:cNvSpPr/>
          <p:nvPr/>
        </p:nvSpPr>
        <p:spPr>
          <a:xfrm>
            <a:off x="9702800" y="2717800"/>
            <a:ext cx="1841500" cy="24130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hero_2.png"/>
          <p:cNvPicPr>
            <a:picLocks noChangeAspect="1"/>
          </p:cNvPicPr>
          <p:nvPr/>
        </p:nvPicPr>
        <p:blipFill>
          <a:blip r:embed="rId4"/>
          <a:stretch>
            <a:fillRect/>
          </a:stretch>
        </p:blipFill>
        <p:spPr>
          <a:xfrm>
            <a:off x="9779000" y="2870200"/>
            <a:ext cx="1689100" cy="1689100"/>
          </a:xfrm>
          <a:prstGeom prst="rect">
            <a:avLst/>
          </a:prstGeom>
        </p:spPr>
      </p:pic>
      <p:sp>
        <p:nvSpPr>
          <p:cNvPr id="26" name="TextBox 25"/>
          <p:cNvSpPr txBox="1"/>
          <p:nvPr/>
        </p:nvSpPr>
        <p:spPr>
          <a:xfrm>
            <a:off x="97917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B9B2CC"/>
                </a:solidFill>
                <a:latin typeface="Lato"/>
              </a:defRPr>
            </a:pPr>
            <a:r>
              <a:t>Arecipites sp.</a:t>
            </a:r>
          </a:p>
        </p:txBody>
      </p:sp>
      <p:sp>
        <p:nvSpPr>
          <p:cNvPr id="27" name="TextBox 26"/>
          <p:cNvSpPr txBox="1"/>
          <p:nvPr/>
        </p:nvSpPr>
        <p:spPr>
          <a:xfrm>
            <a:off x="558800" y="5715000"/>
            <a:ext cx="11023600" cy="368300"/>
          </a:xfrm>
          <a:prstGeom prst="rect">
            <a:avLst/>
          </a:prstGeom>
          <a:noFill/>
        </p:spPr>
        <p:txBody>
          <a:bodyPr wrap="none" tIns="0" bIns="0" lIns="0" rIns="0">
            <a:spAutoFit/>
          </a:bodyPr>
          <a:lstStyle/>
          <a:p>
            <a:pPr>
              <a:lnSpc>
                <a:spcPct val="112000"/>
              </a:lnSpc>
              <a:spcBef>
                <a:spcPts val="0"/>
              </a:spcBef>
              <a:spcAft>
                <a:spcPts val="0"/>
              </a:spcAft>
              <a:defRPr sz="1800" b="1">
                <a:solidFill>
                  <a:srgbClr val="BE95FF"/>
                </a:solidFill>
                <a:latin typeface="Lato"/>
              </a:defRPr>
            </a:pPr>
            <a:r>
              <a:t>Classification dataset: 2,283 specimens · 28 broad categories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C5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C5A2FF"/>
                </a:solidFill>
                <a:latin typeface="Lato"/>
              </a:defRPr>
            </a:pPr>
            <a:r>
              <a:t>02 / SECTION 01 · RF-DETR</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F5F2FF"/>
                </a:solidFill>
                <a:latin typeface="Lato"/>
              </a:defRPr>
            </a:pPr>
            <a:r>
              <a:t>RF-DETR: detection and category identification</a:t>
            </a:r>
          </a:p>
        </p:txBody>
      </p:sp>
      <p:sp>
        <p:nvSpPr>
          <p:cNvPr id="6" name="Rectangle 5"/>
          <p:cNvSpPr/>
          <p:nvPr/>
        </p:nvSpPr>
        <p:spPr>
          <a:xfrm>
            <a:off x="533400" y="6413500"/>
            <a:ext cx="11125200" cy="127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B9B2CC"/>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B9B2CC"/>
                </a:solidFill>
                <a:latin typeface="Lato"/>
              </a:defRPr>
            </a:pPr>
            <a:r>
              <a:t>2</a:t>
            </a:r>
          </a:p>
        </p:txBody>
      </p:sp>
      <p:sp>
        <p:nvSpPr>
          <p:cNvPr id="9" name="Rectangle 8"/>
          <p:cNvSpPr/>
          <p:nvPr/>
        </p:nvSpPr>
        <p:spPr>
          <a:xfrm>
            <a:off x="558800" y="2374900"/>
            <a:ext cx="11099800" cy="28194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 y="3390900"/>
            <a:ext cx="10160000" cy="609600"/>
          </a:xfrm>
          <a:prstGeom prst="rect">
            <a:avLst/>
          </a:prstGeom>
          <a:noFill/>
        </p:spPr>
        <p:txBody>
          <a:bodyPr wrap="none" tIns="0" bIns="0" lIns="0" rIns="0">
            <a:spAutoFit/>
          </a:bodyPr>
          <a:lstStyle/>
          <a:p>
            <a:pPr>
              <a:lnSpc>
                <a:spcPct val="112000"/>
              </a:lnSpc>
              <a:spcBef>
                <a:spcPts val="0"/>
              </a:spcBef>
              <a:spcAft>
                <a:spcPts val="0"/>
              </a:spcAft>
              <a:defRPr sz="3200" b="1">
                <a:solidFill>
                  <a:srgbClr val="B9B2CC"/>
                </a:solidFill>
                <a:latin typeface="Lato"/>
              </a:defRPr>
            </a:pPr>
            <a:r>
              <a:t>RF-DETR team update</a:t>
            </a:r>
          </a:p>
        </p:txBody>
      </p:sp>
      <p:sp>
        <p:nvSpPr>
          <p:cNvPr id="11" name="TextBox 10"/>
          <p:cNvSpPr txBox="1"/>
          <p:nvPr/>
        </p:nvSpPr>
        <p:spPr>
          <a:xfrm>
            <a:off x="1003300" y="4178300"/>
            <a:ext cx="10160000" cy="381000"/>
          </a:xfrm>
          <a:prstGeom prst="rect">
            <a:avLst/>
          </a:prstGeom>
          <a:noFill/>
        </p:spPr>
        <p:txBody>
          <a:bodyPr wrap="none" tIns="0" bIns="0" lIns="0" rIns="0">
            <a:spAutoFit/>
          </a:bodyPr>
          <a:lstStyle/>
          <a:p>
            <a:pPr>
              <a:lnSpc>
                <a:spcPct val="112000"/>
              </a:lnSpc>
              <a:spcBef>
                <a:spcPts val="0"/>
              </a:spcBef>
              <a:spcAft>
                <a:spcPts val="0"/>
              </a:spcAft>
              <a:defRPr sz="2000" b="0">
                <a:solidFill>
                  <a:srgbClr val="B9B2CC"/>
                </a:solidFill>
                <a:latin typeface="Lato"/>
              </a:defRPr>
            </a:pPr>
            <a:r>
              <a:t>Placeholder · content to be added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C5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C5A2FF"/>
                </a:solidFill>
                <a:latin typeface="Lato"/>
              </a:defRPr>
            </a:pPr>
            <a:r>
              <a:t>03 / SECTION 02 · CLASSIFIER BACKBONES / FOCUS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F5F2FF"/>
                </a:solidFill>
                <a:latin typeface="Lato"/>
              </a:defRPr>
            </a:pPr>
            <a:r>
              <a:t>A clearer view helps the model identify pollen</a:t>
            </a:r>
          </a:p>
        </p:txBody>
      </p:sp>
      <p:sp>
        <p:nvSpPr>
          <p:cNvPr id="6" name="Rectangle 5"/>
          <p:cNvSpPr/>
          <p:nvPr/>
        </p:nvSpPr>
        <p:spPr>
          <a:xfrm>
            <a:off x="533400" y="6413500"/>
            <a:ext cx="11125200" cy="127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B9B2CC"/>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B9B2CC"/>
                </a:solidFill>
                <a:latin typeface="Lato"/>
              </a:defRPr>
            </a:pPr>
            <a:r>
              <a:t>3</a:t>
            </a:r>
          </a:p>
        </p:txBody>
      </p:sp>
      <p:sp>
        <p:nvSpPr>
          <p:cNvPr id="9" name="TextBox 8"/>
          <p:cNvSpPr txBox="1"/>
          <p:nvPr/>
        </p:nvSpPr>
        <p:spPr>
          <a:xfrm>
            <a:off x="558800" y="2006600"/>
            <a:ext cx="3149600" cy="381000"/>
          </a:xfrm>
          <a:prstGeom prst="rect">
            <a:avLst/>
          </a:prstGeom>
          <a:noFill/>
        </p:spPr>
        <p:txBody>
          <a:bodyPr wrap="none" tIns="0" bIns="0" lIns="0" rIns="0">
            <a:spAutoFit/>
          </a:bodyPr>
          <a:lstStyle/>
          <a:p>
            <a:pPr>
              <a:lnSpc>
                <a:spcPct val="112000"/>
              </a:lnSpc>
              <a:spcBef>
                <a:spcPts val="0"/>
              </a:spcBef>
              <a:spcAft>
                <a:spcPts val="0"/>
              </a:spcAft>
              <a:defRPr sz="1800" b="1">
                <a:solidFill>
                  <a:srgbClr val="F5F2FF"/>
                </a:solidFill>
                <a:latin typeface="Lato"/>
              </a:defRPr>
            </a:pPr>
            <a:r>
              <a:t>Original focal plane</a:t>
            </a:r>
          </a:p>
        </p:txBody>
      </p:sp>
      <p:pic>
        <p:nvPicPr>
          <p:cNvPr id="10" name="Picture 9" descr="focus_before.png"/>
          <p:cNvPicPr>
            <a:picLocks noChangeAspect="1"/>
          </p:cNvPicPr>
          <p:nvPr/>
        </p:nvPicPr>
        <p:blipFill>
          <a:blip r:embed="rId2"/>
          <a:stretch>
            <a:fillRect/>
          </a:stretch>
        </p:blipFill>
        <p:spPr>
          <a:xfrm>
            <a:off x="558800" y="2514600"/>
            <a:ext cx="2921000" cy="2921000"/>
          </a:xfrm>
          <a:prstGeom prst="rect">
            <a:avLst/>
          </a:prstGeom>
        </p:spPr>
      </p:pic>
      <p:sp>
        <p:nvSpPr>
          <p:cNvPr id="11" name="TextBox 10"/>
          <p:cNvSpPr txBox="1"/>
          <p:nvPr/>
        </p:nvSpPr>
        <p:spPr>
          <a:xfrm>
            <a:off x="3835400" y="2006600"/>
            <a:ext cx="3149600" cy="381000"/>
          </a:xfrm>
          <a:prstGeom prst="rect">
            <a:avLst/>
          </a:prstGeom>
          <a:noFill/>
        </p:spPr>
        <p:txBody>
          <a:bodyPr wrap="none" tIns="0" bIns="0" lIns="0" rIns="0">
            <a:spAutoFit/>
          </a:bodyPr>
          <a:lstStyle/>
          <a:p>
            <a:pPr>
              <a:lnSpc>
                <a:spcPct val="112000"/>
              </a:lnSpc>
              <a:spcBef>
                <a:spcPts val="0"/>
              </a:spcBef>
              <a:spcAft>
                <a:spcPts val="0"/>
              </a:spcAft>
              <a:defRPr sz="1800" b="1">
                <a:solidFill>
                  <a:srgbClr val="F5F2FF"/>
                </a:solidFill>
                <a:latin typeface="Lato"/>
              </a:defRPr>
            </a:pPr>
            <a:r>
              <a:t>Selected sharper plane</a:t>
            </a:r>
          </a:p>
        </p:txBody>
      </p:sp>
      <p:pic>
        <p:nvPicPr>
          <p:cNvPr id="12" name="Picture 11" descr="focus_after.png"/>
          <p:cNvPicPr>
            <a:picLocks noChangeAspect="1"/>
          </p:cNvPicPr>
          <p:nvPr/>
        </p:nvPicPr>
        <p:blipFill>
          <a:blip r:embed="rId3"/>
          <a:stretch>
            <a:fillRect/>
          </a:stretch>
        </p:blipFill>
        <p:spPr>
          <a:xfrm>
            <a:off x="3835400" y="2514600"/>
            <a:ext cx="2921000" cy="2921000"/>
          </a:xfrm>
          <a:prstGeom prst="rect">
            <a:avLst/>
          </a:prstGeom>
        </p:spPr>
      </p:pic>
      <p:sp>
        <p:nvSpPr>
          <p:cNvPr id="13" name="TextBox 12"/>
          <p:cNvSpPr txBox="1"/>
          <p:nvPr/>
        </p:nvSpPr>
        <p:spPr>
          <a:xfrm>
            <a:off x="558800" y="5727700"/>
            <a:ext cx="6477000" cy="381000"/>
          </a:xfrm>
          <a:prstGeom prst="rect">
            <a:avLst/>
          </a:prstGeom>
          <a:noFill/>
        </p:spPr>
        <p:txBody>
          <a:bodyPr wrap="none" tIns="0" bIns="0" lIns="0" rIns="0">
            <a:spAutoFit/>
          </a:bodyPr>
          <a:lstStyle/>
          <a:p>
            <a:pPr>
              <a:lnSpc>
                <a:spcPct val="112000"/>
              </a:lnSpc>
              <a:spcBef>
                <a:spcPts val="0"/>
              </a:spcBef>
              <a:spcAft>
                <a:spcPts val="0"/>
              </a:spcAft>
              <a:defRPr sz="1400" b="0">
                <a:solidFill>
                  <a:srgbClr val="B9B2CC"/>
                </a:solidFill>
                <a:latin typeface="Lato"/>
              </a:defRPr>
            </a:pPr>
            <a:r>
              <a:t>Same specimen and crop · expert label: Quercus sp.</a:t>
            </a:r>
          </a:p>
        </p:txBody>
      </p:sp>
      <p:sp>
        <p:nvSpPr>
          <p:cNvPr id="14" name="Rectangle 13"/>
          <p:cNvSpPr/>
          <p:nvPr/>
        </p:nvSpPr>
        <p:spPr>
          <a:xfrm>
            <a:off x="7327900" y="2108200"/>
            <a:ext cx="4330700" cy="3505200"/>
          </a:xfrm>
          <a:prstGeom prst="rect">
            <a:avLst/>
          </a:prstGeom>
          <a:solidFill>
            <a:srgbClr val="261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2700" y="2413000"/>
            <a:ext cx="3746500" cy="406400"/>
          </a:xfrm>
          <a:prstGeom prst="rect">
            <a:avLst/>
          </a:prstGeom>
          <a:noFill/>
        </p:spPr>
        <p:txBody>
          <a:bodyPr wrap="none" tIns="0" bIns="0" lIns="0" rIns="0">
            <a:spAutoFit/>
          </a:bodyPr>
          <a:lstStyle/>
          <a:p>
            <a:pPr>
              <a:lnSpc>
                <a:spcPct val="112000"/>
              </a:lnSpc>
              <a:spcBef>
                <a:spcPts val="0"/>
              </a:spcBef>
              <a:spcAft>
                <a:spcPts val="0"/>
              </a:spcAft>
              <a:defRPr sz="1900" b="1">
                <a:solidFill>
                  <a:srgbClr val="BE95FF"/>
                </a:solidFill>
                <a:latin typeface="Lato"/>
              </a:defRPr>
            </a:pPr>
            <a:r>
              <a:t>Unseen-slide accuracy</a:t>
            </a:r>
          </a:p>
        </p:txBody>
      </p:sp>
      <p:sp>
        <p:nvSpPr>
          <p:cNvPr id="16" name="TextBox 15"/>
          <p:cNvSpPr txBox="1"/>
          <p:nvPr/>
        </p:nvSpPr>
        <p:spPr>
          <a:xfrm>
            <a:off x="7632700" y="3098800"/>
            <a:ext cx="3708400" cy="863600"/>
          </a:xfrm>
          <a:prstGeom prst="rect">
            <a:avLst/>
          </a:prstGeom>
          <a:noFill/>
        </p:spPr>
        <p:txBody>
          <a:bodyPr wrap="none" tIns="0" bIns="0" lIns="0" rIns="0">
            <a:spAutoFit/>
          </a:bodyPr>
          <a:lstStyle/>
          <a:p>
            <a:pPr>
              <a:lnSpc>
                <a:spcPct val="112000"/>
              </a:lnSpc>
              <a:spcBef>
                <a:spcPts val="0"/>
              </a:spcBef>
              <a:spcAft>
                <a:spcPts val="0"/>
              </a:spcAft>
              <a:defRPr sz="4300" b="1">
                <a:solidFill>
                  <a:srgbClr val="BE95FF"/>
                </a:solidFill>
                <a:latin typeface="Lato"/>
              </a:defRPr>
            </a:pPr>
            <a:r>
              <a:t>32% → 38%</a:t>
            </a:r>
          </a:p>
        </p:txBody>
      </p:sp>
      <p:sp>
        <p:nvSpPr>
          <p:cNvPr id="17" name="TextBox 16"/>
          <p:cNvSpPr txBox="1"/>
          <p:nvPr/>
        </p:nvSpPr>
        <p:spPr>
          <a:xfrm>
            <a:off x="7632700" y="4203700"/>
            <a:ext cx="3746500" cy="1041400"/>
          </a:xfrm>
          <a:prstGeom prst="rect">
            <a:avLst/>
          </a:prstGeom>
          <a:noFill/>
        </p:spPr>
        <p:txBody>
          <a:bodyPr wrap="none" tIns="0" bIns="0" lIns="0" rIns="0">
            <a:spAutoFit/>
          </a:bodyPr>
          <a:lstStyle/>
          <a:p>
            <a:pPr>
              <a:lnSpc>
                <a:spcPct val="112000"/>
              </a:lnSpc>
              <a:spcBef>
                <a:spcPts val="0"/>
              </a:spcBef>
              <a:spcAft>
                <a:spcPts val="0"/>
              </a:spcAft>
              <a:defRPr sz="1900" b="0">
                <a:solidFill>
                  <a:srgbClr val="F5F2FF"/>
                </a:solidFill>
                <a:latin typeface="Lato"/>
              </a:defRPr>
            </a:pPr>
            <a:r>
              <a:t>Earlier 32-category trial.</a:t>
            </a:r>
          </a:p>
          <a:p>
            <a:pPr>
              <a:lnSpc>
                <a:spcPct val="112000"/>
              </a:lnSpc>
              <a:spcBef>
                <a:spcPts val="0"/>
              </a:spcBef>
              <a:spcAft>
                <a:spcPts val="0"/>
              </a:spcAft>
              <a:defRPr sz="1900" b="0">
                <a:solidFill>
                  <a:srgbClr val="F5F2FF"/>
                </a:solidFill>
                <a:latin typeface="Lato"/>
              </a:defRPr>
            </a:pPr>
            <a:r>
              <a:t>Same Swin settings;</a:t>
            </a:r>
          </a:p>
          <a:p>
            <a:pPr>
              <a:lnSpc>
                <a:spcPct val="112000"/>
              </a:lnSpc>
              <a:spcBef>
                <a:spcPts val="0"/>
              </a:spcBef>
              <a:spcAft>
                <a:spcPts val="0"/>
              </a:spcAft>
              <a:defRPr sz="1900" b="0">
                <a:solidFill>
                  <a:srgbClr val="F5F2FF"/>
                </a:solidFill>
                <a:latin typeface="Lato"/>
              </a:defRPr>
            </a:pPr>
            <a:r>
              <a:t>selected plane changed.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C5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C5A2FF"/>
                </a:solidFill>
                <a:latin typeface="Lato"/>
              </a:defRPr>
            </a:pPr>
            <a:r>
              <a:t>04 / CLASSIFIER BACKBONES / EVALUATION</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F5F2FF"/>
                </a:solidFill>
                <a:latin typeface="Lato"/>
              </a:defRPr>
            </a:pPr>
            <a:r>
              <a:t>Two questions, two ways to check performance</a:t>
            </a:r>
          </a:p>
        </p:txBody>
      </p:sp>
      <p:sp>
        <p:nvSpPr>
          <p:cNvPr id="6" name="Rectangle 5"/>
          <p:cNvSpPr/>
          <p:nvPr/>
        </p:nvSpPr>
        <p:spPr>
          <a:xfrm>
            <a:off x="533400" y="6413500"/>
            <a:ext cx="11125200" cy="127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B9B2CC"/>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B9B2CC"/>
                </a:solidFill>
                <a:latin typeface="Lato"/>
              </a:defRPr>
            </a:pPr>
            <a:r>
              <a:t>4</a:t>
            </a:r>
          </a:p>
        </p:txBody>
      </p:sp>
      <p:sp>
        <p:nvSpPr>
          <p:cNvPr id="9" name="Rectangle 8"/>
          <p:cNvSpPr/>
          <p:nvPr/>
        </p:nvSpPr>
        <p:spPr>
          <a:xfrm>
            <a:off x="558800" y="2082800"/>
            <a:ext cx="5384800" cy="35941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324100"/>
            <a:ext cx="4953000" cy="431800"/>
          </a:xfrm>
          <a:prstGeom prst="rect">
            <a:avLst/>
          </a:prstGeom>
          <a:noFill/>
        </p:spPr>
        <p:txBody>
          <a:bodyPr wrap="none" tIns="0" bIns="0" lIns="0" rIns="0">
            <a:spAutoFit/>
          </a:bodyPr>
          <a:lstStyle/>
          <a:p>
            <a:pPr>
              <a:lnSpc>
                <a:spcPct val="112000"/>
              </a:lnSpc>
              <a:spcBef>
                <a:spcPts val="0"/>
              </a:spcBef>
              <a:spcAft>
                <a:spcPts val="0"/>
              </a:spcAft>
              <a:defRPr sz="2500" b="1">
                <a:solidFill>
                  <a:srgbClr val="BE95FF"/>
                </a:solidFill>
                <a:latin typeface="Lato"/>
              </a:defRPr>
            </a:pPr>
            <a:r>
              <a:t>Unseen slides</a:t>
            </a:r>
          </a:p>
        </p:txBody>
      </p:sp>
      <p:sp>
        <p:nvSpPr>
          <p:cNvPr id="11" name="TextBox 10"/>
          <p:cNvSpPr txBox="1"/>
          <p:nvPr/>
        </p:nvSpPr>
        <p:spPr>
          <a:xfrm>
            <a:off x="812800" y="2870200"/>
            <a:ext cx="4927600" cy="317500"/>
          </a:xfrm>
          <a:prstGeom prst="rect">
            <a:avLst/>
          </a:prstGeom>
          <a:noFill/>
        </p:spPr>
        <p:txBody>
          <a:bodyPr wrap="none" tIns="0" bIns="0" lIns="0" rIns="0">
            <a:spAutoFit/>
          </a:bodyPr>
          <a:lstStyle/>
          <a:p>
            <a:pPr>
              <a:lnSpc>
                <a:spcPct val="112000"/>
              </a:lnSpc>
              <a:spcBef>
                <a:spcPts val="0"/>
              </a:spcBef>
              <a:spcAft>
                <a:spcPts val="0"/>
              </a:spcAft>
              <a:defRPr sz="1500" b="0">
                <a:solidFill>
                  <a:srgbClr val="B9B2CC"/>
                </a:solidFill>
                <a:latin typeface="Lato"/>
              </a:defRPr>
            </a:pPr>
            <a:r>
              <a:t>Can it work on a different slide?</a:t>
            </a:r>
          </a:p>
        </p:txBody>
      </p:sp>
      <p:sp>
        <p:nvSpPr>
          <p:cNvPr id="12" name="TextBox 11"/>
          <p:cNvSpPr txBox="1"/>
          <p:nvPr/>
        </p:nvSpPr>
        <p:spPr>
          <a:xfrm>
            <a:off x="812800" y="3556000"/>
            <a:ext cx="2032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B9B2CC"/>
                </a:solidFill>
                <a:latin typeface="Lato"/>
              </a:defRPr>
            </a:pPr>
            <a:r>
              <a:t>LEARN FROM</a:t>
            </a:r>
          </a:p>
        </p:txBody>
      </p:sp>
      <p:sp>
        <p:nvSpPr>
          <p:cNvPr id="13" name="TextBox 12"/>
          <p:cNvSpPr txBox="1"/>
          <p:nvPr/>
        </p:nvSpPr>
        <p:spPr>
          <a:xfrm>
            <a:off x="3479800" y="3556000"/>
            <a:ext cx="2159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B9B2CC"/>
                </a:solidFill>
                <a:latin typeface="Lato"/>
              </a:defRPr>
            </a:pPr>
            <a:r>
              <a:t>CHECK ON</a:t>
            </a:r>
          </a:p>
        </p:txBody>
      </p:sp>
      <p:sp>
        <p:nvSpPr>
          <p:cNvPr id="14" name="Rectangle 13"/>
          <p:cNvSpPr/>
          <p:nvPr/>
        </p:nvSpPr>
        <p:spPr>
          <a:xfrm>
            <a:off x="6248400" y="2082800"/>
            <a:ext cx="5384800" cy="35941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324100"/>
            <a:ext cx="4953000" cy="431800"/>
          </a:xfrm>
          <a:prstGeom prst="rect">
            <a:avLst/>
          </a:prstGeom>
          <a:noFill/>
        </p:spPr>
        <p:txBody>
          <a:bodyPr wrap="none" tIns="0" bIns="0" lIns="0" rIns="0">
            <a:spAutoFit/>
          </a:bodyPr>
          <a:lstStyle/>
          <a:p>
            <a:pPr>
              <a:lnSpc>
                <a:spcPct val="112000"/>
              </a:lnSpc>
              <a:spcBef>
                <a:spcPts val="0"/>
              </a:spcBef>
              <a:spcAft>
                <a:spcPts val="0"/>
              </a:spcAft>
              <a:defRPr sz="2500" b="1">
                <a:solidFill>
                  <a:srgbClr val="BE95FF"/>
                </a:solidFill>
                <a:latin typeface="Lato"/>
              </a:defRPr>
            </a:pPr>
            <a:r>
              <a:t>Shared slides</a:t>
            </a:r>
          </a:p>
        </p:txBody>
      </p:sp>
      <p:sp>
        <p:nvSpPr>
          <p:cNvPr id="16" name="TextBox 15"/>
          <p:cNvSpPr txBox="1"/>
          <p:nvPr/>
        </p:nvSpPr>
        <p:spPr>
          <a:xfrm>
            <a:off x="6502400" y="2870200"/>
            <a:ext cx="4927600" cy="317500"/>
          </a:xfrm>
          <a:prstGeom prst="rect">
            <a:avLst/>
          </a:prstGeom>
          <a:noFill/>
        </p:spPr>
        <p:txBody>
          <a:bodyPr wrap="none" tIns="0" bIns="0" lIns="0" rIns="0">
            <a:spAutoFit/>
          </a:bodyPr>
          <a:lstStyle/>
          <a:p>
            <a:pPr>
              <a:lnSpc>
                <a:spcPct val="112000"/>
              </a:lnSpc>
              <a:spcBef>
                <a:spcPts val="0"/>
              </a:spcBef>
              <a:spcAft>
                <a:spcPts val="0"/>
              </a:spcAft>
              <a:defRPr sz="1500" b="0">
                <a:solidFill>
                  <a:srgbClr val="B9B2CC"/>
                </a:solidFill>
                <a:latin typeface="Lato"/>
              </a:defRPr>
            </a:pPr>
            <a:r>
              <a:t>Can it identify more grains on familiar slides?</a:t>
            </a:r>
          </a:p>
        </p:txBody>
      </p:sp>
      <p:sp>
        <p:nvSpPr>
          <p:cNvPr id="17" name="TextBox 16"/>
          <p:cNvSpPr txBox="1"/>
          <p:nvPr/>
        </p:nvSpPr>
        <p:spPr>
          <a:xfrm>
            <a:off x="6502400" y="3556000"/>
            <a:ext cx="2032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B9B2CC"/>
                </a:solidFill>
                <a:latin typeface="Lato"/>
              </a:defRPr>
            </a:pPr>
            <a:r>
              <a:t>LEARN FROM</a:t>
            </a:r>
          </a:p>
        </p:txBody>
      </p:sp>
      <p:sp>
        <p:nvSpPr>
          <p:cNvPr id="18" name="TextBox 17"/>
          <p:cNvSpPr txBox="1"/>
          <p:nvPr/>
        </p:nvSpPr>
        <p:spPr>
          <a:xfrm>
            <a:off x="9169400" y="3556000"/>
            <a:ext cx="2159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B9B2CC"/>
                </a:solidFill>
                <a:latin typeface="Lato"/>
              </a:defRPr>
            </a:pPr>
            <a:r>
              <a:t>CHECK ON</a:t>
            </a:r>
          </a:p>
        </p:txBody>
      </p:sp>
      <p:sp>
        <p:nvSpPr>
          <p:cNvPr id="19" name="Rectangle 18"/>
          <p:cNvSpPr/>
          <p:nvPr/>
        </p:nvSpPr>
        <p:spPr>
          <a:xfrm>
            <a:off x="812800" y="4000500"/>
            <a:ext cx="2133600" cy="4572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52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F5F2FF"/>
                </a:solidFill>
                <a:latin typeface="Lato"/>
              </a:defRPr>
            </a:pPr>
            <a:r>
              <a:t>Slide A</a:t>
            </a:r>
          </a:p>
        </p:txBody>
      </p:sp>
      <p:sp>
        <p:nvSpPr>
          <p:cNvPr id="21" name="Rectangle 20"/>
          <p:cNvSpPr/>
          <p:nvPr/>
        </p:nvSpPr>
        <p:spPr>
          <a:xfrm>
            <a:off x="812800" y="4610100"/>
            <a:ext cx="2133600" cy="4572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52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F5F2FF"/>
                </a:solidFill>
                <a:latin typeface="Lato"/>
              </a:defRPr>
            </a:pPr>
            <a:r>
              <a:t>Slide B</a:t>
            </a:r>
          </a:p>
        </p:txBody>
      </p:sp>
      <p:sp>
        <p:nvSpPr>
          <p:cNvPr id="23" name="Rectangle 22"/>
          <p:cNvSpPr/>
          <p:nvPr/>
        </p:nvSpPr>
        <p:spPr>
          <a:xfrm>
            <a:off x="3479800" y="4000500"/>
            <a:ext cx="2133600" cy="457200"/>
          </a:xfrm>
          <a:prstGeom prst="rect">
            <a:avLst/>
          </a:prstGeom>
          <a:solidFill>
            <a:srgbClr val="261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322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F5F2FF"/>
                </a:solidFill>
                <a:latin typeface="Lato"/>
              </a:defRPr>
            </a:pPr>
            <a:r>
              <a:t>Slide C</a:t>
            </a:r>
          </a:p>
        </p:txBody>
      </p:sp>
      <p:sp>
        <p:nvSpPr>
          <p:cNvPr id="25" name="Rectangle 24"/>
          <p:cNvSpPr/>
          <p:nvPr/>
        </p:nvSpPr>
        <p:spPr>
          <a:xfrm>
            <a:off x="3479800" y="4610100"/>
            <a:ext cx="2133600" cy="457200"/>
          </a:xfrm>
          <a:prstGeom prst="rect">
            <a:avLst/>
          </a:prstGeom>
          <a:solidFill>
            <a:srgbClr val="261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322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F5F2FF"/>
                </a:solidFill>
                <a:latin typeface="Lato"/>
              </a:defRPr>
            </a:pPr>
            <a:r>
              <a:t>Slide D</a:t>
            </a:r>
          </a:p>
        </p:txBody>
      </p:sp>
      <p:sp>
        <p:nvSpPr>
          <p:cNvPr id="27" name="Rectangle 26"/>
          <p:cNvSpPr/>
          <p:nvPr/>
        </p:nvSpPr>
        <p:spPr>
          <a:xfrm>
            <a:off x="6502400" y="4000500"/>
            <a:ext cx="2133600" cy="4572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548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F5F2FF"/>
                </a:solidFill>
                <a:latin typeface="Lato"/>
              </a:defRPr>
            </a:pPr>
            <a:r>
              <a:t>A · grain 1</a:t>
            </a:r>
          </a:p>
        </p:txBody>
      </p:sp>
      <p:sp>
        <p:nvSpPr>
          <p:cNvPr id="29" name="Rectangle 28"/>
          <p:cNvSpPr/>
          <p:nvPr/>
        </p:nvSpPr>
        <p:spPr>
          <a:xfrm>
            <a:off x="6502400" y="4610100"/>
            <a:ext cx="2133600" cy="4572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548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F5F2FF"/>
                </a:solidFill>
                <a:latin typeface="Lato"/>
              </a:defRPr>
            </a:pPr>
            <a:r>
              <a:t>B · grain 1</a:t>
            </a:r>
          </a:p>
        </p:txBody>
      </p:sp>
      <p:sp>
        <p:nvSpPr>
          <p:cNvPr id="31" name="Rectangle 30"/>
          <p:cNvSpPr/>
          <p:nvPr/>
        </p:nvSpPr>
        <p:spPr>
          <a:xfrm>
            <a:off x="9169400" y="4000500"/>
            <a:ext cx="2133600" cy="457200"/>
          </a:xfrm>
          <a:prstGeom prst="rect">
            <a:avLst/>
          </a:prstGeom>
          <a:solidFill>
            <a:srgbClr val="261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18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F5F2FF"/>
                </a:solidFill>
                <a:latin typeface="Lato"/>
              </a:defRPr>
            </a:pPr>
            <a:r>
              <a:t>A · grain 2</a:t>
            </a:r>
          </a:p>
        </p:txBody>
      </p:sp>
      <p:sp>
        <p:nvSpPr>
          <p:cNvPr id="33" name="Rectangle 32"/>
          <p:cNvSpPr/>
          <p:nvPr/>
        </p:nvSpPr>
        <p:spPr>
          <a:xfrm>
            <a:off x="9169400" y="4610100"/>
            <a:ext cx="2133600" cy="457200"/>
          </a:xfrm>
          <a:prstGeom prst="rect">
            <a:avLst/>
          </a:prstGeom>
          <a:solidFill>
            <a:srgbClr val="261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18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F5F2FF"/>
                </a:solidFill>
                <a:latin typeface="Lato"/>
              </a:defRPr>
            </a:pPr>
            <a:r>
              <a:t>B · grain 2</a:t>
            </a:r>
          </a:p>
        </p:txBody>
      </p:sp>
      <p:sp>
        <p:nvSpPr>
          <p:cNvPr id="35" name="TextBox 34"/>
          <p:cNvSpPr txBox="1"/>
          <p:nvPr/>
        </p:nvSpPr>
        <p:spPr>
          <a:xfrm>
            <a:off x="558800" y="5930900"/>
            <a:ext cx="11099800" cy="317500"/>
          </a:xfrm>
          <a:prstGeom prst="rect">
            <a:avLst/>
          </a:prstGeom>
          <a:noFill/>
        </p:spPr>
        <p:txBody>
          <a:bodyPr wrap="none" tIns="0" bIns="0" lIns="0" rIns="0">
            <a:spAutoFit/>
          </a:bodyPr>
          <a:lstStyle/>
          <a:p>
            <a:pPr>
              <a:lnSpc>
                <a:spcPct val="112000"/>
              </a:lnSpc>
              <a:spcBef>
                <a:spcPts val="0"/>
              </a:spcBef>
              <a:spcAft>
                <a:spcPts val="0"/>
              </a:spcAft>
              <a:defRPr sz="1800" b="1">
                <a:solidFill>
                  <a:srgbClr val="C5A2FF"/>
                </a:solidFill>
                <a:latin typeface="Lato"/>
              </a:defRPr>
            </a:pPr>
            <a:r>
              <a:t>Different specimens in every set. Final test slides remain reserved.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C5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C5A2FF"/>
                </a:solidFill>
                <a:latin typeface="Lato"/>
              </a:defRPr>
            </a:pPr>
            <a:r>
              <a:t>05 / CLASSIFIER BACKBONES / RESULTS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F5F2FF"/>
                </a:solidFill>
                <a:latin typeface="Lato"/>
              </a:defRPr>
            </a:pPr>
            <a:r>
              <a:t>DINO leads the broad-category comparison</a:t>
            </a:r>
          </a:p>
        </p:txBody>
      </p:sp>
      <p:sp>
        <p:nvSpPr>
          <p:cNvPr id="6" name="Rectangle 5"/>
          <p:cNvSpPr/>
          <p:nvPr/>
        </p:nvSpPr>
        <p:spPr>
          <a:xfrm>
            <a:off x="533400" y="6413500"/>
            <a:ext cx="11125200" cy="127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B9B2CC"/>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B9B2CC"/>
                </a:solidFill>
                <a:latin typeface="Lato"/>
              </a:defRPr>
            </a:pPr>
            <a:r>
              <a:t>5</a:t>
            </a:r>
          </a:p>
        </p:txBody>
      </p:sp>
      <p:sp>
        <p:nvSpPr>
          <p:cNvPr id="9" name="TextBox 8"/>
          <p:cNvSpPr txBox="1"/>
          <p:nvPr/>
        </p:nvSpPr>
        <p:spPr>
          <a:xfrm>
            <a:off x="533400" y="1689100"/>
            <a:ext cx="11176000" cy="330200"/>
          </a:xfrm>
          <a:prstGeom prst="rect">
            <a:avLst/>
          </a:prstGeom>
          <a:noFill/>
        </p:spPr>
        <p:txBody>
          <a:bodyPr wrap="none" tIns="0" bIns="0" lIns="0" rIns="0">
            <a:spAutoFit/>
          </a:bodyPr>
          <a:lstStyle/>
          <a:p>
            <a:pPr>
              <a:lnSpc>
                <a:spcPct val="112000"/>
              </a:lnSpc>
              <a:spcBef>
                <a:spcPts val="0"/>
              </a:spcBef>
              <a:spcAft>
                <a:spcPts val="0"/>
              </a:spcAft>
              <a:defRPr sz="1900" b="0">
                <a:solidFill>
                  <a:srgbClr val="B9B2CC"/>
                </a:solidFill>
                <a:latin typeface="Lato"/>
              </a:defRPr>
            </a:pPr>
            <a:r>
              <a:t>28 categories · validation accuracy on prepared specimen crops</a:t>
            </a:r>
          </a:p>
        </p:txBody>
      </p:sp>
      <p:sp>
        <p:nvSpPr>
          <p:cNvPr id="10" name="TextBox 9"/>
          <p:cNvSpPr txBox="1"/>
          <p:nvPr/>
        </p:nvSpPr>
        <p:spPr>
          <a:xfrm>
            <a:off x="4000500" y="2362200"/>
            <a:ext cx="3111500" cy="381000"/>
          </a:xfrm>
          <a:prstGeom prst="rect">
            <a:avLst/>
          </a:prstGeom>
          <a:noFill/>
        </p:spPr>
        <p:txBody>
          <a:bodyPr wrap="none" tIns="0" bIns="0" lIns="0" rIns="0">
            <a:spAutoFit/>
          </a:bodyPr>
          <a:lstStyle/>
          <a:p>
            <a:pPr>
              <a:lnSpc>
                <a:spcPct val="112000"/>
              </a:lnSpc>
              <a:spcBef>
                <a:spcPts val="0"/>
              </a:spcBef>
              <a:spcAft>
                <a:spcPts val="0"/>
              </a:spcAft>
              <a:defRPr sz="2300" b="1">
                <a:solidFill>
                  <a:srgbClr val="F5F2FF"/>
                </a:solidFill>
                <a:latin typeface="Lato"/>
              </a:defRPr>
            </a:pPr>
            <a:r>
              <a:t>Unseen slides</a:t>
            </a:r>
          </a:p>
        </p:txBody>
      </p:sp>
      <p:sp>
        <p:nvSpPr>
          <p:cNvPr id="11" name="TextBox 10"/>
          <p:cNvSpPr txBox="1"/>
          <p:nvPr/>
        </p:nvSpPr>
        <p:spPr>
          <a:xfrm>
            <a:off x="8204200" y="2362200"/>
            <a:ext cx="3302000" cy="381000"/>
          </a:xfrm>
          <a:prstGeom prst="rect">
            <a:avLst/>
          </a:prstGeom>
          <a:noFill/>
        </p:spPr>
        <p:txBody>
          <a:bodyPr wrap="none" tIns="0" bIns="0" lIns="0" rIns="0">
            <a:spAutoFit/>
          </a:bodyPr>
          <a:lstStyle/>
          <a:p>
            <a:pPr>
              <a:lnSpc>
                <a:spcPct val="112000"/>
              </a:lnSpc>
              <a:spcBef>
                <a:spcPts val="0"/>
              </a:spcBef>
              <a:spcAft>
                <a:spcPts val="0"/>
              </a:spcAft>
              <a:defRPr sz="2300" b="1">
                <a:solidFill>
                  <a:srgbClr val="F5F2FF"/>
                </a:solidFill>
                <a:latin typeface="Lato"/>
              </a:defRPr>
            </a:pPr>
            <a:r>
              <a:t>Shared slides</a:t>
            </a:r>
          </a:p>
        </p:txBody>
      </p:sp>
      <p:sp>
        <p:nvSpPr>
          <p:cNvPr id="12" name="TextBox 11"/>
          <p:cNvSpPr txBox="1"/>
          <p:nvPr/>
        </p:nvSpPr>
        <p:spPr>
          <a:xfrm>
            <a:off x="546100" y="3251200"/>
            <a:ext cx="3162300" cy="444500"/>
          </a:xfrm>
          <a:prstGeom prst="rect">
            <a:avLst/>
          </a:prstGeom>
          <a:noFill/>
        </p:spPr>
        <p:txBody>
          <a:bodyPr wrap="none" tIns="0" bIns="0" lIns="0" rIns="0">
            <a:spAutoFit/>
          </a:bodyPr>
          <a:lstStyle/>
          <a:p>
            <a:pPr>
              <a:lnSpc>
                <a:spcPct val="112000"/>
              </a:lnSpc>
              <a:spcBef>
                <a:spcPts val="0"/>
              </a:spcBef>
              <a:spcAft>
                <a:spcPts val="0"/>
              </a:spcAft>
              <a:defRPr sz="2300" b="0">
                <a:solidFill>
                  <a:srgbClr val="F5F2FF"/>
                </a:solidFill>
                <a:latin typeface="Lato"/>
              </a:defRPr>
            </a:pPr>
            <a:r>
              <a:t>Swin-Tiny</a:t>
            </a:r>
          </a:p>
        </p:txBody>
      </p:sp>
      <p:sp>
        <p:nvSpPr>
          <p:cNvPr id="13" name="Rectangle 12"/>
          <p:cNvSpPr/>
          <p:nvPr/>
        </p:nvSpPr>
        <p:spPr>
          <a:xfrm>
            <a:off x="4000500" y="3225800"/>
            <a:ext cx="2540000" cy="3556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00500" y="3225800"/>
            <a:ext cx="1090662" cy="355600"/>
          </a:xfrm>
          <a:prstGeom prst="rect">
            <a:avLst/>
          </a:prstGeom>
          <a:solidFill>
            <a:srgbClr val="8070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7500" y="3200400"/>
            <a:ext cx="1016000" cy="457200"/>
          </a:xfrm>
          <a:prstGeom prst="rect">
            <a:avLst/>
          </a:prstGeom>
          <a:noFill/>
        </p:spPr>
        <p:txBody>
          <a:bodyPr wrap="none" tIns="0" bIns="0" lIns="0" rIns="0">
            <a:spAutoFit/>
          </a:bodyPr>
          <a:lstStyle/>
          <a:p>
            <a:pPr>
              <a:lnSpc>
                <a:spcPct val="112000"/>
              </a:lnSpc>
              <a:spcBef>
                <a:spcPts val="0"/>
              </a:spcBef>
              <a:spcAft>
                <a:spcPts val="0"/>
              </a:spcAft>
              <a:defRPr sz="2300" b="1">
                <a:solidFill>
                  <a:srgbClr val="F5F2FF"/>
                </a:solidFill>
                <a:latin typeface="Lato"/>
              </a:defRPr>
            </a:pPr>
            <a:r>
              <a:t>42.9%</a:t>
            </a:r>
          </a:p>
        </p:txBody>
      </p:sp>
      <p:sp>
        <p:nvSpPr>
          <p:cNvPr id="16" name="Rectangle 15"/>
          <p:cNvSpPr/>
          <p:nvPr/>
        </p:nvSpPr>
        <p:spPr>
          <a:xfrm>
            <a:off x="8204200" y="3225800"/>
            <a:ext cx="2540000" cy="3556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04200" y="3225800"/>
            <a:ext cx="1793371" cy="355600"/>
          </a:xfrm>
          <a:prstGeom prst="rect">
            <a:avLst/>
          </a:prstGeom>
          <a:solidFill>
            <a:srgbClr val="8070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71200" y="3200400"/>
            <a:ext cx="1016000" cy="457200"/>
          </a:xfrm>
          <a:prstGeom prst="rect">
            <a:avLst/>
          </a:prstGeom>
          <a:noFill/>
        </p:spPr>
        <p:txBody>
          <a:bodyPr wrap="none" tIns="0" bIns="0" lIns="0" rIns="0">
            <a:spAutoFit/>
          </a:bodyPr>
          <a:lstStyle/>
          <a:p>
            <a:pPr>
              <a:lnSpc>
                <a:spcPct val="112000"/>
              </a:lnSpc>
              <a:spcBef>
                <a:spcPts val="0"/>
              </a:spcBef>
              <a:spcAft>
                <a:spcPts val="0"/>
              </a:spcAft>
              <a:defRPr sz="2300" b="1">
                <a:solidFill>
                  <a:srgbClr val="F5F2FF"/>
                </a:solidFill>
                <a:latin typeface="Lato"/>
              </a:defRPr>
            </a:pPr>
            <a:r>
              <a:t>70.6%</a:t>
            </a:r>
          </a:p>
        </p:txBody>
      </p:sp>
      <p:sp>
        <p:nvSpPr>
          <p:cNvPr id="19" name="TextBox 18"/>
          <p:cNvSpPr txBox="1"/>
          <p:nvPr/>
        </p:nvSpPr>
        <p:spPr>
          <a:xfrm>
            <a:off x="546100" y="4267200"/>
            <a:ext cx="3162300" cy="444500"/>
          </a:xfrm>
          <a:prstGeom prst="rect">
            <a:avLst/>
          </a:prstGeom>
          <a:noFill/>
        </p:spPr>
        <p:txBody>
          <a:bodyPr wrap="none" tIns="0" bIns="0" lIns="0" rIns="0">
            <a:spAutoFit/>
          </a:bodyPr>
          <a:lstStyle/>
          <a:p>
            <a:pPr>
              <a:lnSpc>
                <a:spcPct val="112000"/>
              </a:lnSpc>
              <a:spcBef>
                <a:spcPts val="0"/>
              </a:spcBef>
              <a:spcAft>
                <a:spcPts val="0"/>
              </a:spcAft>
              <a:defRPr sz="2300" b="1">
                <a:solidFill>
                  <a:srgbClr val="F5F2FF"/>
                </a:solidFill>
                <a:latin typeface="Lato"/>
              </a:defRPr>
            </a:pPr>
            <a:r>
              <a:t>DINO · adapted</a:t>
            </a:r>
          </a:p>
        </p:txBody>
      </p:sp>
      <p:sp>
        <p:nvSpPr>
          <p:cNvPr id="20" name="Rectangle 19"/>
          <p:cNvSpPr/>
          <p:nvPr/>
        </p:nvSpPr>
        <p:spPr>
          <a:xfrm>
            <a:off x="4000500" y="4241800"/>
            <a:ext cx="2540000" cy="3556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00500" y="4241800"/>
            <a:ext cx="1273659" cy="355600"/>
          </a:xfrm>
          <a:prstGeom prst="rect">
            <a:avLst/>
          </a:prstGeom>
          <a:solidFill>
            <a:srgbClr val="BE9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67500" y="4216400"/>
            <a:ext cx="1016000" cy="457200"/>
          </a:xfrm>
          <a:prstGeom prst="rect">
            <a:avLst/>
          </a:prstGeom>
          <a:noFill/>
        </p:spPr>
        <p:txBody>
          <a:bodyPr wrap="none" tIns="0" bIns="0" lIns="0" rIns="0">
            <a:spAutoFit/>
          </a:bodyPr>
          <a:lstStyle/>
          <a:p>
            <a:pPr>
              <a:lnSpc>
                <a:spcPct val="112000"/>
              </a:lnSpc>
              <a:spcBef>
                <a:spcPts val="0"/>
              </a:spcBef>
              <a:spcAft>
                <a:spcPts val="0"/>
              </a:spcAft>
              <a:defRPr sz="2300" b="1">
                <a:solidFill>
                  <a:srgbClr val="BE95FF"/>
                </a:solidFill>
                <a:latin typeface="Lato"/>
              </a:defRPr>
            </a:pPr>
            <a:r>
              <a:t>50.1%</a:t>
            </a:r>
          </a:p>
        </p:txBody>
      </p:sp>
      <p:sp>
        <p:nvSpPr>
          <p:cNvPr id="23" name="Rectangle 22"/>
          <p:cNvSpPr/>
          <p:nvPr/>
        </p:nvSpPr>
        <p:spPr>
          <a:xfrm>
            <a:off x="8204200" y="4241800"/>
            <a:ext cx="2540000" cy="3556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04200" y="4241800"/>
            <a:ext cx="1888530" cy="355600"/>
          </a:xfrm>
          <a:prstGeom prst="rect">
            <a:avLst/>
          </a:prstGeom>
          <a:solidFill>
            <a:srgbClr val="BE9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71200" y="4216400"/>
            <a:ext cx="1016000" cy="457200"/>
          </a:xfrm>
          <a:prstGeom prst="rect">
            <a:avLst/>
          </a:prstGeom>
          <a:noFill/>
        </p:spPr>
        <p:txBody>
          <a:bodyPr wrap="none" tIns="0" bIns="0" lIns="0" rIns="0">
            <a:spAutoFit/>
          </a:bodyPr>
          <a:lstStyle/>
          <a:p>
            <a:pPr>
              <a:lnSpc>
                <a:spcPct val="112000"/>
              </a:lnSpc>
              <a:spcBef>
                <a:spcPts val="0"/>
              </a:spcBef>
              <a:spcAft>
                <a:spcPts val="0"/>
              </a:spcAft>
              <a:defRPr sz="2300" b="1">
                <a:solidFill>
                  <a:srgbClr val="BE95FF"/>
                </a:solidFill>
                <a:latin typeface="Lato"/>
              </a:defRPr>
            </a:pPr>
            <a:r>
              <a:t>74.4%</a:t>
            </a:r>
          </a:p>
        </p:txBody>
      </p:sp>
      <p:sp>
        <p:nvSpPr>
          <p:cNvPr id="26" name="TextBox 25"/>
          <p:cNvSpPr txBox="1"/>
          <p:nvPr/>
        </p:nvSpPr>
        <p:spPr>
          <a:xfrm>
            <a:off x="558800" y="5283200"/>
            <a:ext cx="11099800" cy="317500"/>
          </a:xfrm>
          <a:prstGeom prst="rect">
            <a:avLst/>
          </a:prstGeom>
          <a:noFill/>
        </p:spPr>
        <p:txBody>
          <a:bodyPr wrap="none" tIns="0" bIns="0" lIns="0" rIns="0">
            <a:spAutoFit/>
          </a:bodyPr>
          <a:lstStyle/>
          <a:p>
            <a:pPr>
              <a:lnSpc>
                <a:spcPct val="112000"/>
              </a:lnSpc>
              <a:spcBef>
                <a:spcPts val="0"/>
              </a:spcBef>
              <a:spcAft>
                <a:spcPts val="0"/>
              </a:spcAft>
              <a:defRPr sz="1800" b="1">
                <a:solidFill>
                  <a:srgbClr val="C5A2FF"/>
                </a:solidFill>
                <a:latin typeface="Lato"/>
              </a:defRPr>
            </a:pPr>
            <a:r>
              <a:t>Grouping makes the task easier; retraining added little DINO accuracy.</a:t>
            </a:r>
          </a:p>
        </p:txBody>
      </p:sp>
      <p:sp>
        <p:nvSpPr>
          <p:cNvPr id="27" name="TextBox 26"/>
          <p:cNvSpPr txBox="1"/>
          <p:nvPr/>
        </p:nvSpPr>
        <p:spPr>
          <a:xfrm>
            <a:off x="558800" y="5715000"/>
            <a:ext cx="110490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B9B2CC"/>
                </a:solidFill>
                <a:latin typeface="Lato"/>
              </a:defRPr>
            </a:pPr>
            <a:r>
              <a:t>Earlier DINO predictions, regrouped: 50.1% unseen / 74.1% shared.</a:t>
            </a:r>
          </a:p>
        </p:txBody>
      </p:sp>
      <p:sp>
        <p:nvSpPr>
          <p:cNvPr id="28" name="TextBox 27"/>
          <p:cNvSpPr txBox="1"/>
          <p:nvPr/>
        </p:nvSpPr>
        <p:spPr>
          <a:xfrm>
            <a:off x="558800" y="6108700"/>
            <a:ext cx="11176000" cy="215900"/>
          </a:xfrm>
          <a:prstGeom prst="rect">
            <a:avLst/>
          </a:prstGeom>
          <a:noFill/>
        </p:spPr>
        <p:txBody>
          <a:bodyPr wrap="none" tIns="0" bIns="0" lIns="0" rIns="0">
            <a:spAutoFit/>
          </a:bodyPr>
          <a:lstStyle/>
          <a:p>
            <a:pPr>
              <a:lnSpc>
                <a:spcPct val="112000"/>
              </a:lnSpc>
              <a:spcBef>
                <a:spcPts val="0"/>
              </a:spcBef>
              <a:spcAft>
                <a:spcPts val="0"/>
              </a:spcAft>
              <a:defRPr sz="1200" b="0">
                <a:solidFill>
                  <a:srgbClr val="B9B2CC"/>
                </a:solidFill>
                <a:latin typeface="Lato"/>
              </a:defRPr>
            </a:pPr>
            <a:r>
              <a:t>Single-run validation comparisons; final test untouched. These are crop-classification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C5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C5A2FF"/>
                </a:solidFill>
                <a:latin typeface="Lato"/>
              </a:defRPr>
            </a:pPr>
            <a:r>
              <a:t>06 / CLASSIFIER BACKBONES / ERRORS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F5F2FF"/>
                </a:solidFill>
                <a:latin typeface="Lato"/>
              </a:defRPr>
            </a:pPr>
            <a:r>
              <a:t>Three categories still need closer review</a:t>
            </a:r>
          </a:p>
        </p:txBody>
      </p:sp>
      <p:sp>
        <p:nvSpPr>
          <p:cNvPr id="6" name="Rectangle 5"/>
          <p:cNvSpPr/>
          <p:nvPr/>
        </p:nvSpPr>
        <p:spPr>
          <a:xfrm>
            <a:off x="533400" y="6413500"/>
            <a:ext cx="11125200" cy="12700"/>
          </a:xfrm>
          <a:prstGeom prst="rect">
            <a:avLst/>
          </a:prstGeom>
          <a:solidFill>
            <a:srgbClr val="3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B9B2CC"/>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B9B2CC"/>
                </a:solidFill>
                <a:latin typeface="Lato"/>
              </a:defRPr>
            </a:pPr>
            <a:r>
              <a:t>6</a:t>
            </a:r>
          </a:p>
        </p:txBody>
      </p:sp>
      <p:sp>
        <p:nvSpPr>
          <p:cNvPr id="9" name="TextBox 8"/>
          <p:cNvSpPr txBox="1"/>
          <p:nvPr/>
        </p:nvSpPr>
        <p:spPr>
          <a:xfrm>
            <a:off x="558800" y="1676400"/>
            <a:ext cx="11099800" cy="381000"/>
          </a:xfrm>
          <a:prstGeom prst="rect">
            <a:avLst/>
          </a:prstGeom>
          <a:noFill/>
        </p:spPr>
        <p:txBody>
          <a:bodyPr wrap="none" tIns="0" bIns="0" lIns="0" rIns="0">
            <a:spAutoFit/>
          </a:bodyPr>
          <a:lstStyle/>
          <a:p>
            <a:pPr>
              <a:lnSpc>
                <a:spcPct val="112000"/>
              </a:lnSpc>
              <a:spcBef>
                <a:spcPts val="0"/>
              </a:spcBef>
              <a:spcAft>
                <a:spcPts val="0"/>
              </a:spcAft>
              <a:defRPr sz="1900" b="0">
                <a:solidFill>
                  <a:srgbClr val="B9B2CC"/>
                </a:solidFill>
                <a:latin typeface="Lato"/>
              </a:defRPr>
            </a:pPr>
            <a:r>
              <a:t>Adapted DINO · correctly identified / validation examples</a:t>
            </a:r>
          </a:p>
        </p:txBody>
      </p:sp>
      <p:sp>
        <p:nvSpPr>
          <p:cNvPr id="10" name="TextBox 9"/>
          <p:cNvSpPr txBox="1"/>
          <p:nvPr/>
        </p:nvSpPr>
        <p:spPr>
          <a:xfrm>
            <a:off x="558800" y="2413000"/>
            <a:ext cx="5397500" cy="304800"/>
          </a:xfrm>
          <a:prstGeom prst="rect">
            <a:avLst/>
          </a:prstGeom>
          <a:noFill/>
        </p:spPr>
        <p:txBody>
          <a:bodyPr wrap="none" tIns="0" bIns="0" lIns="0" rIns="0">
            <a:spAutoFit/>
          </a:bodyPr>
          <a:lstStyle/>
          <a:p>
            <a:pPr>
              <a:lnSpc>
                <a:spcPct val="112000"/>
              </a:lnSpc>
              <a:spcBef>
                <a:spcPts val="0"/>
              </a:spcBef>
              <a:spcAft>
                <a:spcPts val="0"/>
              </a:spcAft>
              <a:defRPr sz="1200" b="1">
                <a:solidFill>
                  <a:srgbClr val="B9B2CC"/>
                </a:solidFill>
                <a:latin typeface="Lato"/>
              </a:defRPr>
            </a:pPr>
            <a:r>
              <a:t>CATEGORY</a:t>
            </a:r>
          </a:p>
        </p:txBody>
      </p:sp>
      <p:sp>
        <p:nvSpPr>
          <p:cNvPr id="11" name="TextBox 10"/>
          <p:cNvSpPr txBox="1"/>
          <p:nvPr/>
        </p:nvSpPr>
        <p:spPr>
          <a:xfrm>
            <a:off x="6604000" y="2349500"/>
            <a:ext cx="2413000" cy="381000"/>
          </a:xfrm>
          <a:prstGeom prst="rect">
            <a:avLst/>
          </a:prstGeom>
          <a:noFill/>
        </p:spPr>
        <p:txBody>
          <a:bodyPr wrap="none" tIns="0" bIns="0" lIns="0" rIns="0">
            <a:spAutoFit/>
          </a:bodyPr>
          <a:lstStyle/>
          <a:p>
            <a:pPr>
              <a:lnSpc>
                <a:spcPct val="112000"/>
              </a:lnSpc>
              <a:spcBef>
                <a:spcPts val="0"/>
              </a:spcBef>
              <a:spcAft>
                <a:spcPts val="0"/>
              </a:spcAft>
              <a:defRPr sz="2100" b="1">
                <a:solidFill>
                  <a:srgbClr val="F5F2FF"/>
                </a:solidFill>
                <a:latin typeface="Lato"/>
              </a:defRPr>
            </a:pPr>
            <a:r>
              <a:t>Shared slides</a:t>
            </a:r>
          </a:p>
        </p:txBody>
      </p:sp>
      <p:sp>
        <p:nvSpPr>
          <p:cNvPr id="12" name="TextBox 11"/>
          <p:cNvSpPr txBox="1"/>
          <p:nvPr/>
        </p:nvSpPr>
        <p:spPr>
          <a:xfrm>
            <a:off x="9309100" y="2349500"/>
            <a:ext cx="2413000" cy="381000"/>
          </a:xfrm>
          <a:prstGeom prst="rect">
            <a:avLst/>
          </a:prstGeom>
          <a:noFill/>
        </p:spPr>
        <p:txBody>
          <a:bodyPr wrap="none" tIns="0" bIns="0" lIns="0" rIns="0">
            <a:spAutoFit/>
          </a:bodyPr>
          <a:lstStyle/>
          <a:p>
            <a:pPr>
              <a:lnSpc>
                <a:spcPct val="112000"/>
              </a:lnSpc>
              <a:spcBef>
                <a:spcPts val="0"/>
              </a:spcBef>
              <a:spcAft>
                <a:spcPts val="0"/>
              </a:spcAft>
              <a:defRPr sz="2100" b="1">
                <a:solidFill>
                  <a:srgbClr val="F5F2FF"/>
                </a:solidFill>
                <a:latin typeface="Lato"/>
              </a:defRPr>
            </a:pPr>
            <a:r>
              <a:t>Unseen slides</a:t>
            </a:r>
          </a:p>
        </p:txBody>
      </p:sp>
      <p:sp>
        <p:nvSpPr>
          <p:cNvPr id="13" name="Rectangle 12"/>
          <p:cNvSpPr/>
          <p:nvPr/>
        </p:nvSpPr>
        <p:spPr>
          <a:xfrm>
            <a:off x="558800" y="2933700"/>
            <a:ext cx="11099800" cy="5715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8500" y="3009900"/>
            <a:ext cx="55880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F5F2FF"/>
                </a:solidFill>
                <a:latin typeface="Lato"/>
              </a:defRPr>
            </a:pPr>
            <a:r>
              <a:t>Bombacacidites sp.</a:t>
            </a:r>
          </a:p>
        </p:txBody>
      </p:sp>
      <p:sp>
        <p:nvSpPr>
          <p:cNvPr id="15" name="TextBox 14"/>
          <p:cNvSpPr txBox="1"/>
          <p:nvPr/>
        </p:nvSpPr>
        <p:spPr>
          <a:xfrm>
            <a:off x="6604000" y="30099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C5A2FF"/>
                </a:solidFill>
                <a:latin typeface="Lato"/>
              </a:defRPr>
            </a:pPr>
            <a:r>
              <a:t>2/7  (29%)</a:t>
            </a:r>
          </a:p>
        </p:txBody>
      </p:sp>
      <p:sp>
        <p:nvSpPr>
          <p:cNvPr id="16" name="TextBox 15"/>
          <p:cNvSpPr txBox="1"/>
          <p:nvPr/>
        </p:nvSpPr>
        <p:spPr>
          <a:xfrm>
            <a:off x="9309100" y="30099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C5A2FF"/>
                </a:solidFill>
                <a:latin typeface="Lato"/>
              </a:defRPr>
            </a:pPr>
            <a:r>
              <a:t>1/17  (6%)</a:t>
            </a:r>
          </a:p>
        </p:txBody>
      </p:sp>
      <p:sp>
        <p:nvSpPr>
          <p:cNvPr id="17" name="Rectangle 16"/>
          <p:cNvSpPr/>
          <p:nvPr/>
        </p:nvSpPr>
        <p:spPr>
          <a:xfrm>
            <a:off x="558800" y="3594100"/>
            <a:ext cx="11099800" cy="5715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500" y="3670300"/>
            <a:ext cx="55880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F5F2FF"/>
                </a:solidFill>
                <a:latin typeface="Lato"/>
              </a:defRPr>
            </a:pPr>
            <a:r>
              <a:t>Polyatriopollenites</a:t>
            </a:r>
          </a:p>
        </p:txBody>
      </p:sp>
      <p:sp>
        <p:nvSpPr>
          <p:cNvPr id="19" name="TextBox 18"/>
          <p:cNvSpPr txBox="1"/>
          <p:nvPr/>
        </p:nvSpPr>
        <p:spPr>
          <a:xfrm>
            <a:off x="6604000" y="36703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C5A2FF"/>
                </a:solidFill>
                <a:latin typeface="Lato"/>
              </a:defRPr>
            </a:pPr>
            <a:r>
              <a:t>2/7  (29%)</a:t>
            </a:r>
          </a:p>
        </p:txBody>
      </p:sp>
      <p:sp>
        <p:nvSpPr>
          <p:cNvPr id="20" name="TextBox 19"/>
          <p:cNvSpPr txBox="1"/>
          <p:nvPr/>
        </p:nvSpPr>
        <p:spPr>
          <a:xfrm>
            <a:off x="9309100" y="36703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C5A2FF"/>
                </a:solidFill>
                <a:latin typeface="Lato"/>
              </a:defRPr>
            </a:pPr>
            <a:r>
              <a:t>1/9  (11%)</a:t>
            </a:r>
          </a:p>
        </p:txBody>
      </p:sp>
      <p:sp>
        <p:nvSpPr>
          <p:cNvPr id="21" name="Rectangle 20"/>
          <p:cNvSpPr/>
          <p:nvPr/>
        </p:nvSpPr>
        <p:spPr>
          <a:xfrm>
            <a:off x="558800" y="4254500"/>
            <a:ext cx="11099800" cy="571500"/>
          </a:xfrm>
          <a:prstGeom prst="rect">
            <a:avLst/>
          </a:prstGeom>
          <a:solidFill>
            <a:srgbClr val="19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8500" y="4330700"/>
            <a:ext cx="55880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F5F2FF"/>
                </a:solidFill>
                <a:latin typeface="Lato"/>
              </a:defRPr>
            </a:pPr>
            <a:r>
              <a:t>Psilatricolpites sp.</a:t>
            </a:r>
          </a:p>
        </p:txBody>
      </p:sp>
      <p:sp>
        <p:nvSpPr>
          <p:cNvPr id="23" name="TextBox 22"/>
          <p:cNvSpPr txBox="1"/>
          <p:nvPr/>
        </p:nvSpPr>
        <p:spPr>
          <a:xfrm>
            <a:off x="6604000" y="43307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C5A2FF"/>
                </a:solidFill>
                <a:latin typeface="Lato"/>
              </a:defRPr>
            </a:pPr>
            <a:r>
              <a:t>3/8  (38%)</a:t>
            </a:r>
          </a:p>
        </p:txBody>
      </p:sp>
      <p:sp>
        <p:nvSpPr>
          <p:cNvPr id="24" name="TextBox 23"/>
          <p:cNvSpPr txBox="1"/>
          <p:nvPr/>
        </p:nvSpPr>
        <p:spPr>
          <a:xfrm>
            <a:off x="9309100" y="43307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C5A2FF"/>
                </a:solidFill>
                <a:latin typeface="Lato"/>
              </a:defRPr>
            </a:pPr>
            <a:r>
              <a:t>3/18  (17%)</a:t>
            </a:r>
          </a:p>
        </p:txBody>
      </p:sp>
      <p:sp>
        <p:nvSpPr>
          <p:cNvPr id="25" name="TextBox 24"/>
          <p:cNvSpPr txBox="1"/>
          <p:nvPr/>
        </p:nvSpPr>
        <p:spPr>
          <a:xfrm>
            <a:off x="558800" y="5118100"/>
            <a:ext cx="11099800" cy="330200"/>
          </a:xfrm>
          <a:prstGeom prst="rect">
            <a:avLst/>
          </a:prstGeom>
          <a:noFill/>
        </p:spPr>
        <p:txBody>
          <a:bodyPr wrap="none" tIns="0" bIns="0" lIns="0" rIns="0">
            <a:spAutoFit/>
          </a:bodyPr>
          <a:lstStyle/>
          <a:p>
            <a:pPr>
              <a:lnSpc>
                <a:spcPct val="112000"/>
              </a:lnSpc>
              <a:spcBef>
                <a:spcPts val="0"/>
              </a:spcBef>
              <a:spcAft>
                <a:spcPts val="0"/>
              </a:spcAft>
              <a:defRPr sz="1800" b="1">
                <a:solidFill>
                  <a:srgbClr val="C5A2FF"/>
                </a:solidFill>
                <a:latin typeface="Lato"/>
              </a:defRPr>
            </a:pPr>
            <a:r>
              <a:t>Fewer examples may contribute; the main cause is not yet established.</a:t>
            </a:r>
          </a:p>
        </p:txBody>
      </p:sp>
      <p:sp>
        <p:nvSpPr>
          <p:cNvPr id="26" name="TextBox 25"/>
          <p:cNvSpPr txBox="1"/>
          <p:nvPr/>
        </p:nvSpPr>
        <p:spPr>
          <a:xfrm>
            <a:off x="558800" y="5562600"/>
            <a:ext cx="11099800" cy="330200"/>
          </a:xfrm>
          <a:prstGeom prst="rect">
            <a:avLst/>
          </a:prstGeom>
          <a:noFill/>
        </p:spPr>
        <p:txBody>
          <a:bodyPr wrap="none" tIns="0" bIns="0" lIns="0" rIns="0">
            <a:spAutoFit/>
          </a:bodyPr>
          <a:lstStyle/>
          <a:p>
            <a:pPr>
              <a:lnSpc>
                <a:spcPct val="112000"/>
              </a:lnSpc>
              <a:spcBef>
                <a:spcPts val="0"/>
              </a:spcBef>
              <a:spcAft>
                <a:spcPts val="0"/>
              </a:spcAft>
              <a:defRPr sz="1800" b="0">
                <a:solidFill>
                  <a:srgbClr val="B9B2CC"/>
                </a:solidFill>
                <a:latin typeface="Lato"/>
              </a:defRPr>
            </a:pPr>
            <a:r>
              <a:t>Next: inspect the mistakes, image clarity, and confused categories.</a:t>
            </a:r>
          </a:p>
        </p:txBody>
      </p:sp>
      <p:sp>
        <p:nvSpPr>
          <p:cNvPr id="27" name="TextBox 26"/>
          <p:cNvSpPr txBox="1"/>
          <p:nvPr/>
        </p:nvSpPr>
        <p:spPr>
          <a:xfrm>
            <a:off x="558800" y="6070600"/>
            <a:ext cx="11099800" cy="254000"/>
          </a:xfrm>
          <a:prstGeom prst="rect">
            <a:avLst/>
          </a:prstGeom>
          <a:noFill/>
        </p:spPr>
        <p:txBody>
          <a:bodyPr wrap="none" tIns="0" bIns="0" lIns="0" rIns="0">
            <a:spAutoFit/>
          </a:bodyPr>
          <a:lstStyle/>
          <a:p>
            <a:pPr>
              <a:lnSpc>
                <a:spcPct val="112000"/>
              </a:lnSpc>
              <a:spcBef>
                <a:spcPts val="0"/>
              </a:spcBef>
              <a:spcAft>
                <a:spcPts val="0"/>
              </a:spcAft>
              <a:defRPr sz="1200" b="0">
                <a:solidFill>
                  <a:srgbClr val="B9B2CC"/>
                </a:solidFill>
                <a:latin typeface="Lato"/>
              </a:defRPr>
            </a:pPr>
            <a:r>
              <a:t>Small validation samples make these percentages uncertain. Momipites is no longer a main weakness.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