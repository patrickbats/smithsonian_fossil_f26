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40 seconds</a:t>
            </a:r>
          </a:p>
          <a:p/>
          <a:p>
            <a:r>
              <a:t>Since our last update, we’ve moved from preparing the data to training initial classifiers. We now have 2,283 labeled specimens across 32 priority categories in this experiment. These are real examples from the collection, with the expert category labels. We prepared focused images, compared two model families, and saved their predictions for review. Our goal is still to help researchers identify specimens more efficiently. Today, we’ll show what improved, where the models still struggle, and where your input would be most useful.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45 seconds</a:t>
            </a:r>
          </a:p>
          <a:p/>
          <a:p>
            <a:r>
              <a:t>The microscope scans show each specimen at several focal depths. On the left is the original view; on the right is a sharper view of the same specimen. We used a sharpness score to choose one plane for each crop. With the same Swin training settings, validation accuracy on unfamiliar slides increased from about 32 to 38 percent. This example illustrates the focus change; it doesn’t mean this particular specimen caused that improvement. We’d also like to know when identification requires features visible across several depths, rather than just one sharp image.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50 seconds</a:t>
            </a:r>
          </a:p>
          <a:p/>
          <a:p>
            <a:r>
              <a:t>We checked performance in two situations. In the unseen-slide experiment, all specimens from a slide stay together, so the model is checked on slides it hasn’t learned from. In the shared-slide experiment, it learns from some grains and is checked on other grains from the same slides. We never reuse the exact same specimen in both sets. Shared slides can have familiar staining and imaging conditions, so that is an easier situation. Both experiments have the same number of training and validation examples, but the actual examples differ. A separate final test set remains unused.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55 seconds</a:t>
            </a:r>
          </a:p>
          <a:p/>
          <a:p>
            <a:r>
              <a:t>Here are the classification results. Swin reached 38 percent on unseen slides and 66 percent with shared slides. DINO initially did worse when we kept its image-processing backbone fixed and trained only a small classifier. We then allowed the final part of DINO to adapt to our specimens. That reached about 44 percent on unseen slides and 70 percent with shared slides. Its category-averaged F1 score also improved. These are promising initial results, but they are single-run validation comparisons, not final test results. They measure identification of prepared crops, rather than the complete process of finding and classifying everything on a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50 seconds</a:t>
            </a:r>
          </a:p>
          <a:p/>
          <a:p>
            <a:r>
              <a:t>These are actual mistakes from the adapted DINO model on unseen-slide validation specimens. The expert labels are shown above the model’s predictions. We selected examples from recurring confusions, rather than treating them as representative of every error. We don’t yet know whether these mistakes reflect subtle biological differences, image quality, nearby material, or the model relying on the wrong features. Your interpretation would help us decide what to improve. We would especially value guidance on which visible characteristics distinguish these categories, and whether another focal view would make the distinction clearer.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40 seconds</a:t>
            </a:r>
          </a:p>
          <a:p/>
          <a:p>
            <a:r>
              <a:t>The main takeaway is that we now have a working classifier and a way to compare improvements. Adapting DINO helped, but unfamiliar slides remain challenging. We’d like your help deciding which confusions have the greatest scientific consequences, which categories deserve priority, and when multiple focal views are essential. Our next step is to review a manageable set of errors with you, make targeted improvements, and then evaluate the selected approach on the reserved test slides. We want the next experiments to address useful scientific distinctions, not simply produce a higher overall score.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330200" cy="508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92100"/>
            <a:ext cx="10541000" cy="279400"/>
          </a:xfrm>
          <a:prstGeom prst="rect">
            <a:avLst/>
          </a:prstGeom>
          <a:noFill/>
        </p:spPr>
        <p:txBody>
          <a:bodyPr wrap="none" tIns="0" bIns="0" lIns="0" rIns="0">
            <a:spAutoFit/>
          </a:bodyPr>
          <a:lstStyle/>
          <a:p>
            <a:pPr>
              <a:lnSpc>
                <a:spcPct val="112000"/>
              </a:lnSpc>
              <a:spcBef>
                <a:spcPts val="0"/>
              </a:spcBef>
              <a:spcAft>
                <a:spcPts val="0"/>
              </a:spcAft>
              <a:defRPr sz="1100" b="1">
                <a:solidFill>
                  <a:srgbClr val="93451F"/>
                </a:solidFill>
                <a:latin typeface="Lato"/>
              </a:defRPr>
            </a:pPr>
            <a:r>
              <a:t>01 / PROGRESS</a:t>
            </a:r>
          </a:p>
        </p:txBody>
      </p:sp>
      <p:sp>
        <p:nvSpPr>
          <p:cNvPr id="5" name="TextBox 4"/>
          <p:cNvSpPr txBox="1"/>
          <p:nvPr/>
        </p:nvSpPr>
        <p:spPr>
          <a:xfrm>
            <a:off x="533400" y="825500"/>
            <a:ext cx="11176000" cy="1117600"/>
          </a:xfrm>
          <a:prstGeom prst="rect">
            <a:avLst/>
          </a:prstGeom>
          <a:noFill/>
        </p:spPr>
        <p:txBody>
          <a:bodyPr wrap="none" tIns="0" bIns="0" lIns="0" rIns="0">
            <a:spAutoFit/>
          </a:bodyPr>
          <a:lstStyle/>
          <a:p>
            <a:pPr>
              <a:lnSpc>
                <a:spcPct val="112000"/>
              </a:lnSpc>
              <a:spcBef>
                <a:spcPts val="0"/>
              </a:spcBef>
              <a:spcAft>
                <a:spcPts val="0"/>
              </a:spcAft>
              <a:defRPr sz="3400" b="1">
                <a:solidFill>
                  <a:srgbClr val="202D48"/>
                </a:solidFill>
                <a:latin typeface="Lato"/>
              </a:defRPr>
            </a:pPr>
            <a:r>
              <a:t>From pollen images to category predictions</a:t>
            </a:r>
          </a:p>
        </p:txBody>
      </p:sp>
      <p:sp>
        <p:nvSpPr>
          <p:cNvPr id="6" name="Rectangle 5"/>
          <p:cNvSpPr/>
          <p:nvPr/>
        </p:nvSpPr>
        <p:spPr>
          <a:xfrm>
            <a:off x="533400" y="6413500"/>
            <a:ext cx="11125200" cy="127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3400" y="6578600"/>
            <a:ext cx="10160000" cy="177800"/>
          </a:xfrm>
          <a:prstGeom prst="rect">
            <a:avLst/>
          </a:prstGeom>
          <a:noFill/>
        </p:spPr>
        <p:txBody>
          <a:bodyPr wrap="none" tIns="0" bIns="0" lIns="0" rIns="0">
            <a:spAutoFit/>
          </a:bodyPr>
          <a:lstStyle/>
          <a:p>
            <a:pPr>
              <a:lnSpc>
                <a:spcPct val="112000"/>
              </a:lnSpc>
              <a:spcBef>
                <a:spcPts val="0"/>
              </a:spcBef>
              <a:spcAft>
                <a:spcPts val="0"/>
              </a:spcAft>
              <a:defRPr sz="900" b="0">
                <a:solidFill>
                  <a:srgbClr val="596477"/>
                </a:solidFill>
                <a:latin typeface="Lato"/>
              </a:defRPr>
            </a:pPr>
            <a:r>
              <a:t>SMITHSONIAN × RICE D2K  ·  CLASSIFICATION UPDATE</a:t>
            </a:r>
          </a:p>
        </p:txBody>
      </p:sp>
      <p:sp>
        <p:nvSpPr>
          <p:cNvPr id="8" name="TextBox 7"/>
          <p:cNvSpPr txBox="1"/>
          <p:nvPr/>
        </p:nvSpPr>
        <p:spPr>
          <a:xfrm>
            <a:off x="11430000" y="6565900"/>
            <a:ext cx="254000" cy="203200"/>
          </a:xfrm>
          <a:prstGeom prst="rect">
            <a:avLst/>
          </a:prstGeom>
          <a:noFill/>
        </p:spPr>
        <p:txBody>
          <a:bodyPr wrap="none" tIns="0" bIns="0" lIns="0" rIns="0">
            <a:spAutoFit/>
          </a:bodyPr>
          <a:lstStyle/>
          <a:p>
            <a:pPr>
              <a:lnSpc>
                <a:spcPct val="112000"/>
              </a:lnSpc>
              <a:spcBef>
                <a:spcPts val="0"/>
              </a:spcBef>
              <a:spcAft>
                <a:spcPts val="0"/>
              </a:spcAft>
              <a:defRPr sz="1000" b="0">
                <a:solidFill>
                  <a:srgbClr val="596477"/>
                </a:solidFill>
                <a:latin typeface="Lato"/>
              </a:defRPr>
            </a:pPr>
            <a:r>
              <a:t>1</a:t>
            </a:r>
          </a:p>
        </p:txBody>
      </p:sp>
      <p:sp>
        <p:nvSpPr>
          <p:cNvPr id="9" name="TextBox 8"/>
          <p:cNvSpPr txBox="1"/>
          <p:nvPr/>
        </p:nvSpPr>
        <p:spPr>
          <a:xfrm>
            <a:off x="558800" y="1612900"/>
            <a:ext cx="10922000" cy="406400"/>
          </a:xfrm>
          <a:prstGeom prst="rect">
            <a:avLst/>
          </a:prstGeom>
          <a:noFill/>
        </p:spPr>
        <p:txBody>
          <a:bodyPr wrap="none" tIns="0" bIns="0" lIns="0" rIns="0">
            <a:spAutoFit/>
          </a:bodyPr>
          <a:lstStyle/>
          <a:p>
            <a:pPr>
              <a:lnSpc>
                <a:spcPct val="112000"/>
              </a:lnSpc>
              <a:spcBef>
                <a:spcPts val="0"/>
              </a:spcBef>
              <a:spcAft>
                <a:spcPts val="0"/>
              </a:spcAft>
              <a:defRPr sz="2100" b="0">
                <a:solidFill>
                  <a:srgbClr val="596477"/>
                </a:solidFill>
                <a:latin typeface="Lato"/>
              </a:defRPr>
            </a:pPr>
            <a:r>
              <a:t>A working baseline—and clearer questions for expert review.</a:t>
            </a:r>
          </a:p>
        </p:txBody>
      </p:sp>
      <p:sp>
        <p:nvSpPr>
          <p:cNvPr id="10" name="TextBox 9"/>
          <p:cNvSpPr txBox="1"/>
          <p:nvPr/>
        </p:nvSpPr>
        <p:spPr>
          <a:xfrm>
            <a:off x="558800" y="2679700"/>
            <a:ext cx="2413000" cy="787400"/>
          </a:xfrm>
          <a:prstGeom prst="rect">
            <a:avLst/>
          </a:prstGeom>
          <a:noFill/>
        </p:spPr>
        <p:txBody>
          <a:bodyPr wrap="none" tIns="0" bIns="0" lIns="0" rIns="0">
            <a:spAutoFit/>
          </a:bodyPr>
          <a:lstStyle/>
          <a:p>
            <a:pPr>
              <a:lnSpc>
                <a:spcPct val="112000"/>
              </a:lnSpc>
              <a:spcBef>
                <a:spcPts val="0"/>
              </a:spcBef>
              <a:spcAft>
                <a:spcPts val="0"/>
              </a:spcAft>
              <a:defRPr sz="4800" b="1">
                <a:solidFill>
                  <a:srgbClr val="20786E"/>
                </a:solidFill>
                <a:latin typeface="Lato"/>
              </a:defRPr>
            </a:pPr>
            <a:r>
              <a:t>2,283</a:t>
            </a:r>
          </a:p>
        </p:txBody>
      </p:sp>
      <p:sp>
        <p:nvSpPr>
          <p:cNvPr id="11" name="TextBox 10"/>
          <p:cNvSpPr txBox="1"/>
          <p:nvPr/>
        </p:nvSpPr>
        <p:spPr>
          <a:xfrm>
            <a:off x="558800" y="3505200"/>
            <a:ext cx="2413000" cy="381000"/>
          </a:xfrm>
          <a:prstGeom prst="rect">
            <a:avLst/>
          </a:prstGeom>
          <a:noFill/>
        </p:spPr>
        <p:txBody>
          <a:bodyPr wrap="none" tIns="0" bIns="0" lIns="0" rIns="0">
            <a:spAutoFit/>
          </a:bodyPr>
          <a:lstStyle/>
          <a:p>
            <a:pPr>
              <a:lnSpc>
                <a:spcPct val="112000"/>
              </a:lnSpc>
              <a:spcBef>
                <a:spcPts val="0"/>
              </a:spcBef>
              <a:spcAft>
                <a:spcPts val="0"/>
              </a:spcAft>
              <a:defRPr sz="1700" b="0">
                <a:solidFill>
                  <a:srgbClr val="596477"/>
                </a:solidFill>
                <a:latin typeface="Lato"/>
              </a:defRPr>
            </a:pPr>
            <a:r>
              <a:t>labeled specimens</a:t>
            </a:r>
          </a:p>
        </p:txBody>
      </p:sp>
      <p:sp>
        <p:nvSpPr>
          <p:cNvPr id="12" name="TextBox 11"/>
          <p:cNvSpPr txBox="1"/>
          <p:nvPr/>
        </p:nvSpPr>
        <p:spPr>
          <a:xfrm>
            <a:off x="3048000" y="2679700"/>
            <a:ext cx="2413000" cy="787400"/>
          </a:xfrm>
          <a:prstGeom prst="rect">
            <a:avLst/>
          </a:prstGeom>
          <a:noFill/>
        </p:spPr>
        <p:txBody>
          <a:bodyPr wrap="none" tIns="0" bIns="0" lIns="0" rIns="0">
            <a:spAutoFit/>
          </a:bodyPr>
          <a:lstStyle/>
          <a:p>
            <a:pPr>
              <a:lnSpc>
                <a:spcPct val="112000"/>
              </a:lnSpc>
              <a:spcBef>
                <a:spcPts val="0"/>
              </a:spcBef>
              <a:spcAft>
                <a:spcPts val="0"/>
              </a:spcAft>
              <a:defRPr sz="4800" b="1">
                <a:solidFill>
                  <a:srgbClr val="20786E"/>
                </a:solidFill>
                <a:latin typeface="Lato"/>
              </a:defRPr>
            </a:pPr>
            <a:r>
              <a:t>32</a:t>
            </a:r>
          </a:p>
        </p:txBody>
      </p:sp>
      <p:sp>
        <p:nvSpPr>
          <p:cNvPr id="13" name="TextBox 12"/>
          <p:cNvSpPr txBox="1"/>
          <p:nvPr/>
        </p:nvSpPr>
        <p:spPr>
          <a:xfrm>
            <a:off x="3048000" y="3505200"/>
            <a:ext cx="2413000" cy="381000"/>
          </a:xfrm>
          <a:prstGeom prst="rect">
            <a:avLst/>
          </a:prstGeom>
          <a:noFill/>
        </p:spPr>
        <p:txBody>
          <a:bodyPr wrap="none" tIns="0" bIns="0" lIns="0" rIns="0">
            <a:spAutoFit/>
          </a:bodyPr>
          <a:lstStyle/>
          <a:p>
            <a:pPr>
              <a:lnSpc>
                <a:spcPct val="112000"/>
              </a:lnSpc>
              <a:spcBef>
                <a:spcPts val="0"/>
              </a:spcBef>
              <a:spcAft>
                <a:spcPts val="0"/>
              </a:spcAft>
              <a:defRPr sz="1700" b="0">
                <a:solidFill>
                  <a:srgbClr val="596477"/>
                </a:solidFill>
                <a:latin typeface="Lato"/>
              </a:defRPr>
            </a:pPr>
            <a:r>
              <a:t>priority categories</a:t>
            </a:r>
          </a:p>
        </p:txBody>
      </p:sp>
      <p:sp>
        <p:nvSpPr>
          <p:cNvPr id="14" name="TextBox 13"/>
          <p:cNvSpPr txBox="1"/>
          <p:nvPr/>
        </p:nvSpPr>
        <p:spPr>
          <a:xfrm>
            <a:off x="558800" y="4483100"/>
            <a:ext cx="4318000" cy="1079500"/>
          </a:xfrm>
          <a:prstGeom prst="rect">
            <a:avLst/>
          </a:prstGeom>
          <a:noFill/>
        </p:spPr>
        <p:txBody>
          <a:bodyPr wrap="none" tIns="0" bIns="0" lIns="0" rIns="0">
            <a:spAutoFit/>
          </a:bodyPr>
          <a:lstStyle/>
          <a:p>
            <a:pPr>
              <a:lnSpc>
                <a:spcPct val="112000"/>
              </a:lnSpc>
              <a:spcBef>
                <a:spcPts val="0"/>
              </a:spcBef>
              <a:spcAft>
                <a:spcPts val="0"/>
              </a:spcAft>
              <a:defRPr sz="2100" b="0">
                <a:solidFill>
                  <a:srgbClr val="202D48"/>
                </a:solidFill>
                <a:latin typeface="Lato"/>
              </a:defRPr>
            </a:pPr>
            <a:r>
              <a:t>Prepared images</a:t>
            </a:r>
          </a:p>
          <a:p>
            <a:pPr>
              <a:lnSpc>
                <a:spcPct val="112000"/>
              </a:lnSpc>
              <a:spcBef>
                <a:spcPts val="0"/>
              </a:spcBef>
              <a:spcAft>
                <a:spcPts val="0"/>
              </a:spcAft>
              <a:defRPr sz="2100" b="0">
                <a:solidFill>
                  <a:srgbClr val="202D48"/>
                </a:solidFill>
                <a:latin typeface="Lato"/>
              </a:defRPr>
            </a:pPr>
            <a:r>
              <a:t>Compared classifiers</a:t>
            </a:r>
          </a:p>
          <a:p>
            <a:pPr>
              <a:lnSpc>
                <a:spcPct val="112000"/>
              </a:lnSpc>
              <a:spcBef>
                <a:spcPts val="0"/>
              </a:spcBef>
              <a:spcAft>
                <a:spcPts val="0"/>
              </a:spcAft>
              <a:defRPr sz="2100" b="0">
                <a:solidFill>
                  <a:srgbClr val="202D48"/>
                </a:solidFill>
                <a:latin typeface="Lato"/>
              </a:defRPr>
            </a:pPr>
            <a:r>
              <a:t>Saved results for review</a:t>
            </a:r>
          </a:p>
        </p:txBody>
      </p:sp>
      <p:sp>
        <p:nvSpPr>
          <p:cNvPr id="15" name="Rectangle 14"/>
          <p:cNvSpPr/>
          <p:nvPr/>
        </p:nvSpPr>
        <p:spPr>
          <a:xfrm>
            <a:off x="5765800" y="2717800"/>
            <a:ext cx="1841500" cy="2413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hero_0.png"/>
          <p:cNvPicPr>
            <a:picLocks noChangeAspect="1"/>
          </p:cNvPicPr>
          <p:nvPr/>
        </p:nvPicPr>
        <p:blipFill>
          <a:blip r:embed="rId2"/>
          <a:stretch>
            <a:fillRect/>
          </a:stretch>
        </p:blipFill>
        <p:spPr>
          <a:xfrm>
            <a:off x="5842000" y="2870200"/>
            <a:ext cx="1689100" cy="1689100"/>
          </a:xfrm>
          <a:prstGeom prst="rect">
            <a:avLst/>
          </a:prstGeom>
        </p:spPr>
      </p:pic>
      <p:sp>
        <p:nvSpPr>
          <p:cNvPr id="17" name="TextBox 16"/>
          <p:cNvSpPr txBox="1"/>
          <p:nvPr/>
        </p:nvSpPr>
        <p:spPr>
          <a:xfrm>
            <a:off x="5854700" y="4749800"/>
            <a:ext cx="1765300" cy="330200"/>
          </a:xfrm>
          <a:prstGeom prst="rect">
            <a:avLst/>
          </a:prstGeom>
          <a:noFill/>
        </p:spPr>
        <p:txBody>
          <a:bodyPr wrap="none" tIns="0" bIns="0" lIns="0" rIns="0">
            <a:spAutoFit/>
          </a:bodyPr>
          <a:lstStyle/>
          <a:p>
            <a:pPr>
              <a:lnSpc>
                <a:spcPct val="112000"/>
              </a:lnSpc>
              <a:spcBef>
                <a:spcPts val="0"/>
              </a:spcBef>
              <a:spcAft>
                <a:spcPts val="0"/>
              </a:spcAft>
              <a:defRPr sz="1100" b="0">
                <a:solidFill>
                  <a:srgbClr val="596477"/>
                </a:solidFill>
                <a:latin typeface="Lato"/>
              </a:defRPr>
            </a:pPr>
            <a:r>
              <a:t>Bisaccate</a:t>
            </a:r>
          </a:p>
        </p:txBody>
      </p:sp>
      <p:sp>
        <p:nvSpPr>
          <p:cNvPr id="18" name="Rectangle 17"/>
          <p:cNvSpPr/>
          <p:nvPr/>
        </p:nvSpPr>
        <p:spPr>
          <a:xfrm>
            <a:off x="7734300" y="2717800"/>
            <a:ext cx="1841500" cy="2413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hero_1.png"/>
          <p:cNvPicPr>
            <a:picLocks noChangeAspect="1"/>
          </p:cNvPicPr>
          <p:nvPr/>
        </p:nvPicPr>
        <p:blipFill>
          <a:blip r:embed="rId3"/>
          <a:stretch>
            <a:fillRect/>
          </a:stretch>
        </p:blipFill>
        <p:spPr>
          <a:xfrm>
            <a:off x="7810500" y="2870200"/>
            <a:ext cx="1689100" cy="1689100"/>
          </a:xfrm>
          <a:prstGeom prst="rect">
            <a:avLst/>
          </a:prstGeom>
        </p:spPr>
      </p:pic>
      <p:sp>
        <p:nvSpPr>
          <p:cNvPr id="20" name="TextBox 19"/>
          <p:cNvSpPr txBox="1"/>
          <p:nvPr/>
        </p:nvSpPr>
        <p:spPr>
          <a:xfrm>
            <a:off x="7823200" y="4749800"/>
            <a:ext cx="1765300" cy="330200"/>
          </a:xfrm>
          <a:prstGeom prst="rect">
            <a:avLst/>
          </a:prstGeom>
          <a:noFill/>
        </p:spPr>
        <p:txBody>
          <a:bodyPr wrap="none" tIns="0" bIns="0" lIns="0" rIns="0">
            <a:spAutoFit/>
          </a:bodyPr>
          <a:lstStyle/>
          <a:p>
            <a:pPr>
              <a:lnSpc>
                <a:spcPct val="112000"/>
              </a:lnSpc>
              <a:spcBef>
                <a:spcPts val="0"/>
              </a:spcBef>
              <a:spcAft>
                <a:spcPts val="0"/>
              </a:spcAft>
              <a:defRPr sz="1100" b="0">
                <a:solidFill>
                  <a:srgbClr val="596477"/>
                </a:solidFill>
                <a:latin typeface="Lato"/>
              </a:defRPr>
            </a:pPr>
            <a:r>
              <a:t>Bombacacidites sp.</a:t>
            </a:r>
          </a:p>
        </p:txBody>
      </p:sp>
      <p:sp>
        <p:nvSpPr>
          <p:cNvPr id="21" name="Rectangle 20"/>
          <p:cNvSpPr/>
          <p:nvPr/>
        </p:nvSpPr>
        <p:spPr>
          <a:xfrm>
            <a:off x="9702800" y="2717800"/>
            <a:ext cx="1841500" cy="2413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hero_2.png"/>
          <p:cNvPicPr>
            <a:picLocks noChangeAspect="1"/>
          </p:cNvPicPr>
          <p:nvPr/>
        </p:nvPicPr>
        <p:blipFill>
          <a:blip r:embed="rId4"/>
          <a:stretch>
            <a:fillRect/>
          </a:stretch>
        </p:blipFill>
        <p:spPr>
          <a:xfrm>
            <a:off x="9779000" y="2870200"/>
            <a:ext cx="1689100" cy="1689100"/>
          </a:xfrm>
          <a:prstGeom prst="rect">
            <a:avLst/>
          </a:prstGeom>
        </p:spPr>
      </p:pic>
      <p:sp>
        <p:nvSpPr>
          <p:cNvPr id="23" name="TextBox 22"/>
          <p:cNvSpPr txBox="1"/>
          <p:nvPr/>
        </p:nvSpPr>
        <p:spPr>
          <a:xfrm>
            <a:off x="9791700" y="4749800"/>
            <a:ext cx="1765300" cy="330200"/>
          </a:xfrm>
          <a:prstGeom prst="rect">
            <a:avLst/>
          </a:prstGeom>
          <a:noFill/>
        </p:spPr>
        <p:txBody>
          <a:bodyPr wrap="none" tIns="0" bIns="0" lIns="0" rIns="0">
            <a:spAutoFit/>
          </a:bodyPr>
          <a:lstStyle/>
          <a:p>
            <a:pPr>
              <a:lnSpc>
                <a:spcPct val="112000"/>
              </a:lnSpc>
              <a:spcBef>
                <a:spcPts val="0"/>
              </a:spcBef>
              <a:spcAft>
                <a:spcPts val="0"/>
              </a:spcAft>
              <a:defRPr sz="1100" b="0">
                <a:solidFill>
                  <a:srgbClr val="596477"/>
                </a:solidFill>
                <a:latin typeface="Lato"/>
              </a:defRPr>
            </a:pPr>
            <a:r>
              <a:t>Arecipites sp.</a:t>
            </a:r>
          </a:p>
        </p:txBody>
      </p:sp>
      <p:sp>
        <p:nvSpPr>
          <p:cNvPr id="24" name="TextBox 23"/>
          <p:cNvSpPr txBox="1"/>
          <p:nvPr/>
        </p:nvSpPr>
        <p:spPr>
          <a:xfrm>
            <a:off x="5765800" y="5473700"/>
            <a:ext cx="5791200" cy="355600"/>
          </a:xfrm>
          <a:prstGeom prst="rect">
            <a:avLst/>
          </a:prstGeom>
          <a:noFill/>
        </p:spPr>
        <p:txBody>
          <a:bodyPr wrap="none" tIns="0" bIns="0" lIns="0" rIns="0">
            <a:spAutoFit/>
          </a:bodyPr>
          <a:lstStyle/>
          <a:p>
            <a:pPr>
              <a:lnSpc>
                <a:spcPct val="112000"/>
              </a:lnSpc>
              <a:spcBef>
                <a:spcPts val="0"/>
              </a:spcBef>
              <a:spcAft>
                <a:spcPts val="0"/>
              </a:spcAft>
              <a:defRPr sz="1300" b="0">
                <a:solidFill>
                  <a:srgbClr val="596477"/>
                </a:solidFill>
                <a:latin typeface="Lato"/>
              </a:defRPr>
            </a:pPr>
            <a:r>
              <a:t>Real specimen crops · expert category labels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330200" cy="508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92100"/>
            <a:ext cx="10541000" cy="279400"/>
          </a:xfrm>
          <a:prstGeom prst="rect">
            <a:avLst/>
          </a:prstGeom>
          <a:noFill/>
        </p:spPr>
        <p:txBody>
          <a:bodyPr wrap="none" tIns="0" bIns="0" lIns="0" rIns="0">
            <a:spAutoFit/>
          </a:bodyPr>
          <a:lstStyle/>
          <a:p>
            <a:pPr>
              <a:lnSpc>
                <a:spcPct val="112000"/>
              </a:lnSpc>
              <a:spcBef>
                <a:spcPts val="0"/>
              </a:spcBef>
              <a:spcAft>
                <a:spcPts val="0"/>
              </a:spcAft>
              <a:defRPr sz="1100" b="1">
                <a:solidFill>
                  <a:srgbClr val="93451F"/>
                </a:solidFill>
                <a:latin typeface="Lato"/>
              </a:defRPr>
            </a:pPr>
            <a:r>
              <a:t>02 / IMAGE PREPARATION</a:t>
            </a:r>
          </a:p>
        </p:txBody>
      </p:sp>
      <p:sp>
        <p:nvSpPr>
          <p:cNvPr id="5" name="TextBox 4"/>
          <p:cNvSpPr txBox="1"/>
          <p:nvPr/>
        </p:nvSpPr>
        <p:spPr>
          <a:xfrm>
            <a:off x="533400" y="825500"/>
            <a:ext cx="11176000" cy="1117600"/>
          </a:xfrm>
          <a:prstGeom prst="rect">
            <a:avLst/>
          </a:prstGeom>
          <a:noFill/>
        </p:spPr>
        <p:txBody>
          <a:bodyPr wrap="none" tIns="0" bIns="0" lIns="0" rIns="0">
            <a:spAutoFit/>
          </a:bodyPr>
          <a:lstStyle/>
          <a:p>
            <a:pPr>
              <a:lnSpc>
                <a:spcPct val="112000"/>
              </a:lnSpc>
              <a:spcBef>
                <a:spcPts val="0"/>
              </a:spcBef>
              <a:spcAft>
                <a:spcPts val="0"/>
              </a:spcAft>
              <a:defRPr sz="3400" b="1">
                <a:solidFill>
                  <a:srgbClr val="202D48"/>
                </a:solidFill>
                <a:latin typeface="Lato"/>
              </a:defRPr>
            </a:pPr>
            <a:r>
              <a:t>A clearer view helps the model identify pollen</a:t>
            </a:r>
          </a:p>
        </p:txBody>
      </p:sp>
      <p:sp>
        <p:nvSpPr>
          <p:cNvPr id="6" name="Rectangle 5"/>
          <p:cNvSpPr/>
          <p:nvPr/>
        </p:nvSpPr>
        <p:spPr>
          <a:xfrm>
            <a:off x="533400" y="6413500"/>
            <a:ext cx="11125200" cy="127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3400" y="6578600"/>
            <a:ext cx="10160000" cy="177800"/>
          </a:xfrm>
          <a:prstGeom prst="rect">
            <a:avLst/>
          </a:prstGeom>
          <a:noFill/>
        </p:spPr>
        <p:txBody>
          <a:bodyPr wrap="none" tIns="0" bIns="0" lIns="0" rIns="0">
            <a:spAutoFit/>
          </a:bodyPr>
          <a:lstStyle/>
          <a:p>
            <a:pPr>
              <a:lnSpc>
                <a:spcPct val="112000"/>
              </a:lnSpc>
              <a:spcBef>
                <a:spcPts val="0"/>
              </a:spcBef>
              <a:spcAft>
                <a:spcPts val="0"/>
              </a:spcAft>
              <a:defRPr sz="900" b="0">
                <a:solidFill>
                  <a:srgbClr val="596477"/>
                </a:solidFill>
                <a:latin typeface="Lato"/>
              </a:defRPr>
            </a:pPr>
            <a:r>
              <a:t>SMITHSONIAN × RICE D2K  ·  CLASSIFICATION UPDATE</a:t>
            </a:r>
          </a:p>
        </p:txBody>
      </p:sp>
      <p:sp>
        <p:nvSpPr>
          <p:cNvPr id="8" name="TextBox 7"/>
          <p:cNvSpPr txBox="1"/>
          <p:nvPr/>
        </p:nvSpPr>
        <p:spPr>
          <a:xfrm>
            <a:off x="11430000" y="6565900"/>
            <a:ext cx="254000" cy="203200"/>
          </a:xfrm>
          <a:prstGeom prst="rect">
            <a:avLst/>
          </a:prstGeom>
          <a:noFill/>
        </p:spPr>
        <p:txBody>
          <a:bodyPr wrap="none" tIns="0" bIns="0" lIns="0" rIns="0">
            <a:spAutoFit/>
          </a:bodyPr>
          <a:lstStyle/>
          <a:p>
            <a:pPr>
              <a:lnSpc>
                <a:spcPct val="112000"/>
              </a:lnSpc>
              <a:spcBef>
                <a:spcPts val="0"/>
              </a:spcBef>
              <a:spcAft>
                <a:spcPts val="0"/>
              </a:spcAft>
              <a:defRPr sz="1000" b="0">
                <a:solidFill>
                  <a:srgbClr val="596477"/>
                </a:solidFill>
                <a:latin typeface="Lato"/>
              </a:defRPr>
            </a:pPr>
            <a:r>
              <a:t>2</a:t>
            </a:r>
          </a:p>
        </p:txBody>
      </p:sp>
      <p:sp>
        <p:nvSpPr>
          <p:cNvPr id="9" name="TextBox 8"/>
          <p:cNvSpPr txBox="1"/>
          <p:nvPr/>
        </p:nvSpPr>
        <p:spPr>
          <a:xfrm>
            <a:off x="558800" y="2006600"/>
            <a:ext cx="3149600" cy="381000"/>
          </a:xfrm>
          <a:prstGeom prst="rect">
            <a:avLst/>
          </a:prstGeom>
          <a:noFill/>
        </p:spPr>
        <p:txBody>
          <a:bodyPr wrap="none" tIns="0" bIns="0" lIns="0" rIns="0">
            <a:spAutoFit/>
          </a:bodyPr>
          <a:lstStyle/>
          <a:p>
            <a:pPr>
              <a:lnSpc>
                <a:spcPct val="112000"/>
              </a:lnSpc>
              <a:spcBef>
                <a:spcPts val="0"/>
              </a:spcBef>
              <a:spcAft>
                <a:spcPts val="0"/>
              </a:spcAft>
              <a:defRPr sz="1800" b="1">
                <a:solidFill>
                  <a:srgbClr val="202D48"/>
                </a:solidFill>
                <a:latin typeface="Lato"/>
              </a:defRPr>
            </a:pPr>
            <a:r>
              <a:t>Original focal plane</a:t>
            </a:r>
          </a:p>
        </p:txBody>
      </p:sp>
      <p:pic>
        <p:nvPicPr>
          <p:cNvPr id="10" name="Picture 9" descr="focus_before.png"/>
          <p:cNvPicPr>
            <a:picLocks noChangeAspect="1"/>
          </p:cNvPicPr>
          <p:nvPr/>
        </p:nvPicPr>
        <p:blipFill>
          <a:blip r:embed="rId2"/>
          <a:stretch>
            <a:fillRect/>
          </a:stretch>
        </p:blipFill>
        <p:spPr>
          <a:xfrm>
            <a:off x="558800" y="2514600"/>
            <a:ext cx="2921000" cy="2921000"/>
          </a:xfrm>
          <a:prstGeom prst="rect">
            <a:avLst/>
          </a:prstGeom>
        </p:spPr>
      </p:pic>
      <p:sp>
        <p:nvSpPr>
          <p:cNvPr id="11" name="TextBox 10"/>
          <p:cNvSpPr txBox="1"/>
          <p:nvPr/>
        </p:nvSpPr>
        <p:spPr>
          <a:xfrm>
            <a:off x="3835400" y="2006600"/>
            <a:ext cx="3149600" cy="381000"/>
          </a:xfrm>
          <a:prstGeom prst="rect">
            <a:avLst/>
          </a:prstGeom>
          <a:noFill/>
        </p:spPr>
        <p:txBody>
          <a:bodyPr wrap="none" tIns="0" bIns="0" lIns="0" rIns="0">
            <a:spAutoFit/>
          </a:bodyPr>
          <a:lstStyle/>
          <a:p>
            <a:pPr>
              <a:lnSpc>
                <a:spcPct val="112000"/>
              </a:lnSpc>
              <a:spcBef>
                <a:spcPts val="0"/>
              </a:spcBef>
              <a:spcAft>
                <a:spcPts val="0"/>
              </a:spcAft>
              <a:defRPr sz="1800" b="1">
                <a:solidFill>
                  <a:srgbClr val="202D48"/>
                </a:solidFill>
                <a:latin typeface="Lato"/>
              </a:defRPr>
            </a:pPr>
            <a:r>
              <a:t>Selected sharper plane</a:t>
            </a:r>
          </a:p>
        </p:txBody>
      </p:sp>
      <p:pic>
        <p:nvPicPr>
          <p:cNvPr id="12" name="Picture 11" descr="focus_after.png"/>
          <p:cNvPicPr>
            <a:picLocks noChangeAspect="1"/>
          </p:cNvPicPr>
          <p:nvPr/>
        </p:nvPicPr>
        <p:blipFill>
          <a:blip r:embed="rId3"/>
          <a:stretch>
            <a:fillRect/>
          </a:stretch>
        </p:blipFill>
        <p:spPr>
          <a:xfrm>
            <a:off x="3835400" y="2514600"/>
            <a:ext cx="2921000" cy="2921000"/>
          </a:xfrm>
          <a:prstGeom prst="rect">
            <a:avLst/>
          </a:prstGeom>
        </p:spPr>
      </p:pic>
      <p:sp>
        <p:nvSpPr>
          <p:cNvPr id="13" name="TextBox 12"/>
          <p:cNvSpPr txBox="1"/>
          <p:nvPr/>
        </p:nvSpPr>
        <p:spPr>
          <a:xfrm>
            <a:off x="558800" y="5727700"/>
            <a:ext cx="6477000" cy="381000"/>
          </a:xfrm>
          <a:prstGeom prst="rect">
            <a:avLst/>
          </a:prstGeom>
          <a:noFill/>
        </p:spPr>
        <p:txBody>
          <a:bodyPr wrap="none" tIns="0" bIns="0" lIns="0" rIns="0">
            <a:spAutoFit/>
          </a:bodyPr>
          <a:lstStyle/>
          <a:p>
            <a:pPr>
              <a:lnSpc>
                <a:spcPct val="112000"/>
              </a:lnSpc>
              <a:spcBef>
                <a:spcPts val="0"/>
              </a:spcBef>
              <a:spcAft>
                <a:spcPts val="0"/>
              </a:spcAft>
              <a:defRPr sz="1400" b="0">
                <a:solidFill>
                  <a:srgbClr val="596477"/>
                </a:solidFill>
                <a:latin typeface="Lato"/>
              </a:defRPr>
            </a:pPr>
            <a:r>
              <a:t>Same specimen and crop · expert label: Quercus sp.</a:t>
            </a:r>
          </a:p>
        </p:txBody>
      </p:sp>
      <p:sp>
        <p:nvSpPr>
          <p:cNvPr id="14" name="Rectangle 13"/>
          <p:cNvSpPr/>
          <p:nvPr/>
        </p:nvSpPr>
        <p:spPr>
          <a:xfrm>
            <a:off x="7327900" y="2108200"/>
            <a:ext cx="4330700" cy="3505200"/>
          </a:xfrm>
          <a:prstGeom prst="rect">
            <a:avLst/>
          </a:prstGeom>
          <a:solidFill>
            <a:srgbClr val="E4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2700" y="2413000"/>
            <a:ext cx="3746500" cy="406400"/>
          </a:xfrm>
          <a:prstGeom prst="rect">
            <a:avLst/>
          </a:prstGeom>
          <a:noFill/>
        </p:spPr>
        <p:txBody>
          <a:bodyPr wrap="none" tIns="0" bIns="0" lIns="0" rIns="0">
            <a:spAutoFit/>
          </a:bodyPr>
          <a:lstStyle/>
          <a:p>
            <a:pPr>
              <a:lnSpc>
                <a:spcPct val="112000"/>
              </a:lnSpc>
              <a:spcBef>
                <a:spcPts val="0"/>
              </a:spcBef>
              <a:spcAft>
                <a:spcPts val="0"/>
              </a:spcAft>
              <a:defRPr sz="1900" b="1">
                <a:solidFill>
                  <a:srgbClr val="20786E"/>
                </a:solidFill>
                <a:latin typeface="Lato"/>
              </a:defRPr>
            </a:pPr>
            <a:r>
              <a:t>Unseen-slide accuracy</a:t>
            </a:r>
          </a:p>
        </p:txBody>
      </p:sp>
      <p:sp>
        <p:nvSpPr>
          <p:cNvPr id="16" name="TextBox 15"/>
          <p:cNvSpPr txBox="1"/>
          <p:nvPr/>
        </p:nvSpPr>
        <p:spPr>
          <a:xfrm>
            <a:off x="7632700" y="3098800"/>
            <a:ext cx="3708400" cy="863600"/>
          </a:xfrm>
          <a:prstGeom prst="rect">
            <a:avLst/>
          </a:prstGeom>
          <a:noFill/>
        </p:spPr>
        <p:txBody>
          <a:bodyPr wrap="none" tIns="0" bIns="0" lIns="0" rIns="0">
            <a:spAutoFit/>
          </a:bodyPr>
          <a:lstStyle/>
          <a:p>
            <a:pPr>
              <a:lnSpc>
                <a:spcPct val="112000"/>
              </a:lnSpc>
              <a:spcBef>
                <a:spcPts val="0"/>
              </a:spcBef>
              <a:spcAft>
                <a:spcPts val="0"/>
              </a:spcAft>
              <a:defRPr sz="4300" b="1">
                <a:solidFill>
                  <a:srgbClr val="20786E"/>
                </a:solidFill>
                <a:latin typeface="Lato"/>
              </a:defRPr>
            </a:pPr>
            <a:r>
              <a:t>32% → 38%</a:t>
            </a:r>
          </a:p>
        </p:txBody>
      </p:sp>
      <p:sp>
        <p:nvSpPr>
          <p:cNvPr id="17" name="TextBox 16"/>
          <p:cNvSpPr txBox="1"/>
          <p:nvPr/>
        </p:nvSpPr>
        <p:spPr>
          <a:xfrm>
            <a:off x="7632700" y="4203700"/>
            <a:ext cx="3746500" cy="1041400"/>
          </a:xfrm>
          <a:prstGeom prst="rect">
            <a:avLst/>
          </a:prstGeom>
          <a:noFill/>
        </p:spPr>
        <p:txBody>
          <a:bodyPr wrap="none" tIns="0" bIns="0" lIns="0" rIns="0">
            <a:spAutoFit/>
          </a:bodyPr>
          <a:lstStyle/>
          <a:p>
            <a:pPr>
              <a:lnSpc>
                <a:spcPct val="112000"/>
              </a:lnSpc>
              <a:spcBef>
                <a:spcPts val="0"/>
              </a:spcBef>
              <a:spcAft>
                <a:spcPts val="0"/>
              </a:spcAft>
              <a:defRPr sz="1900" b="0">
                <a:solidFill>
                  <a:srgbClr val="202D48"/>
                </a:solidFill>
                <a:latin typeface="Lato"/>
              </a:defRPr>
            </a:pPr>
            <a:r>
              <a:t>Same Swin model settings.</a:t>
            </a:r>
          </a:p>
          <a:p>
            <a:pPr>
              <a:lnSpc>
                <a:spcPct val="112000"/>
              </a:lnSpc>
              <a:spcBef>
                <a:spcPts val="0"/>
              </a:spcBef>
              <a:spcAft>
                <a:spcPts val="0"/>
              </a:spcAft>
              <a:defRPr sz="1900" b="0">
                <a:solidFill>
                  <a:srgbClr val="202D48"/>
                </a:solidFill>
                <a:latin typeface="Lato"/>
              </a:defRPr>
            </a:pPr>
            <a:r>
              <a:t>Only the selected focal</a:t>
            </a:r>
          </a:p>
          <a:p>
            <a:pPr>
              <a:lnSpc>
                <a:spcPct val="112000"/>
              </a:lnSpc>
              <a:spcBef>
                <a:spcPts val="0"/>
              </a:spcBef>
              <a:spcAft>
                <a:spcPts val="0"/>
              </a:spcAft>
              <a:defRPr sz="1900" b="0">
                <a:solidFill>
                  <a:srgbClr val="202D48"/>
                </a:solidFill>
                <a:latin typeface="Lato"/>
              </a:defRPr>
            </a:pPr>
            <a:r>
              <a:t>plane changed.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330200" cy="508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92100"/>
            <a:ext cx="10541000" cy="279400"/>
          </a:xfrm>
          <a:prstGeom prst="rect">
            <a:avLst/>
          </a:prstGeom>
          <a:noFill/>
        </p:spPr>
        <p:txBody>
          <a:bodyPr wrap="none" tIns="0" bIns="0" lIns="0" rIns="0">
            <a:spAutoFit/>
          </a:bodyPr>
          <a:lstStyle/>
          <a:p>
            <a:pPr>
              <a:lnSpc>
                <a:spcPct val="112000"/>
              </a:lnSpc>
              <a:spcBef>
                <a:spcPts val="0"/>
              </a:spcBef>
              <a:spcAft>
                <a:spcPts val="0"/>
              </a:spcAft>
              <a:defRPr sz="1100" b="1">
                <a:solidFill>
                  <a:srgbClr val="93451F"/>
                </a:solidFill>
                <a:latin typeface="Lato"/>
              </a:defRPr>
            </a:pPr>
            <a:r>
              <a:t>03 / EVALUATION</a:t>
            </a:r>
          </a:p>
        </p:txBody>
      </p:sp>
      <p:sp>
        <p:nvSpPr>
          <p:cNvPr id="5" name="TextBox 4"/>
          <p:cNvSpPr txBox="1"/>
          <p:nvPr/>
        </p:nvSpPr>
        <p:spPr>
          <a:xfrm>
            <a:off x="533400" y="825500"/>
            <a:ext cx="11176000" cy="1117600"/>
          </a:xfrm>
          <a:prstGeom prst="rect">
            <a:avLst/>
          </a:prstGeom>
          <a:noFill/>
        </p:spPr>
        <p:txBody>
          <a:bodyPr wrap="none" tIns="0" bIns="0" lIns="0" rIns="0">
            <a:spAutoFit/>
          </a:bodyPr>
          <a:lstStyle/>
          <a:p>
            <a:pPr>
              <a:lnSpc>
                <a:spcPct val="112000"/>
              </a:lnSpc>
              <a:spcBef>
                <a:spcPts val="0"/>
              </a:spcBef>
              <a:spcAft>
                <a:spcPts val="0"/>
              </a:spcAft>
              <a:defRPr sz="3400" b="1">
                <a:solidFill>
                  <a:srgbClr val="202D48"/>
                </a:solidFill>
                <a:latin typeface="Lato"/>
              </a:defRPr>
            </a:pPr>
            <a:r>
              <a:t>Two questions, two ways to check performance</a:t>
            </a:r>
          </a:p>
        </p:txBody>
      </p:sp>
      <p:sp>
        <p:nvSpPr>
          <p:cNvPr id="6" name="Rectangle 5"/>
          <p:cNvSpPr/>
          <p:nvPr/>
        </p:nvSpPr>
        <p:spPr>
          <a:xfrm>
            <a:off x="533400" y="6413500"/>
            <a:ext cx="11125200" cy="127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3400" y="6578600"/>
            <a:ext cx="10160000" cy="177800"/>
          </a:xfrm>
          <a:prstGeom prst="rect">
            <a:avLst/>
          </a:prstGeom>
          <a:noFill/>
        </p:spPr>
        <p:txBody>
          <a:bodyPr wrap="none" tIns="0" bIns="0" lIns="0" rIns="0">
            <a:spAutoFit/>
          </a:bodyPr>
          <a:lstStyle/>
          <a:p>
            <a:pPr>
              <a:lnSpc>
                <a:spcPct val="112000"/>
              </a:lnSpc>
              <a:spcBef>
                <a:spcPts val="0"/>
              </a:spcBef>
              <a:spcAft>
                <a:spcPts val="0"/>
              </a:spcAft>
              <a:defRPr sz="900" b="0">
                <a:solidFill>
                  <a:srgbClr val="596477"/>
                </a:solidFill>
                <a:latin typeface="Lato"/>
              </a:defRPr>
            </a:pPr>
            <a:r>
              <a:t>SMITHSONIAN × RICE D2K  ·  CLASSIFICATION UPDATE</a:t>
            </a:r>
          </a:p>
        </p:txBody>
      </p:sp>
      <p:sp>
        <p:nvSpPr>
          <p:cNvPr id="8" name="TextBox 7"/>
          <p:cNvSpPr txBox="1"/>
          <p:nvPr/>
        </p:nvSpPr>
        <p:spPr>
          <a:xfrm>
            <a:off x="11430000" y="6565900"/>
            <a:ext cx="254000" cy="203200"/>
          </a:xfrm>
          <a:prstGeom prst="rect">
            <a:avLst/>
          </a:prstGeom>
          <a:noFill/>
        </p:spPr>
        <p:txBody>
          <a:bodyPr wrap="none" tIns="0" bIns="0" lIns="0" rIns="0">
            <a:spAutoFit/>
          </a:bodyPr>
          <a:lstStyle/>
          <a:p>
            <a:pPr>
              <a:lnSpc>
                <a:spcPct val="112000"/>
              </a:lnSpc>
              <a:spcBef>
                <a:spcPts val="0"/>
              </a:spcBef>
              <a:spcAft>
                <a:spcPts val="0"/>
              </a:spcAft>
              <a:defRPr sz="1000" b="0">
                <a:solidFill>
                  <a:srgbClr val="596477"/>
                </a:solidFill>
                <a:latin typeface="Lato"/>
              </a:defRPr>
            </a:pPr>
            <a:r>
              <a:t>3</a:t>
            </a:r>
          </a:p>
        </p:txBody>
      </p:sp>
      <p:sp>
        <p:nvSpPr>
          <p:cNvPr id="9" name="Rectangle 8"/>
          <p:cNvSpPr/>
          <p:nvPr/>
        </p:nvSpPr>
        <p:spPr>
          <a:xfrm>
            <a:off x="558800" y="2082800"/>
            <a:ext cx="5384800" cy="3594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2800" y="2324100"/>
            <a:ext cx="4953000" cy="431800"/>
          </a:xfrm>
          <a:prstGeom prst="rect">
            <a:avLst/>
          </a:prstGeom>
          <a:noFill/>
        </p:spPr>
        <p:txBody>
          <a:bodyPr wrap="none" tIns="0" bIns="0" lIns="0" rIns="0">
            <a:spAutoFit/>
          </a:bodyPr>
          <a:lstStyle/>
          <a:p>
            <a:pPr>
              <a:lnSpc>
                <a:spcPct val="112000"/>
              </a:lnSpc>
              <a:spcBef>
                <a:spcPts val="0"/>
              </a:spcBef>
              <a:spcAft>
                <a:spcPts val="0"/>
              </a:spcAft>
              <a:defRPr sz="2500" b="1">
                <a:solidFill>
                  <a:srgbClr val="20786E"/>
                </a:solidFill>
                <a:latin typeface="Lato"/>
              </a:defRPr>
            </a:pPr>
            <a:r>
              <a:t>Unseen slides</a:t>
            </a:r>
          </a:p>
        </p:txBody>
      </p:sp>
      <p:sp>
        <p:nvSpPr>
          <p:cNvPr id="11" name="TextBox 10"/>
          <p:cNvSpPr txBox="1"/>
          <p:nvPr/>
        </p:nvSpPr>
        <p:spPr>
          <a:xfrm>
            <a:off x="812800" y="2870200"/>
            <a:ext cx="4927600" cy="317500"/>
          </a:xfrm>
          <a:prstGeom prst="rect">
            <a:avLst/>
          </a:prstGeom>
          <a:noFill/>
        </p:spPr>
        <p:txBody>
          <a:bodyPr wrap="none" tIns="0" bIns="0" lIns="0" rIns="0">
            <a:spAutoFit/>
          </a:bodyPr>
          <a:lstStyle/>
          <a:p>
            <a:pPr>
              <a:lnSpc>
                <a:spcPct val="112000"/>
              </a:lnSpc>
              <a:spcBef>
                <a:spcPts val="0"/>
              </a:spcBef>
              <a:spcAft>
                <a:spcPts val="0"/>
              </a:spcAft>
              <a:defRPr sz="1500" b="0">
                <a:solidFill>
                  <a:srgbClr val="596477"/>
                </a:solidFill>
                <a:latin typeface="Lato"/>
              </a:defRPr>
            </a:pPr>
            <a:r>
              <a:t>Can it work on a different slide?</a:t>
            </a:r>
          </a:p>
        </p:txBody>
      </p:sp>
      <p:sp>
        <p:nvSpPr>
          <p:cNvPr id="12" name="TextBox 11"/>
          <p:cNvSpPr txBox="1"/>
          <p:nvPr/>
        </p:nvSpPr>
        <p:spPr>
          <a:xfrm>
            <a:off x="812800" y="3556000"/>
            <a:ext cx="2032000" cy="317500"/>
          </a:xfrm>
          <a:prstGeom prst="rect">
            <a:avLst/>
          </a:prstGeom>
          <a:noFill/>
        </p:spPr>
        <p:txBody>
          <a:bodyPr wrap="none" tIns="0" bIns="0" lIns="0" rIns="0">
            <a:spAutoFit/>
          </a:bodyPr>
          <a:lstStyle/>
          <a:p>
            <a:pPr>
              <a:lnSpc>
                <a:spcPct val="112000"/>
              </a:lnSpc>
              <a:spcBef>
                <a:spcPts val="0"/>
              </a:spcBef>
              <a:spcAft>
                <a:spcPts val="0"/>
              </a:spcAft>
              <a:defRPr sz="1200" b="1">
                <a:solidFill>
                  <a:srgbClr val="596477"/>
                </a:solidFill>
                <a:latin typeface="Lato"/>
              </a:defRPr>
            </a:pPr>
            <a:r>
              <a:t>LEARN FROM</a:t>
            </a:r>
          </a:p>
        </p:txBody>
      </p:sp>
      <p:sp>
        <p:nvSpPr>
          <p:cNvPr id="13" name="TextBox 12"/>
          <p:cNvSpPr txBox="1"/>
          <p:nvPr/>
        </p:nvSpPr>
        <p:spPr>
          <a:xfrm>
            <a:off x="3479800" y="3556000"/>
            <a:ext cx="2159000" cy="317500"/>
          </a:xfrm>
          <a:prstGeom prst="rect">
            <a:avLst/>
          </a:prstGeom>
          <a:noFill/>
        </p:spPr>
        <p:txBody>
          <a:bodyPr wrap="none" tIns="0" bIns="0" lIns="0" rIns="0">
            <a:spAutoFit/>
          </a:bodyPr>
          <a:lstStyle/>
          <a:p>
            <a:pPr>
              <a:lnSpc>
                <a:spcPct val="112000"/>
              </a:lnSpc>
              <a:spcBef>
                <a:spcPts val="0"/>
              </a:spcBef>
              <a:spcAft>
                <a:spcPts val="0"/>
              </a:spcAft>
              <a:defRPr sz="1200" b="1">
                <a:solidFill>
                  <a:srgbClr val="596477"/>
                </a:solidFill>
                <a:latin typeface="Lato"/>
              </a:defRPr>
            </a:pPr>
            <a:r>
              <a:t>CHECK ON</a:t>
            </a:r>
          </a:p>
        </p:txBody>
      </p:sp>
      <p:sp>
        <p:nvSpPr>
          <p:cNvPr id="14" name="Rectangle 13"/>
          <p:cNvSpPr/>
          <p:nvPr/>
        </p:nvSpPr>
        <p:spPr>
          <a:xfrm>
            <a:off x="6248400" y="2082800"/>
            <a:ext cx="5384800" cy="3594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2400" y="2324100"/>
            <a:ext cx="4953000" cy="431800"/>
          </a:xfrm>
          <a:prstGeom prst="rect">
            <a:avLst/>
          </a:prstGeom>
          <a:noFill/>
        </p:spPr>
        <p:txBody>
          <a:bodyPr wrap="none" tIns="0" bIns="0" lIns="0" rIns="0">
            <a:spAutoFit/>
          </a:bodyPr>
          <a:lstStyle/>
          <a:p>
            <a:pPr>
              <a:lnSpc>
                <a:spcPct val="112000"/>
              </a:lnSpc>
              <a:spcBef>
                <a:spcPts val="0"/>
              </a:spcBef>
              <a:spcAft>
                <a:spcPts val="0"/>
              </a:spcAft>
              <a:defRPr sz="2500" b="1">
                <a:solidFill>
                  <a:srgbClr val="20786E"/>
                </a:solidFill>
                <a:latin typeface="Lato"/>
              </a:defRPr>
            </a:pPr>
            <a:r>
              <a:t>Shared slides</a:t>
            </a:r>
          </a:p>
        </p:txBody>
      </p:sp>
      <p:sp>
        <p:nvSpPr>
          <p:cNvPr id="16" name="TextBox 15"/>
          <p:cNvSpPr txBox="1"/>
          <p:nvPr/>
        </p:nvSpPr>
        <p:spPr>
          <a:xfrm>
            <a:off x="6502400" y="2870200"/>
            <a:ext cx="4927600" cy="317500"/>
          </a:xfrm>
          <a:prstGeom prst="rect">
            <a:avLst/>
          </a:prstGeom>
          <a:noFill/>
        </p:spPr>
        <p:txBody>
          <a:bodyPr wrap="none" tIns="0" bIns="0" lIns="0" rIns="0">
            <a:spAutoFit/>
          </a:bodyPr>
          <a:lstStyle/>
          <a:p>
            <a:pPr>
              <a:lnSpc>
                <a:spcPct val="112000"/>
              </a:lnSpc>
              <a:spcBef>
                <a:spcPts val="0"/>
              </a:spcBef>
              <a:spcAft>
                <a:spcPts val="0"/>
              </a:spcAft>
              <a:defRPr sz="1500" b="0">
                <a:solidFill>
                  <a:srgbClr val="596477"/>
                </a:solidFill>
                <a:latin typeface="Lato"/>
              </a:defRPr>
            </a:pPr>
            <a:r>
              <a:t>Can it identify more grains on familiar slides?</a:t>
            </a:r>
          </a:p>
        </p:txBody>
      </p:sp>
      <p:sp>
        <p:nvSpPr>
          <p:cNvPr id="17" name="TextBox 16"/>
          <p:cNvSpPr txBox="1"/>
          <p:nvPr/>
        </p:nvSpPr>
        <p:spPr>
          <a:xfrm>
            <a:off x="6502400" y="3556000"/>
            <a:ext cx="2032000" cy="317500"/>
          </a:xfrm>
          <a:prstGeom prst="rect">
            <a:avLst/>
          </a:prstGeom>
          <a:noFill/>
        </p:spPr>
        <p:txBody>
          <a:bodyPr wrap="none" tIns="0" bIns="0" lIns="0" rIns="0">
            <a:spAutoFit/>
          </a:bodyPr>
          <a:lstStyle/>
          <a:p>
            <a:pPr>
              <a:lnSpc>
                <a:spcPct val="112000"/>
              </a:lnSpc>
              <a:spcBef>
                <a:spcPts val="0"/>
              </a:spcBef>
              <a:spcAft>
                <a:spcPts val="0"/>
              </a:spcAft>
              <a:defRPr sz="1200" b="1">
                <a:solidFill>
                  <a:srgbClr val="596477"/>
                </a:solidFill>
                <a:latin typeface="Lato"/>
              </a:defRPr>
            </a:pPr>
            <a:r>
              <a:t>LEARN FROM</a:t>
            </a:r>
          </a:p>
        </p:txBody>
      </p:sp>
      <p:sp>
        <p:nvSpPr>
          <p:cNvPr id="18" name="TextBox 17"/>
          <p:cNvSpPr txBox="1"/>
          <p:nvPr/>
        </p:nvSpPr>
        <p:spPr>
          <a:xfrm>
            <a:off x="9169400" y="3556000"/>
            <a:ext cx="2159000" cy="317500"/>
          </a:xfrm>
          <a:prstGeom prst="rect">
            <a:avLst/>
          </a:prstGeom>
          <a:noFill/>
        </p:spPr>
        <p:txBody>
          <a:bodyPr wrap="none" tIns="0" bIns="0" lIns="0" rIns="0">
            <a:spAutoFit/>
          </a:bodyPr>
          <a:lstStyle/>
          <a:p>
            <a:pPr>
              <a:lnSpc>
                <a:spcPct val="112000"/>
              </a:lnSpc>
              <a:spcBef>
                <a:spcPts val="0"/>
              </a:spcBef>
              <a:spcAft>
                <a:spcPts val="0"/>
              </a:spcAft>
              <a:defRPr sz="1200" b="1">
                <a:solidFill>
                  <a:srgbClr val="596477"/>
                </a:solidFill>
                <a:latin typeface="Lato"/>
              </a:defRPr>
            </a:pPr>
            <a:r>
              <a:t>CHECK ON</a:t>
            </a:r>
          </a:p>
        </p:txBody>
      </p:sp>
      <p:sp>
        <p:nvSpPr>
          <p:cNvPr id="19" name="Rectangle 18"/>
          <p:cNvSpPr/>
          <p:nvPr/>
        </p:nvSpPr>
        <p:spPr>
          <a:xfrm>
            <a:off x="812800" y="4000500"/>
            <a:ext cx="2133600" cy="4572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5200" y="4102100"/>
            <a:ext cx="1866900" cy="317500"/>
          </a:xfrm>
          <a:prstGeom prst="rect">
            <a:avLst/>
          </a:prstGeom>
          <a:noFill/>
        </p:spPr>
        <p:txBody>
          <a:bodyPr wrap="none" tIns="0" bIns="0" lIns="0" rIns="0">
            <a:spAutoFit/>
          </a:bodyPr>
          <a:lstStyle/>
          <a:p>
            <a:pPr>
              <a:lnSpc>
                <a:spcPct val="112000"/>
              </a:lnSpc>
              <a:spcBef>
                <a:spcPts val="0"/>
              </a:spcBef>
              <a:spcAft>
                <a:spcPts val="0"/>
              </a:spcAft>
              <a:defRPr sz="1600" b="0">
                <a:solidFill>
                  <a:srgbClr val="202D48"/>
                </a:solidFill>
                <a:latin typeface="Lato"/>
              </a:defRPr>
            </a:pPr>
            <a:r>
              <a:t>Slide A</a:t>
            </a:r>
          </a:p>
        </p:txBody>
      </p:sp>
      <p:sp>
        <p:nvSpPr>
          <p:cNvPr id="21" name="Rectangle 20"/>
          <p:cNvSpPr/>
          <p:nvPr/>
        </p:nvSpPr>
        <p:spPr>
          <a:xfrm>
            <a:off x="812800" y="4610100"/>
            <a:ext cx="2133600" cy="4572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5200" y="4711700"/>
            <a:ext cx="1866900" cy="317500"/>
          </a:xfrm>
          <a:prstGeom prst="rect">
            <a:avLst/>
          </a:prstGeom>
          <a:noFill/>
        </p:spPr>
        <p:txBody>
          <a:bodyPr wrap="none" tIns="0" bIns="0" lIns="0" rIns="0">
            <a:spAutoFit/>
          </a:bodyPr>
          <a:lstStyle/>
          <a:p>
            <a:pPr>
              <a:lnSpc>
                <a:spcPct val="112000"/>
              </a:lnSpc>
              <a:spcBef>
                <a:spcPts val="0"/>
              </a:spcBef>
              <a:spcAft>
                <a:spcPts val="0"/>
              </a:spcAft>
              <a:defRPr sz="1600" b="0">
                <a:solidFill>
                  <a:srgbClr val="202D48"/>
                </a:solidFill>
                <a:latin typeface="Lato"/>
              </a:defRPr>
            </a:pPr>
            <a:r>
              <a:t>Slide B</a:t>
            </a:r>
          </a:p>
        </p:txBody>
      </p:sp>
      <p:sp>
        <p:nvSpPr>
          <p:cNvPr id="23" name="Rectangle 22"/>
          <p:cNvSpPr/>
          <p:nvPr/>
        </p:nvSpPr>
        <p:spPr>
          <a:xfrm>
            <a:off x="3479800" y="4000500"/>
            <a:ext cx="2133600" cy="457200"/>
          </a:xfrm>
          <a:prstGeom prst="rect">
            <a:avLst/>
          </a:prstGeom>
          <a:solidFill>
            <a:srgbClr val="E4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32200" y="4102100"/>
            <a:ext cx="1866900" cy="317500"/>
          </a:xfrm>
          <a:prstGeom prst="rect">
            <a:avLst/>
          </a:prstGeom>
          <a:noFill/>
        </p:spPr>
        <p:txBody>
          <a:bodyPr wrap="none" tIns="0" bIns="0" lIns="0" rIns="0">
            <a:spAutoFit/>
          </a:bodyPr>
          <a:lstStyle/>
          <a:p>
            <a:pPr>
              <a:lnSpc>
                <a:spcPct val="112000"/>
              </a:lnSpc>
              <a:spcBef>
                <a:spcPts val="0"/>
              </a:spcBef>
              <a:spcAft>
                <a:spcPts val="0"/>
              </a:spcAft>
              <a:defRPr sz="1600" b="0">
                <a:solidFill>
                  <a:srgbClr val="202D48"/>
                </a:solidFill>
                <a:latin typeface="Lato"/>
              </a:defRPr>
            </a:pPr>
            <a:r>
              <a:t>Slide C</a:t>
            </a:r>
          </a:p>
        </p:txBody>
      </p:sp>
      <p:sp>
        <p:nvSpPr>
          <p:cNvPr id="25" name="Rectangle 24"/>
          <p:cNvSpPr/>
          <p:nvPr/>
        </p:nvSpPr>
        <p:spPr>
          <a:xfrm>
            <a:off x="3479800" y="4610100"/>
            <a:ext cx="2133600" cy="457200"/>
          </a:xfrm>
          <a:prstGeom prst="rect">
            <a:avLst/>
          </a:prstGeom>
          <a:solidFill>
            <a:srgbClr val="E4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32200" y="4711700"/>
            <a:ext cx="1866900" cy="317500"/>
          </a:xfrm>
          <a:prstGeom prst="rect">
            <a:avLst/>
          </a:prstGeom>
          <a:noFill/>
        </p:spPr>
        <p:txBody>
          <a:bodyPr wrap="none" tIns="0" bIns="0" lIns="0" rIns="0">
            <a:spAutoFit/>
          </a:bodyPr>
          <a:lstStyle/>
          <a:p>
            <a:pPr>
              <a:lnSpc>
                <a:spcPct val="112000"/>
              </a:lnSpc>
              <a:spcBef>
                <a:spcPts val="0"/>
              </a:spcBef>
              <a:spcAft>
                <a:spcPts val="0"/>
              </a:spcAft>
              <a:defRPr sz="1600" b="0">
                <a:solidFill>
                  <a:srgbClr val="202D48"/>
                </a:solidFill>
                <a:latin typeface="Lato"/>
              </a:defRPr>
            </a:pPr>
            <a:r>
              <a:t>Slide D</a:t>
            </a:r>
          </a:p>
        </p:txBody>
      </p:sp>
      <p:sp>
        <p:nvSpPr>
          <p:cNvPr id="27" name="Rectangle 26"/>
          <p:cNvSpPr/>
          <p:nvPr/>
        </p:nvSpPr>
        <p:spPr>
          <a:xfrm>
            <a:off x="6502400" y="4000500"/>
            <a:ext cx="2133600" cy="4572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54800" y="4102100"/>
            <a:ext cx="1866900" cy="317500"/>
          </a:xfrm>
          <a:prstGeom prst="rect">
            <a:avLst/>
          </a:prstGeom>
          <a:noFill/>
        </p:spPr>
        <p:txBody>
          <a:bodyPr wrap="none" tIns="0" bIns="0" lIns="0" rIns="0">
            <a:spAutoFit/>
          </a:bodyPr>
          <a:lstStyle/>
          <a:p>
            <a:pPr>
              <a:lnSpc>
                <a:spcPct val="112000"/>
              </a:lnSpc>
              <a:spcBef>
                <a:spcPts val="0"/>
              </a:spcBef>
              <a:spcAft>
                <a:spcPts val="0"/>
              </a:spcAft>
              <a:defRPr sz="1600" b="0">
                <a:solidFill>
                  <a:srgbClr val="202D48"/>
                </a:solidFill>
                <a:latin typeface="Lato"/>
              </a:defRPr>
            </a:pPr>
            <a:r>
              <a:t>A · grain 1</a:t>
            </a:r>
          </a:p>
        </p:txBody>
      </p:sp>
      <p:sp>
        <p:nvSpPr>
          <p:cNvPr id="29" name="Rectangle 28"/>
          <p:cNvSpPr/>
          <p:nvPr/>
        </p:nvSpPr>
        <p:spPr>
          <a:xfrm>
            <a:off x="6502400" y="4610100"/>
            <a:ext cx="2133600" cy="4572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54800" y="4711700"/>
            <a:ext cx="1866900" cy="317500"/>
          </a:xfrm>
          <a:prstGeom prst="rect">
            <a:avLst/>
          </a:prstGeom>
          <a:noFill/>
        </p:spPr>
        <p:txBody>
          <a:bodyPr wrap="none" tIns="0" bIns="0" lIns="0" rIns="0">
            <a:spAutoFit/>
          </a:bodyPr>
          <a:lstStyle/>
          <a:p>
            <a:pPr>
              <a:lnSpc>
                <a:spcPct val="112000"/>
              </a:lnSpc>
              <a:spcBef>
                <a:spcPts val="0"/>
              </a:spcBef>
              <a:spcAft>
                <a:spcPts val="0"/>
              </a:spcAft>
              <a:defRPr sz="1600" b="0">
                <a:solidFill>
                  <a:srgbClr val="202D48"/>
                </a:solidFill>
                <a:latin typeface="Lato"/>
              </a:defRPr>
            </a:pPr>
            <a:r>
              <a:t>B · grain 1</a:t>
            </a:r>
          </a:p>
        </p:txBody>
      </p:sp>
      <p:sp>
        <p:nvSpPr>
          <p:cNvPr id="31" name="Rectangle 30"/>
          <p:cNvSpPr/>
          <p:nvPr/>
        </p:nvSpPr>
        <p:spPr>
          <a:xfrm>
            <a:off x="9169400" y="4000500"/>
            <a:ext cx="2133600" cy="457200"/>
          </a:xfrm>
          <a:prstGeom prst="rect">
            <a:avLst/>
          </a:prstGeom>
          <a:solidFill>
            <a:srgbClr val="E4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21800" y="4102100"/>
            <a:ext cx="1866900" cy="317500"/>
          </a:xfrm>
          <a:prstGeom prst="rect">
            <a:avLst/>
          </a:prstGeom>
          <a:noFill/>
        </p:spPr>
        <p:txBody>
          <a:bodyPr wrap="none" tIns="0" bIns="0" lIns="0" rIns="0">
            <a:spAutoFit/>
          </a:bodyPr>
          <a:lstStyle/>
          <a:p>
            <a:pPr>
              <a:lnSpc>
                <a:spcPct val="112000"/>
              </a:lnSpc>
              <a:spcBef>
                <a:spcPts val="0"/>
              </a:spcBef>
              <a:spcAft>
                <a:spcPts val="0"/>
              </a:spcAft>
              <a:defRPr sz="1600" b="0">
                <a:solidFill>
                  <a:srgbClr val="202D48"/>
                </a:solidFill>
                <a:latin typeface="Lato"/>
              </a:defRPr>
            </a:pPr>
            <a:r>
              <a:t>A · grain 2</a:t>
            </a:r>
          </a:p>
        </p:txBody>
      </p:sp>
      <p:sp>
        <p:nvSpPr>
          <p:cNvPr id="33" name="Rectangle 32"/>
          <p:cNvSpPr/>
          <p:nvPr/>
        </p:nvSpPr>
        <p:spPr>
          <a:xfrm>
            <a:off x="9169400" y="4610100"/>
            <a:ext cx="2133600" cy="457200"/>
          </a:xfrm>
          <a:prstGeom prst="rect">
            <a:avLst/>
          </a:prstGeom>
          <a:solidFill>
            <a:srgbClr val="E4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321800" y="4711700"/>
            <a:ext cx="1866900" cy="317500"/>
          </a:xfrm>
          <a:prstGeom prst="rect">
            <a:avLst/>
          </a:prstGeom>
          <a:noFill/>
        </p:spPr>
        <p:txBody>
          <a:bodyPr wrap="none" tIns="0" bIns="0" lIns="0" rIns="0">
            <a:spAutoFit/>
          </a:bodyPr>
          <a:lstStyle/>
          <a:p>
            <a:pPr>
              <a:lnSpc>
                <a:spcPct val="112000"/>
              </a:lnSpc>
              <a:spcBef>
                <a:spcPts val="0"/>
              </a:spcBef>
              <a:spcAft>
                <a:spcPts val="0"/>
              </a:spcAft>
              <a:defRPr sz="1600" b="0">
                <a:solidFill>
                  <a:srgbClr val="202D48"/>
                </a:solidFill>
                <a:latin typeface="Lato"/>
              </a:defRPr>
            </a:pPr>
            <a:r>
              <a:t>B · grain 2</a:t>
            </a:r>
          </a:p>
        </p:txBody>
      </p:sp>
      <p:sp>
        <p:nvSpPr>
          <p:cNvPr id="35" name="TextBox 34"/>
          <p:cNvSpPr txBox="1"/>
          <p:nvPr/>
        </p:nvSpPr>
        <p:spPr>
          <a:xfrm>
            <a:off x="558800" y="5930900"/>
            <a:ext cx="11099800" cy="317500"/>
          </a:xfrm>
          <a:prstGeom prst="rect">
            <a:avLst/>
          </a:prstGeom>
          <a:noFill/>
        </p:spPr>
        <p:txBody>
          <a:bodyPr wrap="none" tIns="0" bIns="0" lIns="0" rIns="0">
            <a:spAutoFit/>
          </a:bodyPr>
          <a:lstStyle/>
          <a:p>
            <a:pPr>
              <a:lnSpc>
                <a:spcPct val="112000"/>
              </a:lnSpc>
              <a:spcBef>
                <a:spcPts val="0"/>
              </a:spcBef>
              <a:spcAft>
                <a:spcPts val="0"/>
              </a:spcAft>
              <a:defRPr sz="1800" b="1">
                <a:solidFill>
                  <a:srgbClr val="93451F"/>
                </a:solidFill>
                <a:latin typeface="Lato"/>
              </a:defRPr>
            </a:pPr>
            <a:r>
              <a:t>Different specimens in every set. Final test slides remain reserved.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330200" cy="508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92100"/>
            <a:ext cx="10541000" cy="279400"/>
          </a:xfrm>
          <a:prstGeom prst="rect">
            <a:avLst/>
          </a:prstGeom>
          <a:noFill/>
        </p:spPr>
        <p:txBody>
          <a:bodyPr wrap="none" tIns="0" bIns="0" lIns="0" rIns="0">
            <a:spAutoFit/>
          </a:bodyPr>
          <a:lstStyle/>
          <a:p>
            <a:pPr>
              <a:lnSpc>
                <a:spcPct val="112000"/>
              </a:lnSpc>
              <a:spcBef>
                <a:spcPts val="0"/>
              </a:spcBef>
              <a:spcAft>
                <a:spcPts val="0"/>
              </a:spcAft>
              <a:defRPr sz="1100" b="1">
                <a:solidFill>
                  <a:srgbClr val="93451F"/>
                </a:solidFill>
                <a:latin typeface="Lato"/>
              </a:defRPr>
            </a:pPr>
            <a:r>
              <a:t>04 / RESULTS</a:t>
            </a:r>
          </a:p>
        </p:txBody>
      </p:sp>
      <p:sp>
        <p:nvSpPr>
          <p:cNvPr id="5" name="TextBox 4"/>
          <p:cNvSpPr txBox="1"/>
          <p:nvPr/>
        </p:nvSpPr>
        <p:spPr>
          <a:xfrm>
            <a:off x="533400" y="825500"/>
            <a:ext cx="11176000" cy="1117600"/>
          </a:xfrm>
          <a:prstGeom prst="rect">
            <a:avLst/>
          </a:prstGeom>
          <a:noFill/>
        </p:spPr>
        <p:txBody>
          <a:bodyPr wrap="none" tIns="0" bIns="0" lIns="0" rIns="0">
            <a:spAutoFit/>
          </a:bodyPr>
          <a:lstStyle/>
          <a:p>
            <a:pPr>
              <a:lnSpc>
                <a:spcPct val="112000"/>
              </a:lnSpc>
              <a:spcBef>
                <a:spcPts val="0"/>
              </a:spcBef>
              <a:spcAft>
                <a:spcPts val="0"/>
              </a:spcAft>
              <a:defRPr sz="3400" b="1">
                <a:solidFill>
                  <a:srgbClr val="202D48"/>
                </a:solidFill>
                <a:latin typeface="Lato"/>
              </a:defRPr>
            </a:pPr>
            <a:r>
              <a:t>Adapting DINO gives our strongest results so far</a:t>
            </a:r>
          </a:p>
        </p:txBody>
      </p:sp>
      <p:sp>
        <p:nvSpPr>
          <p:cNvPr id="6" name="Rectangle 5"/>
          <p:cNvSpPr/>
          <p:nvPr/>
        </p:nvSpPr>
        <p:spPr>
          <a:xfrm>
            <a:off x="533400" y="6413500"/>
            <a:ext cx="11125200" cy="127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3400" y="6578600"/>
            <a:ext cx="10160000" cy="177800"/>
          </a:xfrm>
          <a:prstGeom prst="rect">
            <a:avLst/>
          </a:prstGeom>
          <a:noFill/>
        </p:spPr>
        <p:txBody>
          <a:bodyPr wrap="none" tIns="0" bIns="0" lIns="0" rIns="0">
            <a:spAutoFit/>
          </a:bodyPr>
          <a:lstStyle/>
          <a:p>
            <a:pPr>
              <a:lnSpc>
                <a:spcPct val="112000"/>
              </a:lnSpc>
              <a:spcBef>
                <a:spcPts val="0"/>
              </a:spcBef>
              <a:spcAft>
                <a:spcPts val="0"/>
              </a:spcAft>
              <a:defRPr sz="900" b="0">
                <a:solidFill>
                  <a:srgbClr val="596477"/>
                </a:solidFill>
                <a:latin typeface="Lato"/>
              </a:defRPr>
            </a:pPr>
            <a:r>
              <a:t>SMITHSONIAN × RICE D2K  ·  CLASSIFICATION UPDATE</a:t>
            </a:r>
          </a:p>
        </p:txBody>
      </p:sp>
      <p:sp>
        <p:nvSpPr>
          <p:cNvPr id="8" name="TextBox 7"/>
          <p:cNvSpPr txBox="1"/>
          <p:nvPr/>
        </p:nvSpPr>
        <p:spPr>
          <a:xfrm>
            <a:off x="11430000" y="6565900"/>
            <a:ext cx="254000" cy="203200"/>
          </a:xfrm>
          <a:prstGeom prst="rect">
            <a:avLst/>
          </a:prstGeom>
          <a:noFill/>
        </p:spPr>
        <p:txBody>
          <a:bodyPr wrap="none" tIns="0" bIns="0" lIns="0" rIns="0">
            <a:spAutoFit/>
          </a:bodyPr>
          <a:lstStyle/>
          <a:p>
            <a:pPr>
              <a:lnSpc>
                <a:spcPct val="112000"/>
              </a:lnSpc>
              <a:spcBef>
                <a:spcPts val="0"/>
              </a:spcBef>
              <a:spcAft>
                <a:spcPts val="0"/>
              </a:spcAft>
              <a:defRPr sz="1000" b="0">
                <a:solidFill>
                  <a:srgbClr val="596477"/>
                </a:solidFill>
                <a:latin typeface="Lato"/>
              </a:defRPr>
            </a:pPr>
            <a:r>
              <a:t>4</a:t>
            </a:r>
          </a:p>
        </p:txBody>
      </p:sp>
      <p:sp>
        <p:nvSpPr>
          <p:cNvPr id="9" name="TextBox 8"/>
          <p:cNvSpPr txBox="1"/>
          <p:nvPr/>
        </p:nvSpPr>
        <p:spPr>
          <a:xfrm>
            <a:off x="533400" y="1689100"/>
            <a:ext cx="11176000" cy="330200"/>
          </a:xfrm>
          <a:prstGeom prst="rect">
            <a:avLst/>
          </a:prstGeom>
          <a:noFill/>
        </p:spPr>
        <p:txBody>
          <a:bodyPr wrap="none" tIns="0" bIns="0" lIns="0" rIns="0">
            <a:spAutoFit/>
          </a:bodyPr>
          <a:lstStyle/>
          <a:p>
            <a:pPr>
              <a:lnSpc>
                <a:spcPct val="112000"/>
              </a:lnSpc>
              <a:spcBef>
                <a:spcPts val="0"/>
              </a:spcBef>
              <a:spcAft>
                <a:spcPts val="0"/>
              </a:spcAft>
              <a:defRPr sz="1700" b="0">
                <a:solidFill>
                  <a:srgbClr val="596477"/>
                </a:solidFill>
                <a:latin typeface="Lato"/>
              </a:defRPr>
            </a:pPr>
            <a:r>
              <a:t>Validation accuracy · identifying categories in prepared specimen crops</a:t>
            </a:r>
          </a:p>
        </p:txBody>
      </p:sp>
      <p:sp>
        <p:nvSpPr>
          <p:cNvPr id="10" name="TextBox 9"/>
          <p:cNvSpPr txBox="1"/>
          <p:nvPr/>
        </p:nvSpPr>
        <p:spPr>
          <a:xfrm>
            <a:off x="4000500" y="2362200"/>
            <a:ext cx="3111500" cy="381000"/>
          </a:xfrm>
          <a:prstGeom prst="rect">
            <a:avLst/>
          </a:prstGeom>
          <a:noFill/>
        </p:spPr>
        <p:txBody>
          <a:bodyPr wrap="none" tIns="0" bIns="0" lIns="0" rIns="0">
            <a:spAutoFit/>
          </a:bodyPr>
          <a:lstStyle/>
          <a:p>
            <a:pPr>
              <a:lnSpc>
                <a:spcPct val="112000"/>
              </a:lnSpc>
              <a:spcBef>
                <a:spcPts val="0"/>
              </a:spcBef>
              <a:spcAft>
                <a:spcPts val="0"/>
              </a:spcAft>
              <a:defRPr sz="2300" b="1">
                <a:solidFill>
                  <a:srgbClr val="202D48"/>
                </a:solidFill>
                <a:latin typeface="Lato"/>
              </a:defRPr>
            </a:pPr>
            <a:r>
              <a:t>Unseen slides</a:t>
            </a:r>
          </a:p>
        </p:txBody>
      </p:sp>
      <p:sp>
        <p:nvSpPr>
          <p:cNvPr id="11" name="TextBox 10"/>
          <p:cNvSpPr txBox="1"/>
          <p:nvPr/>
        </p:nvSpPr>
        <p:spPr>
          <a:xfrm>
            <a:off x="8204200" y="2362200"/>
            <a:ext cx="3302000" cy="381000"/>
          </a:xfrm>
          <a:prstGeom prst="rect">
            <a:avLst/>
          </a:prstGeom>
          <a:noFill/>
        </p:spPr>
        <p:txBody>
          <a:bodyPr wrap="none" tIns="0" bIns="0" lIns="0" rIns="0">
            <a:spAutoFit/>
          </a:bodyPr>
          <a:lstStyle/>
          <a:p>
            <a:pPr>
              <a:lnSpc>
                <a:spcPct val="112000"/>
              </a:lnSpc>
              <a:spcBef>
                <a:spcPts val="0"/>
              </a:spcBef>
              <a:spcAft>
                <a:spcPts val="0"/>
              </a:spcAft>
              <a:defRPr sz="2300" b="1">
                <a:solidFill>
                  <a:srgbClr val="202D48"/>
                </a:solidFill>
                <a:latin typeface="Lato"/>
              </a:defRPr>
            </a:pPr>
            <a:r>
              <a:t>Shared slides</a:t>
            </a:r>
          </a:p>
        </p:txBody>
      </p:sp>
      <p:sp>
        <p:nvSpPr>
          <p:cNvPr id="12" name="TextBox 11"/>
          <p:cNvSpPr txBox="1"/>
          <p:nvPr/>
        </p:nvSpPr>
        <p:spPr>
          <a:xfrm>
            <a:off x="546100" y="3187700"/>
            <a:ext cx="3162300" cy="444500"/>
          </a:xfrm>
          <a:prstGeom prst="rect">
            <a:avLst/>
          </a:prstGeom>
          <a:noFill/>
        </p:spPr>
        <p:txBody>
          <a:bodyPr wrap="none" tIns="0" bIns="0" lIns="0" rIns="0">
            <a:spAutoFit/>
          </a:bodyPr>
          <a:lstStyle/>
          <a:p>
            <a:pPr>
              <a:lnSpc>
                <a:spcPct val="112000"/>
              </a:lnSpc>
              <a:spcBef>
                <a:spcPts val="0"/>
              </a:spcBef>
              <a:spcAft>
                <a:spcPts val="0"/>
              </a:spcAft>
              <a:defRPr sz="2300" b="0">
                <a:solidFill>
                  <a:srgbClr val="202D48"/>
                </a:solidFill>
                <a:latin typeface="Lato"/>
              </a:defRPr>
            </a:pPr>
            <a:r>
              <a:t>Swin</a:t>
            </a:r>
          </a:p>
        </p:txBody>
      </p:sp>
      <p:sp>
        <p:nvSpPr>
          <p:cNvPr id="13" name="Rectangle 12"/>
          <p:cNvSpPr/>
          <p:nvPr/>
        </p:nvSpPr>
        <p:spPr>
          <a:xfrm>
            <a:off x="4000500" y="3162300"/>
            <a:ext cx="2667000" cy="3556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000500" y="3162300"/>
            <a:ext cx="1014536" cy="355600"/>
          </a:xfrm>
          <a:prstGeom prst="rect">
            <a:avLst/>
          </a:prstGeom>
          <a:solidFill>
            <a:srgbClr val="9AA5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94500" y="3136900"/>
            <a:ext cx="838200" cy="457200"/>
          </a:xfrm>
          <a:prstGeom prst="rect">
            <a:avLst/>
          </a:prstGeom>
          <a:noFill/>
        </p:spPr>
        <p:txBody>
          <a:bodyPr wrap="none" tIns="0" bIns="0" lIns="0" rIns="0">
            <a:spAutoFit/>
          </a:bodyPr>
          <a:lstStyle/>
          <a:p>
            <a:pPr>
              <a:lnSpc>
                <a:spcPct val="112000"/>
              </a:lnSpc>
              <a:spcBef>
                <a:spcPts val="0"/>
              </a:spcBef>
              <a:spcAft>
                <a:spcPts val="0"/>
              </a:spcAft>
              <a:defRPr sz="2500" b="1">
                <a:solidFill>
                  <a:srgbClr val="202D48"/>
                </a:solidFill>
                <a:latin typeface="Lato"/>
              </a:defRPr>
            </a:pPr>
            <a:r>
              <a:t>38%</a:t>
            </a:r>
          </a:p>
        </p:txBody>
      </p:sp>
      <p:sp>
        <p:nvSpPr>
          <p:cNvPr id="16" name="Rectangle 15"/>
          <p:cNvSpPr/>
          <p:nvPr/>
        </p:nvSpPr>
        <p:spPr>
          <a:xfrm>
            <a:off x="8204200" y="3162300"/>
            <a:ext cx="2667000" cy="3556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04200" y="3162300"/>
            <a:ext cx="1767752" cy="355600"/>
          </a:xfrm>
          <a:prstGeom prst="rect">
            <a:avLst/>
          </a:prstGeom>
          <a:solidFill>
            <a:srgbClr val="9AA5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98200" y="3136900"/>
            <a:ext cx="838200" cy="457200"/>
          </a:xfrm>
          <a:prstGeom prst="rect">
            <a:avLst/>
          </a:prstGeom>
          <a:noFill/>
        </p:spPr>
        <p:txBody>
          <a:bodyPr wrap="none" tIns="0" bIns="0" lIns="0" rIns="0">
            <a:spAutoFit/>
          </a:bodyPr>
          <a:lstStyle/>
          <a:p>
            <a:pPr>
              <a:lnSpc>
                <a:spcPct val="112000"/>
              </a:lnSpc>
              <a:spcBef>
                <a:spcPts val="0"/>
              </a:spcBef>
              <a:spcAft>
                <a:spcPts val="0"/>
              </a:spcAft>
              <a:defRPr sz="2500" b="1">
                <a:solidFill>
                  <a:srgbClr val="202D48"/>
                </a:solidFill>
                <a:latin typeface="Lato"/>
              </a:defRPr>
            </a:pPr>
            <a:r>
              <a:t>66%</a:t>
            </a:r>
          </a:p>
        </p:txBody>
      </p:sp>
      <p:sp>
        <p:nvSpPr>
          <p:cNvPr id="19" name="TextBox 18"/>
          <p:cNvSpPr txBox="1"/>
          <p:nvPr/>
        </p:nvSpPr>
        <p:spPr>
          <a:xfrm>
            <a:off x="546100" y="4025900"/>
            <a:ext cx="3162300" cy="444500"/>
          </a:xfrm>
          <a:prstGeom prst="rect">
            <a:avLst/>
          </a:prstGeom>
          <a:noFill/>
        </p:spPr>
        <p:txBody>
          <a:bodyPr wrap="none" tIns="0" bIns="0" lIns="0" rIns="0">
            <a:spAutoFit/>
          </a:bodyPr>
          <a:lstStyle/>
          <a:p>
            <a:pPr>
              <a:lnSpc>
                <a:spcPct val="112000"/>
              </a:lnSpc>
              <a:spcBef>
                <a:spcPts val="0"/>
              </a:spcBef>
              <a:spcAft>
                <a:spcPts val="0"/>
              </a:spcAft>
              <a:defRPr sz="2300" b="0">
                <a:solidFill>
                  <a:srgbClr val="202D48"/>
                </a:solidFill>
                <a:latin typeface="Lato"/>
              </a:defRPr>
            </a:pPr>
            <a:r>
              <a:t>DINO · frozen</a:t>
            </a:r>
          </a:p>
        </p:txBody>
      </p:sp>
      <p:sp>
        <p:nvSpPr>
          <p:cNvPr id="20" name="Rectangle 19"/>
          <p:cNvSpPr/>
          <p:nvPr/>
        </p:nvSpPr>
        <p:spPr>
          <a:xfrm>
            <a:off x="4000500" y="4000500"/>
            <a:ext cx="2667000" cy="3556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000500" y="4000500"/>
            <a:ext cx="799331" cy="355600"/>
          </a:xfrm>
          <a:prstGeom prst="rect">
            <a:avLst/>
          </a:prstGeom>
          <a:solidFill>
            <a:srgbClr val="9AA5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94500" y="3975100"/>
            <a:ext cx="838200" cy="457200"/>
          </a:xfrm>
          <a:prstGeom prst="rect">
            <a:avLst/>
          </a:prstGeom>
          <a:noFill/>
        </p:spPr>
        <p:txBody>
          <a:bodyPr wrap="none" tIns="0" bIns="0" lIns="0" rIns="0">
            <a:spAutoFit/>
          </a:bodyPr>
          <a:lstStyle/>
          <a:p>
            <a:pPr>
              <a:lnSpc>
                <a:spcPct val="112000"/>
              </a:lnSpc>
              <a:spcBef>
                <a:spcPts val="0"/>
              </a:spcBef>
              <a:spcAft>
                <a:spcPts val="0"/>
              </a:spcAft>
              <a:defRPr sz="2500" b="1">
                <a:solidFill>
                  <a:srgbClr val="202D48"/>
                </a:solidFill>
                <a:latin typeface="Lato"/>
              </a:defRPr>
            </a:pPr>
            <a:r>
              <a:t>30%</a:t>
            </a:r>
          </a:p>
        </p:txBody>
      </p:sp>
      <p:sp>
        <p:nvSpPr>
          <p:cNvPr id="23" name="Rectangle 22"/>
          <p:cNvSpPr/>
          <p:nvPr/>
        </p:nvSpPr>
        <p:spPr>
          <a:xfrm>
            <a:off x="8204200" y="4000500"/>
            <a:ext cx="2667000" cy="3556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204200" y="4000500"/>
            <a:ext cx="1575605" cy="355600"/>
          </a:xfrm>
          <a:prstGeom prst="rect">
            <a:avLst/>
          </a:prstGeom>
          <a:solidFill>
            <a:srgbClr val="9AA5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98200" y="3975100"/>
            <a:ext cx="838200" cy="457200"/>
          </a:xfrm>
          <a:prstGeom prst="rect">
            <a:avLst/>
          </a:prstGeom>
          <a:noFill/>
        </p:spPr>
        <p:txBody>
          <a:bodyPr wrap="none" tIns="0" bIns="0" lIns="0" rIns="0">
            <a:spAutoFit/>
          </a:bodyPr>
          <a:lstStyle/>
          <a:p>
            <a:pPr>
              <a:lnSpc>
                <a:spcPct val="112000"/>
              </a:lnSpc>
              <a:spcBef>
                <a:spcPts val="0"/>
              </a:spcBef>
              <a:spcAft>
                <a:spcPts val="0"/>
              </a:spcAft>
              <a:defRPr sz="2500" b="1">
                <a:solidFill>
                  <a:srgbClr val="202D48"/>
                </a:solidFill>
                <a:latin typeface="Lato"/>
              </a:defRPr>
            </a:pPr>
            <a:r>
              <a:t>59%</a:t>
            </a:r>
          </a:p>
        </p:txBody>
      </p:sp>
      <p:sp>
        <p:nvSpPr>
          <p:cNvPr id="26" name="TextBox 25"/>
          <p:cNvSpPr txBox="1"/>
          <p:nvPr/>
        </p:nvSpPr>
        <p:spPr>
          <a:xfrm>
            <a:off x="546100" y="4864100"/>
            <a:ext cx="3162300" cy="444500"/>
          </a:xfrm>
          <a:prstGeom prst="rect">
            <a:avLst/>
          </a:prstGeom>
          <a:noFill/>
        </p:spPr>
        <p:txBody>
          <a:bodyPr wrap="none" tIns="0" bIns="0" lIns="0" rIns="0">
            <a:spAutoFit/>
          </a:bodyPr>
          <a:lstStyle/>
          <a:p>
            <a:pPr>
              <a:lnSpc>
                <a:spcPct val="112000"/>
              </a:lnSpc>
              <a:spcBef>
                <a:spcPts val="0"/>
              </a:spcBef>
              <a:spcAft>
                <a:spcPts val="0"/>
              </a:spcAft>
              <a:defRPr sz="2300" b="1">
                <a:solidFill>
                  <a:srgbClr val="202D48"/>
                </a:solidFill>
                <a:latin typeface="Lato"/>
              </a:defRPr>
            </a:pPr>
            <a:r>
              <a:t>DINO · adapted</a:t>
            </a:r>
          </a:p>
        </p:txBody>
      </p:sp>
      <p:sp>
        <p:nvSpPr>
          <p:cNvPr id="27" name="Rectangle 26"/>
          <p:cNvSpPr/>
          <p:nvPr/>
        </p:nvSpPr>
        <p:spPr>
          <a:xfrm>
            <a:off x="4000500" y="4838700"/>
            <a:ext cx="2667000" cy="3556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000500" y="4838700"/>
            <a:ext cx="1160567" cy="355600"/>
          </a:xfrm>
          <a:prstGeom prst="rect">
            <a:avLst/>
          </a:prstGeom>
          <a:solidFill>
            <a:srgbClr val="207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94500" y="4813300"/>
            <a:ext cx="838200" cy="457200"/>
          </a:xfrm>
          <a:prstGeom prst="rect">
            <a:avLst/>
          </a:prstGeom>
          <a:noFill/>
        </p:spPr>
        <p:txBody>
          <a:bodyPr wrap="none" tIns="0" bIns="0" lIns="0" rIns="0">
            <a:spAutoFit/>
          </a:bodyPr>
          <a:lstStyle/>
          <a:p>
            <a:pPr>
              <a:lnSpc>
                <a:spcPct val="112000"/>
              </a:lnSpc>
              <a:spcBef>
                <a:spcPts val="0"/>
              </a:spcBef>
              <a:spcAft>
                <a:spcPts val="0"/>
              </a:spcAft>
              <a:defRPr sz="2500" b="1">
                <a:solidFill>
                  <a:srgbClr val="20786E"/>
                </a:solidFill>
                <a:latin typeface="Lato"/>
              </a:defRPr>
            </a:pPr>
            <a:r>
              <a:t>44%</a:t>
            </a:r>
          </a:p>
        </p:txBody>
      </p:sp>
      <p:sp>
        <p:nvSpPr>
          <p:cNvPr id="30" name="Rectangle 29"/>
          <p:cNvSpPr/>
          <p:nvPr/>
        </p:nvSpPr>
        <p:spPr>
          <a:xfrm>
            <a:off x="8204200" y="4838700"/>
            <a:ext cx="2667000" cy="3556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04200" y="4838700"/>
            <a:ext cx="1867668" cy="355600"/>
          </a:xfrm>
          <a:prstGeom prst="rect">
            <a:avLst/>
          </a:prstGeom>
          <a:solidFill>
            <a:srgbClr val="207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998200" y="4813300"/>
            <a:ext cx="838200" cy="457200"/>
          </a:xfrm>
          <a:prstGeom prst="rect">
            <a:avLst/>
          </a:prstGeom>
          <a:noFill/>
        </p:spPr>
        <p:txBody>
          <a:bodyPr wrap="none" tIns="0" bIns="0" lIns="0" rIns="0">
            <a:spAutoFit/>
          </a:bodyPr>
          <a:lstStyle/>
          <a:p>
            <a:pPr>
              <a:lnSpc>
                <a:spcPct val="112000"/>
              </a:lnSpc>
              <a:spcBef>
                <a:spcPts val="0"/>
              </a:spcBef>
              <a:spcAft>
                <a:spcPts val="0"/>
              </a:spcAft>
              <a:defRPr sz="2500" b="1">
                <a:solidFill>
                  <a:srgbClr val="20786E"/>
                </a:solidFill>
                <a:latin typeface="Lato"/>
              </a:defRPr>
            </a:pPr>
            <a:r>
              <a:t>70%</a:t>
            </a:r>
          </a:p>
        </p:txBody>
      </p:sp>
      <p:sp>
        <p:nvSpPr>
          <p:cNvPr id="33" name="TextBox 32"/>
          <p:cNvSpPr txBox="1"/>
          <p:nvPr/>
        </p:nvSpPr>
        <p:spPr>
          <a:xfrm>
            <a:off x="558800" y="5765800"/>
            <a:ext cx="11049000" cy="317500"/>
          </a:xfrm>
          <a:prstGeom prst="rect">
            <a:avLst/>
          </a:prstGeom>
          <a:noFill/>
        </p:spPr>
        <p:txBody>
          <a:bodyPr wrap="none" tIns="0" bIns="0" lIns="0" rIns="0">
            <a:spAutoFit/>
          </a:bodyPr>
          <a:lstStyle/>
          <a:p>
            <a:pPr>
              <a:lnSpc>
                <a:spcPct val="112000"/>
              </a:lnSpc>
              <a:spcBef>
                <a:spcPts val="0"/>
              </a:spcBef>
              <a:spcAft>
                <a:spcPts val="0"/>
              </a:spcAft>
              <a:defRPr sz="1600" b="0">
                <a:solidFill>
                  <a:srgbClr val="596477"/>
                </a:solidFill>
                <a:latin typeface="Lato"/>
              </a:defRPr>
            </a:pPr>
            <a:r>
              <a:t>Adapted = trained the final two DINO blocks and its category classifier.</a:t>
            </a:r>
          </a:p>
        </p:txBody>
      </p:sp>
      <p:sp>
        <p:nvSpPr>
          <p:cNvPr id="34" name="TextBox 33"/>
          <p:cNvSpPr txBox="1"/>
          <p:nvPr/>
        </p:nvSpPr>
        <p:spPr>
          <a:xfrm>
            <a:off x="558800" y="6108700"/>
            <a:ext cx="11176000" cy="215900"/>
          </a:xfrm>
          <a:prstGeom prst="rect">
            <a:avLst/>
          </a:prstGeom>
          <a:noFill/>
        </p:spPr>
        <p:txBody>
          <a:bodyPr wrap="none" tIns="0" bIns="0" lIns="0" rIns="0">
            <a:spAutoFit/>
          </a:bodyPr>
          <a:lstStyle/>
          <a:p>
            <a:pPr>
              <a:lnSpc>
                <a:spcPct val="112000"/>
              </a:lnSpc>
              <a:spcBef>
                <a:spcPts val="0"/>
              </a:spcBef>
              <a:spcAft>
                <a:spcPts val="0"/>
              </a:spcAft>
              <a:defRPr sz="1100" b="0">
                <a:solidFill>
                  <a:srgbClr val="596477"/>
                </a:solidFill>
                <a:latin typeface="Lato"/>
              </a:defRPr>
            </a:pPr>
            <a:r>
              <a:t>Single-run validation comparisons; final test untouched. These are not whole-slide detection results.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330200" cy="508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92100"/>
            <a:ext cx="10541000" cy="279400"/>
          </a:xfrm>
          <a:prstGeom prst="rect">
            <a:avLst/>
          </a:prstGeom>
          <a:noFill/>
        </p:spPr>
        <p:txBody>
          <a:bodyPr wrap="none" tIns="0" bIns="0" lIns="0" rIns="0">
            <a:spAutoFit/>
          </a:bodyPr>
          <a:lstStyle/>
          <a:p>
            <a:pPr>
              <a:lnSpc>
                <a:spcPct val="112000"/>
              </a:lnSpc>
              <a:spcBef>
                <a:spcPts val="0"/>
              </a:spcBef>
              <a:spcAft>
                <a:spcPts val="0"/>
              </a:spcAft>
              <a:defRPr sz="1100" b="1">
                <a:solidFill>
                  <a:srgbClr val="93451F"/>
                </a:solidFill>
                <a:latin typeface="Lato"/>
              </a:defRPr>
            </a:pPr>
            <a:r>
              <a:t>05 / ERROR REVIEW</a:t>
            </a:r>
          </a:p>
        </p:txBody>
      </p:sp>
      <p:sp>
        <p:nvSpPr>
          <p:cNvPr id="5" name="TextBox 4"/>
          <p:cNvSpPr txBox="1"/>
          <p:nvPr/>
        </p:nvSpPr>
        <p:spPr>
          <a:xfrm>
            <a:off x="533400" y="825500"/>
            <a:ext cx="11176000" cy="1117600"/>
          </a:xfrm>
          <a:prstGeom prst="rect">
            <a:avLst/>
          </a:prstGeom>
          <a:noFill/>
        </p:spPr>
        <p:txBody>
          <a:bodyPr wrap="none" tIns="0" bIns="0" lIns="0" rIns="0">
            <a:spAutoFit/>
          </a:bodyPr>
          <a:lstStyle/>
          <a:p>
            <a:pPr>
              <a:lnSpc>
                <a:spcPct val="112000"/>
              </a:lnSpc>
              <a:spcBef>
                <a:spcPts val="0"/>
              </a:spcBef>
              <a:spcAft>
                <a:spcPts val="0"/>
              </a:spcAft>
              <a:defRPr sz="3400" b="1">
                <a:solidFill>
                  <a:srgbClr val="202D48"/>
                </a:solidFill>
                <a:latin typeface="Lato"/>
              </a:defRPr>
            </a:pPr>
            <a:r>
              <a:t>Which differences matter to an expert?</a:t>
            </a:r>
          </a:p>
        </p:txBody>
      </p:sp>
      <p:sp>
        <p:nvSpPr>
          <p:cNvPr id="6" name="Rectangle 5"/>
          <p:cNvSpPr/>
          <p:nvPr/>
        </p:nvSpPr>
        <p:spPr>
          <a:xfrm>
            <a:off x="533400" y="6413500"/>
            <a:ext cx="11125200" cy="127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3400" y="6578600"/>
            <a:ext cx="10160000" cy="177800"/>
          </a:xfrm>
          <a:prstGeom prst="rect">
            <a:avLst/>
          </a:prstGeom>
          <a:noFill/>
        </p:spPr>
        <p:txBody>
          <a:bodyPr wrap="none" tIns="0" bIns="0" lIns="0" rIns="0">
            <a:spAutoFit/>
          </a:bodyPr>
          <a:lstStyle/>
          <a:p>
            <a:pPr>
              <a:lnSpc>
                <a:spcPct val="112000"/>
              </a:lnSpc>
              <a:spcBef>
                <a:spcPts val="0"/>
              </a:spcBef>
              <a:spcAft>
                <a:spcPts val="0"/>
              </a:spcAft>
              <a:defRPr sz="900" b="0">
                <a:solidFill>
                  <a:srgbClr val="596477"/>
                </a:solidFill>
                <a:latin typeface="Lato"/>
              </a:defRPr>
            </a:pPr>
            <a:r>
              <a:t>SMITHSONIAN × RICE D2K  ·  CLASSIFICATION UPDATE</a:t>
            </a:r>
          </a:p>
        </p:txBody>
      </p:sp>
      <p:sp>
        <p:nvSpPr>
          <p:cNvPr id="8" name="TextBox 7"/>
          <p:cNvSpPr txBox="1"/>
          <p:nvPr/>
        </p:nvSpPr>
        <p:spPr>
          <a:xfrm>
            <a:off x="11430000" y="6565900"/>
            <a:ext cx="254000" cy="203200"/>
          </a:xfrm>
          <a:prstGeom prst="rect">
            <a:avLst/>
          </a:prstGeom>
          <a:noFill/>
        </p:spPr>
        <p:txBody>
          <a:bodyPr wrap="none" tIns="0" bIns="0" lIns="0" rIns="0">
            <a:spAutoFit/>
          </a:bodyPr>
          <a:lstStyle/>
          <a:p>
            <a:pPr>
              <a:lnSpc>
                <a:spcPct val="112000"/>
              </a:lnSpc>
              <a:spcBef>
                <a:spcPts val="0"/>
              </a:spcBef>
              <a:spcAft>
                <a:spcPts val="0"/>
              </a:spcAft>
              <a:defRPr sz="1000" b="0">
                <a:solidFill>
                  <a:srgbClr val="596477"/>
                </a:solidFill>
                <a:latin typeface="Lato"/>
              </a:defRPr>
            </a:pPr>
            <a:r>
              <a:t>5</a:t>
            </a:r>
          </a:p>
        </p:txBody>
      </p:sp>
      <p:sp>
        <p:nvSpPr>
          <p:cNvPr id="9" name="Rectangle 8"/>
          <p:cNvSpPr/>
          <p:nvPr/>
        </p:nvSpPr>
        <p:spPr>
          <a:xfrm>
            <a:off x="558800" y="1968500"/>
            <a:ext cx="3530600" cy="394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error_0.png"/>
          <p:cNvPicPr>
            <a:picLocks noChangeAspect="1"/>
          </p:cNvPicPr>
          <p:nvPr/>
        </p:nvPicPr>
        <p:blipFill>
          <a:blip r:embed="rId2"/>
          <a:stretch>
            <a:fillRect/>
          </a:stretch>
        </p:blipFill>
        <p:spPr>
          <a:xfrm>
            <a:off x="1117600" y="2108200"/>
            <a:ext cx="2413000" cy="2413000"/>
          </a:xfrm>
          <a:prstGeom prst="rect">
            <a:avLst/>
          </a:prstGeom>
        </p:spPr>
      </p:pic>
      <p:sp>
        <p:nvSpPr>
          <p:cNvPr id="11" name="TextBox 10"/>
          <p:cNvSpPr txBox="1"/>
          <p:nvPr/>
        </p:nvSpPr>
        <p:spPr>
          <a:xfrm>
            <a:off x="749300" y="4673600"/>
            <a:ext cx="3175000" cy="228600"/>
          </a:xfrm>
          <a:prstGeom prst="rect">
            <a:avLst/>
          </a:prstGeom>
          <a:noFill/>
        </p:spPr>
        <p:txBody>
          <a:bodyPr wrap="none" tIns="0" bIns="0" lIns="0" rIns="0">
            <a:spAutoFit/>
          </a:bodyPr>
          <a:lstStyle/>
          <a:p>
            <a:pPr>
              <a:lnSpc>
                <a:spcPct val="112000"/>
              </a:lnSpc>
              <a:spcBef>
                <a:spcPts val="0"/>
              </a:spcBef>
              <a:spcAft>
                <a:spcPts val="0"/>
              </a:spcAft>
              <a:defRPr sz="1000" b="1">
                <a:solidFill>
                  <a:srgbClr val="596477"/>
                </a:solidFill>
                <a:latin typeface="Lato"/>
              </a:defRPr>
            </a:pPr>
            <a:r>
              <a:t>EXPERT LABEL</a:t>
            </a:r>
          </a:p>
        </p:txBody>
      </p:sp>
      <p:sp>
        <p:nvSpPr>
          <p:cNvPr id="12" name="TextBox 11"/>
          <p:cNvSpPr txBox="1"/>
          <p:nvPr/>
        </p:nvSpPr>
        <p:spPr>
          <a:xfrm>
            <a:off x="749300" y="4927600"/>
            <a:ext cx="3162300" cy="558800"/>
          </a:xfrm>
          <a:prstGeom prst="rect">
            <a:avLst/>
          </a:prstGeom>
          <a:noFill/>
        </p:spPr>
        <p:txBody>
          <a:bodyPr wrap="none" tIns="0" bIns="0" lIns="0" rIns="0">
            <a:spAutoFit/>
          </a:bodyPr>
          <a:lstStyle/>
          <a:p>
            <a:pPr>
              <a:lnSpc>
                <a:spcPct val="112000"/>
              </a:lnSpc>
              <a:spcBef>
                <a:spcPts val="0"/>
              </a:spcBef>
              <a:spcAft>
                <a:spcPts val="0"/>
              </a:spcAft>
              <a:defRPr sz="1700" b="1">
                <a:solidFill>
                  <a:srgbClr val="202D48"/>
                </a:solidFill>
                <a:latin typeface="Lato"/>
              </a:defRPr>
            </a:pPr>
            <a:r>
              <a:t>Momipites</a:t>
            </a:r>
          </a:p>
          <a:p>
            <a:pPr>
              <a:lnSpc>
                <a:spcPct val="112000"/>
              </a:lnSpc>
              <a:spcBef>
                <a:spcPts val="0"/>
              </a:spcBef>
              <a:spcAft>
                <a:spcPts val="0"/>
              </a:spcAft>
              <a:defRPr sz="1700" b="1">
                <a:solidFill>
                  <a:srgbClr val="202D48"/>
                </a:solidFill>
                <a:latin typeface="Lato"/>
              </a:defRPr>
            </a:pPr>
            <a:r>
              <a:t>wyomingensis</a:t>
            </a:r>
          </a:p>
        </p:txBody>
      </p:sp>
      <p:sp>
        <p:nvSpPr>
          <p:cNvPr id="13" name="TextBox 12"/>
          <p:cNvSpPr txBox="1"/>
          <p:nvPr/>
        </p:nvSpPr>
        <p:spPr>
          <a:xfrm>
            <a:off x="749300" y="5600700"/>
            <a:ext cx="3175000" cy="292100"/>
          </a:xfrm>
          <a:prstGeom prst="rect">
            <a:avLst/>
          </a:prstGeom>
          <a:noFill/>
        </p:spPr>
        <p:txBody>
          <a:bodyPr wrap="none" tIns="0" bIns="0" lIns="0" rIns="0">
            <a:spAutoFit/>
          </a:bodyPr>
          <a:lstStyle/>
          <a:p>
            <a:pPr>
              <a:lnSpc>
                <a:spcPct val="112000"/>
              </a:lnSpc>
              <a:spcBef>
                <a:spcPts val="0"/>
              </a:spcBef>
              <a:spcAft>
                <a:spcPts val="0"/>
              </a:spcAft>
              <a:defRPr sz="1400" b="0">
                <a:solidFill>
                  <a:srgbClr val="93451F"/>
                </a:solidFill>
                <a:latin typeface="Lato"/>
              </a:defRPr>
            </a:pPr>
            <a:r>
              <a:t>Model: Momipites sp</a:t>
            </a:r>
          </a:p>
        </p:txBody>
      </p:sp>
      <p:sp>
        <p:nvSpPr>
          <p:cNvPr id="14" name="Rectangle 13"/>
          <p:cNvSpPr/>
          <p:nvPr/>
        </p:nvSpPr>
        <p:spPr>
          <a:xfrm>
            <a:off x="4318000" y="1968500"/>
            <a:ext cx="3530600" cy="394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error_1.png"/>
          <p:cNvPicPr>
            <a:picLocks noChangeAspect="1"/>
          </p:cNvPicPr>
          <p:nvPr/>
        </p:nvPicPr>
        <p:blipFill>
          <a:blip r:embed="rId3"/>
          <a:stretch>
            <a:fillRect/>
          </a:stretch>
        </p:blipFill>
        <p:spPr>
          <a:xfrm>
            <a:off x="4876800" y="2108200"/>
            <a:ext cx="2413000" cy="2413000"/>
          </a:xfrm>
          <a:prstGeom prst="rect">
            <a:avLst/>
          </a:prstGeom>
        </p:spPr>
      </p:pic>
      <p:sp>
        <p:nvSpPr>
          <p:cNvPr id="16" name="TextBox 15"/>
          <p:cNvSpPr txBox="1"/>
          <p:nvPr/>
        </p:nvSpPr>
        <p:spPr>
          <a:xfrm>
            <a:off x="4508500" y="4673600"/>
            <a:ext cx="3175000" cy="228600"/>
          </a:xfrm>
          <a:prstGeom prst="rect">
            <a:avLst/>
          </a:prstGeom>
          <a:noFill/>
        </p:spPr>
        <p:txBody>
          <a:bodyPr wrap="none" tIns="0" bIns="0" lIns="0" rIns="0">
            <a:spAutoFit/>
          </a:bodyPr>
          <a:lstStyle/>
          <a:p>
            <a:pPr>
              <a:lnSpc>
                <a:spcPct val="112000"/>
              </a:lnSpc>
              <a:spcBef>
                <a:spcPts val="0"/>
              </a:spcBef>
              <a:spcAft>
                <a:spcPts val="0"/>
              </a:spcAft>
              <a:defRPr sz="1000" b="1">
                <a:solidFill>
                  <a:srgbClr val="596477"/>
                </a:solidFill>
                <a:latin typeface="Lato"/>
              </a:defRPr>
            </a:pPr>
            <a:r>
              <a:t>EXPERT LABEL</a:t>
            </a:r>
          </a:p>
        </p:txBody>
      </p:sp>
      <p:sp>
        <p:nvSpPr>
          <p:cNvPr id="17" name="TextBox 16"/>
          <p:cNvSpPr txBox="1"/>
          <p:nvPr/>
        </p:nvSpPr>
        <p:spPr>
          <a:xfrm>
            <a:off x="4508500" y="4927600"/>
            <a:ext cx="3162300" cy="558800"/>
          </a:xfrm>
          <a:prstGeom prst="rect">
            <a:avLst/>
          </a:prstGeom>
          <a:noFill/>
        </p:spPr>
        <p:txBody>
          <a:bodyPr wrap="none" tIns="0" bIns="0" lIns="0" rIns="0">
            <a:spAutoFit/>
          </a:bodyPr>
          <a:lstStyle/>
          <a:p>
            <a:pPr>
              <a:lnSpc>
                <a:spcPct val="112000"/>
              </a:lnSpc>
              <a:spcBef>
                <a:spcPts val="0"/>
              </a:spcBef>
              <a:spcAft>
                <a:spcPts val="0"/>
              </a:spcAft>
              <a:defRPr sz="1700" b="1">
                <a:solidFill>
                  <a:srgbClr val="202D48"/>
                </a:solidFill>
                <a:latin typeface="Lato"/>
              </a:defRPr>
            </a:pPr>
            <a:r>
              <a:t>Bombacacidites sp.</a:t>
            </a:r>
          </a:p>
        </p:txBody>
      </p:sp>
      <p:sp>
        <p:nvSpPr>
          <p:cNvPr id="18" name="TextBox 17"/>
          <p:cNvSpPr txBox="1"/>
          <p:nvPr/>
        </p:nvSpPr>
        <p:spPr>
          <a:xfrm>
            <a:off x="4508500" y="5600700"/>
            <a:ext cx="3175000" cy="292100"/>
          </a:xfrm>
          <a:prstGeom prst="rect">
            <a:avLst/>
          </a:prstGeom>
          <a:noFill/>
        </p:spPr>
        <p:txBody>
          <a:bodyPr wrap="none" tIns="0" bIns="0" lIns="0" rIns="0">
            <a:spAutoFit/>
          </a:bodyPr>
          <a:lstStyle/>
          <a:p>
            <a:pPr>
              <a:lnSpc>
                <a:spcPct val="112000"/>
              </a:lnSpc>
              <a:spcBef>
                <a:spcPts val="0"/>
              </a:spcBef>
              <a:spcAft>
                <a:spcPts val="0"/>
              </a:spcAft>
              <a:defRPr sz="1400" b="0">
                <a:solidFill>
                  <a:srgbClr val="93451F"/>
                </a:solidFill>
                <a:latin typeface="Lato"/>
              </a:defRPr>
            </a:pPr>
            <a:r>
              <a:t>Model: Rousea sp.</a:t>
            </a:r>
          </a:p>
        </p:txBody>
      </p:sp>
      <p:sp>
        <p:nvSpPr>
          <p:cNvPr id="19" name="Rectangle 18"/>
          <p:cNvSpPr/>
          <p:nvPr/>
        </p:nvSpPr>
        <p:spPr>
          <a:xfrm>
            <a:off x="8077200" y="1968500"/>
            <a:ext cx="3530600" cy="394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error_2.png"/>
          <p:cNvPicPr>
            <a:picLocks noChangeAspect="1"/>
          </p:cNvPicPr>
          <p:nvPr/>
        </p:nvPicPr>
        <p:blipFill>
          <a:blip r:embed="rId4"/>
          <a:stretch>
            <a:fillRect/>
          </a:stretch>
        </p:blipFill>
        <p:spPr>
          <a:xfrm>
            <a:off x="8636000" y="2108200"/>
            <a:ext cx="2413000" cy="2413000"/>
          </a:xfrm>
          <a:prstGeom prst="rect">
            <a:avLst/>
          </a:prstGeom>
        </p:spPr>
      </p:pic>
      <p:sp>
        <p:nvSpPr>
          <p:cNvPr id="21" name="TextBox 20"/>
          <p:cNvSpPr txBox="1"/>
          <p:nvPr/>
        </p:nvSpPr>
        <p:spPr>
          <a:xfrm>
            <a:off x="8267700" y="4673600"/>
            <a:ext cx="3175000" cy="228600"/>
          </a:xfrm>
          <a:prstGeom prst="rect">
            <a:avLst/>
          </a:prstGeom>
          <a:noFill/>
        </p:spPr>
        <p:txBody>
          <a:bodyPr wrap="none" tIns="0" bIns="0" lIns="0" rIns="0">
            <a:spAutoFit/>
          </a:bodyPr>
          <a:lstStyle/>
          <a:p>
            <a:pPr>
              <a:lnSpc>
                <a:spcPct val="112000"/>
              </a:lnSpc>
              <a:spcBef>
                <a:spcPts val="0"/>
              </a:spcBef>
              <a:spcAft>
                <a:spcPts val="0"/>
              </a:spcAft>
              <a:defRPr sz="1000" b="1">
                <a:solidFill>
                  <a:srgbClr val="596477"/>
                </a:solidFill>
                <a:latin typeface="Lato"/>
              </a:defRPr>
            </a:pPr>
            <a:r>
              <a:t>EXPERT LABEL</a:t>
            </a:r>
          </a:p>
        </p:txBody>
      </p:sp>
      <p:sp>
        <p:nvSpPr>
          <p:cNvPr id="22" name="TextBox 21"/>
          <p:cNvSpPr txBox="1"/>
          <p:nvPr/>
        </p:nvSpPr>
        <p:spPr>
          <a:xfrm>
            <a:off x="8267700" y="4927600"/>
            <a:ext cx="3162300" cy="558800"/>
          </a:xfrm>
          <a:prstGeom prst="rect">
            <a:avLst/>
          </a:prstGeom>
          <a:noFill/>
        </p:spPr>
        <p:txBody>
          <a:bodyPr wrap="none" tIns="0" bIns="0" lIns="0" rIns="0">
            <a:spAutoFit/>
          </a:bodyPr>
          <a:lstStyle/>
          <a:p>
            <a:pPr>
              <a:lnSpc>
                <a:spcPct val="112000"/>
              </a:lnSpc>
              <a:spcBef>
                <a:spcPts val="0"/>
              </a:spcBef>
              <a:spcAft>
                <a:spcPts val="0"/>
              </a:spcAft>
              <a:defRPr sz="1700" b="1">
                <a:solidFill>
                  <a:srgbClr val="202D48"/>
                </a:solidFill>
                <a:latin typeface="Lato"/>
              </a:defRPr>
            </a:pPr>
            <a:r>
              <a:t>Monocolpites sp.</a:t>
            </a:r>
          </a:p>
        </p:txBody>
      </p:sp>
      <p:sp>
        <p:nvSpPr>
          <p:cNvPr id="23" name="TextBox 22"/>
          <p:cNvSpPr txBox="1"/>
          <p:nvPr/>
        </p:nvSpPr>
        <p:spPr>
          <a:xfrm>
            <a:off x="8267700" y="5600700"/>
            <a:ext cx="3175000" cy="292100"/>
          </a:xfrm>
          <a:prstGeom prst="rect">
            <a:avLst/>
          </a:prstGeom>
          <a:noFill/>
        </p:spPr>
        <p:txBody>
          <a:bodyPr wrap="none" tIns="0" bIns="0" lIns="0" rIns="0">
            <a:spAutoFit/>
          </a:bodyPr>
          <a:lstStyle/>
          <a:p>
            <a:pPr>
              <a:lnSpc>
                <a:spcPct val="112000"/>
              </a:lnSpc>
              <a:spcBef>
                <a:spcPts val="0"/>
              </a:spcBef>
              <a:spcAft>
                <a:spcPts val="0"/>
              </a:spcAft>
              <a:defRPr sz="1400" b="0">
                <a:solidFill>
                  <a:srgbClr val="93451F"/>
                </a:solidFill>
                <a:latin typeface="Lato"/>
              </a:defRPr>
            </a:pPr>
            <a:r>
              <a:t>Model: Arecipites sp.</a:t>
            </a:r>
          </a:p>
        </p:txBody>
      </p:sp>
      <p:sp>
        <p:nvSpPr>
          <p:cNvPr id="24" name="TextBox 23"/>
          <p:cNvSpPr txBox="1"/>
          <p:nvPr/>
        </p:nvSpPr>
        <p:spPr>
          <a:xfrm>
            <a:off x="558800" y="6057900"/>
            <a:ext cx="11150600" cy="279400"/>
          </a:xfrm>
          <a:prstGeom prst="rect">
            <a:avLst/>
          </a:prstGeom>
          <a:noFill/>
        </p:spPr>
        <p:txBody>
          <a:bodyPr wrap="none" tIns="0" bIns="0" lIns="0" rIns="0">
            <a:spAutoFit/>
          </a:bodyPr>
          <a:lstStyle/>
          <a:p>
            <a:pPr>
              <a:lnSpc>
                <a:spcPct val="112000"/>
              </a:lnSpc>
              <a:spcBef>
                <a:spcPts val="0"/>
              </a:spcBef>
              <a:spcAft>
                <a:spcPts val="0"/>
              </a:spcAft>
              <a:defRPr sz="1400" b="0">
                <a:solidFill>
                  <a:srgbClr val="596477"/>
                </a:solidFill>
                <a:latin typeface="Lato"/>
              </a:defRPr>
            </a:pPr>
            <a:r>
              <a:t>Selected validation mistakes—not proposed changes to the expert labels.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330200" cy="508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92100"/>
            <a:ext cx="10541000" cy="279400"/>
          </a:xfrm>
          <a:prstGeom prst="rect">
            <a:avLst/>
          </a:prstGeom>
          <a:noFill/>
        </p:spPr>
        <p:txBody>
          <a:bodyPr wrap="none" tIns="0" bIns="0" lIns="0" rIns="0">
            <a:spAutoFit/>
          </a:bodyPr>
          <a:lstStyle/>
          <a:p>
            <a:pPr>
              <a:lnSpc>
                <a:spcPct val="112000"/>
              </a:lnSpc>
              <a:spcBef>
                <a:spcPts val="0"/>
              </a:spcBef>
              <a:spcAft>
                <a:spcPts val="0"/>
              </a:spcAft>
              <a:defRPr sz="1100" b="1">
                <a:solidFill>
                  <a:srgbClr val="93451F"/>
                </a:solidFill>
                <a:latin typeface="Lato"/>
              </a:defRPr>
            </a:pPr>
            <a:r>
              <a:t>06 / DISCUSSION</a:t>
            </a:r>
          </a:p>
        </p:txBody>
      </p:sp>
      <p:sp>
        <p:nvSpPr>
          <p:cNvPr id="5" name="TextBox 4"/>
          <p:cNvSpPr txBox="1"/>
          <p:nvPr/>
        </p:nvSpPr>
        <p:spPr>
          <a:xfrm>
            <a:off x="533400" y="825500"/>
            <a:ext cx="11176000" cy="1117600"/>
          </a:xfrm>
          <a:prstGeom prst="rect">
            <a:avLst/>
          </a:prstGeom>
          <a:noFill/>
        </p:spPr>
        <p:txBody>
          <a:bodyPr wrap="none" tIns="0" bIns="0" lIns="0" rIns="0">
            <a:spAutoFit/>
          </a:bodyPr>
          <a:lstStyle/>
          <a:p>
            <a:pPr>
              <a:lnSpc>
                <a:spcPct val="112000"/>
              </a:lnSpc>
              <a:spcBef>
                <a:spcPts val="0"/>
              </a:spcBef>
              <a:spcAft>
                <a:spcPts val="0"/>
              </a:spcAft>
              <a:defRPr sz="3400" b="1">
                <a:solidFill>
                  <a:srgbClr val="202D48"/>
                </a:solidFill>
                <a:latin typeface="Lato"/>
              </a:defRPr>
            </a:pPr>
            <a:r>
              <a:t>Help us prioritize the next improvements</a:t>
            </a:r>
          </a:p>
        </p:txBody>
      </p:sp>
      <p:sp>
        <p:nvSpPr>
          <p:cNvPr id="6" name="Rectangle 5"/>
          <p:cNvSpPr/>
          <p:nvPr/>
        </p:nvSpPr>
        <p:spPr>
          <a:xfrm>
            <a:off x="533400" y="6413500"/>
            <a:ext cx="11125200" cy="127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3400" y="6578600"/>
            <a:ext cx="10160000" cy="177800"/>
          </a:xfrm>
          <a:prstGeom prst="rect">
            <a:avLst/>
          </a:prstGeom>
          <a:noFill/>
        </p:spPr>
        <p:txBody>
          <a:bodyPr wrap="none" tIns="0" bIns="0" lIns="0" rIns="0">
            <a:spAutoFit/>
          </a:bodyPr>
          <a:lstStyle/>
          <a:p>
            <a:pPr>
              <a:lnSpc>
                <a:spcPct val="112000"/>
              </a:lnSpc>
              <a:spcBef>
                <a:spcPts val="0"/>
              </a:spcBef>
              <a:spcAft>
                <a:spcPts val="0"/>
              </a:spcAft>
              <a:defRPr sz="900" b="0">
                <a:solidFill>
                  <a:srgbClr val="596477"/>
                </a:solidFill>
                <a:latin typeface="Lato"/>
              </a:defRPr>
            </a:pPr>
            <a:r>
              <a:t>SMITHSONIAN × RICE D2K  ·  CLASSIFICATION UPDATE</a:t>
            </a:r>
          </a:p>
        </p:txBody>
      </p:sp>
      <p:sp>
        <p:nvSpPr>
          <p:cNvPr id="8" name="TextBox 7"/>
          <p:cNvSpPr txBox="1"/>
          <p:nvPr/>
        </p:nvSpPr>
        <p:spPr>
          <a:xfrm>
            <a:off x="11430000" y="6565900"/>
            <a:ext cx="254000" cy="203200"/>
          </a:xfrm>
          <a:prstGeom prst="rect">
            <a:avLst/>
          </a:prstGeom>
          <a:noFill/>
        </p:spPr>
        <p:txBody>
          <a:bodyPr wrap="none" tIns="0" bIns="0" lIns="0" rIns="0">
            <a:spAutoFit/>
          </a:bodyPr>
          <a:lstStyle/>
          <a:p>
            <a:pPr>
              <a:lnSpc>
                <a:spcPct val="112000"/>
              </a:lnSpc>
              <a:spcBef>
                <a:spcPts val="0"/>
              </a:spcBef>
              <a:spcAft>
                <a:spcPts val="0"/>
              </a:spcAft>
              <a:defRPr sz="1000" b="0">
                <a:solidFill>
                  <a:srgbClr val="596477"/>
                </a:solidFill>
                <a:latin typeface="Lato"/>
              </a:defRPr>
            </a:pPr>
            <a:r>
              <a:t>6</a:t>
            </a:r>
          </a:p>
        </p:txBody>
      </p:sp>
      <p:sp>
        <p:nvSpPr>
          <p:cNvPr id="9" name="TextBox 8"/>
          <p:cNvSpPr txBox="1"/>
          <p:nvPr/>
        </p:nvSpPr>
        <p:spPr>
          <a:xfrm>
            <a:off x="584200" y="2070100"/>
            <a:ext cx="508000" cy="406400"/>
          </a:xfrm>
          <a:prstGeom prst="rect">
            <a:avLst/>
          </a:prstGeom>
          <a:noFill/>
        </p:spPr>
        <p:txBody>
          <a:bodyPr wrap="none" tIns="0" bIns="0" lIns="0" rIns="0">
            <a:spAutoFit/>
          </a:bodyPr>
          <a:lstStyle/>
          <a:p>
            <a:pPr>
              <a:lnSpc>
                <a:spcPct val="112000"/>
              </a:lnSpc>
              <a:spcBef>
                <a:spcPts val="0"/>
              </a:spcBef>
              <a:spcAft>
                <a:spcPts val="0"/>
              </a:spcAft>
              <a:defRPr sz="1900" b="1">
                <a:solidFill>
                  <a:srgbClr val="20786E"/>
                </a:solidFill>
                <a:latin typeface="Lato"/>
              </a:defRPr>
            </a:pPr>
            <a:r>
              <a:t>01</a:t>
            </a:r>
          </a:p>
        </p:txBody>
      </p:sp>
      <p:sp>
        <p:nvSpPr>
          <p:cNvPr id="10" name="TextBox 9"/>
          <p:cNvSpPr txBox="1"/>
          <p:nvPr/>
        </p:nvSpPr>
        <p:spPr>
          <a:xfrm>
            <a:off x="1270000" y="2070100"/>
            <a:ext cx="10274300" cy="508000"/>
          </a:xfrm>
          <a:prstGeom prst="rect">
            <a:avLst/>
          </a:prstGeom>
          <a:noFill/>
        </p:spPr>
        <p:txBody>
          <a:bodyPr wrap="none" tIns="0" bIns="0" lIns="0" rIns="0">
            <a:spAutoFit/>
          </a:bodyPr>
          <a:lstStyle/>
          <a:p>
            <a:pPr>
              <a:lnSpc>
                <a:spcPct val="112000"/>
              </a:lnSpc>
              <a:spcBef>
                <a:spcPts val="0"/>
              </a:spcBef>
              <a:spcAft>
                <a:spcPts val="0"/>
              </a:spcAft>
              <a:defRPr sz="2200" b="0">
                <a:solidFill>
                  <a:srgbClr val="202D48"/>
                </a:solidFill>
                <a:latin typeface="Lato"/>
              </a:defRPr>
            </a:pPr>
            <a:r>
              <a:t>Which category confusions matter most scientifically?</a:t>
            </a:r>
          </a:p>
        </p:txBody>
      </p:sp>
      <p:sp>
        <p:nvSpPr>
          <p:cNvPr id="11" name="TextBox 10"/>
          <p:cNvSpPr txBox="1"/>
          <p:nvPr/>
        </p:nvSpPr>
        <p:spPr>
          <a:xfrm>
            <a:off x="584200" y="2882900"/>
            <a:ext cx="508000" cy="406400"/>
          </a:xfrm>
          <a:prstGeom prst="rect">
            <a:avLst/>
          </a:prstGeom>
          <a:noFill/>
        </p:spPr>
        <p:txBody>
          <a:bodyPr wrap="none" tIns="0" bIns="0" lIns="0" rIns="0">
            <a:spAutoFit/>
          </a:bodyPr>
          <a:lstStyle/>
          <a:p>
            <a:pPr>
              <a:lnSpc>
                <a:spcPct val="112000"/>
              </a:lnSpc>
              <a:spcBef>
                <a:spcPts val="0"/>
              </a:spcBef>
              <a:spcAft>
                <a:spcPts val="0"/>
              </a:spcAft>
              <a:defRPr sz="1900" b="1">
                <a:solidFill>
                  <a:srgbClr val="20786E"/>
                </a:solidFill>
                <a:latin typeface="Lato"/>
              </a:defRPr>
            </a:pPr>
            <a:r>
              <a:t>02</a:t>
            </a:r>
          </a:p>
        </p:txBody>
      </p:sp>
      <p:sp>
        <p:nvSpPr>
          <p:cNvPr id="12" name="TextBox 11"/>
          <p:cNvSpPr txBox="1"/>
          <p:nvPr/>
        </p:nvSpPr>
        <p:spPr>
          <a:xfrm>
            <a:off x="1270000" y="2882900"/>
            <a:ext cx="10274300" cy="508000"/>
          </a:xfrm>
          <a:prstGeom prst="rect">
            <a:avLst/>
          </a:prstGeom>
          <a:noFill/>
        </p:spPr>
        <p:txBody>
          <a:bodyPr wrap="none" tIns="0" bIns="0" lIns="0" rIns="0">
            <a:spAutoFit/>
          </a:bodyPr>
          <a:lstStyle/>
          <a:p>
            <a:pPr>
              <a:lnSpc>
                <a:spcPct val="112000"/>
              </a:lnSpc>
              <a:spcBef>
                <a:spcPts val="0"/>
              </a:spcBef>
              <a:spcAft>
                <a:spcPts val="0"/>
              </a:spcAft>
              <a:defRPr sz="2200" b="0">
                <a:solidFill>
                  <a:srgbClr val="202D48"/>
                </a:solidFill>
                <a:latin typeface="Lato"/>
              </a:defRPr>
            </a:pPr>
            <a:r>
              <a:t>Which categories should we improve first?</a:t>
            </a:r>
          </a:p>
        </p:txBody>
      </p:sp>
      <p:sp>
        <p:nvSpPr>
          <p:cNvPr id="13" name="TextBox 12"/>
          <p:cNvSpPr txBox="1"/>
          <p:nvPr/>
        </p:nvSpPr>
        <p:spPr>
          <a:xfrm>
            <a:off x="584200" y="3695700"/>
            <a:ext cx="508000" cy="406400"/>
          </a:xfrm>
          <a:prstGeom prst="rect">
            <a:avLst/>
          </a:prstGeom>
          <a:noFill/>
        </p:spPr>
        <p:txBody>
          <a:bodyPr wrap="none" tIns="0" bIns="0" lIns="0" rIns="0">
            <a:spAutoFit/>
          </a:bodyPr>
          <a:lstStyle/>
          <a:p>
            <a:pPr>
              <a:lnSpc>
                <a:spcPct val="112000"/>
              </a:lnSpc>
              <a:spcBef>
                <a:spcPts val="0"/>
              </a:spcBef>
              <a:spcAft>
                <a:spcPts val="0"/>
              </a:spcAft>
              <a:defRPr sz="1900" b="1">
                <a:solidFill>
                  <a:srgbClr val="20786E"/>
                </a:solidFill>
                <a:latin typeface="Lato"/>
              </a:defRPr>
            </a:pPr>
            <a:r>
              <a:t>03</a:t>
            </a:r>
          </a:p>
        </p:txBody>
      </p:sp>
      <p:sp>
        <p:nvSpPr>
          <p:cNvPr id="14" name="TextBox 13"/>
          <p:cNvSpPr txBox="1"/>
          <p:nvPr/>
        </p:nvSpPr>
        <p:spPr>
          <a:xfrm>
            <a:off x="1270000" y="3695700"/>
            <a:ext cx="10274300" cy="508000"/>
          </a:xfrm>
          <a:prstGeom prst="rect">
            <a:avLst/>
          </a:prstGeom>
          <a:noFill/>
        </p:spPr>
        <p:txBody>
          <a:bodyPr wrap="none" tIns="0" bIns="0" lIns="0" rIns="0">
            <a:spAutoFit/>
          </a:bodyPr>
          <a:lstStyle/>
          <a:p>
            <a:pPr>
              <a:lnSpc>
                <a:spcPct val="112000"/>
              </a:lnSpc>
              <a:spcBef>
                <a:spcPts val="0"/>
              </a:spcBef>
              <a:spcAft>
                <a:spcPts val="0"/>
              </a:spcAft>
              <a:defRPr sz="2200" b="0">
                <a:solidFill>
                  <a:srgbClr val="202D48"/>
                </a:solidFill>
                <a:latin typeface="Lato"/>
              </a:defRPr>
            </a:pPr>
            <a:r>
              <a:t>Can we review a small set of confusing specimens together?</a:t>
            </a:r>
          </a:p>
        </p:txBody>
      </p:sp>
      <p:sp>
        <p:nvSpPr>
          <p:cNvPr id="15" name="TextBox 14"/>
          <p:cNvSpPr txBox="1"/>
          <p:nvPr/>
        </p:nvSpPr>
        <p:spPr>
          <a:xfrm>
            <a:off x="584200" y="4508500"/>
            <a:ext cx="508000" cy="406400"/>
          </a:xfrm>
          <a:prstGeom prst="rect">
            <a:avLst/>
          </a:prstGeom>
          <a:noFill/>
        </p:spPr>
        <p:txBody>
          <a:bodyPr wrap="none" tIns="0" bIns="0" lIns="0" rIns="0">
            <a:spAutoFit/>
          </a:bodyPr>
          <a:lstStyle/>
          <a:p>
            <a:pPr>
              <a:lnSpc>
                <a:spcPct val="112000"/>
              </a:lnSpc>
              <a:spcBef>
                <a:spcPts val="0"/>
              </a:spcBef>
              <a:spcAft>
                <a:spcPts val="0"/>
              </a:spcAft>
              <a:defRPr sz="1900" b="1">
                <a:solidFill>
                  <a:srgbClr val="20786E"/>
                </a:solidFill>
                <a:latin typeface="Lato"/>
              </a:defRPr>
            </a:pPr>
            <a:r>
              <a:t>04</a:t>
            </a:r>
          </a:p>
        </p:txBody>
      </p:sp>
      <p:sp>
        <p:nvSpPr>
          <p:cNvPr id="16" name="TextBox 15"/>
          <p:cNvSpPr txBox="1"/>
          <p:nvPr/>
        </p:nvSpPr>
        <p:spPr>
          <a:xfrm>
            <a:off x="1270000" y="4508500"/>
            <a:ext cx="10274300" cy="508000"/>
          </a:xfrm>
          <a:prstGeom prst="rect">
            <a:avLst/>
          </a:prstGeom>
          <a:noFill/>
        </p:spPr>
        <p:txBody>
          <a:bodyPr wrap="none" tIns="0" bIns="0" lIns="0" rIns="0">
            <a:spAutoFit/>
          </a:bodyPr>
          <a:lstStyle/>
          <a:p>
            <a:pPr>
              <a:lnSpc>
                <a:spcPct val="112000"/>
              </a:lnSpc>
              <a:spcBef>
                <a:spcPts val="0"/>
              </a:spcBef>
              <a:spcAft>
                <a:spcPts val="0"/>
              </a:spcAft>
              <a:defRPr sz="2200" b="0">
                <a:solidFill>
                  <a:srgbClr val="202D48"/>
                </a:solidFill>
                <a:latin typeface="Lato"/>
              </a:defRPr>
            </a:pPr>
            <a:r>
              <a:t>When is more than one focal view essential?</a:t>
            </a:r>
          </a:p>
        </p:txBody>
      </p:sp>
      <p:sp>
        <p:nvSpPr>
          <p:cNvPr id="17" name="Rectangle 16"/>
          <p:cNvSpPr/>
          <p:nvPr/>
        </p:nvSpPr>
        <p:spPr>
          <a:xfrm>
            <a:off x="558800" y="5562600"/>
            <a:ext cx="11099800" cy="622300"/>
          </a:xfrm>
          <a:prstGeom prst="rect">
            <a:avLst/>
          </a:prstGeom>
          <a:solidFill>
            <a:srgbClr val="E4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2000" y="5715000"/>
            <a:ext cx="10693400" cy="368300"/>
          </a:xfrm>
          <a:prstGeom prst="rect">
            <a:avLst/>
          </a:prstGeom>
          <a:noFill/>
        </p:spPr>
        <p:txBody>
          <a:bodyPr wrap="none" tIns="0" bIns="0" lIns="0" rIns="0">
            <a:spAutoFit/>
          </a:bodyPr>
          <a:lstStyle/>
          <a:p>
            <a:pPr>
              <a:lnSpc>
                <a:spcPct val="112000"/>
              </a:lnSpc>
              <a:spcBef>
                <a:spcPts val="0"/>
              </a:spcBef>
              <a:spcAft>
                <a:spcPts val="0"/>
              </a:spcAft>
              <a:defRPr sz="1900" b="1">
                <a:solidFill>
                  <a:srgbClr val="20786E"/>
                </a:solidFill>
                <a:latin typeface="Lato"/>
              </a:defRPr>
            </a:pPr>
            <a:r>
              <a:t>Next: expert error review → targeted improvements → final evaluation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