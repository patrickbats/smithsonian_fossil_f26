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25 seconds</a:t>
            </a:r>
          </a:p>
          <a:p/>
          <a:p>
            <a:r>
              <a:t>We’ve organized this update into two parts. First is the RF-DETR method, which aims to locate specimens and identify their categories together. Then we’ll cover the classifier backbones, which identify categories from prepared specimen crops. That classification experiment uses 2,283 specimens across 32 priority categories. The images here are real examples with expert labels.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0 seconds</a:t>
            </a:r>
          </a:p>
          <a:p/>
          <a:p>
            <a:r>
              <a:t>PLACEHOLDER — not a spoken script. RF-DETR team to add its method, progress and results. Allow approximately 60 seconds if the full presentation should stay near five minutes. No RF-DETR results are supplied or implied 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45 seconds</a:t>
            </a:r>
          </a:p>
          <a:p/>
          <a:p>
            <a:r>
              <a:t>The microscope scans show each specimen at several focal depths. On the left is the original view; on the right is a sharper view of the same specimen. We used a sharpness score to choose one plane for each crop. With the same Swin training settings, validation accuracy on unfamiliar slides increased from about 32 to 38 percent. This example illustrates the focus change; it doesn’t mean this particular specimen caused that improvement. We’d also like to know when identification requires features visible across several depths, rather than just one sharp image.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50 seconds</a:t>
            </a:r>
          </a:p>
          <a:p/>
          <a:p>
            <a:r>
              <a:t>We checked performance in two situations. In the unseen-slide experiment, all specimens from a slide stay together, so the model is checked on slides it hasn’t learned from. In the shared-slide experiment, it learns from some grains and is checked on other grains from the same slides. We never reuse the exact same specimen in both sets. Shared slides can have familiar staining and imaging conditions, so that is an easier situation. Both experiments have the same number of training and validation examples, but the actual examples differ. A separate final test set remains unused.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55 seconds</a:t>
            </a:r>
          </a:p>
          <a:p/>
          <a:p>
            <a:r>
              <a:t>Here are the classification results. Swin reached 38 percent on unseen slides and 66 percent with shared slides. DINO initially did worse when we kept its image-processing backbone fixed and trained only a small classifier. We then allowed the final part of DINO to adapt to our specimens. That reached about 44 percent on unseen slides and 70 percent with shared slides. Its category-averaged F1 score also improved. These are promising initial results, but they are single-run validation comparisons, not final test results. They measure identification of prepared crops, rather than the complete process of finding and classifying everything on a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45 seconds</a:t>
            </a:r>
          </a:p>
          <a:p/>
          <a:p>
            <a:r>
              <a:t>This shows the categories the adapted DINO model struggled with most on unfamiliar slides. Momipites wyomingensis was the clearest problem: none of its 21 validation specimens were identified correctly, and 18 were called Momipites instead. Polyatriopollenites, Bombacacidites, Ulmipollenites, Psilatricolpites and Arecipites also had low recovery. The counts on the right show how many examples each result is based on. We’ve limited this ranking to categories with at least five examples, since a result based on one or two specimens would be especially unreliable. These are the main categories to investigate next.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3302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92100"/>
            <a:ext cx="10541000" cy="279400"/>
          </a:xfrm>
          <a:prstGeom prst="rect">
            <a:avLst/>
          </a:prstGeom>
          <a:noFill/>
        </p:spPr>
        <p:txBody>
          <a:bodyPr wrap="none" tIns="0" bIns="0" lIns="0" rIns="0">
            <a:spAutoFit/>
          </a:bodyPr>
          <a:lstStyle/>
          <a:p>
            <a:pPr>
              <a:lnSpc>
                <a:spcPct val="112000"/>
              </a:lnSpc>
              <a:spcBef>
                <a:spcPts val="0"/>
              </a:spcBef>
              <a:spcAft>
                <a:spcPts val="0"/>
              </a:spcAft>
              <a:defRPr sz="1100" b="1">
                <a:solidFill>
                  <a:srgbClr val="93451F"/>
                </a:solidFill>
                <a:latin typeface="Lato"/>
              </a:defRPr>
            </a:pPr>
            <a:r>
              <a:t>01 / PROJECT UPDATE</a:t>
            </a:r>
          </a:p>
        </p:txBody>
      </p:sp>
      <p:sp>
        <p:nvSpPr>
          <p:cNvPr id="5" name="TextBox 4"/>
          <p:cNvSpPr txBox="1"/>
          <p:nvPr/>
        </p:nvSpPr>
        <p:spPr>
          <a:xfrm>
            <a:off x="533400" y="825500"/>
            <a:ext cx="11176000" cy="1117600"/>
          </a:xfrm>
          <a:prstGeom prst="rect">
            <a:avLst/>
          </a:prstGeom>
          <a:noFill/>
        </p:spPr>
        <p:txBody>
          <a:bodyPr wrap="none" tIns="0" bIns="0" lIns="0" rIns="0">
            <a:spAutoFit/>
          </a:bodyPr>
          <a:lstStyle/>
          <a:p>
            <a:pPr>
              <a:lnSpc>
                <a:spcPct val="112000"/>
              </a:lnSpc>
              <a:spcBef>
                <a:spcPts val="0"/>
              </a:spcBef>
              <a:spcAft>
                <a:spcPts val="0"/>
              </a:spcAft>
              <a:defRPr sz="3400" b="1">
                <a:solidFill>
                  <a:srgbClr val="202D48"/>
                </a:solidFill>
                <a:latin typeface="Lato"/>
              </a:defRPr>
            </a:pPr>
            <a:r>
              <a:t>Two approaches to identifying fossil pollen</a:t>
            </a:r>
          </a:p>
        </p:txBody>
      </p:sp>
      <p:sp>
        <p:nvSpPr>
          <p:cNvPr id="6" name="Rectangle 5"/>
          <p:cNvSpPr/>
          <p:nvPr/>
        </p:nvSpPr>
        <p:spPr>
          <a:xfrm>
            <a:off x="533400" y="6413500"/>
            <a:ext cx="11125200" cy="127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578600"/>
            <a:ext cx="10160000" cy="177800"/>
          </a:xfrm>
          <a:prstGeom prst="rect">
            <a:avLst/>
          </a:prstGeom>
          <a:noFill/>
        </p:spPr>
        <p:txBody>
          <a:bodyPr wrap="none" tIns="0" bIns="0" lIns="0" rIns="0">
            <a:spAutoFit/>
          </a:bodyPr>
          <a:lstStyle/>
          <a:p>
            <a:pPr>
              <a:lnSpc>
                <a:spcPct val="112000"/>
              </a:lnSpc>
              <a:spcBef>
                <a:spcPts val="0"/>
              </a:spcBef>
              <a:spcAft>
                <a:spcPts val="0"/>
              </a:spcAft>
              <a:defRPr sz="900" b="0">
                <a:solidFill>
                  <a:srgbClr val="596477"/>
                </a:solidFill>
                <a:latin typeface="Lato"/>
              </a:defRPr>
            </a:pPr>
            <a:r>
              <a:t>SMITHSONIAN × RICE D2K  ·  CLASSIFICATION UPDATE</a:t>
            </a:r>
          </a:p>
        </p:txBody>
      </p:sp>
      <p:sp>
        <p:nvSpPr>
          <p:cNvPr id="8" name="TextBox 7"/>
          <p:cNvSpPr txBox="1"/>
          <p:nvPr/>
        </p:nvSpPr>
        <p:spPr>
          <a:xfrm>
            <a:off x="11430000" y="6565900"/>
            <a:ext cx="254000" cy="203200"/>
          </a:xfrm>
          <a:prstGeom prst="rect">
            <a:avLst/>
          </a:prstGeom>
          <a:noFill/>
        </p:spPr>
        <p:txBody>
          <a:bodyPr wrap="none" tIns="0" bIns="0" lIns="0" rIns="0">
            <a:spAutoFit/>
          </a:bodyPr>
          <a:lstStyle/>
          <a:p>
            <a:pPr>
              <a:lnSpc>
                <a:spcPct val="112000"/>
              </a:lnSpc>
              <a:spcBef>
                <a:spcPts val="0"/>
              </a:spcBef>
              <a:spcAft>
                <a:spcPts val="0"/>
              </a:spcAft>
              <a:defRPr sz="1000" b="0">
                <a:solidFill>
                  <a:srgbClr val="596477"/>
                </a:solidFill>
                <a:latin typeface="Lato"/>
              </a:defRPr>
            </a:pPr>
            <a:r>
              <a:t>1</a:t>
            </a:r>
          </a:p>
        </p:txBody>
      </p:sp>
      <p:sp>
        <p:nvSpPr>
          <p:cNvPr id="9" name="TextBox 8"/>
          <p:cNvSpPr txBox="1"/>
          <p:nvPr/>
        </p:nvSpPr>
        <p:spPr>
          <a:xfrm>
            <a:off x="558800" y="1612900"/>
            <a:ext cx="10922000" cy="406400"/>
          </a:xfrm>
          <a:prstGeom prst="rect">
            <a:avLst/>
          </a:prstGeom>
          <a:noFill/>
        </p:spPr>
        <p:txBody>
          <a:bodyPr wrap="none" tIns="0" bIns="0" lIns="0" rIns="0">
            <a:spAutoFit/>
          </a:bodyPr>
          <a:lstStyle/>
          <a:p>
            <a:pPr>
              <a:lnSpc>
                <a:spcPct val="112000"/>
              </a:lnSpc>
              <a:spcBef>
                <a:spcPts val="0"/>
              </a:spcBef>
              <a:spcAft>
                <a:spcPts val="0"/>
              </a:spcAft>
              <a:defRPr sz="2100" b="0">
                <a:solidFill>
                  <a:srgbClr val="596477"/>
                </a:solidFill>
                <a:latin typeface="Lato"/>
              </a:defRPr>
            </a:pPr>
            <a:r>
              <a:t>RF-DETR method first · classifier backbones second</a:t>
            </a:r>
          </a:p>
        </p:txBody>
      </p:sp>
      <p:sp>
        <p:nvSpPr>
          <p:cNvPr id="10" name="Rectangle 9"/>
          <p:cNvSpPr/>
          <p:nvPr/>
        </p:nvSpPr>
        <p:spPr>
          <a:xfrm>
            <a:off x="558800" y="2451100"/>
            <a:ext cx="4749800" cy="127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300" y="2628900"/>
            <a:ext cx="508000" cy="368300"/>
          </a:xfrm>
          <a:prstGeom prst="rect">
            <a:avLst/>
          </a:prstGeom>
          <a:noFill/>
        </p:spPr>
        <p:txBody>
          <a:bodyPr wrap="none" tIns="0" bIns="0" lIns="0" rIns="0">
            <a:spAutoFit/>
          </a:bodyPr>
          <a:lstStyle/>
          <a:p>
            <a:pPr>
              <a:lnSpc>
                <a:spcPct val="112000"/>
              </a:lnSpc>
              <a:spcBef>
                <a:spcPts val="0"/>
              </a:spcBef>
              <a:spcAft>
                <a:spcPts val="0"/>
              </a:spcAft>
              <a:defRPr sz="1800" b="1">
                <a:solidFill>
                  <a:srgbClr val="20786E"/>
                </a:solidFill>
                <a:latin typeface="Lato"/>
              </a:defRPr>
            </a:pPr>
            <a:r>
              <a:t>01</a:t>
            </a:r>
          </a:p>
        </p:txBody>
      </p:sp>
      <p:sp>
        <p:nvSpPr>
          <p:cNvPr id="12" name="TextBox 11"/>
          <p:cNvSpPr txBox="1"/>
          <p:nvPr/>
        </p:nvSpPr>
        <p:spPr>
          <a:xfrm>
            <a:off x="1333500" y="2603500"/>
            <a:ext cx="3810000" cy="431800"/>
          </a:xfrm>
          <a:prstGeom prst="rect">
            <a:avLst/>
          </a:prstGeom>
          <a:noFill/>
        </p:spPr>
        <p:txBody>
          <a:bodyPr wrap="none" tIns="0" bIns="0" lIns="0" rIns="0">
            <a:spAutoFit/>
          </a:bodyPr>
          <a:lstStyle/>
          <a:p>
            <a:pPr>
              <a:lnSpc>
                <a:spcPct val="112000"/>
              </a:lnSpc>
              <a:spcBef>
                <a:spcPts val="0"/>
              </a:spcBef>
              <a:spcAft>
                <a:spcPts val="0"/>
              </a:spcAft>
              <a:defRPr sz="2400" b="1">
                <a:solidFill>
                  <a:srgbClr val="202D48"/>
                </a:solidFill>
                <a:latin typeface="Lato"/>
              </a:defRPr>
            </a:pPr>
            <a:r>
              <a:t>RF-DETR</a:t>
            </a:r>
          </a:p>
        </p:txBody>
      </p:sp>
      <p:sp>
        <p:nvSpPr>
          <p:cNvPr id="13" name="TextBox 12"/>
          <p:cNvSpPr txBox="1"/>
          <p:nvPr/>
        </p:nvSpPr>
        <p:spPr>
          <a:xfrm>
            <a:off x="749300" y="3238500"/>
            <a:ext cx="43688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596477"/>
                </a:solidFill>
                <a:latin typeface="Lato"/>
              </a:defRPr>
            </a:pPr>
            <a:r>
              <a:t>Find specimens and identify categories.</a:t>
            </a:r>
          </a:p>
        </p:txBody>
      </p:sp>
      <p:sp>
        <p:nvSpPr>
          <p:cNvPr id="14" name="Rectangle 13"/>
          <p:cNvSpPr/>
          <p:nvPr/>
        </p:nvSpPr>
        <p:spPr>
          <a:xfrm>
            <a:off x="558800" y="4013200"/>
            <a:ext cx="4749800" cy="127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300" y="4191000"/>
            <a:ext cx="508000" cy="368300"/>
          </a:xfrm>
          <a:prstGeom prst="rect">
            <a:avLst/>
          </a:prstGeom>
          <a:noFill/>
        </p:spPr>
        <p:txBody>
          <a:bodyPr wrap="none" tIns="0" bIns="0" lIns="0" rIns="0">
            <a:spAutoFit/>
          </a:bodyPr>
          <a:lstStyle/>
          <a:p>
            <a:pPr>
              <a:lnSpc>
                <a:spcPct val="112000"/>
              </a:lnSpc>
              <a:spcBef>
                <a:spcPts val="0"/>
              </a:spcBef>
              <a:spcAft>
                <a:spcPts val="0"/>
              </a:spcAft>
              <a:defRPr sz="1800" b="1">
                <a:solidFill>
                  <a:srgbClr val="20786E"/>
                </a:solidFill>
                <a:latin typeface="Lato"/>
              </a:defRPr>
            </a:pPr>
            <a:r>
              <a:t>02</a:t>
            </a:r>
          </a:p>
        </p:txBody>
      </p:sp>
      <p:sp>
        <p:nvSpPr>
          <p:cNvPr id="16" name="TextBox 15"/>
          <p:cNvSpPr txBox="1"/>
          <p:nvPr/>
        </p:nvSpPr>
        <p:spPr>
          <a:xfrm>
            <a:off x="1333500" y="4165600"/>
            <a:ext cx="3810000" cy="431800"/>
          </a:xfrm>
          <a:prstGeom prst="rect">
            <a:avLst/>
          </a:prstGeom>
          <a:noFill/>
        </p:spPr>
        <p:txBody>
          <a:bodyPr wrap="none" tIns="0" bIns="0" lIns="0" rIns="0">
            <a:spAutoFit/>
          </a:bodyPr>
          <a:lstStyle/>
          <a:p>
            <a:pPr>
              <a:lnSpc>
                <a:spcPct val="112000"/>
              </a:lnSpc>
              <a:spcBef>
                <a:spcPts val="0"/>
              </a:spcBef>
              <a:spcAft>
                <a:spcPts val="0"/>
              </a:spcAft>
              <a:defRPr sz="2400" b="1">
                <a:solidFill>
                  <a:srgbClr val="202D48"/>
                </a:solidFill>
                <a:latin typeface="Lato"/>
              </a:defRPr>
            </a:pPr>
            <a:r>
              <a:t>Classifier backbones</a:t>
            </a:r>
          </a:p>
        </p:txBody>
      </p:sp>
      <p:sp>
        <p:nvSpPr>
          <p:cNvPr id="17" name="TextBox 16"/>
          <p:cNvSpPr txBox="1"/>
          <p:nvPr/>
        </p:nvSpPr>
        <p:spPr>
          <a:xfrm>
            <a:off x="749300" y="4800600"/>
            <a:ext cx="43688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596477"/>
                </a:solidFill>
                <a:latin typeface="Lato"/>
              </a:defRPr>
            </a:pPr>
            <a:r>
              <a:t>Identify categories from specimen crops.</a:t>
            </a:r>
          </a:p>
        </p:txBody>
      </p:sp>
      <p:sp>
        <p:nvSpPr>
          <p:cNvPr id="18" name="Rectangle 17"/>
          <p:cNvSpPr/>
          <p:nvPr/>
        </p:nvSpPr>
        <p:spPr>
          <a:xfrm>
            <a:off x="5765800" y="2717800"/>
            <a:ext cx="1841500" cy="241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hero_0.png"/>
          <p:cNvPicPr>
            <a:picLocks noChangeAspect="1"/>
          </p:cNvPicPr>
          <p:nvPr/>
        </p:nvPicPr>
        <p:blipFill>
          <a:blip r:embed="rId2"/>
          <a:stretch>
            <a:fillRect/>
          </a:stretch>
        </p:blipFill>
        <p:spPr>
          <a:xfrm>
            <a:off x="5842000" y="2870200"/>
            <a:ext cx="1689100" cy="1689100"/>
          </a:xfrm>
          <a:prstGeom prst="rect">
            <a:avLst/>
          </a:prstGeom>
        </p:spPr>
      </p:pic>
      <p:sp>
        <p:nvSpPr>
          <p:cNvPr id="20" name="TextBox 19"/>
          <p:cNvSpPr txBox="1"/>
          <p:nvPr/>
        </p:nvSpPr>
        <p:spPr>
          <a:xfrm>
            <a:off x="5854700" y="4749800"/>
            <a:ext cx="1765300" cy="330200"/>
          </a:xfrm>
          <a:prstGeom prst="rect">
            <a:avLst/>
          </a:prstGeom>
          <a:noFill/>
        </p:spPr>
        <p:txBody>
          <a:bodyPr wrap="none" tIns="0" bIns="0" lIns="0" rIns="0">
            <a:spAutoFit/>
          </a:bodyPr>
          <a:lstStyle/>
          <a:p>
            <a:pPr>
              <a:lnSpc>
                <a:spcPct val="112000"/>
              </a:lnSpc>
              <a:spcBef>
                <a:spcPts val="0"/>
              </a:spcBef>
              <a:spcAft>
                <a:spcPts val="0"/>
              </a:spcAft>
              <a:defRPr sz="1100" b="0">
                <a:solidFill>
                  <a:srgbClr val="596477"/>
                </a:solidFill>
                <a:latin typeface="Lato"/>
              </a:defRPr>
            </a:pPr>
            <a:r>
              <a:t>Bisaccate</a:t>
            </a:r>
          </a:p>
        </p:txBody>
      </p:sp>
      <p:sp>
        <p:nvSpPr>
          <p:cNvPr id="21" name="Rectangle 20"/>
          <p:cNvSpPr/>
          <p:nvPr/>
        </p:nvSpPr>
        <p:spPr>
          <a:xfrm>
            <a:off x="7734300" y="2717800"/>
            <a:ext cx="1841500" cy="241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hero_1.png"/>
          <p:cNvPicPr>
            <a:picLocks noChangeAspect="1"/>
          </p:cNvPicPr>
          <p:nvPr/>
        </p:nvPicPr>
        <p:blipFill>
          <a:blip r:embed="rId3"/>
          <a:stretch>
            <a:fillRect/>
          </a:stretch>
        </p:blipFill>
        <p:spPr>
          <a:xfrm>
            <a:off x="7810500" y="2870200"/>
            <a:ext cx="1689100" cy="1689100"/>
          </a:xfrm>
          <a:prstGeom prst="rect">
            <a:avLst/>
          </a:prstGeom>
        </p:spPr>
      </p:pic>
      <p:sp>
        <p:nvSpPr>
          <p:cNvPr id="23" name="TextBox 22"/>
          <p:cNvSpPr txBox="1"/>
          <p:nvPr/>
        </p:nvSpPr>
        <p:spPr>
          <a:xfrm>
            <a:off x="7823200" y="4749800"/>
            <a:ext cx="1765300" cy="330200"/>
          </a:xfrm>
          <a:prstGeom prst="rect">
            <a:avLst/>
          </a:prstGeom>
          <a:noFill/>
        </p:spPr>
        <p:txBody>
          <a:bodyPr wrap="none" tIns="0" bIns="0" lIns="0" rIns="0">
            <a:spAutoFit/>
          </a:bodyPr>
          <a:lstStyle/>
          <a:p>
            <a:pPr>
              <a:lnSpc>
                <a:spcPct val="112000"/>
              </a:lnSpc>
              <a:spcBef>
                <a:spcPts val="0"/>
              </a:spcBef>
              <a:spcAft>
                <a:spcPts val="0"/>
              </a:spcAft>
              <a:defRPr sz="1100" b="0">
                <a:solidFill>
                  <a:srgbClr val="596477"/>
                </a:solidFill>
                <a:latin typeface="Lato"/>
              </a:defRPr>
            </a:pPr>
            <a:r>
              <a:t>Bombacacidites sp.</a:t>
            </a:r>
          </a:p>
        </p:txBody>
      </p:sp>
      <p:sp>
        <p:nvSpPr>
          <p:cNvPr id="24" name="Rectangle 23"/>
          <p:cNvSpPr/>
          <p:nvPr/>
        </p:nvSpPr>
        <p:spPr>
          <a:xfrm>
            <a:off x="9702800" y="2717800"/>
            <a:ext cx="1841500" cy="241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hero_2.png"/>
          <p:cNvPicPr>
            <a:picLocks noChangeAspect="1"/>
          </p:cNvPicPr>
          <p:nvPr/>
        </p:nvPicPr>
        <p:blipFill>
          <a:blip r:embed="rId4"/>
          <a:stretch>
            <a:fillRect/>
          </a:stretch>
        </p:blipFill>
        <p:spPr>
          <a:xfrm>
            <a:off x="9779000" y="2870200"/>
            <a:ext cx="1689100" cy="1689100"/>
          </a:xfrm>
          <a:prstGeom prst="rect">
            <a:avLst/>
          </a:prstGeom>
        </p:spPr>
      </p:pic>
      <p:sp>
        <p:nvSpPr>
          <p:cNvPr id="26" name="TextBox 25"/>
          <p:cNvSpPr txBox="1"/>
          <p:nvPr/>
        </p:nvSpPr>
        <p:spPr>
          <a:xfrm>
            <a:off x="9791700" y="4749800"/>
            <a:ext cx="1765300" cy="330200"/>
          </a:xfrm>
          <a:prstGeom prst="rect">
            <a:avLst/>
          </a:prstGeom>
          <a:noFill/>
        </p:spPr>
        <p:txBody>
          <a:bodyPr wrap="none" tIns="0" bIns="0" lIns="0" rIns="0">
            <a:spAutoFit/>
          </a:bodyPr>
          <a:lstStyle/>
          <a:p>
            <a:pPr>
              <a:lnSpc>
                <a:spcPct val="112000"/>
              </a:lnSpc>
              <a:spcBef>
                <a:spcPts val="0"/>
              </a:spcBef>
              <a:spcAft>
                <a:spcPts val="0"/>
              </a:spcAft>
              <a:defRPr sz="1100" b="0">
                <a:solidFill>
                  <a:srgbClr val="596477"/>
                </a:solidFill>
                <a:latin typeface="Lato"/>
              </a:defRPr>
            </a:pPr>
            <a:r>
              <a:t>Arecipites sp.</a:t>
            </a:r>
          </a:p>
        </p:txBody>
      </p:sp>
      <p:sp>
        <p:nvSpPr>
          <p:cNvPr id="27" name="TextBox 26"/>
          <p:cNvSpPr txBox="1"/>
          <p:nvPr/>
        </p:nvSpPr>
        <p:spPr>
          <a:xfrm>
            <a:off x="558800" y="5715000"/>
            <a:ext cx="11023600" cy="368300"/>
          </a:xfrm>
          <a:prstGeom prst="rect">
            <a:avLst/>
          </a:prstGeom>
          <a:noFill/>
        </p:spPr>
        <p:txBody>
          <a:bodyPr wrap="none" tIns="0" bIns="0" lIns="0" rIns="0">
            <a:spAutoFit/>
          </a:bodyPr>
          <a:lstStyle/>
          <a:p>
            <a:pPr>
              <a:lnSpc>
                <a:spcPct val="112000"/>
              </a:lnSpc>
              <a:spcBef>
                <a:spcPts val="0"/>
              </a:spcBef>
              <a:spcAft>
                <a:spcPts val="0"/>
              </a:spcAft>
              <a:defRPr sz="1800" b="1">
                <a:solidFill>
                  <a:srgbClr val="20786E"/>
                </a:solidFill>
                <a:latin typeface="Lato"/>
              </a:defRPr>
            </a:pPr>
            <a:r>
              <a:t>Classification dataset: 2,283 specimens · 32 priority categories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3302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92100"/>
            <a:ext cx="10541000" cy="279400"/>
          </a:xfrm>
          <a:prstGeom prst="rect">
            <a:avLst/>
          </a:prstGeom>
          <a:noFill/>
        </p:spPr>
        <p:txBody>
          <a:bodyPr wrap="none" tIns="0" bIns="0" lIns="0" rIns="0">
            <a:spAutoFit/>
          </a:bodyPr>
          <a:lstStyle/>
          <a:p>
            <a:pPr>
              <a:lnSpc>
                <a:spcPct val="112000"/>
              </a:lnSpc>
              <a:spcBef>
                <a:spcPts val="0"/>
              </a:spcBef>
              <a:spcAft>
                <a:spcPts val="0"/>
              </a:spcAft>
              <a:defRPr sz="1100" b="1">
                <a:solidFill>
                  <a:srgbClr val="93451F"/>
                </a:solidFill>
                <a:latin typeface="Lato"/>
              </a:defRPr>
            </a:pPr>
            <a:r>
              <a:t>02 / SECTION 01 · RF-DETR</a:t>
            </a:r>
          </a:p>
        </p:txBody>
      </p:sp>
      <p:sp>
        <p:nvSpPr>
          <p:cNvPr id="5" name="TextBox 4"/>
          <p:cNvSpPr txBox="1"/>
          <p:nvPr/>
        </p:nvSpPr>
        <p:spPr>
          <a:xfrm>
            <a:off x="533400" y="825500"/>
            <a:ext cx="11176000" cy="1117600"/>
          </a:xfrm>
          <a:prstGeom prst="rect">
            <a:avLst/>
          </a:prstGeom>
          <a:noFill/>
        </p:spPr>
        <p:txBody>
          <a:bodyPr wrap="none" tIns="0" bIns="0" lIns="0" rIns="0">
            <a:spAutoFit/>
          </a:bodyPr>
          <a:lstStyle/>
          <a:p>
            <a:pPr>
              <a:lnSpc>
                <a:spcPct val="112000"/>
              </a:lnSpc>
              <a:spcBef>
                <a:spcPts val="0"/>
              </a:spcBef>
              <a:spcAft>
                <a:spcPts val="0"/>
              </a:spcAft>
              <a:defRPr sz="3400" b="1">
                <a:solidFill>
                  <a:srgbClr val="202D48"/>
                </a:solidFill>
                <a:latin typeface="Lato"/>
              </a:defRPr>
            </a:pPr>
            <a:r>
              <a:t>RF-DETR: detection and category identification</a:t>
            </a:r>
          </a:p>
        </p:txBody>
      </p:sp>
      <p:sp>
        <p:nvSpPr>
          <p:cNvPr id="6" name="Rectangle 5"/>
          <p:cNvSpPr/>
          <p:nvPr/>
        </p:nvSpPr>
        <p:spPr>
          <a:xfrm>
            <a:off x="533400" y="6413500"/>
            <a:ext cx="11125200" cy="127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578600"/>
            <a:ext cx="10160000" cy="177800"/>
          </a:xfrm>
          <a:prstGeom prst="rect">
            <a:avLst/>
          </a:prstGeom>
          <a:noFill/>
        </p:spPr>
        <p:txBody>
          <a:bodyPr wrap="none" tIns="0" bIns="0" lIns="0" rIns="0">
            <a:spAutoFit/>
          </a:bodyPr>
          <a:lstStyle/>
          <a:p>
            <a:pPr>
              <a:lnSpc>
                <a:spcPct val="112000"/>
              </a:lnSpc>
              <a:spcBef>
                <a:spcPts val="0"/>
              </a:spcBef>
              <a:spcAft>
                <a:spcPts val="0"/>
              </a:spcAft>
              <a:defRPr sz="900" b="0">
                <a:solidFill>
                  <a:srgbClr val="596477"/>
                </a:solidFill>
                <a:latin typeface="Lato"/>
              </a:defRPr>
            </a:pPr>
            <a:r>
              <a:t>SMITHSONIAN × RICE D2K  ·  CLASSIFICATION UPDATE</a:t>
            </a:r>
          </a:p>
        </p:txBody>
      </p:sp>
      <p:sp>
        <p:nvSpPr>
          <p:cNvPr id="8" name="TextBox 7"/>
          <p:cNvSpPr txBox="1"/>
          <p:nvPr/>
        </p:nvSpPr>
        <p:spPr>
          <a:xfrm>
            <a:off x="11430000" y="6565900"/>
            <a:ext cx="254000" cy="203200"/>
          </a:xfrm>
          <a:prstGeom prst="rect">
            <a:avLst/>
          </a:prstGeom>
          <a:noFill/>
        </p:spPr>
        <p:txBody>
          <a:bodyPr wrap="none" tIns="0" bIns="0" lIns="0" rIns="0">
            <a:spAutoFit/>
          </a:bodyPr>
          <a:lstStyle/>
          <a:p>
            <a:pPr>
              <a:lnSpc>
                <a:spcPct val="112000"/>
              </a:lnSpc>
              <a:spcBef>
                <a:spcPts val="0"/>
              </a:spcBef>
              <a:spcAft>
                <a:spcPts val="0"/>
              </a:spcAft>
              <a:defRPr sz="1000" b="0">
                <a:solidFill>
                  <a:srgbClr val="596477"/>
                </a:solidFill>
                <a:latin typeface="Lato"/>
              </a:defRPr>
            </a:pPr>
            <a:r>
              <a:t>2</a:t>
            </a:r>
          </a:p>
        </p:txBody>
      </p:sp>
      <p:sp>
        <p:nvSpPr>
          <p:cNvPr id="9" name="Rectangle 8"/>
          <p:cNvSpPr/>
          <p:nvPr/>
        </p:nvSpPr>
        <p:spPr>
          <a:xfrm>
            <a:off x="558800" y="2374900"/>
            <a:ext cx="11099800" cy="2819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3300" y="3390900"/>
            <a:ext cx="10160000" cy="609600"/>
          </a:xfrm>
          <a:prstGeom prst="rect">
            <a:avLst/>
          </a:prstGeom>
          <a:noFill/>
        </p:spPr>
        <p:txBody>
          <a:bodyPr wrap="none" tIns="0" bIns="0" lIns="0" rIns="0">
            <a:spAutoFit/>
          </a:bodyPr>
          <a:lstStyle/>
          <a:p>
            <a:pPr>
              <a:lnSpc>
                <a:spcPct val="112000"/>
              </a:lnSpc>
              <a:spcBef>
                <a:spcPts val="0"/>
              </a:spcBef>
              <a:spcAft>
                <a:spcPts val="0"/>
              </a:spcAft>
              <a:defRPr sz="3200" b="1">
                <a:solidFill>
                  <a:srgbClr val="596477"/>
                </a:solidFill>
                <a:latin typeface="Lato"/>
              </a:defRPr>
            </a:pPr>
            <a:r>
              <a:t>RF-DETR team update</a:t>
            </a:r>
          </a:p>
        </p:txBody>
      </p:sp>
      <p:sp>
        <p:nvSpPr>
          <p:cNvPr id="11" name="TextBox 10"/>
          <p:cNvSpPr txBox="1"/>
          <p:nvPr/>
        </p:nvSpPr>
        <p:spPr>
          <a:xfrm>
            <a:off x="1003300" y="4178300"/>
            <a:ext cx="10160000" cy="381000"/>
          </a:xfrm>
          <a:prstGeom prst="rect">
            <a:avLst/>
          </a:prstGeom>
          <a:noFill/>
        </p:spPr>
        <p:txBody>
          <a:bodyPr wrap="none" tIns="0" bIns="0" lIns="0" rIns="0">
            <a:spAutoFit/>
          </a:bodyPr>
          <a:lstStyle/>
          <a:p>
            <a:pPr>
              <a:lnSpc>
                <a:spcPct val="112000"/>
              </a:lnSpc>
              <a:spcBef>
                <a:spcPts val="0"/>
              </a:spcBef>
              <a:spcAft>
                <a:spcPts val="0"/>
              </a:spcAft>
              <a:defRPr sz="2000" b="0">
                <a:solidFill>
                  <a:srgbClr val="596477"/>
                </a:solidFill>
                <a:latin typeface="Lato"/>
              </a:defRPr>
            </a:pPr>
            <a:r>
              <a:t>Placeholder · content to be added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3302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92100"/>
            <a:ext cx="10541000" cy="279400"/>
          </a:xfrm>
          <a:prstGeom prst="rect">
            <a:avLst/>
          </a:prstGeom>
          <a:noFill/>
        </p:spPr>
        <p:txBody>
          <a:bodyPr wrap="none" tIns="0" bIns="0" lIns="0" rIns="0">
            <a:spAutoFit/>
          </a:bodyPr>
          <a:lstStyle/>
          <a:p>
            <a:pPr>
              <a:lnSpc>
                <a:spcPct val="112000"/>
              </a:lnSpc>
              <a:spcBef>
                <a:spcPts val="0"/>
              </a:spcBef>
              <a:spcAft>
                <a:spcPts val="0"/>
              </a:spcAft>
              <a:defRPr sz="1100" b="1">
                <a:solidFill>
                  <a:srgbClr val="93451F"/>
                </a:solidFill>
                <a:latin typeface="Lato"/>
              </a:defRPr>
            </a:pPr>
            <a:r>
              <a:t>03 / SECTION 02 · CLASSIFIER BACKBONES / FOCUS</a:t>
            </a:r>
          </a:p>
        </p:txBody>
      </p:sp>
      <p:sp>
        <p:nvSpPr>
          <p:cNvPr id="5" name="TextBox 4"/>
          <p:cNvSpPr txBox="1"/>
          <p:nvPr/>
        </p:nvSpPr>
        <p:spPr>
          <a:xfrm>
            <a:off x="533400" y="825500"/>
            <a:ext cx="11176000" cy="1117600"/>
          </a:xfrm>
          <a:prstGeom prst="rect">
            <a:avLst/>
          </a:prstGeom>
          <a:noFill/>
        </p:spPr>
        <p:txBody>
          <a:bodyPr wrap="none" tIns="0" bIns="0" lIns="0" rIns="0">
            <a:spAutoFit/>
          </a:bodyPr>
          <a:lstStyle/>
          <a:p>
            <a:pPr>
              <a:lnSpc>
                <a:spcPct val="112000"/>
              </a:lnSpc>
              <a:spcBef>
                <a:spcPts val="0"/>
              </a:spcBef>
              <a:spcAft>
                <a:spcPts val="0"/>
              </a:spcAft>
              <a:defRPr sz="3400" b="1">
                <a:solidFill>
                  <a:srgbClr val="202D48"/>
                </a:solidFill>
                <a:latin typeface="Lato"/>
              </a:defRPr>
            </a:pPr>
            <a:r>
              <a:t>A clearer view helps the model identify pollen</a:t>
            </a:r>
          </a:p>
        </p:txBody>
      </p:sp>
      <p:sp>
        <p:nvSpPr>
          <p:cNvPr id="6" name="Rectangle 5"/>
          <p:cNvSpPr/>
          <p:nvPr/>
        </p:nvSpPr>
        <p:spPr>
          <a:xfrm>
            <a:off x="533400" y="6413500"/>
            <a:ext cx="11125200" cy="127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578600"/>
            <a:ext cx="10160000" cy="177800"/>
          </a:xfrm>
          <a:prstGeom prst="rect">
            <a:avLst/>
          </a:prstGeom>
          <a:noFill/>
        </p:spPr>
        <p:txBody>
          <a:bodyPr wrap="none" tIns="0" bIns="0" lIns="0" rIns="0">
            <a:spAutoFit/>
          </a:bodyPr>
          <a:lstStyle/>
          <a:p>
            <a:pPr>
              <a:lnSpc>
                <a:spcPct val="112000"/>
              </a:lnSpc>
              <a:spcBef>
                <a:spcPts val="0"/>
              </a:spcBef>
              <a:spcAft>
                <a:spcPts val="0"/>
              </a:spcAft>
              <a:defRPr sz="900" b="0">
                <a:solidFill>
                  <a:srgbClr val="596477"/>
                </a:solidFill>
                <a:latin typeface="Lato"/>
              </a:defRPr>
            </a:pPr>
            <a:r>
              <a:t>SMITHSONIAN × RICE D2K  ·  CLASSIFICATION UPDATE</a:t>
            </a:r>
          </a:p>
        </p:txBody>
      </p:sp>
      <p:sp>
        <p:nvSpPr>
          <p:cNvPr id="8" name="TextBox 7"/>
          <p:cNvSpPr txBox="1"/>
          <p:nvPr/>
        </p:nvSpPr>
        <p:spPr>
          <a:xfrm>
            <a:off x="11430000" y="6565900"/>
            <a:ext cx="254000" cy="203200"/>
          </a:xfrm>
          <a:prstGeom prst="rect">
            <a:avLst/>
          </a:prstGeom>
          <a:noFill/>
        </p:spPr>
        <p:txBody>
          <a:bodyPr wrap="none" tIns="0" bIns="0" lIns="0" rIns="0">
            <a:spAutoFit/>
          </a:bodyPr>
          <a:lstStyle/>
          <a:p>
            <a:pPr>
              <a:lnSpc>
                <a:spcPct val="112000"/>
              </a:lnSpc>
              <a:spcBef>
                <a:spcPts val="0"/>
              </a:spcBef>
              <a:spcAft>
                <a:spcPts val="0"/>
              </a:spcAft>
              <a:defRPr sz="1000" b="0">
                <a:solidFill>
                  <a:srgbClr val="596477"/>
                </a:solidFill>
                <a:latin typeface="Lato"/>
              </a:defRPr>
            </a:pPr>
            <a:r>
              <a:t>3</a:t>
            </a:r>
          </a:p>
        </p:txBody>
      </p:sp>
      <p:sp>
        <p:nvSpPr>
          <p:cNvPr id="9" name="TextBox 8"/>
          <p:cNvSpPr txBox="1"/>
          <p:nvPr/>
        </p:nvSpPr>
        <p:spPr>
          <a:xfrm>
            <a:off x="558800" y="2006600"/>
            <a:ext cx="3149600" cy="381000"/>
          </a:xfrm>
          <a:prstGeom prst="rect">
            <a:avLst/>
          </a:prstGeom>
          <a:noFill/>
        </p:spPr>
        <p:txBody>
          <a:bodyPr wrap="none" tIns="0" bIns="0" lIns="0" rIns="0">
            <a:spAutoFit/>
          </a:bodyPr>
          <a:lstStyle/>
          <a:p>
            <a:pPr>
              <a:lnSpc>
                <a:spcPct val="112000"/>
              </a:lnSpc>
              <a:spcBef>
                <a:spcPts val="0"/>
              </a:spcBef>
              <a:spcAft>
                <a:spcPts val="0"/>
              </a:spcAft>
              <a:defRPr sz="1800" b="1">
                <a:solidFill>
                  <a:srgbClr val="202D48"/>
                </a:solidFill>
                <a:latin typeface="Lato"/>
              </a:defRPr>
            </a:pPr>
            <a:r>
              <a:t>Original focal plane</a:t>
            </a:r>
          </a:p>
        </p:txBody>
      </p:sp>
      <p:pic>
        <p:nvPicPr>
          <p:cNvPr id="10" name="Picture 9" descr="focus_before.png"/>
          <p:cNvPicPr>
            <a:picLocks noChangeAspect="1"/>
          </p:cNvPicPr>
          <p:nvPr/>
        </p:nvPicPr>
        <p:blipFill>
          <a:blip r:embed="rId2"/>
          <a:stretch>
            <a:fillRect/>
          </a:stretch>
        </p:blipFill>
        <p:spPr>
          <a:xfrm>
            <a:off x="558800" y="2514600"/>
            <a:ext cx="2921000" cy="2921000"/>
          </a:xfrm>
          <a:prstGeom prst="rect">
            <a:avLst/>
          </a:prstGeom>
        </p:spPr>
      </p:pic>
      <p:sp>
        <p:nvSpPr>
          <p:cNvPr id="11" name="TextBox 10"/>
          <p:cNvSpPr txBox="1"/>
          <p:nvPr/>
        </p:nvSpPr>
        <p:spPr>
          <a:xfrm>
            <a:off x="3835400" y="2006600"/>
            <a:ext cx="3149600" cy="381000"/>
          </a:xfrm>
          <a:prstGeom prst="rect">
            <a:avLst/>
          </a:prstGeom>
          <a:noFill/>
        </p:spPr>
        <p:txBody>
          <a:bodyPr wrap="none" tIns="0" bIns="0" lIns="0" rIns="0">
            <a:spAutoFit/>
          </a:bodyPr>
          <a:lstStyle/>
          <a:p>
            <a:pPr>
              <a:lnSpc>
                <a:spcPct val="112000"/>
              </a:lnSpc>
              <a:spcBef>
                <a:spcPts val="0"/>
              </a:spcBef>
              <a:spcAft>
                <a:spcPts val="0"/>
              </a:spcAft>
              <a:defRPr sz="1800" b="1">
                <a:solidFill>
                  <a:srgbClr val="202D48"/>
                </a:solidFill>
                <a:latin typeface="Lato"/>
              </a:defRPr>
            </a:pPr>
            <a:r>
              <a:t>Selected sharper plane</a:t>
            </a:r>
          </a:p>
        </p:txBody>
      </p:sp>
      <p:pic>
        <p:nvPicPr>
          <p:cNvPr id="12" name="Picture 11" descr="focus_after.png"/>
          <p:cNvPicPr>
            <a:picLocks noChangeAspect="1"/>
          </p:cNvPicPr>
          <p:nvPr/>
        </p:nvPicPr>
        <p:blipFill>
          <a:blip r:embed="rId3"/>
          <a:stretch>
            <a:fillRect/>
          </a:stretch>
        </p:blipFill>
        <p:spPr>
          <a:xfrm>
            <a:off x="3835400" y="2514600"/>
            <a:ext cx="2921000" cy="2921000"/>
          </a:xfrm>
          <a:prstGeom prst="rect">
            <a:avLst/>
          </a:prstGeom>
        </p:spPr>
      </p:pic>
      <p:sp>
        <p:nvSpPr>
          <p:cNvPr id="13" name="TextBox 12"/>
          <p:cNvSpPr txBox="1"/>
          <p:nvPr/>
        </p:nvSpPr>
        <p:spPr>
          <a:xfrm>
            <a:off x="558800" y="5727700"/>
            <a:ext cx="6477000" cy="381000"/>
          </a:xfrm>
          <a:prstGeom prst="rect">
            <a:avLst/>
          </a:prstGeom>
          <a:noFill/>
        </p:spPr>
        <p:txBody>
          <a:bodyPr wrap="none" tIns="0" bIns="0" lIns="0" rIns="0">
            <a:spAutoFit/>
          </a:bodyPr>
          <a:lstStyle/>
          <a:p>
            <a:pPr>
              <a:lnSpc>
                <a:spcPct val="112000"/>
              </a:lnSpc>
              <a:spcBef>
                <a:spcPts val="0"/>
              </a:spcBef>
              <a:spcAft>
                <a:spcPts val="0"/>
              </a:spcAft>
              <a:defRPr sz="1400" b="0">
                <a:solidFill>
                  <a:srgbClr val="596477"/>
                </a:solidFill>
                <a:latin typeface="Lato"/>
              </a:defRPr>
            </a:pPr>
            <a:r>
              <a:t>Same specimen and crop · expert label: Quercus sp.</a:t>
            </a:r>
          </a:p>
        </p:txBody>
      </p:sp>
      <p:sp>
        <p:nvSpPr>
          <p:cNvPr id="14" name="Rectangle 13"/>
          <p:cNvSpPr/>
          <p:nvPr/>
        </p:nvSpPr>
        <p:spPr>
          <a:xfrm>
            <a:off x="7327900" y="2108200"/>
            <a:ext cx="4330700" cy="3505200"/>
          </a:xfrm>
          <a:prstGeom prst="rect">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2700" y="2413000"/>
            <a:ext cx="3746500" cy="406400"/>
          </a:xfrm>
          <a:prstGeom prst="rect">
            <a:avLst/>
          </a:prstGeom>
          <a:noFill/>
        </p:spPr>
        <p:txBody>
          <a:bodyPr wrap="none" tIns="0" bIns="0" lIns="0" rIns="0">
            <a:spAutoFit/>
          </a:bodyPr>
          <a:lstStyle/>
          <a:p>
            <a:pPr>
              <a:lnSpc>
                <a:spcPct val="112000"/>
              </a:lnSpc>
              <a:spcBef>
                <a:spcPts val="0"/>
              </a:spcBef>
              <a:spcAft>
                <a:spcPts val="0"/>
              </a:spcAft>
              <a:defRPr sz="1900" b="1">
                <a:solidFill>
                  <a:srgbClr val="20786E"/>
                </a:solidFill>
                <a:latin typeface="Lato"/>
              </a:defRPr>
            </a:pPr>
            <a:r>
              <a:t>Unseen-slide accuracy</a:t>
            </a:r>
          </a:p>
        </p:txBody>
      </p:sp>
      <p:sp>
        <p:nvSpPr>
          <p:cNvPr id="16" name="TextBox 15"/>
          <p:cNvSpPr txBox="1"/>
          <p:nvPr/>
        </p:nvSpPr>
        <p:spPr>
          <a:xfrm>
            <a:off x="7632700" y="3098800"/>
            <a:ext cx="3708400" cy="863600"/>
          </a:xfrm>
          <a:prstGeom prst="rect">
            <a:avLst/>
          </a:prstGeom>
          <a:noFill/>
        </p:spPr>
        <p:txBody>
          <a:bodyPr wrap="none" tIns="0" bIns="0" lIns="0" rIns="0">
            <a:spAutoFit/>
          </a:bodyPr>
          <a:lstStyle/>
          <a:p>
            <a:pPr>
              <a:lnSpc>
                <a:spcPct val="112000"/>
              </a:lnSpc>
              <a:spcBef>
                <a:spcPts val="0"/>
              </a:spcBef>
              <a:spcAft>
                <a:spcPts val="0"/>
              </a:spcAft>
              <a:defRPr sz="4300" b="1">
                <a:solidFill>
                  <a:srgbClr val="20786E"/>
                </a:solidFill>
                <a:latin typeface="Lato"/>
              </a:defRPr>
            </a:pPr>
            <a:r>
              <a:t>32% → 38%</a:t>
            </a:r>
          </a:p>
        </p:txBody>
      </p:sp>
      <p:sp>
        <p:nvSpPr>
          <p:cNvPr id="17" name="TextBox 16"/>
          <p:cNvSpPr txBox="1"/>
          <p:nvPr/>
        </p:nvSpPr>
        <p:spPr>
          <a:xfrm>
            <a:off x="7632700" y="4203700"/>
            <a:ext cx="3746500" cy="1041400"/>
          </a:xfrm>
          <a:prstGeom prst="rect">
            <a:avLst/>
          </a:prstGeom>
          <a:noFill/>
        </p:spPr>
        <p:txBody>
          <a:bodyPr wrap="none" tIns="0" bIns="0" lIns="0" rIns="0">
            <a:spAutoFit/>
          </a:bodyPr>
          <a:lstStyle/>
          <a:p>
            <a:pPr>
              <a:lnSpc>
                <a:spcPct val="112000"/>
              </a:lnSpc>
              <a:spcBef>
                <a:spcPts val="0"/>
              </a:spcBef>
              <a:spcAft>
                <a:spcPts val="0"/>
              </a:spcAft>
              <a:defRPr sz="1900" b="0">
                <a:solidFill>
                  <a:srgbClr val="202D48"/>
                </a:solidFill>
                <a:latin typeface="Lato"/>
              </a:defRPr>
            </a:pPr>
            <a:r>
              <a:t>Same Swin model settings.</a:t>
            </a:r>
          </a:p>
          <a:p>
            <a:pPr>
              <a:lnSpc>
                <a:spcPct val="112000"/>
              </a:lnSpc>
              <a:spcBef>
                <a:spcPts val="0"/>
              </a:spcBef>
              <a:spcAft>
                <a:spcPts val="0"/>
              </a:spcAft>
              <a:defRPr sz="1900" b="0">
                <a:solidFill>
                  <a:srgbClr val="202D48"/>
                </a:solidFill>
                <a:latin typeface="Lato"/>
              </a:defRPr>
            </a:pPr>
            <a:r>
              <a:t>Only the selected focal</a:t>
            </a:r>
          </a:p>
          <a:p>
            <a:pPr>
              <a:lnSpc>
                <a:spcPct val="112000"/>
              </a:lnSpc>
              <a:spcBef>
                <a:spcPts val="0"/>
              </a:spcBef>
              <a:spcAft>
                <a:spcPts val="0"/>
              </a:spcAft>
              <a:defRPr sz="1900" b="0">
                <a:solidFill>
                  <a:srgbClr val="202D48"/>
                </a:solidFill>
                <a:latin typeface="Lato"/>
              </a:defRPr>
            </a:pPr>
            <a:r>
              <a:t>plane changed.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3302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92100"/>
            <a:ext cx="10541000" cy="279400"/>
          </a:xfrm>
          <a:prstGeom prst="rect">
            <a:avLst/>
          </a:prstGeom>
          <a:noFill/>
        </p:spPr>
        <p:txBody>
          <a:bodyPr wrap="none" tIns="0" bIns="0" lIns="0" rIns="0">
            <a:spAutoFit/>
          </a:bodyPr>
          <a:lstStyle/>
          <a:p>
            <a:pPr>
              <a:lnSpc>
                <a:spcPct val="112000"/>
              </a:lnSpc>
              <a:spcBef>
                <a:spcPts val="0"/>
              </a:spcBef>
              <a:spcAft>
                <a:spcPts val="0"/>
              </a:spcAft>
              <a:defRPr sz="1100" b="1">
                <a:solidFill>
                  <a:srgbClr val="93451F"/>
                </a:solidFill>
                <a:latin typeface="Lato"/>
              </a:defRPr>
            </a:pPr>
            <a:r>
              <a:t>04 / CLASSIFIER BACKBONES / EVALUATION</a:t>
            </a:r>
          </a:p>
        </p:txBody>
      </p:sp>
      <p:sp>
        <p:nvSpPr>
          <p:cNvPr id="5" name="TextBox 4"/>
          <p:cNvSpPr txBox="1"/>
          <p:nvPr/>
        </p:nvSpPr>
        <p:spPr>
          <a:xfrm>
            <a:off x="533400" y="825500"/>
            <a:ext cx="11176000" cy="1117600"/>
          </a:xfrm>
          <a:prstGeom prst="rect">
            <a:avLst/>
          </a:prstGeom>
          <a:noFill/>
        </p:spPr>
        <p:txBody>
          <a:bodyPr wrap="none" tIns="0" bIns="0" lIns="0" rIns="0">
            <a:spAutoFit/>
          </a:bodyPr>
          <a:lstStyle/>
          <a:p>
            <a:pPr>
              <a:lnSpc>
                <a:spcPct val="112000"/>
              </a:lnSpc>
              <a:spcBef>
                <a:spcPts val="0"/>
              </a:spcBef>
              <a:spcAft>
                <a:spcPts val="0"/>
              </a:spcAft>
              <a:defRPr sz="3400" b="1">
                <a:solidFill>
                  <a:srgbClr val="202D48"/>
                </a:solidFill>
                <a:latin typeface="Lato"/>
              </a:defRPr>
            </a:pPr>
            <a:r>
              <a:t>Two questions, two ways to check performance</a:t>
            </a:r>
          </a:p>
        </p:txBody>
      </p:sp>
      <p:sp>
        <p:nvSpPr>
          <p:cNvPr id="6" name="Rectangle 5"/>
          <p:cNvSpPr/>
          <p:nvPr/>
        </p:nvSpPr>
        <p:spPr>
          <a:xfrm>
            <a:off x="533400" y="6413500"/>
            <a:ext cx="11125200" cy="127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578600"/>
            <a:ext cx="10160000" cy="177800"/>
          </a:xfrm>
          <a:prstGeom prst="rect">
            <a:avLst/>
          </a:prstGeom>
          <a:noFill/>
        </p:spPr>
        <p:txBody>
          <a:bodyPr wrap="none" tIns="0" bIns="0" lIns="0" rIns="0">
            <a:spAutoFit/>
          </a:bodyPr>
          <a:lstStyle/>
          <a:p>
            <a:pPr>
              <a:lnSpc>
                <a:spcPct val="112000"/>
              </a:lnSpc>
              <a:spcBef>
                <a:spcPts val="0"/>
              </a:spcBef>
              <a:spcAft>
                <a:spcPts val="0"/>
              </a:spcAft>
              <a:defRPr sz="900" b="0">
                <a:solidFill>
                  <a:srgbClr val="596477"/>
                </a:solidFill>
                <a:latin typeface="Lato"/>
              </a:defRPr>
            </a:pPr>
            <a:r>
              <a:t>SMITHSONIAN × RICE D2K  ·  CLASSIFICATION UPDATE</a:t>
            </a:r>
          </a:p>
        </p:txBody>
      </p:sp>
      <p:sp>
        <p:nvSpPr>
          <p:cNvPr id="8" name="TextBox 7"/>
          <p:cNvSpPr txBox="1"/>
          <p:nvPr/>
        </p:nvSpPr>
        <p:spPr>
          <a:xfrm>
            <a:off x="11430000" y="6565900"/>
            <a:ext cx="254000" cy="203200"/>
          </a:xfrm>
          <a:prstGeom prst="rect">
            <a:avLst/>
          </a:prstGeom>
          <a:noFill/>
        </p:spPr>
        <p:txBody>
          <a:bodyPr wrap="none" tIns="0" bIns="0" lIns="0" rIns="0">
            <a:spAutoFit/>
          </a:bodyPr>
          <a:lstStyle/>
          <a:p>
            <a:pPr>
              <a:lnSpc>
                <a:spcPct val="112000"/>
              </a:lnSpc>
              <a:spcBef>
                <a:spcPts val="0"/>
              </a:spcBef>
              <a:spcAft>
                <a:spcPts val="0"/>
              </a:spcAft>
              <a:defRPr sz="1000" b="0">
                <a:solidFill>
                  <a:srgbClr val="596477"/>
                </a:solidFill>
                <a:latin typeface="Lato"/>
              </a:defRPr>
            </a:pPr>
            <a:r>
              <a:t>4</a:t>
            </a:r>
          </a:p>
        </p:txBody>
      </p:sp>
      <p:sp>
        <p:nvSpPr>
          <p:cNvPr id="9" name="Rectangle 8"/>
          <p:cNvSpPr/>
          <p:nvPr/>
        </p:nvSpPr>
        <p:spPr>
          <a:xfrm>
            <a:off x="558800" y="2082800"/>
            <a:ext cx="5384800" cy="3594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2800" y="2324100"/>
            <a:ext cx="4953000" cy="431800"/>
          </a:xfrm>
          <a:prstGeom prst="rect">
            <a:avLst/>
          </a:prstGeom>
          <a:noFill/>
        </p:spPr>
        <p:txBody>
          <a:bodyPr wrap="none" tIns="0" bIns="0" lIns="0" rIns="0">
            <a:spAutoFit/>
          </a:bodyPr>
          <a:lstStyle/>
          <a:p>
            <a:pPr>
              <a:lnSpc>
                <a:spcPct val="112000"/>
              </a:lnSpc>
              <a:spcBef>
                <a:spcPts val="0"/>
              </a:spcBef>
              <a:spcAft>
                <a:spcPts val="0"/>
              </a:spcAft>
              <a:defRPr sz="2500" b="1">
                <a:solidFill>
                  <a:srgbClr val="20786E"/>
                </a:solidFill>
                <a:latin typeface="Lato"/>
              </a:defRPr>
            </a:pPr>
            <a:r>
              <a:t>Unseen slides</a:t>
            </a:r>
          </a:p>
        </p:txBody>
      </p:sp>
      <p:sp>
        <p:nvSpPr>
          <p:cNvPr id="11" name="TextBox 10"/>
          <p:cNvSpPr txBox="1"/>
          <p:nvPr/>
        </p:nvSpPr>
        <p:spPr>
          <a:xfrm>
            <a:off x="812800" y="2870200"/>
            <a:ext cx="4927600" cy="317500"/>
          </a:xfrm>
          <a:prstGeom prst="rect">
            <a:avLst/>
          </a:prstGeom>
          <a:noFill/>
        </p:spPr>
        <p:txBody>
          <a:bodyPr wrap="none" tIns="0" bIns="0" lIns="0" rIns="0">
            <a:spAutoFit/>
          </a:bodyPr>
          <a:lstStyle/>
          <a:p>
            <a:pPr>
              <a:lnSpc>
                <a:spcPct val="112000"/>
              </a:lnSpc>
              <a:spcBef>
                <a:spcPts val="0"/>
              </a:spcBef>
              <a:spcAft>
                <a:spcPts val="0"/>
              </a:spcAft>
              <a:defRPr sz="1500" b="0">
                <a:solidFill>
                  <a:srgbClr val="596477"/>
                </a:solidFill>
                <a:latin typeface="Lato"/>
              </a:defRPr>
            </a:pPr>
            <a:r>
              <a:t>Can it work on a different slide?</a:t>
            </a:r>
          </a:p>
        </p:txBody>
      </p:sp>
      <p:sp>
        <p:nvSpPr>
          <p:cNvPr id="12" name="TextBox 11"/>
          <p:cNvSpPr txBox="1"/>
          <p:nvPr/>
        </p:nvSpPr>
        <p:spPr>
          <a:xfrm>
            <a:off x="812800" y="3556000"/>
            <a:ext cx="2032000" cy="317500"/>
          </a:xfrm>
          <a:prstGeom prst="rect">
            <a:avLst/>
          </a:prstGeom>
          <a:noFill/>
        </p:spPr>
        <p:txBody>
          <a:bodyPr wrap="none" tIns="0" bIns="0" lIns="0" rIns="0">
            <a:spAutoFit/>
          </a:bodyPr>
          <a:lstStyle/>
          <a:p>
            <a:pPr>
              <a:lnSpc>
                <a:spcPct val="112000"/>
              </a:lnSpc>
              <a:spcBef>
                <a:spcPts val="0"/>
              </a:spcBef>
              <a:spcAft>
                <a:spcPts val="0"/>
              </a:spcAft>
              <a:defRPr sz="1200" b="1">
                <a:solidFill>
                  <a:srgbClr val="596477"/>
                </a:solidFill>
                <a:latin typeface="Lato"/>
              </a:defRPr>
            </a:pPr>
            <a:r>
              <a:t>LEARN FROM</a:t>
            </a:r>
          </a:p>
        </p:txBody>
      </p:sp>
      <p:sp>
        <p:nvSpPr>
          <p:cNvPr id="13" name="TextBox 12"/>
          <p:cNvSpPr txBox="1"/>
          <p:nvPr/>
        </p:nvSpPr>
        <p:spPr>
          <a:xfrm>
            <a:off x="3479800" y="3556000"/>
            <a:ext cx="2159000" cy="317500"/>
          </a:xfrm>
          <a:prstGeom prst="rect">
            <a:avLst/>
          </a:prstGeom>
          <a:noFill/>
        </p:spPr>
        <p:txBody>
          <a:bodyPr wrap="none" tIns="0" bIns="0" lIns="0" rIns="0">
            <a:spAutoFit/>
          </a:bodyPr>
          <a:lstStyle/>
          <a:p>
            <a:pPr>
              <a:lnSpc>
                <a:spcPct val="112000"/>
              </a:lnSpc>
              <a:spcBef>
                <a:spcPts val="0"/>
              </a:spcBef>
              <a:spcAft>
                <a:spcPts val="0"/>
              </a:spcAft>
              <a:defRPr sz="1200" b="1">
                <a:solidFill>
                  <a:srgbClr val="596477"/>
                </a:solidFill>
                <a:latin typeface="Lato"/>
              </a:defRPr>
            </a:pPr>
            <a:r>
              <a:t>CHECK ON</a:t>
            </a:r>
          </a:p>
        </p:txBody>
      </p:sp>
      <p:sp>
        <p:nvSpPr>
          <p:cNvPr id="14" name="Rectangle 13"/>
          <p:cNvSpPr/>
          <p:nvPr/>
        </p:nvSpPr>
        <p:spPr>
          <a:xfrm>
            <a:off x="6248400" y="2082800"/>
            <a:ext cx="5384800" cy="3594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2400" y="2324100"/>
            <a:ext cx="4953000" cy="431800"/>
          </a:xfrm>
          <a:prstGeom prst="rect">
            <a:avLst/>
          </a:prstGeom>
          <a:noFill/>
        </p:spPr>
        <p:txBody>
          <a:bodyPr wrap="none" tIns="0" bIns="0" lIns="0" rIns="0">
            <a:spAutoFit/>
          </a:bodyPr>
          <a:lstStyle/>
          <a:p>
            <a:pPr>
              <a:lnSpc>
                <a:spcPct val="112000"/>
              </a:lnSpc>
              <a:spcBef>
                <a:spcPts val="0"/>
              </a:spcBef>
              <a:spcAft>
                <a:spcPts val="0"/>
              </a:spcAft>
              <a:defRPr sz="2500" b="1">
                <a:solidFill>
                  <a:srgbClr val="20786E"/>
                </a:solidFill>
                <a:latin typeface="Lato"/>
              </a:defRPr>
            </a:pPr>
            <a:r>
              <a:t>Shared slides</a:t>
            </a:r>
          </a:p>
        </p:txBody>
      </p:sp>
      <p:sp>
        <p:nvSpPr>
          <p:cNvPr id="16" name="TextBox 15"/>
          <p:cNvSpPr txBox="1"/>
          <p:nvPr/>
        </p:nvSpPr>
        <p:spPr>
          <a:xfrm>
            <a:off x="6502400" y="2870200"/>
            <a:ext cx="4927600" cy="317500"/>
          </a:xfrm>
          <a:prstGeom prst="rect">
            <a:avLst/>
          </a:prstGeom>
          <a:noFill/>
        </p:spPr>
        <p:txBody>
          <a:bodyPr wrap="none" tIns="0" bIns="0" lIns="0" rIns="0">
            <a:spAutoFit/>
          </a:bodyPr>
          <a:lstStyle/>
          <a:p>
            <a:pPr>
              <a:lnSpc>
                <a:spcPct val="112000"/>
              </a:lnSpc>
              <a:spcBef>
                <a:spcPts val="0"/>
              </a:spcBef>
              <a:spcAft>
                <a:spcPts val="0"/>
              </a:spcAft>
              <a:defRPr sz="1500" b="0">
                <a:solidFill>
                  <a:srgbClr val="596477"/>
                </a:solidFill>
                <a:latin typeface="Lato"/>
              </a:defRPr>
            </a:pPr>
            <a:r>
              <a:t>Can it identify more grains on familiar slides?</a:t>
            </a:r>
          </a:p>
        </p:txBody>
      </p:sp>
      <p:sp>
        <p:nvSpPr>
          <p:cNvPr id="17" name="TextBox 16"/>
          <p:cNvSpPr txBox="1"/>
          <p:nvPr/>
        </p:nvSpPr>
        <p:spPr>
          <a:xfrm>
            <a:off x="6502400" y="3556000"/>
            <a:ext cx="2032000" cy="317500"/>
          </a:xfrm>
          <a:prstGeom prst="rect">
            <a:avLst/>
          </a:prstGeom>
          <a:noFill/>
        </p:spPr>
        <p:txBody>
          <a:bodyPr wrap="none" tIns="0" bIns="0" lIns="0" rIns="0">
            <a:spAutoFit/>
          </a:bodyPr>
          <a:lstStyle/>
          <a:p>
            <a:pPr>
              <a:lnSpc>
                <a:spcPct val="112000"/>
              </a:lnSpc>
              <a:spcBef>
                <a:spcPts val="0"/>
              </a:spcBef>
              <a:spcAft>
                <a:spcPts val="0"/>
              </a:spcAft>
              <a:defRPr sz="1200" b="1">
                <a:solidFill>
                  <a:srgbClr val="596477"/>
                </a:solidFill>
                <a:latin typeface="Lato"/>
              </a:defRPr>
            </a:pPr>
            <a:r>
              <a:t>LEARN FROM</a:t>
            </a:r>
          </a:p>
        </p:txBody>
      </p:sp>
      <p:sp>
        <p:nvSpPr>
          <p:cNvPr id="18" name="TextBox 17"/>
          <p:cNvSpPr txBox="1"/>
          <p:nvPr/>
        </p:nvSpPr>
        <p:spPr>
          <a:xfrm>
            <a:off x="9169400" y="3556000"/>
            <a:ext cx="2159000" cy="317500"/>
          </a:xfrm>
          <a:prstGeom prst="rect">
            <a:avLst/>
          </a:prstGeom>
          <a:noFill/>
        </p:spPr>
        <p:txBody>
          <a:bodyPr wrap="none" tIns="0" bIns="0" lIns="0" rIns="0">
            <a:spAutoFit/>
          </a:bodyPr>
          <a:lstStyle/>
          <a:p>
            <a:pPr>
              <a:lnSpc>
                <a:spcPct val="112000"/>
              </a:lnSpc>
              <a:spcBef>
                <a:spcPts val="0"/>
              </a:spcBef>
              <a:spcAft>
                <a:spcPts val="0"/>
              </a:spcAft>
              <a:defRPr sz="1200" b="1">
                <a:solidFill>
                  <a:srgbClr val="596477"/>
                </a:solidFill>
                <a:latin typeface="Lato"/>
              </a:defRPr>
            </a:pPr>
            <a:r>
              <a:t>CHECK ON</a:t>
            </a:r>
          </a:p>
        </p:txBody>
      </p:sp>
      <p:sp>
        <p:nvSpPr>
          <p:cNvPr id="19" name="Rectangle 18"/>
          <p:cNvSpPr/>
          <p:nvPr/>
        </p:nvSpPr>
        <p:spPr>
          <a:xfrm>
            <a:off x="812800" y="4000500"/>
            <a:ext cx="2133600" cy="4572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5200" y="41021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202D48"/>
                </a:solidFill>
                <a:latin typeface="Lato"/>
              </a:defRPr>
            </a:pPr>
            <a:r>
              <a:t>Slide A</a:t>
            </a:r>
          </a:p>
        </p:txBody>
      </p:sp>
      <p:sp>
        <p:nvSpPr>
          <p:cNvPr id="21" name="Rectangle 20"/>
          <p:cNvSpPr/>
          <p:nvPr/>
        </p:nvSpPr>
        <p:spPr>
          <a:xfrm>
            <a:off x="812800" y="4610100"/>
            <a:ext cx="2133600" cy="4572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5200" y="47117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202D48"/>
                </a:solidFill>
                <a:latin typeface="Lato"/>
              </a:defRPr>
            </a:pPr>
            <a:r>
              <a:t>Slide B</a:t>
            </a:r>
          </a:p>
        </p:txBody>
      </p:sp>
      <p:sp>
        <p:nvSpPr>
          <p:cNvPr id="23" name="Rectangle 22"/>
          <p:cNvSpPr/>
          <p:nvPr/>
        </p:nvSpPr>
        <p:spPr>
          <a:xfrm>
            <a:off x="3479800" y="4000500"/>
            <a:ext cx="2133600" cy="457200"/>
          </a:xfrm>
          <a:prstGeom prst="rect">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32200" y="41021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202D48"/>
                </a:solidFill>
                <a:latin typeface="Lato"/>
              </a:defRPr>
            </a:pPr>
            <a:r>
              <a:t>Slide C</a:t>
            </a:r>
          </a:p>
        </p:txBody>
      </p:sp>
      <p:sp>
        <p:nvSpPr>
          <p:cNvPr id="25" name="Rectangle 24"/>
          <p:cNvSpPr/>
          <p:nvPr/>
        </p:nvSpPr>
        <p:spPr>
          <a:xfrm>
            <a:off x="3479800" y="4610100"/>
            <a:ext cx="2133600" cy="457200"/>
          </a:xfrm>
          <a:prstGeom prst="rect">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32200" y="47117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202D48"/>
                </a:solidFill>
                <a:latin typeface="Lato"/>
              </a:defRPr>
            </a:pPr>
            <a:r>
              <a:t>Slide D</a:t>
            </a:r>
          </a:p>
        </p:txBody>
      </p:sp>
      <p:sp>
        <p:nvSpPr>
          <p:cNvPr id="27" name="Rectangle 26"/>
          <p:cNvSpPr/>
          <p:nvPr/>
        </p:nvSpPr>
        <p:spPr>
          <a:xfrm>
            <a:off x="6502400" y="4000500"/>
            <a:ext cx="2133600" cy="4572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54800" y="41021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202D48"/>
                </a:solidFill>
                <a:latin typeface="Lato"/>
              </a:defRPr>
            </a:pPr>
            <a:r>
              <a:t>A · grain 1</a:t>
            </a:r>
          </a:p>
        </p:txBody>
      </p:sp>
      <p:sp>
        <p:nvSpPr>
          <p:cNvPr id="29" name="Rectangle 28"/>
          <p:cNvSpPr/>
          <p:nvPr/>
        </p:nvSpPr>
        <p:spPr>
          <a:xfrm>
            <a:off x="6502400" y="4610100"/>
            <a:ext cx="2133600" cy="4572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54800" y="47117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202D48"/>
                </a:solidFill>
                <a:latin typeface="Lato"/>
              </a:defRPr>
            </a:pPr>
            <a:r>
              <a:t>B · grain 1</a:t>
            </a:r>
          </a:p>
        </p:txBody>
      </p:sp>
      <p:sp>
        <p:nvSpPr>
          <p:cNvPr id="31" name="Rectangle 30"/>
          <p:cNvSpPr/>
          <p:nvPr/>
        </p:nvSpPr>
        <p:spPr>
          <a:xfrm>
            <a:off x="9169400" y="4000500"/>
            <a:ext cx="2133600" cy="457200"/>
          </a:xfrm>
          <a:prstGeom prst="rect">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1800" y="41021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202D48"/>
                </a:solidFill>
                <a:latin typeface="Lato"/>
              </a:defRPr>
            </a:pPr>
            <a:r>
              <a:t>A · grain 2</a:t>
            </a:r>
          </a:p>
        </p:txBody>
      </p:sp>
      <p:sp>
        <p:nvSpPr>
          <p:cNvPr id="33" name="Rectangle 32"/>
          <p:cNvSpPr/>
          <p:nvPr/>
        </p:nvSpPr>
        <p:spPr>
          <a:xfrm>
            <a:off x="9169400" y="4610100"/>
            <a:ext cx="2133600" cy="457200"/>
          </a:xfrm>
          <a:prstGeom prst="rect">
            <a:avLst/>
          </a:prstGeom>
          <a:solidFill>
            <a:srgbClr val="E4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21800" y="4711700"/>
            <a:ext cx="18669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202D48"/>
                </a:solidFill>
                <a:latin typeface="Lato"/>
              </a:defRPr>
            </a:pPr>
            <a:r>
              <a:t>B · grain 2</a:t>
            </a:r>
          </a:p>
        </p:txBody>
      </p:sp>
      <p:sp>
        <p:nvSpPr>
          <p:cNvPr id="35" name="TextBox 34"/>
          <p:cNvSpPr txBox="1"/>
          <p:nvPr/>
        </p:nvSpPr>
        <p:spPr>
          <a:xfrm>
            <a:off x="558800" y="5930900"/>
            <a:ext cx="11099800" cy="317500"/>
          </a:xfrm>
          <a:prstGeom prst="rect">
            <a:avLst/>
          </a:prstGeom>
          <a:noFill/>
        </p:spPr>
        <p:txBody>
          <a:bodyPr wrap="none" tIns="0" bIns="0" lIns="0" rIns="0">
            <a:spAutoFit/>
          </a:bodyPr>
          <a:lstStyle/>
          <a:p>
            <a:pPr>
              <a:lnSpc>
                <a:spcPct val="112000"/>
              </a:lnSpc>
              <a:spcBef>
                <a:spcPts val="0"/>
              </a:spcBef>
              <a:spcAft>
                <a:spcPts val="0"/>
              </a:spcAft>
              <a:defRPr sz="1800" b="1">
                <a:solidFill>
                  <a:srgbClr val="93451F"/>
                </a:solidFill>
                <a:latin typeface="Lato"/>
              </a:defRPr>
            </a:pPr>
            <a:r>
              <a:t>Different specimens in every set. Final test slides remain reserved.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3302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92100"/>
            <a:ext cx="10541000" cy="279400"/>
          </a:xfrm>
          <a:prstGeom prst="rect">
            <a:avLst/>
          </a:prstGeom>
          <a:noFill/>
        </p:spPr>
        <p:txBody>
          <a:bodyPr wrap="none" tIns="0" bIns="0" lIns="0" rIns="0">
            <a:spAutoFit/>
          </a:bodyPr>
          <a:lstStyle/>
          <a:p>
            <a:pPr>
              <a:lnSpc>
                <a:spcPct val="112000"/>
              </a:lnSpc>
              <a:spcBef>
                <a:spcPts val="0"/>
              </a:spcBef>
              <a:spcAft>
                <a:spcPts val="0"/>
              </a:spcAft>
              <a:defRPr sz="1100" b="1">
                <a:solidFill>
                  <a:srgbClr val="93451F"/>
                </a:solidFill>
                <a:latin typeface="Lato"/>
              </a:defRPr>
            </a:pPr>
            <a:r>
              <a:t>05 / CLASSIFIER BACKBONES / RESULTS</a:t>
            </a:r>
          </a:p>
        </p:txBody>
      </p:sp>
      <p:sp>
        <p:nvSpPr>
          <p:cNvPr id="5" name="TextBox 4"/>
          <p:cNvSpPr txBox="1"/>
          <p:nvPr/>
        </p:nvSpPr>
        <p:spPr>
          <a:xfrm>
            <a:off x="533400" y="825500"/>
            <a:ext cx="11176000" cy="1117600"/>
          </a:xfrm>
          <a:prstGeom prst="rect">
            <a:avLst/>
          </a:prstGeom>
          <a:noFill/>
        </p:spPr>
        <p:txBody>
          <a:bodyPr wrap="none" tIns="0" bIns="0" lIns="0" rIns="0">
            <a:spAutoFit/>
          </a:bodyPr>
          <a:lstStyle/>
          <a:p>
            <a:pPr>
              <a:lnSpc>
                <a:spcPct val="112000"/>
              </a:lnSpc>
              <a:spcBef>
                <a:spcPts val="0"/>
              </a:spcBef>
              <a:spcAft>
                <a:spcPts val="0"/>
              </a:spcAft>
              <a:defRPr sz="3400" b="1">
                <a:solidFill>
                  <a:srgbClr val="202D48"/>
                </a:solidFill>
                <a:latin typeface="Lato"/>
              </a:defRPr>
            </a:pPr>
            <a:r>
              <a:t>Adapting DINO gives our strongest results so far</a:t>
            </a:r>
          </a:p>
        </p:txBody>
      </p:sp>
      <p:sp>
        <p:nvSpPr>
          <p:cNvPr id="6" name="Rectangle 5"/>
          <p:cNvSpPr/>
          <p:nvPr/>
        </p:nvSpPr>
        <p:spPr>
          <a:xfrm>
            <a:off x="533400" y="6413500"/>
            <a:ext cx="11125200" cy="127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578600"/>
            <a:ext cx="10160000" cy="177800"/>
          </a:xfrm>
          <a:prstGeom prst="rect">
            <a:avLst/>
          </a:prstGeom>
          <a:noFill/>
        </p:spPr>
        <p:txBody>
          <a:bodyPr wrap="none" tIns="0" bIns="0" lIns="0" rIns="0">
            <a:spAutoFit/>
          </a:bodyPr>
          <a:lstStyle/>
          <a:p>
            <a:pPr>
              <a:lnSpc>
                <a:spcPct val="112000"/>
              </a:lnSpc>
              <a:spcBef>
                <a:spcPts val="0"/>
              </a:spcBef>
              <a:spcAft>
                <a:spcPts val="0"/>
              </a:spcAft>
              <a:defRPr sz="900" b="0">
                <a:solidFill>
                  <a:srgbClr val="596477"/>
                </a:solidFill>
                <a:latin typeface="Lato"/>
              </a:defRPr>
            </a:pPr>
            <a:r>
              <a:t>SMITHSONIAN × RICE D2K  ·  CLASSIFICATION UPDATE</a:t>
            </a:r>
          </a:p>
        </p:txBody>
      </p:sp>
      <p:sp>
        <p:nvSpPr>
          <p:cNvPr id="8" name="TextBox 7"/>
          <p:cNvSpPr txBox="1"/>
          <p:nvPr/>
        </p:nvSpPr>
        <p:spPr>
          <a:xfrm>
            <a:off x="11430000" y="6565900"/>
            <a:ext cx="254000" cy="203200"/>
          </a:xfrm>
          <a:prstGeom prst="rect">
            <a:avLst/>
          </a:prstGeom>
          <a:noFill/>
        </p:spPr>
        <p:txBody>
          <a:bodyPr wrap="none" tIns="0" bIns="0" lIns="0" rIns="0">
            <a:spAutoFit/>
          </a:bodyPr>
          <a:lstStyle/>
          <a:p>
            <a:pPr>
              <a:lnSpc>
                <a:spcPct val="112000"/>
              </a:lnSpc>
              <a:spcBef>
                <a:spcPts val="0"/>
              </a:spcBef>
              <a:spcAft>
                <a:spcPts val="0"/>
              </a:spcAft>
              <a:defRPr sz="1000" b="0">
                <a:solidFill>
                  <a:srgbClr val="596477"/>
                </a:solidFill>
                <a:latin typeface="Lato"/>
              </a:defRPr>
            </a:pPr>
            <a:r>
              <a:t>5</a:t>
            </a:r>
          </a:p>
        </p:txBody>
      </p:sp>
      <p:sp>
        <p:nvSpPr>
          <p:cNvPr id="9" name="TextBox 8"/>
          <p:cNvSpPr txBox="1"/>
          <p:nvPr/>
        </p:nvSpPr>
        <p:spPr>
          <a:xfrm>
            <a:off x="533400" y="1689100"/>
            <a:ext cx="11176000" cy="330200"/>
          </a:xfrm>
          <a:prstGeom prst="rect">
            <a:avLst/>
          </a:prstGeom>
          <a:noFill/>
        </p:spPr>
        <p:txBody>
          <a:bodyPr wrap="none" tIns="0" bIns="0" lIns="0" rIns="0">
            <a:spAutoFit/>
          </a:bodyPr>
          <a:lstStyle/>
          <a:p>
            <a:pPr>
              <a:lnSpc>
                <a:spcPct val="112000"/>
              </a:lnSpc>
              <a:spcBef>
                <a:spcPts val="0"/>
              </a:spcBef>
              <a:spcAft>
                <a:spcPts val="0"/>
              </a:spcAft>
              <a:defRPr sz="1700" b="0">
                <a:solidFill>
                  <a:srgbClr val="596477"/>
                </a:solidFill>
                <a:latin typeface="Lato"/>
              </a:defRPr>
            </a:pPr>
            <a:r>
              <a:t>Validation accuracy · identifying categories in prepared specimen crops</a:t>
            </a:r>
          </a:p>
        </p:txBody>
      </p:sp>
      <p:sp>
        <p:nvSpPr>
          <p:cNvPr id="10" name="TextBox 9"/>
          <p:cNvSpPr txBox="1"/>
          <p:nvPr/>
        </p:nvSpPr>
        <p:spPr>
          <a:xfrm>
            <a:off x="4000500" y="2362200"/>
            <a:ext cx="3111500" cy="381000"/>
          </a:xfrm>
          <a:prstGeom prst="rect">
            <a:avLst/>
          </a:prstGeom>
          <a:noFill/>
        </p:spPr>
        <p:txBody>
          <a:bodyPr wrap="none" tIns="0" bIns="0" lIns="0" rIns="0">
            <a:spAutoFit/>
          </a:bodyPr>
          <a:lstStyle/>
          <a:p>
            <a:pPr>
              <a:lnSpc>
                <a:spcPct val="112000"/>
              </a:lnSpc>
              <a:spcBef>
                <a:spcPts val="0"/>
              </a:spcBef>
              <a:spcAft>
                <a:spcPts val="0"/>
              </a:spcAft>
              <a:defRPr sz="2300" b="1">
                <a:solidFill>
                  <a:srgbClr val="202D48"/>
                </a:solidFill>
                <a:latin typeface="Lato"/>
              </a:defRPr>
            </a:pPr>
            <a:r>
              <a:t>Unseen slides</a:t>
            </a:r>
          </a:p>
        </p:txBody>
      </p:sp>
      <p:sp>
        <p:nvSpPr>
          <p:cNvPr id="11" name="TextBox 10"/>
          <p:cNvSpPr txBox="1"/>
          <p:nvPr/>
        </p:nvSpPr>
        <p:spPr>
          <a:xfrm>
            <a:off x="8204200" y="2362200"/>
            <a:ext cx="3302000" cy="381000"/>
          </a:xfrm>
          <a:prstGeom prst="rect">
            <a:avLst/>
          </a:prstGeom>
          <a:noFill/>
        </p:spPr>
        <p:txBody>
          <a:bodyPr wrap="none" tIns="0" bIns="0" lIns="0" rIns="0">
            <a:spAutoFit/>
          </a:bodyPr>
          <a:lstStyle/>
          <a:p>
            <a:pPr>
              <a:lnSpc>
                <a:spcPct val="112000"/>
              </a:lnSpc>
              <a:spcBef>
                <a:spcPts val="0"/>
              </a:spcBef>
              <a:spcAft>
                <a:spcPts val="0"/>
              </a:spcAft>
              <a:defRPr sz="2300" b="1">
                <a:solidFill>
                  <a:srgbClr val="202D48"/>
                </a:solidFill>
                <a:latin typeface="Lato"/>
              </a:defRPr>
            </a:pPr>
            <a:r>
              <a:t>Shared slides</a:t>
            </a:r>
          </a:p>
        </p:txBody>
      </p:sp>
      <p:sp>
        <p:nvSpPr>
          <p:cNvPr id="12" name="TextBox 11"/>
          <p:cNvSpPr txBox="1"/>
          <p:nvPr/>
        </p:nvSpPr>
        <p:spPr>
          <a:xfrm>
            <a:off x="546100" y="3187700"/>
            <a:ext cx="3162300" cy="444500"/>
          </a:xfrm>
          <a:prstGeom prst="rect">
            <a:avLst/>
          </a:prstGeom>
          <a:noFill/>
        </p:spPr>
        <p:txBody>
          <a:bodyPr wrap="none" tIns="0" bIns="0" lIns="0" rIns="0">
            <a:spAutoFit/>
          </a:bodyPr>
          <a:lstStyle/>
          <a:p>
            <a:pPr>
              <a:lnSpc>
                <a:spcPct val="112000"/>
              </a:lnSpc>
              <a:spcBef>
                <a:spcPts val="0"/>
              </a:spcBef>
              <a:spcAft>
                <a:spcPts val="0"/>
              </a:spcAft>
              <a:defRPr sz="2300" b="0">
                <a:solidFill>
                  <a:srgbClr val="202D48"/>
                </a:solidFill>
                <a:latin typeface="Lato"/>
              </a:defRPr>
            </a:pPr>
            <a:r>
              <a:t>Swin</a:t>
            </a:r>
          </a:p>
        </p:txBody>
      </p:sp>
      <p:sp>
        <p:nvSpPr>
          <p:cNvPr id="13" name="Rectangle 12"/>
          <p:cNvSpPr/>
          <p:nvPr/>
        </p:nvSpPr>
        <p:spPr>
          <a:xfrm>
            <a:off x="4000500" y="3162300"/>
            <a:ext cx="2667000" cy="3556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000500" y="3162300"/>
            <a:ext cx="1014536" cy="355600"/>
          </a:xfrm>
          <a:prstGeom prst="rect">
            <a:avLst/>
          </a:prstGeom>
          <a:solidFill>
            <a:srgbClr val="9AA5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94500" y="3136900"/>
            <a:ext cx="838200" cy="457200"/>
          </a:xfrm>
          <a:prstGeom prst="rect">
            <a:avLst/>
          </a:prstGeom>
          <a:noFill/>
        </p:spPr>
        <p:txBody>
          <a:bodyPr wrap="none" tIns="0" bIns="0" lIns="0" rIns="0">
            <a:spAutoFit/>
          </a:bodyPr>
          <a:lstStyle/>
          <a:p>
            <a:pPr>
              <a:lnSpc>
                <a:spcPct val="112000"/>
              </a:lnSpc>
              <a:spcBef>
                <a:spcPts val="0"/>
              </a:spcBef>
              <a:spcAft>
                <a:spcPts val="0"/>
              </a:spcAft>
              <a:defRPr sz="2500" b="1">
                <a:solidFill>
                  <a:srgbClr val="202D48"/>
                </a:solidFill>
                <a:latin typeface="Lato"/>
              </a:defRPr>
            </a:pPr>
            <a:r>
              <a:t>38%</a:t>
            </a:r>
          </a:p>
        </p:txBody>
      </p:sp>
      <p:sp>
        <p:nvSpPr>
          <p:cNvPr id="16" name="Rectangle 15"/>
          <p:cNvSpPr/>
          <p:nvPr/>
        </p:nvSpPr>
        <p:spPr>
          <a:xfrm>
            <a:off x="8204200" y="3162300"/>
            <a:ext cx="2667000" cy="3556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04200" y="3162300"/>
            <a:ext cx="1767752" cy="355600"/>
          </a:xfrm>
          <a:prstGeom prst="rect">
            <a:avLst/>
          </a:prstGeom>
          <a:solidFill>
            <a:srgbClr val="9AA5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98200" y="3136900"/>
            <a:ext cx="838200" cy="457200"/>
          </a:xfrm>
          <a:prstGeom prst="rect">
            <a:avLst/>
          </a:prstGeom>
          <a:noFill/>
        </p:spPr>
        <p:txBody>
          <a:bodyPr wrap="none" tIns="0" bIns="0" lIns="0" rIns="0">
            <a:spAutoFit/>
          </a:bodyPr>
          <a:lstStyle/>
          <a:p>
            <a:pPr>
              <a:lnSpc>
                <a:spcPct val="112000"/>
              </a:lnSpc>
              <a:spcBef>
                <a:spcPts val="0"/>
              </a:spcBef>
              <a:spcAft>
                <a:spcPts val="0"/>
              </a:spcAft>
              <a:defRPr sz="2500" b="1">
                <a:solidFill>
                  <a:srgbClr val="202D48"/>
                </a:solidFill>
                <a:latin typeface="Lato"/>
              </a:defRPr>
            </a:pPr>
            <a:r>
              <a:t>66%</a:t>
            </a:r>
          </a:p>
        </p:txBody>
      </p:sp>
      <p:sp>
        <p:nvSpPr>
          <p:cNvPr id="19" name="TextBox 18"/>
          <p:cNvSpPr txBox="1"/>
          <p:nvPr/>
        </p:nvSpPr>
        <p:spPr>
          <a:xfrm>
            <a:off x="546100" y="4025900"/>
            <a:ext cx="3162300" cy="444500"/>
          </a:xfrm>
          <a:prstGeom prst="rect">
            <a:avLst/>
          </a:prstGeom>
          <a:noFill/>
        </p:spPr>
        <p:txBody>
          <a:bodyPr wrap="none" tIns="0" bIns="0" lIns="0" rIns="0">
            <a:spAutoFit/>
          </a:bodyPr>
          <a:lstStyle/>
          <a:p>
            <a:pPr>
              <a:lnSpc>
                <a:spcPct val="112000"/>
              </a:lnSpc>
              <a:spcBef>
                <a:spcPts val="0"/>
              </a:spcBef>
              <a:spcAft>
                <a:spcPts val="0"/>
              </a:spcAft>
              <a:defRPr sz="2300" b="0">
                <a:solidFill>
                  <a:srgbClr val="202D48"/>
                </a:solidFill>
                <a:latin typeface="Lato"/>
              </a:defRPr>
            </a:pPr>
            <a:r>
              <a:t>DINO · frozen</a:t>
            </a:r>
          </a:p>
        </p:txBody>
      </p:sp>
      <p:sp>
        <p:nvSpPr>
          <p:cNvPr id="20" name="Rectangle 19"/>
          <p:cNvSpPr/>
          <p:nvPr/>
        </p:nvSpPr>
        <p:spPr>
          <a:xfrm>
            <a:off x="4000500" y="4000500"/>
            <a:ext cx="2667000" cy="3556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000500" y="4000500"/>
            <a:ext cx="799331" cy="355600"/>
          </a:xfrm>
          <a:prstGeom prst="rect">
            <a:avLst/>
          </a:prstGeom>
          <a:solidFill>
            <a:srgbClr val="9AA5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94500" y="3975100"/>
            <a:ext cx="838200" cy="457200"/>
          </a:xfrm>
          <a:prstGeom prst="rect">
            <a:avLst/>
          </a:prstGeom>
          <a:noFill/>
        </p:spPr>
        <p:txBody>
          <a:bodyPr wrap="none" tIns="0" bIns="0" lIns="0" rIns="0">
            <a:spAutoFit/>
          </a:bodyPr>
          <a:lstStyle/>
          <a:p>
            <a:pPr>
              <a:lnSpc>
                <a:spcPct val="112000"/>
              </a:lnSpc>
              <a:spcBef>
                <a:spcPts val="0"/>
              </a:spcBef>
              <a:spcAft>
                <a:spcPts val="0"/>
              </a:spcAft>
              <a:defRPr sz="2500" b="1">
                <a:solidFill>
                  <a:srgbClr val="202D48"/>
                </a:solidFill>
                <a:latin typeface="Lato"/>
              </a:defRPr>
            </a:pPr>
            <a:r>
              <a:t>30%</a:t>
            </a:r>
          </a:p>
        </p:txBody>
      </p:sp>
      <p:sp>
        <p:nvSpPr>
          <p:cNvPr id="23" name="Rectangle 22"/>
          <p:cNvSpPr/>
          <p:nvPr/>
        </p:nvSpPr>
        <p:spPr>
          <a:xfrm>
            <a:off x="8204200" y="4000500"/>
            <a:ext cx="2667000" cy="3556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04200" y="4000500"/>
            <a:ext cx="1575605" cy="355600"/>
          </a:xfrm>
          <a:prstGeom prst="rect">
            <a:avLst/>
          </a:prstGeom>
          <a:solidFill>
            <a:srgbClr val="9AA5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98200" y="3975100"/>
            <a:ext cx="838200" cy="457200"/>
          </a:xfrm>
          <a:prstGeom prst="rect">
            <a:avLst/>
          </a:prstGeom>
          <a:noFill/>
        </p:spPr>
        <p:txBody>
          <a:bodyPr wrap="none" tIns="0" bIns="0" lIns="0" rIns="0">
            <a:spAutoFit/>
          </a:bodyPr>
          <a:lstStyle/>
          <a:p>
            <a:pPr>
              <a:lnSpc>
                <a:spcPct val="112000"/>
              </a:lnSpc>
              <a:spcBef>
                <a:spcPts val="0"/>
              </a:spcBef>
              <a:spcAft>
                <a:spcPts val="0"/>
              </a:spcAft>
              <a:defRPr sz="2500" b="1">
                <a:solidFill>
                  <a:srgbClr val="202D48"/>
                </a:solidFill>
                <a:latin typeface="Lato"/>
              </a:defRPr>
            </a:pPr>
            <a:r>
              <a:t>59%</a:t>
            </a:r>
          </a:p>
        </p:txBody>
      </p:sp>
      <p:sp>
        <p:nvSpPr>
          <p:cNvPr id="26" name="TextBox 25"/>
          <p:cNvSpPr txBox="1"/>
          <p:nvPr/>
        </p:nvSpPr>
        <p:spPr>
          <a:xfrm>
            <a:off x="546100" y="4864100"/>
            <a:ext cx="3162300" cy="444500"/>
          </a:xfrm>
          <a:prstGeom prst="rect">
            <a:avLst/>
          </a:prstGeom>
          <a:noFill/>
        </p:spPr>
        <p:txBody>
          <a:bodyPr wrap="none" tIns="0" bIns="0" lIns="0" rIns="0">
            <a:spAutoFit/>
          </a:bodyPr>
          <a:lstStyle/>
          <a:p>
            <a:pPr>
              <a:lnSpc>
                <a:spcPct val="112000"/>
              </a:lnSpc>
              <a:spcBef>
                <a:spcPts val="0"/>
              </a:spcBef>
              <a:spcAft>
                <a:spcPts val="0"/>
              </a:spcAft>
              <a:defRPr sz="2300" b="1">
                <a:solidFill>
                  <a:srgbClr val="202D48"/>
                </a:solidFill>
                <a:latin typeface="Lato"/>
              </a:defRPr>
            </a:pPr>
            <a:r>
              <a:t>DINO · adapted</a:t>
            </a:r>
          </a:p>
        </p:txBody>
      </p:sp>
      <p:sp>
        <p:nvSpPr>
          <p:cNvPr id="27" name="Rectangle 26"/>
          <p:cNvSpPr/>
          <p:nvPr/>
        </p:nvSpPr>
        <p:spPr>
          <a:xfrm>
            <a:off x="4000500" y="4838700"/>
            <a:ext cx="2667000" cy="3556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000500" y="4838700"/>
            <a:ext cx="1160567" cy="355600"/>
          </a:xfrm>
          <a:prstGeom prst="rect">
            <a:avLst/>
          </a:prstGeom>
          <a:solidFill>
            <a:srgbClr val="207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94500" y="4813300"/>
            <a:ext cx="838200" cy="457200"/>
          </a:xfrm>
          <a:prstGeom prst="rect">
            <a:avLst/>
          </a:prstGeom>
          <a:noFill/>
        </p:spPr>
        <p:txBody>
          <a:bodyPr wrap="none" tIns="0" bIns="0" lIns="0" rIns="0">
            <a:spAutoFit/>
          </a:bodyPr>
          <a:lstStyle/>
          <a:p>
            <a:pPr>
              <a:lnSpc>
                <a:spcPct val="112000"/>
              </a:lnSpc>
              <a:spcBef>
                <a:spcPts val="0"/>
              </a:spcBef>
              <a:spcAft>
                <a:spcPts val="0"/>
              </a:spcAft>
              <a:defRPr sz="2500" b="1">
                <a:solidFill>
                  <a:srgbClr val="20786E"/>
                </a:solidFill>
                <a:latin typeface="Lato"/>
              </a:defRPr>
            </a:pPr>
            <a:r>
              <a:t>44%</a:t>
            </a:r>
          </a:p>
        </p:txBody>
      </p:sp>
      <p:sp>
        <p:nvSpPr>
          <p:cNvPr id="30" name="Rectangle 29"/>
          <p:cNvSpPr/>
          <p:nvPr/>
        </p:nvSpPr>
        <p:spPr>
          <a:xfrm>
            <a:off x="8204200" y="4838700"/>
            <a:ext cx="2667000" cy="3556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04200" y="4838700"/>
            <a:ext cx="1867668" cy="355600"/>
          </a:xfrm>
          <a:prstGeom prst="rect">
            <a:avLst/>
          </a:prstGeom>
          <a:solidFill>
            <a:srgbClr val="207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98200" y="4813300"/>
            <a:ext cx="838200" cy="457200"/>
          </a:xfrm>
          <a:prstGeom prst="rect">
            <a:avLst/>
          </a:prstGeom>
          <a:noFill/>
        </p:spPr>
        <p:txBody>
          <a:bodyPr wrap="none" tIns="0" bIns="0" lIns="0" rIns="0">
            <a:spAutoFit/>
          </a:bodyPr>
          <a:lstStyle/>
          <a:p>
            <a:pPr>
              <a:lnSpc>
                <a:spcPct val="112000"/>
              </a:lnSpc>
              <a:spcBef>
                <a:spcPts val="0"/>
              </a:spcBef>
              <a:spcAft>
                <a:spcPts val="0"/>
              </a:spcAft>
              <a:defRPr sz="2500" b="1">
                <a:solidFill>
                  <a:srgbClr val="20786E"/>
                </a:solidFill>
                <a:latin typeface="Lato"/>
              </a:defRPr>
            </a:pPr>
            <a:r>
              <a:t>70%</a:t>
            </a:r>
          </a:p>
        </p:txBody>
      </p:sp>
      <p:sp>
        <p:nvSpPr>
          <p:cNvPr id="33" name="TextBox 32"/>
          <p:cNvSpPr txBox="1"/>
          <p:nvPr/>
        </p:nvSpPr>
        <p:spPr>
          <a:xfrm>
            <a:off x="558800" y="5765800"/>
            <a:ext cx="11049000" cy="317500"/>
          </a:xfrm>
          <a:prstGeom prst="rect">
            <a:avLst/>
          </a:prstGeom>
          <a:noFill/>
        </p:spPr>
        <p:txBody>
          <a:bodyPr wrap="none" tIns="0" bIns="0" lIns="0" rIns="0">
            <a:spAutoFit/>
          </a:bodyPr>
          <a:lstStyle/>
          <a:p>
            <a:pPr>
              <a:lnSpc>
                <a:spcPct val="112000"/>
              </a:lnSpc>
              <a:spcBef>
                <a:spcPts val="0"/>
              </a:spcBef>
              <a:spcAft>
                <a:spcPts val="0"/>
              </a:spcAft>
              <a:defRPr sz="1600" b="0">
                <a:solidFill>
                  <a:srgbClr val="596477"/>
                </a:solidFill>
                <a:latin typeface="Lato"/>
              </a:defRPr>
            </a:pPr>
            <a:r>
              <a:t>Adapted = trained the final two DINO blocks and its category classifier.</a:t>
            </a:r>
          </a:p>
        </p:txBody>
      </p:sp>
      <p:sp>
        <p:nvSpPr>
          <p:cNvPr id="34" name="TextBox 33"/>
          <p:cNvSpPr txBox="1"/>
          <p:nvPr/>
        </p:nvSpPr>
        <p:spPr>
          <a:xfrm>
            <a:off x="558800" y="6108700"/>
            <a:ext cx="11176000" cy="215900"/>
          </a:xfrm>
          <a:prstGeom prst="rect">
            <a:avLst/>
          </a:prstGeom>
          <a:noFill/>
        </p:spPr>
        <p:txBody>
          <a:bodyPr wrap="none" tIns="0" bIns="0" lIns="0" rIns="0">
            <a:spAutoFit/>
          </a:bodyPr>
          <a:lstStyle/>
          <a:p>
            <a:pPr>
              <a:lnSpc>
                <a:spcPct val="112000"/>
              </a:lnSpc>
              <a:spcBef>
                <a:spcPts val="0"/>
              </a:spcBef>
              <a:spcAft>
                <a:spcPts val="0"/>
              </a:spcAft>
              <a:defRPr sz="1100" b="0">
                <a:solidFill>
                  <a:srgbClr val="596477"/>
                </a:solidFill>
                <a:latin typeface="Lato"/>
              </a:defRPr>
            </a:pPr>
            <a:r>
              <a:t>Single-run validation comparisons; final test untouched. These are not whole-slide detection results.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000"/>
            <a:ext cx="330200" cy="508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92100"/>
            <a:ext cx="10541000" cy="279400"/>
          </a:xfrm>
          <a:prstGeom prst="rect">
            <a:avLst/>
          </a:prstGeom>
          <a:noFill/>
        </p:spPr>
        <p:txBody>
          <a:bodyPr wrap="none" tIns="0" bIns="0" lIns="0" rIns="0">
            <a:spAutoFit/>
          </a:bodyPr>
          <a:lstStyle/>
          <a:p>
            <a:pPr>
              <a:lnSpc>
                <a:spcPct val="112000"/>
              </a:lnSpc>
              <a:spcBef>
                <a:spcPts val="0"/>
              </a:spcBef>
              <a:spcAft>
                <a:spcPts val="0"/>
              </a:spcAft>
              <a:defRPr sz="1100" b="1">
                <a:solidFill>
                  <a:srgbClr val="93451F"/>
                </a:solidFill>
                <a:latin typeface="Lato"/>
              </a:defRPr>
            </a:pPr>
            <a:r>
              <a:t>06 / CLASSIFIER BACKBONES / ERRORS</a:t>
            </a:r>
          </a:p>
        </p:txBody>
      </p:sp>
      <p:sp>
        <p:nvSpPr>
          <p:cNvPr id="5" name="TextBox 4"/>
          <p:cNvSpPr txBox="1"/>
          <p:nvPr/>
        </p:nvSpPr>
        <p:spPr>
          <a:xfrm>
            <a:off x="533400" y="825500"/>
            <a:ext cx="11176000" cy="1117600"/>
          </a:xfrm>
          <a:prstGeom prst="rect">
            <a:avLst/>
          </a:prstGeom>
          <a:noFill/>
        </p:spPr>
        <p:txBody>
          <a:bodyPr wrap="none" tIns="0" bIns="0" lIns="0" rIns="0">
            <a:spAutoFit/>
          </a:bodyPr>
          <a:lstStyle/>
          <a:p>
            <a:pPr>
              <a:lnSpc>
                <a:spcPct val="112000"/>
              </a:lnSpc>
              <a:spcBef>
                <a:spcPts val="0"/>
              </a:spcBef>
              <a:spcAft>
                <a:spcPts val="0"/>
              </a:spcAft>
              <a:defRPr sz="3400" b="1">
                <a:solidFill>
                  <a:srgbClr val="202D48"/>
                </a:solidFill>
                <a:latin typeface="Lato"/>
              </a:defRPr>
            </a:pPr>
            <a:r>
              <a:t>Where identification still struggles</a:t>
            </a:r>
          </a:p>
        </p:txBody>
      </p:sp>
      <p:sp>
        <p:nvSpPr>
          <p:cNvPr id="6" name="Rectangle 5"/>
          <p:cNvSpPr/>
          <p:nvPr/>
        </p:nvSpPr>
        <p:spPr>
          <a:xfrm>
            <a:off x="533400" y="6413500"/>
            <a:ext cx="11125200" cy="127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3400" y="6578600"/>
            <a:ext cx="10160000" cy="177800"/>
          </a:xfrm>
          <a:prstGeom prst="rect">
            <a:avLst/>
          </a:prstGeom>
          <a:noFill/>
        </p:spPr>
        <p:txBody>
          <a:bodyPr wrap="none" tIns="0" bIns="0" lIns="0" rIns="0">
            <a:spAutoFit/>
          </a:bodyPr>
          <a:lstStyle/>
          <a:p>
            <a:pPr>
              <a:lnSpc>
                <a:spcPct val="112000"/>
              </a:lnSpc>
              <a:spcBef>
                <a:spcPts val="0"/>
              </a:spcBef>
              <a:spcAft>
                <a:spcPts val="0"/>
              </a:spcAft>
              <a:defRPr sz="900" b="0">
                <a:solidFill>
                  <a:srgbClr val="596477"/>
                </a:solidFill>
                <a:latin typeface="Lato"/>
              </a:defRPr>
            </a:pPr>
            <a:r>
              <a:t>SMITHSONIAN × RICE D2K  ·  CLASSIFICATION UPDATE</a:t>
            </a:r>
          </a:p>
        </p:txBody>
      </p:sp>
      <p:sp>
        <p:nvSpPr>
          <p:cNvPr id="8" name="TextBox 7"/>
          <p:cNvSpPr txBox="1"/>
          <p:nvPr/>
        </p:nvSpPr>
        <p:spPr>
          <a:xfrm>
            <a:off x="11430000" y="6565900"/>
            <a:ext cx="254000" cy="203200"/>
          </a:xfrm>
          <a:prstGeom prst="rect">
            <a:avLst/>
          </a:prstGeom>
          <a:noFill/>
        </p:spPr>
        <p:txBody>
          <a:bodyPr wrap="none" tIns="0" bIns="0" lIns="0" rIns="0">
            <a:spAutoFit/>
          </a:bodyPr>
          <a:lstStyle/>
          <a:p>
            <a:pPr>
              <a:lnSpc>
                <a:spcPct val="112000"/>
              </a:lnSpc>
              <a:spcBef>
                <a:spcPts val="0"/>
              </a:spcBef>
              <a:spcAft>
                <a:spcPts val="0"/>
              </a:spcAft>
              <a:defRPr sz="1000" b="0">
                <a:solidFill>
                  <a:srgbClr val="596477"/>
                </a:solidFill>
                <a:latin typeface="Lato"/>
              </a:defRPr>
            </a:pPr>
            <a:r>
              <a:t>6</a:t>
            </a:r>
          </a:p>
        </p:txBody>
      </p:sp>
      <p:sp>
        <p:nvSpPr>
          <p:cNvPr id="9" name="TextBox 8"/>
          <p:cNvSpPr txBox="1"/>
          <p:nvPr/>
        </p:nvSpPr>
        <p:spPr>
          <a:xfrm>
            <a:off x="558800" y="1651000"/>
            <a:ext cx="11099800" cy="381000"/>
          </a:xfrm>
          <a:prstGeom prst="rect">
            <a:avLst/>
          </a:prstGeom>
          <a:noFill/>
        </p:spPr>
        <p:txBody>
          <a:bodyPr wrap="none" tIns="0" bIns="0" lIns="0" rIns="0">
            <a:spAutoFit/>
          </a:bodyPr>
          <a:lstStyle/>
          <a:p>
            <a:pPr>
              <a:lnSpc>
                <a:spcPct val="112000"/>
              </a:lnSpc>
              <a:spcBef>
                <a:spcPts val="0"/>
              </a:spcBef>
              <a:spcAft>
                <a:spcPts val="0"/>
              </a:spcAft>
              <a:defRPr sz="2000" b="0">
                <a:solidFill>
                  <a:srgbClr val="596477"/>
                </a:solidFill>
                <a:latin typeface="Lato"/>
              </a:defRPr>
            </a:pPr>
            <a:r>
              <a:t>Adapted DINO · unseen-slide validation</a:t>
            </a:r>
          </a:p>
        </p:txBody>
      </p:sp>
      <p:sp>
        <p:nvSpPr>
          <p:cNvPr id="10" name="TextBox 9"/>
          <p:cNvSpPr txBox="1"/>
          <p:nvPr/>
        </p:nvSpPr>
        <p:spPr>
          <a:xfrm>
            <a:off x="558800" y="2349500"/>
            <a:ext cx="5397500" cy="304800"/>
          </a:xfrm>
          <a:prstGeom prst="rect">
            <a:avLst/>
          </a:prstGeom>
          <a:noFill/>
        </p:spPr>
        <p:txBody>
          <a:bodyPr wrap="none" tIns="0" bIns="0" lIns="0" rIns="0">
            <a:spAutoFit/>
          </a:bodyPr>
          <a:lstStyle/>
          <a:p>
            <a:pPr>
              <a:lnSpc>
                <a:spcPct val="112000"/>
              </a:lnSpc>
              <a:spcBef>
                <a:spcPts val="0"/>
              </a:spcBef>
              <a:spcAft>
                <a:spcPts val="0"/>
              </a:spcAft>
              <a:defRPr sz="1200" b="1">
                <a:solidFill>
                  <a:srgbClr val="596477"/>
                </a:solidFill>
                <a:latin typeface="Lato"/>
              </a:defRPr>
            </a:pPr>
            <a:r>
              <a:t>EXPERT CATEGORY</a:t>
            </a:r>
          </a:p>
        </p:txBody>
      </p:sp>
      <p:sp>
        <p:nvSpPr>
          <p:cNvPr id="11" name="TextBox 10"/>
          <p:cNvSpPr txBox="1"/>
          <p:nvPr/>
        </p:nvSpPr>
        <p:spPr>
          <a:xfrm>
            <a:off x="6134100" y="2349500"/>
            <a:ext cx="2921000" cy="304800"/>
          </a:xfrm>
          <a:prstGeom prst="rect">
            <a:avLst/>
          </a:prstGeom>
          <a:noFill/>
        </p:spPr>
        <p:txBody>
          <a:bodyPr wrap="none" tIns="0" bIns="0" lIns="0" rIns="0">
            <a:spAutoFit/>
          </a:bodyPr>
          <a:lstStyle/>
          <a:p>
            <a:pPr>
              <a:lnSpc>
                <a:spcPct val="112000"/>
              </a:lnSpc>
              <a:spcBef>
                <a:spcPts val="0"/>
              </a:spcBef>
              <a:spcAft>
                <a:spcPts val="0"/>
              </a:spcAft>
              <a:defRPr sz="1200" b="1">
                <a:solidFill>
                  <a:srgbClr val="596477"/>
                </a:solidFill>
                <a:latin typeface="Lato"/>
              </a:defRPr>
            </a:pPr>
            <a:r>
              <a:t>CORRECTLY IDENTIFIED</a:t>
            </a:r>
          </a:p>
        </p:txBody>
      </p:sp>
      <p:sp>
        <p:nvSpPr>
          <p:cNvPr id="12" name="TextBox 11"/>
          <p:cNvSpPr txBox="1"/>
          <p:nvPr/>
        </p:nvSpPr>
        <p:spPr>
          <a:xfrm>
            <a:off x="10033000" y="2349500"/>
            <a:ext cx="1625600" cy="304800"/>
          </a:xfrm>
          <a:prstGeom prst="rect">
            <a:avLst/>
          </a:prstGeom>
          <a:noFill/>
        </p:spPr>
        <p:txBody>
          <a:bodyPr wrap="none" tIns="0" bIns="0" lIns="0" rIns="0">
            <a:spAutoFit/>
          </a:bodyPr>
          <a:lstStyle/>
          <a:p>
            <a:pPr>
              <a:lnSpc>
                <a:spcPct val="112000"/>
              </a:lnSpc>
              <a:spcBef>
                <a:spcPts val="0"/>
              </a:spcBef>
              <a:spcAft>
                <a:spcPts val="0"/>
              </a:spcAft>
              <a:defRPr sz="1200" b="1">
                <a:solidFill>
                  <a:srgbClr val="596477"/>
                </a:solidFill>
                <a:latin typeface="Lato"/>
              </a:defRPr>
            </a:pPr>
            <a:r>
              <a:t>CORRECT / TOTAL</a:t>
            </a:r>
          </a:p>
        </p:txBody>
      </p:sp>
      <p:sp>
        <p:nvSpPr>
          <p:cNvPr id="13" name="TextBox 12"/>
          <p:cNvSpPr txBox="1"/>
          <p:nvPr/>
        </p:nvSpPr>
        <p:spPr>
          <a:xfrm>
            <a:off x="558800" y="2819400"/>
            <a:ext cx="5346700" cy="393700"/>
          </a:xfrm>
          <a:prstGeom prst="rect">
            <a:avLst/>
          </a:prstGeom>
          <a:noFill/>
        </p:spPr>
        <p:txBody>
          <a:bodyPr wrap="none" tIns="0" bIns="0" lIns="0" rIns="0">
            <a:spAutoFit/>
          </a:bodyPr>
          <a:lstStyle/>
          <a:p>
            <a:pPr>
              <a:lnSpc>
                <a:spcPct val="112000"/>
              </a:lnSpc>
              <a:spcBef>
                <a:spcPts val="0"/>
              </a:spcBef>
              <a:spcAft>
                <a:spcPts val="0"/>
              </a:spcAft>
              <a:defRPr sz="2000" b="1">
                <a:solidFill>
                  <a:srgbClr val="202D48"/>
                </a:solidFill>
                <a:latin typeface="Lato"/>
              </a:defRPr>
            </a:pPr>
            <a:r>
              <a:t>Momipites wyomingensis</a:t>
            </a:r>
          </a:p>
        </p:txBody>
      </p:sp>
      <p:sp>
        <p:nvSpPr>
          <p:cNvPr id="14" name="Rectangle 13"/>
          <p:cNvSpPr/>
          <p:nvPr/>
        </p:nvSpPr>
        <p:spPr>
          <a:xfrm>
            <a:off x="6134100" y="2844800"/>
            <a:ext cx="2844800" cy="2286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56700" y="2806700"/>
            <a:ext cx="787400" cy="381000"/>
          </a:xfrm>
          <a:prstGeom prst="rect">
            <a:avLst/>
          </a:prstGeom>
          <a:noFill/>
        </p:spPr>
        <p:txBody>
          <a:bodyPr wrap="none" tIns="0" bIns="0" lIns="0" rIns="0">
            <a:spAutoFit/>
          </a:bodyPr>
          <a:lstStyle/>
          <a:p>
            <a:pPr>
              <a:lnSpc>
                <a:spcPct val="112000"/>
              </a:lnSpc>
              <a:spcBef>
                <a:spcPts val="0"/>
              </a:spcBef>
              <a:spcAft>
                <a:spcPts val="0"/>
              </a:spcAft>
              <a:defRPr sz="2000" b="1">
                <a:solidFill>
                  <a:srgbClr val="93451F"/>
                </a:solidFill>
                <a:latin typeface="Lato"/>
              </a:defRPr>
            </a:pPr>
            <a:r>
              <a:t>0%</a:t>
            </a:r>
          </a:p>
        </p:txBody>
      </p:sp>
      <p:sp>
        <p:nvSpPr>
          <p:cNvPr id="16" name="TextBox 15"/>
          <p:cNvSpPr txBox="1"/>
          <p:nvPr/>
        </p:nvSpPr>
        <p:spPr>
          <a:xfrm>
            <a:off x="10274300" y="2806700"/>
            <a:ext cx="1397000" cy="381000"/>
          </a:xfrm>
          <a:prstGeom prst="rect">
            <a:avLst/>
          </a:prstGeom>
          <a:noFill/>
        </p:spPr>
        <p:txBody>
          <a:bodyPr wrap="none" tIns="0" bIns="0" lIns="0" rIns="0">
            <a:spAutoFit/>
          </a:bodyPr>
          <a:lstStyle/>
          <a:p>
            <a:pPr>
              <a:lnSpc>
                <a:spcPct val="112000"/>
              </a:lnSpc>
              <a:spcBef>
                <a:spcPts val="0"/>
              </a:spcBef>
              <a:spcAft>
                <a:spcPts val="0"/>
              </a:spcAft>
              <a:defRPr sz="2000" b="1">
                <a:solidFill>
                  <a:srgbClr val="202D48"/>
                </a:solidFill>
                <a:latin typeface="Lato"/>
              </a:defRPr>
            </a:pPr>
            <a:r>
              <a:t>0 / 21</a:t>
            </a:r>
          </a:p>
        </p:txBody>
      </p:sp>
      <p:sp>
        <p:nvSpPr>
          <p:cNvPr id="17" name="TextBox 16"/>
          <p:cNvSpPr txBox="1"/>
          <p:nvPr/>
        </p:nvSpPr>
        <p:spPr>
          <a:xfrm>
            <a:off x="558800" y="3263900"/>
            <a:ext cx="5346700" cy="393700"/>
          </a:xfrm>
          <a:prstGeom prst="rect">
            <a:avLst/>
          </a:prstGeom>
          <a:noFill/>
        </p:spPr>
        <p:txBody>
          <a:bodyPr wrap="none" tIns="0" bIns="0" lIns="0" rIns="0">
            <a:spAutoFit/>
          </a:bodyPr>
          <a:lstStyle/>
          <a:p>
            <a:pPr>
              <a:lnSpc>
                <a:spcPct val="112000"/>
              </a:lnSpc>
              <a:spcBef>
                <a:spcPts val="0"/>
              </a:spcBef>
              <a:spcAft>
                <a:spcPts val="0"/>
              </a:spcAft>
              <a:defRPr sz="2000" b="0">
                <a:solidFill>
                  <a:srgbClr val="202D48"/>
                </a:solidFill>
                <a:latin typeface="Lato"/>
              </a:defRPr>
            </a:pPr>
            <a:r>
              <a:t>Polyatriopollenites type</a:t>
            </a:r>
          </a:p>
        </p:txBody>
      </p:sp>
      <p:sp>
        <p:nvSpPr>
          <p:cNvPr id="18" name="Rectangle 17"/>
          <p:cNvSpPr/>
          <p:nvPr/>
        </p:nvSpPr>
        <p:spPr>
          <a:xfrm>
            <a:off x="6134100" y="3289300"/>
            <a:ext cx="2844800" cy="2286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34100" y="3289300"/>
            <a:ext cx="316088" cy="2286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56700" y="3251200"/>
            <a:ext cx="787400" cy="381000"/>
          </a:xfrm>
          <a:prstGeom prst="rect">
            <a:avLst/>
          </a:prstGeom>
          <a:noFill/>
        </p:spPr>
        <p:txBody>
          <a:bodyPr wrap="none" tIns="0" bIns="0" lIns="0" rIns="0">
            <a:spAutoFit/>
          </a:bodyPr>
          <a:lstStyle/>
          <a:p>
            <a:pPr>
              <a:lnSpc>
                <a:spcPct val="112000"/>
              </a:lnSpc>
              <a:spcBef>
                <a:spcPts val="0"/>
              </a:spcBef>
              <a:spcAft>
                <a:spcPts val="0"/>
              </a:spcAft>
              <a:defRPr sz="2000" b="1">
                <a:solidFill>
                  <a:srgbClr val="93451F"/>
                </a:solidFill>
                <a:latin typeface="Lato"/>
              </a:defRPr>
            </a:pPr>
            <a:r>
              <a:t>11%</a:t>
            </a:r>
          </a:p>
        </p:txBody>
      </p:sp>
      <p:sp>
        <p:nvSpPr>
          <p:cNvPr id="21" name="TextBox 20"/>
          <p:cNvSpPr txBox="1"/>
          <p:nvPr/>
        </p:nvSpPr>
        <p:spPr>
          <a:xfrm>
            <a:off x="10274300" y="3251200"/>
            <a:ext cx="1397000" cy="381000"/>
          </a:xfrm>
          <a:prstGeom prst="rect">
            <a:avLst/>
          </a:prstGeom>
          <a:noFill/>
        </p:spPr>
        <p:txBody>
          <a:bodyPr wrap="none" tIns="0" bIns="0" lIns="0" rIns="0">
            <a:spAutoFit/>
          </a:bodyPr>
          <a:lstStyle/>
          <a:p>
            <a:pPr>
              <a:lnSpc>
                <a:spcPct val="112000"/>
              </a:lnSpc>
              <a:spcBef>
                <a:spcPts val="0"/>
              </a:spcBef>
              <a:spcAft>
                <a:spcPts val="0"/>
              </a:spcAft>
              <a:defRPr sz="2000" b="1">
                <a:solidFill>
                  <a:srgbClr val="202D48"/>
                </a:solidFill>
                <a:latin typeface="Lato"/>
              </a:defRPr>
            </a:pPr>
            <a:r>
              <a:t>1 / 9</a:t>
            </a:r>
          </a:p>
        </p:txBody>
      </p:sp>
      <p:sp>
        <p:nvSpPr>
          <p:cNvPr id="22" name="TextBox 21"/>
          <p:cNvSpPr txBox="1"/>
          <p:nvPr/>
        </p:nvSpPr>
        <p:spPr>
          <a:xfrm>
            <a:off x="558800" y="3708400"/>
            <a:ext cx="5346700" cy="393700"/>
          </a:xfrm>
          <a:prstGeom prst="rect">
            <a:avLst/>
          </a:prstGeom>
          <a:noFill/>
        </p:spPr>
        <p:txBody>
          <a:bodyPr wrap="none" tIns="0" bIns="0" lIns="0" rIns="0">
            <a:spAutoFit/>
          </a:bodyPr>
          <a:lstStyle/>
          <a:p>
            <a:pPr>
              <a:lnSpc>
                <a:spcPct val="112000"/>
              </a:lnSpc>
              <a:spcBef>
                <a:spcPts val="0"/>
              </a:spcBef>
              <a:spcAft>
                <a:spcPts val="0"/>
              </a:spcAft>
              <a:defRPr sz="2000" b="0">
                <a:solidFill>
                  <a:srgbClr val="202D48"/>
                </a:solidFill>
                <a:latin typeface="Lato"/>
              </a:defRPr>
            </a:pPr>
            <a:r>
              <a:t>Bombacacidites sp.</a:t>
            </a:r>
          </a:p>
        </p:txBody>
      </p:sp>
      <p:sp>
        <p:nvSpPr>
          <p:cNvPr id="23" name="Rectangle 22"/>
          <p:cNvSpPr/>
          <p:nvPr/>
        </p:nvSpPr>
        <p:spPr>
          <a:xfrm>
            <a:off x="6134100" y="3733800"/>
            <a:ext cx="2844800" cy="2286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34100" y="3733800"/>
            <a:ext cx="334682" cy="2286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56700" y="3695700"/>
            <a:ext cx="787400" cy="381000"/>
          </a:xfrm>
          <a:prstGeom prst="rect">
            <a:avLst/>
          </a:prstGeom>
          <a:noFill/>
        </p:spPr>
        <p:txBody>
          <a:bodyPr wrap="none" tIns="0" bIns="0" lIns="0" rIns="0">
            <a:spAutoFit/>
          </a:bodyPr>
          <a:lstStyle/>
          <a:p>
            <a:pPr>
              <a:lnSpc>
                <a:spcPct val="112000"/>
              </a:lnSpc>
              <a:spcBef>
                <a:spcPts val="0"/>
              </a:spcBef>
              <a:spcAft>
                <a:spcPts val="0"/>
              </a:spcAft>
              <a:defRPr sz="2000" b="1">
                <a:solidFill>
                  <a:srgbClr val="93451F"/>
                </a:solidFill>
                <a:latin typeface="Lato"/>
              </a:defRPr>
            </a:pPr>
            <a:r>
              <a:t>12%</a:t>
            </a:r>
          </a:p>
        </p:txBody>
      </p:sp>
      <p:sp>
        <p:nvSpPr>
          <p:cNvPr id="26" name="TextBox 25"/>
          <p:cNvSpPr txBox="1"/>
          <p:nvPr/>
        </p:nvSpPr>
        <p:spPr>
          <a:xfrm>
            <a:off x="10274300" y="3695700"/>
            <a:ext cx="1397000" cy="381000"/>
          </a:xfrm>
          <a:prstGeom prst="rect">
            <a:avLst/>
          </a:prstGeom>
          <a:noFill/>
        </p:spPr>
        <p:txBody>
          <a:bodyPr wrap="none" tIns="0" bIns="0" lIns="0" rIns="0">
            <a:spAutoFit/>
          </a:bodyPr>
          <a:lstStyle/>
          <a:p>
            <a:pPr>
              <a:lnSpc>
                <a:spcPct val="112000"/>
              </a:lnSpc>
              <a:spcBef>
                <a:spcPts val="0"/>
              </a:spcBef>
              <a:spcAft>
                <a:spcPts val="0"/>
              </a:spcAft>
              <a:defRPr sz="2000" b="1">
                <a:solidFill>
                  <a:srgbClr val="202D48"/>
                </a:solidFill>
                <a:latin typeface="Lato"/>
              </a:defRPr>
            </a:pPr>
            <a:r>
              <a:t>2 / 17</a:t>
            </a:r>
          </a:p>
        </p:txBody>
      </p:sp>
      <p:sp>
        <p:nvSpPr>
          <p:cNvPr id="27" name="TextBox 26"/>
          <p:cNvSpPr txBox="1"/>
          <p:nvPr/>
        </p:nvSpPr>
        <p:spPr>
          <a:xfrm>
            <a:off x="558800" y="4152900"/>
            <a:ext cx="5346700" cy="393700"/>
          </a:xfrm>
          <a:prstGeom prst="rect">
            <a:avLst/>
          </a:prstGeom>
          <a:noFill/>
        </p:spPr>
        <p:txBody>
          <a:bodyPr wrap="none" tIns="0" bIns="0" lIns="0" rIns="0">
            <a:spAutoFit/>
          </a:bodyPr>
          <a:lstStyle/>
          <a:p>
            <a:pPr>
              <a:lnSpc>
                <a:spcPct val="112000"/>
              </a:lnSpc>
              <a:spcBef>
                <a:spcPts val="0"/>
              </a:spcBef>
              <a:spcAft>
                <a:spcPts val="0"/>
              </a:spcAft>
              <a:defRPr sz="2000" b="0">
                <a:solidFill>
                  <a:srgbClr val="202D48"/>
                </a:solidFill>
                <a:latin typeface="Lato"/>
              </a:defRPr>
            </a:pPr>
            <a:r>
              <a:t>Ulmipollenites sp.</a:t>
            </a:r>
          </a:p>
        </p:txBody>
      </p:sp>
      <p:sp>
        <p:nvSpPr>
          <p:cNvPr id="28" name="Rectangle 27"/>
          <p:cNvSpPr/>
          <p:nvPr/>
        </p:nvSpPr>
        <p:spPr>
          <a:xfrm>
            <a:off x="6134100" y="4178300"/>
            <a:ext cx="2844800" cy="2286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34100" y="4178300"/>
            <a:ext cx="444500" cy="2286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56700" y="4140200"/>
            <a:ext cx="787400" cy="381000"/>
          </a:xfrm>
          <a:prstGeom prst="rect">
            <a:avLst/>
          </a:prstGeom>
          <a:noFill/>
        </p:spPr>
        <p:txBody>
          <a:bodyPr wrap="none" tIns="0" bIns="0" lIns="0" rIns="0">
            <a:spAutoFit/>
          </a:bodyPr>
          <a:lstStyle/>
          <a:p>
            <a:pPr>
              <a:lnSpc>
                <a:spcPct val="112000"/>
              </a:lnSpc>
              <a:spcBef>
                <a:spcPts val="0"/>
              </a:spcBef>
              <a:spcAft>
                <a:spcPts val="0"/>
              </a:spcAft>
              <a:defRPr sz="2000" b="1">
                <a:solidFill>
                  <a:srgbClr val="93451F"/>
                </a:solidFill>
                <a:latin typeface="Lato"/>
              </a:defRPr>
            </a:pPr>
            <a:r>
              <a:t>16%</a:t>
            </a:r>
          </a:p>
        </p:txBody>
      </p:sp>
      <p:sp>
        <p:nvSpPr>
          <p:cNvPr id="31" name="TextBox 30"/>
          <p:cNvSpPr txBox="1"/>
          <p:nvPr/>
        </p:nvSpPr>
        <p:spPr>
          <a:xfrm>
            <a:off x="10274300" y="4140200"/>
            <a:ext cx="1397000" cy="381000"/>
          </a:xfrm>
          <a:prstGeom prst="rect">
            <a:avLst/>
          </a:prstGeom>
          <a:noFill/>
        </p:spPr>
        <p:txBody>
          <a:bodyPr wrap="none" tIns="0" bIns="0" lIns="0" rIns="0">
            <a:spAutoFit/>
          </a:bodyPr>
          <a:lstStyle/>
          <a:p>
            <a:pPr>
              <a:lnSpc>
                <a:spcPct val="112000"/>
              </a:lnSpc>
              <a:spcBef>
                <a:spcPts val="0"/>
              </a:spcBef>
              <a:spcAft>
                <a:spcPts val="0"/>
              </a:spcAft>
              <a:defRPr sz="2000" b="1">
                <a:solidFill>
                  <a:srgbClr val="202D48"/>
                </a:solidFill>
                <a:latin typeface="Lato"/>
              </a:defRPr>
            </a:pPr>
            <a:r>
              <a:t>5 / 32</a:t>
            </a:r>
          </a:p>
        </p:txBody>
      </p:sp>
      <p:sp>
        <p:nvSpPr>
          <p:cNvPr id="32" name="TextBox 31"/>
          <p:cNvSpPr txBox="1"/>
          <p:nvPr/>
        </p:nvSpPr>
        <p:spPr>
          <a:xfrm>
            <a:off x="558800" y="4597400"/>
            <a:ext cx="5346700" cy="393700"/>
          </a:xfrm>
          <a:prstGeom prst="rect">
            <a:avLst/>
          </a:prstGeom>
          <a:noFill/>
        </p:spPr>
        <p:txBody>
          <a:bodyPr wrap="none" tIns="0" bIns="0" lIns="0" rIns="0">
            <a:spAutoFit/>
          </a:bodyPr>
          <a:lstStyle/>
          <a:p>
            <a:pPr>
              <a:lnSpc>
                <a:spcPct val="112000"/>
              </a:lnSpc>
              <a:spcBef>
                <a:spcPts val="0"/>
              </a:spcBef>
              <a:spcAft>
                <a:spcPts val="0"/>
              </a:spcAft>
              <a:defRPr sz="2000" b="0">
                <a:solidFill>
                  <a:srgbClr val="202D48"/>
                </a:solidFill>
                <a:latin typeface="Lato"/>
              </a:defRPr>
            </a:pPr>
            <a:r>
              <a:t>Psilatricolpites sp.</a:t>
            </a:r>
          </a:p>
        </p:txBody>
      </p:sp>
      <p:sp>
        <p:nvSpPr>
          <p:cNvPr id="33" name="Rectangle 32"/>
          <p:cNvSpPr/>
          <p:nvPr/>
        </p:nvSpPr>
        <p:spPr>
          <a:xfrm>
            <a:off x="6134100" y="4622800"/>
            <a:ext cx="2844800" cy="2286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34100" y="4622800"/>
            <a:ext cx="474133" cy="2286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56700" y="4584700"/>
            <a:ext cx="787400" cy="381000"/>
          </a:xfrm>
          <a:prstGeom prst="rect">
            <a:avLst/>
          </a:prstGeom>
          <a:noFill/>
        </p:spPr>
        <p:txBody>
          <a:bodyPr wrap="none" tIns="0" bIns="0" lIns="0" rIns="0">
            <a:spAutoFit/>
          </a:bodyPr>
          <a:lstStyle/>
          <a:p>
            <a:pPr>
              <a:lnSpc>
                <a:spcPct val="112000"/>
              </a:lnSpc>
              <a:spcBef>
                <a:spcPts val="0"/>
              </a:spcBef>
              <a:spcAft>
                <a:spcPts val="0"/>
              </a:spcAft>
              <a:defRPr sz="2000" b="1">
                <a:solidFill>
                  <a:srgbClr val="93451F"/>
                </a:solidFill>
                <a:latin typeface="Lato"/>
              </a:defRPr>
            </a:pPr>
            <a:r>
              <a:t>17%</a:t>
            </a:r>
          </a:p>
        </p:txBody>
      </p:sp>
      <p:sp>
        <p:nvSpPr>
          <p:cNvPr id="36" name="TextBox 35"/>
          <p:cNvSpPr txBox="1"/>
          <p:nvPr/>
        </p:nvSpPr>
        <p:spPr>
          <a:xfrm>
            <a:off x="10274300" y="4584700"/>
            <a:ext cx="1397000" cy="381000"/>
          </a:xfrm>
          <a:prstGeom prst="rect">
            <a:avLst/>
          </a:prstGeom>
          <a:noFill/>
        </p:spPr>
        <p:txBody>
          <a:bodyPr wrap="none" tIns="0" bIns="0" lIns="0" rIns="0">
            <a:spAutoFit/>
          </a:bodyPr>
          <a:lstStyle/>
          <a:p>
            <a:pPr>
              <a:lnSpc>
                <a:spcPct val="112000"/>
              </a:lnSpc>
              <a:spcBef>
                <a:spcPts val="0"/>
              </a:spcBef>
              <a:spcAft>
                <a:spcPts val="0"/>
              </a:spcAft>
              <a:defRPr sz="2000" b="1">
                <a:solidFill>
                  <a:srgbClr val="202D48"/>
                </a:solidFill>
                <a:latin typeface="Lato"/>
              </a:defRPr>
            </a:pPr>
            <a:r>
              <a:t>3 / 18</a:t>
            </a:r>
          </a:p>
        </p:txBody>
      </p:sp>
      <p:sp>
        <p:nvSpPr>
          <p:cNvPr id="37" name="TextBox 36"/>
          <p:cNvSpPr txBox="1"/>
          <p:nvPr/>
        </p:nvSpPr>
        <p:spPr>
          <a:xfrm>
            <a:off x="558800" y="5041900"/>
            <a:ext cx="5346700" cy="393700"/>
          </a:xfrm>
          <a:prstGeom prst="rect">
            <a:avLst/>
          </a:prstGeom>
          <a:noFill/>
        </p:spPr>
        <p:txBody>
          <a:bodyPr wrap="none" tIns="0" bIns="0" lIns="0" rIns="0">
            <a:spAutoFit/>
          </a:bodyPr>
          <a:lstStyle/>
          <a:p>
            <a:pPr>
              <a:lnSpc>
                <a:spcPct val="112000"/>
              </a:lnSpc>
              <a:spcBef>
                <a:spcPts val="0"/>
              </a:spcBef>
              <a:spcAft>
                <a:spcPts val="0"/>
              </a:spcAft>
              <a:defRPr sz="2000" b="0">
                <a:solidFill>
                  <a:srgbClr val="202D48"/>
                </a:solidFill>
                <a:latin typeface="Lato"/>
              </a:defRPr>
            </a:pPr>
            <a:r>
              <a:t>Arecipites sp.</a:t>
            </a:r>
          </a:p>
        </p:txBody>
      </p:sp>
      <p:sp>
        <p:nvSpPr>
          <p:cNvPr id="38" name="Rectangle 37"/>
          <p:cNvSpPr/>
          <p:nvPr/>
        </p:nvSpPr>
        <p:spPr>
          <a:xfrm>
            <a:off x="6134100" y="5067300"/>
            <a:ext cx="2844800" cy="228600"/>
          </a:xfrm>
          <a:prstGeom prst="rect">
            <a:avLst/>
          </a:prstGeom>
          <a:solidFill>
            <a:srgbClr val="E6DF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34100" y="5067300"/>
            <a:ext cx="517236" cy="228600"/>
          </a:xfrm>
          <a:prstGeom prst="rect">
            <a:avLst/>
          </a:prstGeom>
          <a:solidFill>
            <a:srgbClr val="9345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56700" y="5029200"/>
            <a:ext cx="787400" cy="381000"/>
          </a:xfrm>
          <a:prstGeom prst="rect">
            <a:avLst/>
          </a:prstGeom>
          <a:noFill/>
        </p:spPr>
        <p:txBody>
          <a:bodyPr wrap="none" tIns="0" bIns="0" lIns="0" rIns="0">
            <a:spAutoFit/>
          </a:bodyPr>
          <a:lstStyle/>
          <a:p>
            <a:pPr>
              <a:lnSpc>
                <a:spcPct val="112000"/>
              </a:lnSpc>
              <a:spcBef>
                <a:spcPts val="0"/>
              </a:spcBef>
              <a:spcAft>
                <a:spcPts val="0"/>
              </a:spcAft>
              <a:defRPr sz="2000" b="1">
                <a:solidFill>
                  <a:srgbClr val="93451F"/>
                </a:solidFill>
                <a:latin typeface="Lato"/>
              </a:defRPr>
            </a:pPr>
            <a:r>
              <a:t>18%</a:t>
            </a:r>
          </a:p>
        </p:txBody>
      </p:sp>
      <p:sp>
        <p:nvSpPr>
          <p:cNvPr id="41" name="TextBox 40"/>
          <p:cNvSpPr txBox="1"/>
          <p:nvPr/>
        </p:nvSpPr>
        <p:spPr>
          <a:xfrm>
            <a:off x="10274300" y="5029200"/>
            <a:ext cx="1397000" cy="381000"/>
          </a:xfrm>
          <a:prstGeom prst="rect">
            <a:avLst/>
          </a:prstGeom>
          <a:noFill/>
        </p:spPr>
        <p:txBody>
          <a:bodyPr wrap="none" tIns="0" bIns="0" lIns="0" rIns="0">
            <a:spAutoFit/>
          </a:bodyPr>
          <a:lstStyle/>
          <a:p>
            <a:pPr>
              <a:lnSpc>
                <a:spcPct val="112000"/>
              </a:lnSpc>
              <a:spcBef>
                <a:spcPts val="0"/>
              </a:spcBef>
              <a:spcAft>
                <a:spcPts val="0"/>
              </a:spcAft>
              <a:defRPr sz="2000" b="1">
                <a:solidFill>
                  <a:srgbClr val="202D48"/>
                </a:solidFill>
                <a:latin typeface="Lato"/>
              </a:defRPr>
            </a:pPr>
            <a:r>
              <a:t>2 / 11</a:t>
            </a:r>
          </a:p>
        </p:txBody>
      </p:sp>
      <p:sp>
        <p:nvSpPr>
          <p:cNvPr id="42" name="TextBox 41"/>
          <p:cNvSpPr txBox="1"/>
          <p:nvPr/>
        </p:nvSpPr>
        <p:spPr>
          <a:xfrm>
            <a:off x="558800" y="5702300"/>
            <a:ext cx="11049000" cy="292100"/>
          </a:xfrm>
          <a:prstGeom prst="rect">
            <a:avLst/>
          </a:prstGeom>
          <a:noFill/>
        </p:spPr>
        <p:txBody>
          <a:bodyPr wrap="none" tIns="0" bIns="0" lIns="0" rIns="0">
            <a:spAutoFit/>
          </a:bodyPr>
          <a:lstStyle/>
          <a:p>
            <a:pPr>
              <a:lnSpc>
                <a:spcPct val="112000"/>
              </a:lnSpc>
              <a:spcBef>
                <a:spcPts val="0"/>
              </a:spcBef>
              <a:spcAft>
                <a:spcPts val="0"/>
              </a:spcAft>
              <a:defRPr sz="1700" b="1">
                <a:solidFill>
                  <a:srgbClr val="93451F"/>
                </a:solidFill>
                <a:latin typeface="Lato"/>
              </a:defRPr>
            </a:pPr>
            <a:r>
              <a:t>18 of 21 Momipites wyomingensis were predicted as Momipites sp.</a:t>
            </a:r>
          </a:p>
        </p:txBody>
      </p:sp>
      <p:sp>
        <p:nvSpPr>
          <p:cNvPr id="43" name="TextBox 42"/>
          <p:cNvSpPr txBox="1"/>
          <p:nvPr/>
        </p:nvSpPr>
        <p:spPr>
          <a:xfrm>
            <a:off x="558800" y="6083300"/>
            <a:ext cx="11112500" cy="228600"/>
          </a:xfrm>
          <a:prstGeom prst="rect">
            <a:avLst/>
          </a:prstGeom>
          <a:noFill/>
        </p:spPr>
        <p:txBody>
          <a:bodyPr wrap="none" tIns="0" bIns="0" lIns="0" rIns="0">
            <a:spAutoFit/>
          </a:bodyPr>
          <a:lstStyle/>
          <a:p>
            <a:pPr>
              <a:lnSpc>
                <a:spcPct val="112000"/>
              </a:lnSpc>
              <a:spcBef>
                <a:spcPts val="0"/>
              </a:spcBef>
              <a:spcAft>
                <a:spcPts val="0"/>
              </a:spcAft>
              <a:defRPr sz="1200" b="0">
                <a:solidFill>
                  <a:srgbClr val="596477"/>
                </a:solidFill>
                <a:latin typeface="Lato"/>
              </a:defRPr>
            </a:pPr>
            <a:r>
              <a:t>Lowest category recall among categories with ≥5 validation examples; small samples remain uncertain.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