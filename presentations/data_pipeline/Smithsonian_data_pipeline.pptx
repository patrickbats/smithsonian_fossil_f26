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seconds</a:t>
            </a:r>
          </a:p>
          <a:p/>
          <a:p>
            <a:r>
              <a:t>SAY:</a:t>
            </a:r>
          </a:p>
          <a:p>
            <a:r>
              <a:t>We begin with two linked sources: the large microscope images and the separate expert annotation files. Each annotation is connected to its source slide, location, original identification, and mapped category. The existing inventory covers eighty-three image and annotation pairs, with two thousand two hundred ninety records in the initial target categories. We then check geometry, duplicate candidates, missing labels, and coverage across slides. The output is a traceable specimen inventory; it is not yet a quality-checked training dataset.</a:t>
            </a:r>
          </a:p>
          <a:p/>
          <a:p>
            <a:r>
              <a:t>SOURCE / PRESENTER CONTEXT (not spoken):</a:t>
            </a:r>
          </a:p>
          <a:p>
            <a:r>
              <a:t>Current verified data inventory and report Sections III–IV. Completed: pairing and count reconciliation. Crop quality and duplicate review remain preparation tasks. NO and unmarked objects are not automatically background.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seconds</a:t>
            </a:r>
          </a:p>
          <a:p/>
          <a:p>
            <a:r>
              <a:t>SAY:</a:t>
            </a:r>
          </a:p>
          <a:p>
            <a:r>
              <a:t>Before preparing the full model inputs, we define training, validation, and test groups by slide and investigate related samples that need to stay together. All focal planes and augmented views of a specimen follow its assigned group. We read small regions from the images, inspect alignment and image quality, and prepare focus-stacked detector tiles and specimen crops. Balancing and augmentation apply only to training. Saved identifiers and settings let us trace each input back to its original annotation.</a:t>
            </a:r>
          </a:p>
          <a:p/>
          <a:p>
            <a:r>
              <a:t>SOURCE / PRESENTER CONTEXT (not spoken):</a:t>
            </a:r>
          </a:p>
          <a:p>
            <a:r>
              <a:t>Report Sections IV–V. Diagram describes the planned main experiment, not a completed split or extraction run. Small quality-inspection samples may precede the final split. Tile merging and model inference belong to the architecture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01 / DATA PIPELINE</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Connect each specimen to its image and expert label</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DATA PIPELINE</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1</a:t>
            </a:r>
          </a:p>
        </p:txBody>
      </p:sp>
      <p:sp>
        <p:nvSpPr>
          <p:cNvPr id="9" name="Rectangle 8"/>
          <p:cNvSpPr/>
          <p:nvPr/>
        </p:nvSpPr>
        <p:spPr>
          <a:xfrm>
            <a:off x="457200" y="1790700"/>
            <a:ext cx="3606800" cy="294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19300"/>
            <a:ext cx="31369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01</a:t>
            </a:r>
          </a:p>
        </p:txBody>
      </p:sp>
      <p:sp>
        <p:nvSpPr>
          <p:cNvPr id="11" name="TextBox 10"/>
          <p:cNvSpPr txBox="1"/>
          <p:nvPr/>
        </p:nvSpPr>
        <p:spPr>
          <a:xfrm>
            <a:off x="685800" y="2552700"/>
            <a:ext cx="31369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Register the sources</a:t>
            </a:r>
          </a:p>
        </p:txBody>
      </p:sp>
      <p:sp>
        <p:nvSpPr>
          <p:cNvPr id="12" name="TextBox 11"/>
          <p:cNvSpPr txBox="1"/>
          <p:nvPr/>
        </p:nvSpPr>
        <p:spPr>
          <a:xfrm>
            <a:off x="685800" y="3581400"/>
            <a:ext cx="3136900" cy="629920"/>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Pair each microscope image</a:t>
            </a:r>
          </a:p>
          <a:p>
            <a:pPr>
              <a:lnSpc>
                <a:spcPts val="2280"/>
              </a:lnSpc>
              <a:spcAft>
                <a:spcPts val="0"/>
              </a:spcAft>
              <a:defRPr sz="1900" b="0">
                <a:solidFill>
                  <a:srgbClr val="596477"/>
                </a:solidFill>
                <a:latin typeface="Lato"/>
              </a:defRPr>
            </a:pPr>
            <a:r>
              <a:t>with its annotation file.</a:t>
            </a:r>
          </a:p>
        </p:txBody>
      </p:sp>
      <p:sp>
        <p:nvSpPr>
          <p:cNvPr id="13" name="Rectangle 12"/>
          <p:cNvSpPr/>
          <p:nvPr/>
        </p:nvSpPr>
        <p:spPr>
          <a:xfrm>
            <a:off x="4292600" y="1790700"/>
            <a:ext cx="3606800" cy="294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200" y="2019300"/>
            <a:ext cx="31369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02</a:t>
            </a:r>
          </a:p>
        </p:txBody>
      </p:sp>
      <p:sp>
        <p:nvSpPr>
          <p:cNvPr id="15" name="TextBox 14"/>
          <p:cNvSpPr txBox="1"/>
          <p:nvPr/>
        </p:nvSpPr>
        <p:spPr>
          <a:xfrm>
            <a:off x="4521200" y="2552700"/>
            <a:ext cx="31369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Map expert labels</a:t>
            </a:r>
          </a:p>
        </p:txBody>
      </p:sp>
      <p:sp>
        <p:nvSpPr>
          <p:cNvPr id="16" name="TextBox 15"/>
          <p:cNvSpPr txBox="1"/>
          <p:nvPr/>
        </p:nvSpPr>
        <p:spPr>
          <a:xfrm>
            <a:off x="4521200" y="3581400"/>
            <a:ext cx="3136900" cy="629920"/>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Link original annotation titles</a:t>
            </a:r>
          </a:p>
          <a:p>
            <a:pPr>
              <a:lnSpc>
                <a:spcPts val="2280"/>
              </a:lnSpc>
              <a:spcAft>
                <a:spcPts val="0"/>
              </a:spcAft>
              <a:defRPr sz="1900" b="0">
                <a:solidFill>
                  <a:srgbClr val="596477"/>
                </a:solidFill>
                <a:latin typeface="Lato"/>
              </a:defRPr>
            </a:pPr>
            <a:r>
              <a:t>to the target categories.</a:t>
            </a:r>
          </a:p>
        </p:txBody>
      </p:sp>
      <p:sp>
        <p:nvSpPr>
          <p:cNvPr id="17" name="Rectangle 16"/>
          <p:cNvSpPr/>
          <p:nvPr/>
        </p:nvSpPr>
        <p:spPr>
          <a:xfrm>
            <a:off x="8128000" y="1790700"/>
            <a:ext cx="3606800" cy="294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6600" y="2019300"/>
            <a:ext cx="31369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03</a:t>
            </a:r>
          </a:p>
        </p:txBody>
      </p:sp>
      <p:sp>
        <p:nvSpPr>
          <p:cNvPr id="19" name="TextBox 18"/>
          <p:cNvSpPr txBox="1"/>
          <p:nvPr/>
        </p:nvSpPr>
        <p:spPr>
          <a:xfrm>
            <a:off x="8356600" y="2552700"/>
            <a:ext cx="31369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Audit the inventory</a:t>
            </a:r>
          </a:p>
        </p:txBody>
      </p:sp>
      <p:sp>
        <p:nvSpPr>
          <p:cNvPr id="20" name="TextBox 19"/>
          <p:cNvSpPr txBox="1"/>
          <p:nvPr/>
        </p:nvSpPr>
        <p:spPr>
          <a:xfrm>
            <a:off x="8356600" y="3581400"/>
            <a:ext cx="3136900" cy="919479"/>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Check geometry, missing</a:t>
            </a:r>
          </a:p>
          <a:p>
            <a:pPr>
              <a:lnSpc>
                <a:spcPts val="2280"/>
              </a:lnSpc>
              <a:spcAft>
                <a:spcPts val="0"/>
              </a:spcAft>
              <a:defRPr sz="1900" b="0">
                <a:solidFill>
                  <a:srgbClr val="596477"/>
                </a:solidFill>
                <a:latin typeface="Lato"/>
              </a:defRPr>
            </a:pPr>
            <a:r>
              <a:t>labels, duplicates, and slide</a:t>
            </a:r>
          </a:p>
          <a:p>
            <a:pPr>
              <a:lnSpc>
                <a:spcPts val="2280"/>
              </a:lnSpc>
              <a:spcAft>
                <a:spcPts val="0"/>
              </a:spcAft>
              <a:defRPr sz="1900" b="0">
                <a:solidFill>
                  <a:srgbClr val="596477"/>
                </a:solidFill>
                <a:latin typeface="Lato"/>
              </a:defRPr>
            </a:pPr>
            <a:r>
              <a:t>coverage.</a:t>
            </a:r>
          </a:p>
        </p:txBody>
      </p:sp>
      <p:sp>
        <p:nvSpPr>
          <p:cNvPr id="21" name="TextBox 20"/>
          <p:cNvSpPr txBox="1"/>
          <p:nvPr/>
        </p:nvSpPr>
        <p:spPr>
          <a:xfrm>
            <a:off x="4051300" y="3022600"/>
            <a:ext cx="254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a:t>
            </a:r>
          </a:p>
        </p:txBody>
      </p:sp>
      <p:sp>
        <p:nvSpPr>
          <p:cNvPr id="22" name="TextBox 21"/>
          <p:cNvSpPr txBox="1"/>
          <p:nvPr/>
        </p:nvSpPr>
        <p:spPr>
          <a:xfrm>
            <a:off x="7886700" y="3022600"/>
            <a:ext cx="254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a:t>
            </a:r>
          </a:p>
        </p:txBody>
      </p:sp>
      <p:sp>
        <p:nvSpPr>
          <p:cNvPr id="23" name="TextBox 22"/>
          <p:cNvSpPr txBox="1"/>
          <p:nvPr/>
        </p:nvSpPr>
        <p:spPr>
          <a:xfrm>
            <a:off x="457200" y="5003800"/>
            <a:ext cx="1333500" cy="248920"/>
          </a:xfrm>
          <a:prstGeom prst="rect">
            <a:avLst/>
          </a:prstGeom>
          <a:noFill/>
        </p:spPr>
        <p:txBody>
          <a:bodyPr wrap="none" lIns="0" rIns="0" tIns="0" bIns="0">
            <a:spAutoFit/>
          </a:bodyPr>
          <a:lstStyle/>
          <a:p>
            <a:pPr>
              <a:lnSpc>
                <a:spcPts val="1560"/>
              </a:lnSpc>
              <a:spcAft>
                <a:spcPts val="0"/>
              </a:spcAft>
              <a:defRPr sz="1300" b="1">
                <a:solidFill>
                  <a:srgbClr val="93451F"/>
                </a:solidFill>
                <a:latin typeface="Lato"/>
              </a:defRPr>
            </a:pPr>
            <a:r>
              <a:t>OUTPUT</a:t>
            </a:r>
          </a:p>
        </p:txBody>
      </p:sp>
      <p:sp>
        <p:nvSpPr>
          <p:cNvPr id="24" name="TextBox 23"/>
          <p:cNvSpPr txBox="1"/>
          <p:nvPr/>
        </p:nvSpPr>
        <p:spPr>
          <a:xfrm>
            <a:off x="1917700" y="4927600"/>
            <a:ext cx="9817100" cy="355600"/>
          </a:xfrm>
          <a:prstGeom prst="rect">
            <a:avLst/>
          </a:prstGeom>
          <a:noFill/>
        </p:spPr>
        <p:txBody>
          <a:bodyPr wrap="none" lIns="0" rIns="0" tIns="0" bIns="0">
            <a:spAutoFit/>
          </a:bodyPr>
          <a:lstStyle/>
          <a:p>
            <a:pPr>
              <a:lnSpc>
                <a:spcPts val="2400"/>
              </a:lnSpc>
              <a:spcAft>
                <a:spcPts val="0"/>
              </a:spcAft>
              <a:defRPr sz="2000" b="1">
                <a:solidFill>
                  <a:srgbClr val="202D48"/>
                </a:solidFill>
                <a:latin typeface="Lato"/>
              </a:defRPr>
            </a:pPr>
            <a:r>
              <a:t>Specimen ID + slide + coordinates + original label + mapped category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02 / DATA PIPELINE</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Prepare model inputs without mixing training and testing</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DATA PIPELINE</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2</a:t>
            </a:r>
          </a:p>
        </p:txBody>
      </p:sp>
      <p:sp>
        <p:nvSpPr>
          <p:cNvPr id="9" name="Rectangle 8"/>
          <p:cNvSpPr/>
          <p:nvPr/>
        </p:nvSpPr>
        <p:spPr>
          <a:xfrm>
            <a:off x="457200" y="1790700"/>
            <a:ext cx="3606800" cy="294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19300"/>
            <a:ext cx="31369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01</a:t>
            </a:r>
          </a:p>
        </p:txBody>
      </p:sp>
      <p:sp>
        <p:nvSpPr>
          <p:cNvPr id="11" name="TextBox 10"/>
          <p:cNvSpPr txBox="1"/>
          <p:nvPr/>
        </p:nvSpPr>
        <p:spPr>
          <a:xfrm>
            <a:off x="685800" y="2552700"/>
            <a:ext cx="31369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Group and split</a:t>
            </a:r>
          </a:p>
        </p:txBody>
      </p:sp>
      <p:sp>
        <p:nvSpPr>
          <p:cNvPr id="12" name="TextBox 11"/>
          <p:cNvSpPr txBox="1"/>
          <p:nvPr/>
        </p:nvSpPr>
        <p:spPr>
          <a:xfrm>
            <a:off x="685800" y="3492500"/>
            <a:ext cx="3136900" cy="629920"/>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Keep related slides and every</a:t>
            </a:r>
          </a:p>
          <a:p>
            <a:pPr>
              <a:lnSpc>
                <a:spcPts val="2280"/>
              </a:lnSpc>
              <a:spcAft>
                <a:spcPts val="0"/>
              </a:spcAft>
              <a:defRPr sz="1900" b="0">
                <a:solidFill>
                  <a:srgbClr val="596477"/>
                </a:solidFill>
                <a:latin typeface="Lato"/>
              </a:defRPr>
            </a:pPr>
            <a:r>
              <a:t>view of a specimen together.</a:t>
            </a:r>
          </a:p>
        </p:txBody>
      </p:sp>
      <p:sp>
        <p:nvSpPr>
          <p:cNvPr id="13" name="Rectangle 12"/>
          <p:cNvSpPr/>
          <p:nvPr/>
        </p:nvSpPr>
        <p:spPr>
          <a:xfrm>
            <a:off x="4292600" y="1790700"/>
            <a:ext cx="3606800" cy="294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200" y="2019300"/>
            <a:ext cx="31369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02</a:t>
            </a:r>
          </a:p>
        </p:txBody>
      </p:sp>
      <p:sp>
        <p:nvSpPr>
          <p:cNvPr id="15" name="TextBox 14"/>
          <p:cNvSpPr txBox="1"/>
          <p:nvPr/>
        </p:nvSpPr>
        <p:spPr>
          <a:xfrm>
            <a:off x="4521200" y="2552700"/>
            <a:ext cx="31369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Extract and inspect</a:t>
            </a:r>
          </a:p>
        </p:txBody>
      </p:sp>
      <p:sp>
        <p:nvSpPr>
          <p:cNvPr id="16" name="TextBox 15"/>
          <p:cNvSpPr txBox="1"/>
          <p:nvPr/>
        </p:nvSpPr>
        <p:spPr>
          <a:xfrm>
            <a:off x="4521200" y="3492500"/>
            <a:ext cx="3136900" cy="919479"/>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Read local focal stacks; check</a:t>
            </a:r>
          </a:p>
          <a:p>
            <a:pPr>
              <a:lnSpc>
                <a:spcPts val="2280"/>
              </a:lnSpc>
              <a:spcAft>
                <a:spcPts val="0"/>
              </a:spcAft>
              <a:defRPr sz="1900" b="0">
                <a:solidFill>
                  <a:srgbClr val="596477"/>
                </a:solidFill>
                <a:latin typeface="Lato"/>
              </a:defRPr>
            </a:pPr>
            <a:r>
              <a:t>alignment, focus, and crop</a:t>
            </a:r>
          </a:p>
          <a:p>
            <a:pPr>
              <a:lnSpc>
                <a:spcPts val="2280"/>
              </a:lnSpc>
              <a:spcAft>
                <a:spcPts val="0"/>
              </a:spcAft>
              <a:defRPr sz="1900" b="0">
                <a:solidFill>
                  <a:srgbClr val="596477"/>
                </a:solidFill>
                <a:latin typeface="Lato"/>
              </a:defRPr>
            </a:pPr>
            <a:r>
              <a:t>margins.</a:t>
            </a:r>
          </a:p>
        </p:txBody>
      </p:sp>
      <p:sp>
        <p:nvSpPr>
          <p:cNvPr id="17" name="Rectangle 16"/>
          <p:cNvSpPr/>
          <p:nvPr/>
        </p:nvSpPr>
        <p:spPr>
          <a:xfrm>
            <a:off x="8128000" y="1790700"/>
            <a:ext cx="3606800" cy="294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6600" y="2019300"/>
            <a:ext cx="31369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03</a:t>
            </a:r>
          </a:p>
        </p:txBody>
      </p:sp>
      <p:sp>
        <p:nvSpPr>
          <p:cNvPr id="19" name="TextBox 18"/>
          <p:cNvSpPr txBox="1"/>
          <p:nvPr/>
        </p:nvSpPr>
        <p:spPr>
          <a:xfrm>
            <a:off x="8356600" y="2552700"/>
            <a:ext cx="31369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Build model inputs</a:t>
            </a:r>
          </a:p>
        </p:txBody>
      </p:sp>
      <p:sp>
        <p:nvSpPr>
          <p:cNvPr id="20" name="TextBox 19"/>
          <p:cNvSpPr txBox="1"/>
          <p:nvPr/>
        </p:nvSpPr>
        <p:spPr>
          <a:xfrm>
            <a:off x="8356600" y="3492500"/>
            <a:ext cx="3136900" cy="919479"/>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Focus-stacked tiles for</a:t>
            </a:r>
          </a:p>
          <a:p>
            <a:pPr>
              <a:lnSpc>
                <a:spcPts val="2280"/>
              </a:lnSpc>
              <a:spcAft>
                <a:spcPts val="0"/>
              </a:spcAft>
              <a:defRPr sz="1900" b="0">
                <a:solidFill>
                  <a:srgbClr val="596477"/>
                </a:solidFill>
                <a:latin typeface="Lato"/>
              </a:defRPr>
            </a:pPr>
            <a:r>
              <a:t>detection; specimen crops</a:t>
            </a:r>
          </a:p>
          <a:p>
            <a:pPr>
              <a:lnSpc>
                <a:spcPts val="2280"/>
              </a:lnSpc>
              <a:spcAft>
                <a:spcPts val="0"/>
              </a:spcAft>
              <a:defRPr sz="1900" b="0">
                <a:solidFill>
                  <a:srgbClr val="596477"/>
                </a:solidFill>
                <a:latin typeface="Lato"/>
              </a:defRPr>
            </a:pPr>
            <a:r>
              <a:t>for classification.</a:t>
            </a:r>
          </a:p>
        </p:txBody>
      </p:sp>
      <p:sp>
        <p:nvSpPr>
          <p:cNvPr id="21" name="TextBox 20"/>
          <p:cNvSpPr txBox="1"/>
          <p:nvPr/>
        </p:nvSpPr>
        <p:spPr>
          <a:xfrm>
            <a:off x="4051300" y="3022600"/>
            <a:ext cx="254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a:t>
            </a:r>
          </a:p>
        </p:txBody>
      </p:sp>
      <p:sp>
        <p:nvSpPr>
          <p:cNvPr id="22" name="TextBox 21"/>
          <p:cNvSpPr txBox="1"/>
          <p:nvPr/>
        </p:nvSpPr>
        <p:spPr>
          <a:xfrm>
            <a:off x="7886700" y="3022600"/>
            <a:ext cx="254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a:t>
            </a:r>
          </a:p>
        </p:txBody>
      </p:sp>
      <p:sp>
        <p:nvSpPr>
          <p:cNvPr id="23" name="TextBox 22"/>
          <p:cNvSpPr txBox="1"/>
          <p:nvPr/>
        </p:nvSpPr>
        <p:spPr>
          <a:xfrm>
            <a:off x="457200" y="5029200"/>
            <a:ext cx="2159000" cy="248920"/>
          </a:xfrm>
          <a:prstGeom prst="rect">
            <a:avLst/>
          </a:prstGeom>
          <a:noFill/>
        </p:spPr>
        <p:txBody>
          <a:bodyPr wrap="none" lIns="0" rIns="0" tIns="0" bIns="0">
            <a:spAutoFit/>
          </a:bodyPr>
          <a:lstStyle/>
          <a:p>
            <a:pPr>
              <a:lnSpc>
                <a:spcPts val="1560"/>
              </a:lnSpc>
              <a:spcAft>
                <a:spcPts val="0"/>
              </a:spcAft>
              <a:defRPr sz="1300" b="1">
                <a:solidFill>
                  <a:srgbClr val="93451F"/>
                </a:solidFill>
                <a:latin typeface="Lato"/>
              </a:defRPr>
            </a:pPr>
            <a:r>
              <a:t>TRAINING ONLY</a:t>
            </a:r>
          </a:p>
        </p:txBody>
      </p:sp>
      <p:sp>
        <p:nvSpPr>
          <p:cNvPr id="24" name="TextBox 23"/>
          <p:cNvSpPr txBox="1"/>
          <p:nvPr/>
        </p:nvSpPr>
        <p:spPr>
          <a:xfrm>
            <a:off x="2832100" y="4940300"/>
            <a:ext cx="8890000" cy="355600"/>
          </a:xfrm>
          <a:prstGeom prst="rect">
            <a:avLst/>
          </a:prstGeom>
          <a:noFill/>
        </p:spPr>
        <p:txBody>
          <a:bodyPr wrap="none" lIns="0" rIns="0" tIns="0" bIns="0">
            <a:spAutoFit/>
          </a:bodyPr>
          <a:lstStyle/>
          <a:p>
            <a:pPr>
              <a:lnSpc>
                <a:spcPts val="2400"/>
              </a:lnSpc>
              <a:spcAft>
                <a:spcPts val="0"/>
              </a:spcAft>
              <a:defRPr sz="2000" b="1">
                <a:solidFill>
                  <a:srgbClr val="202D48"/>
                </a:solidFill>
                <a:latin typeface="Lato"/>
              </a:defRPr>
            </a:pPr>
            <a:r>
              <a:t>Augmentation and class balancing; keep evaluation sets fixed.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