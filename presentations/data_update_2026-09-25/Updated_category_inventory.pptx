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replaces the old category inventory slide, which listed 27 represented YES categories and 933 annotations. The corrected Fall 2026 annotation set now has 2,290 records across all 32 YES categories. Five categories were missing in the earlier inventory: Nudopollis sp. (89), Momipites ventifluminis (61), Psilatricolpites sp. (61), Rousea sp. (54), and Momipites flexus (38).</a:t>
            </a:r>
          </a:p>
          <a:p/>
          <a:p>
            <a:r>
              <a:t>COUNT means annotation records; SLIDES is the number of different slide files containing that category. Categories are sponsor groupings, not necessarily individual species. These are inventory counts before crop-quality review, sampling or train/test splitting. They do not establish that every record is a unique usable training specimen.</a:t>
            </a:r>
          </a:p>
          <a:p/>
          <a:p>
            <a:r>
              <a:t>The complete set has 83 verified image/annotation pairs, 11,275 named records, 185 annotation titles and 65 categories. The breakdown is 32 YES / 2,290 records; 5 MAYBE / 114 records; 28 NO / 8,871 records. Another 227 untitled marks are outside these named counts. Every supplied title and category count reconciles after trimming trailing spaces in three labels. Provisional biological aliases from the old inventory are no longer needed.</a:t>
            </a:r>
          </a:p>
          <a:p/>
          <a:p>
            <a:r>
              <a:t>Source: data/current/category_summary.csv, title_reconciliation.csv, audit_manifest.json and cluster_verification.json. Corrected source package: Fall_2026.zip received September 21. Slide prepared September 25, 2026.</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100"/>
            <a:ext cx="8890000" cy="209550"/>
          </a:xfrm>
          <a:prstGeom prst="rect">
            <a:avLst/>
          </a:prstGeom>
          <a:noFill/>
        </p:spPr>
        <p:txBody>
          <a:bodyPr wrap="none" lIns="0" rIns="0" tIns="0" bIns="0">
            <a:spAutoFit/>
          </a:bodyPr>
          <a:lstStyle/>
          <a:p>
            <a:pPr>
              <a:defRPr sz="1100" b="1">
                <a:solidFill>
                  <a:srgbClr val="16756D"/>
                </a:solidFill>
                <a:latin typeface="Lato"/>
              </a:defRPr>
            </a:pPr>
            <a:r>
              <a:t>01/Data update</a:t>
            </a:r>
          </a:p>
        </p:txBody>
      </p:sp>
      <p:sp>
        <p:nvSpPr>
          <p:cNvPr id="4" name="TextBox 3"/>
          <p:cNvSpPr txBox="1"/>
          <p:nvPr/>
        </p:nvSpPr>
        <p:spPr>
          <a:xfrm>
            <a:off x="457200" y="596900"/>
            <a:ext cx="11366500" cy="533400"/>
          </a:xfrm>
          <a:prstGeom prst="rect">
            <a:avLst/>
          </a:prstGeom>
          <a:noFill/>
        </p:spPr>
        <p:txBody>
          <a:bodyPr wrap="none" lIns="0" rIns="0" tIns="0" bIns="0">
            <a:spAutoFit/>
          </a:bodyPr>
          <a:lstStyle/>
          <a:p>
            <a:pPr>
              <a:defRPr sz="2800" b="1">
                <a:solidFill>
                  <a:srgbClr val="142F38"/>
                </a:solidFill>
                <a:latin typeface="Lato"/>
              </a:defRPr>
            </a:pPr>
            <a:r>
              <a:t>Updated category mapping</a:t>
            </a:r>
          </a:p>
        </p:txBody>
      </p:sp>
      <p:sp>
        <p:nvSpPr>
          <p:cNvPr id="5" name="TextBox 4"/>
          <p:cNvSpPr txBox="1"/>
          <p:nvPr/>
        </p:nvSpPr>
        <p:spPr>
          <a:xfrm>
            <a:off x="457200" y="1130300"/>
            <a:ext cx="11366500" cy="323850"/>
          </a:xfrm>
          <a:prstGeom prst="rect">
            <a:avLst/>
          </a:prstGeom>
          <a:noFill/>
        </p:spPr>
        <p:txBody>
          <a:bodyPr wrap="none" lIns="0" rIns="0" tIns="0" bIns="0">
            <a:spAutoFit/>
          </a:bodyPr>
          <a:lstStyle/>
          <a:p>
            <a:pPr>
              <a:defRPr sz="1700" b="0">
                <a:solidFill>
                  <a:srgbClr val="596D71"/>
                </a:solidFill>
                <a:latin typeface="Lato"/>
              </a:defRPr>
            </a:pPr>
            <a:r>
              <a:t>2,290 target annotations  •  83 image/annotation pairs in the full dataset</a:t>
            </a:r>
          </a:p>
        </p:txBody>
      </p:sp>
      <p:sp>
        <p:nvSpPr>
          <p:cNvPr id="6" name="TextBox 5"/>
          <p:cNvSpPr txBox="1"/>
          <p:nvPr/>
        </p:nvSpPr>
        <p:spPr>
          <a:xfrm>
            <a:off x="558800" y="1638300"/>
            <a:ext cx="3810000" cy="209550"/>
          </a:xfrm>
          <a:prstGeom prst="rect">
            <a:avLst/>
          </a:prstGeom>
          <a:noFill/>
        </p:spPr>
        <p:txBody>
          <a:bodyPr wrap="none" lIns="0" rIns="0" tIns="0" bIns="0">
            <a:spAutoFit/>
          </a:bodyPr>
          <a:lstStyle/>
          <a:p>
            <a:pPr>
              <a:defRPr sz="1100" b="1">
                <a:solidFill>
                  <a:srgbClr val="596D71"/>
                </a:solidFill>
                <a:latin typeface="Lato"/>
              </a:defRPr>
            </a:pPr>
            <a:r>
              <a:t>CATEGORY</a:t>
            </a:r>
          </a:p>
        </p:txBody>
      </p:sp>
      <p:sp>
        <p:nvSpPr>
          <p:cNvPr id="7" name="TextBox 6"/>
          <p:cNvSpPr txBox="1"/>
          <p:nvPr/>
        </p:nvSpPr>
        <p:spPr>
          <a:xfrm>
            <a:off x="4648200" y="1638300"/>
            <a:ext cx="762000" cy="209550"/>
          </a:xfrm>
          <a:prstGeom prst="rect">
            <a:avLst/>
          </a:prstGeom>
          <a:noFill/>
        </p:spPr>
        <p:txBody>
          <a:bodyPr wrap="none" lIns="0" rIns="0" tIns="0" bIns="0">
            <a:spAutoFit/>
          </a:bodyPr>
          <a:lstStyle/>
          <a:p>
            <a:pPr>
              <a:defRPr sz="1100" b="1">
                <a:solidFill>
                  <a:srgbClr val="596D71"/>
                </a:solidFill>
                <a:latin typeface="Lato"/>
              </a:defRPr>
            </a:pPr>
            <a:r>
              <a:t>COUNT</a:t>
            </a:r>
          </a:p>
        </p:txBody>
      </p:sp>
      <p:sp>
        <p:nvSpPr>
          <p:cNvPr id="8" name="TextBox 7"/>
          <p:cNvSpPr txBox="1"/>
          <p:nvPr/>
        </p:nvSpPr>
        <p:spPr>
          <a:xfrm>
            <a:off x="5448300" y="1638300"/>
            <a:ext cx="660400" cy="209550"/>
          </a:xfrm>
          <a:prstGeom prst="rect">
            <a:avLst/>
          </a:prstGeom>
          <a:noFill/>
        </p:spPr>
        <p:txBody>
          <a:bodyPr wrap="none" lIns="0" rIns="0" tIns="0" bIns="0">
            <a:spAutoFit/>
          </a:bodyPr>
          <a:lstStyle/>
          <a:p>
            <a:pPr>
              <a:defRPr sz="1100" b="1">
                <a:solidFill>
                  <a:srgbClr val="596D71"/>
                </a:solidFill>
                <a:latin typeface="Lato"/>
              </a:defRPr>
            </a:pPr>
            <a:r>
              <a:t>SLIDES</a:t>
            </a:r>
          </a:p>
        </p:txBody>
      </p:sp>
      <p:sp>
        <p:nvSpPr>
          <p:cNvPr id="9" name="Rectangle 8"/>
          <p:cNvSpPr/>
          <p:nvPr/>
        </p:nvSpPr>
        <p:spPr>
          <a:xfrm>
            <a:off x="457200" y="19050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8800" y="1917700"/>
            <a:ext cx="4025900" cy="247650"/>
          </a:xfrm>
          <a:prstGeom prst="rect">
            <a:avLst/>
          </a:prstGeom>
          <a:noFill/>
        </p:spPr>
        <p:txBody>
          <a:bodyPr wrap="none" lIns="0" rIns="0" tIns="0" bIns="0">
            <a:spAutoFit/>
          </a:bodyPr>
          <a:lstStyle/>
          <a:p>
            <a:pPr>
              <a:defRPr sz="1300" b="0">
                <a:solidFill>
                  <a:srgbClr val="142F38"/>
                </a:solidFill>
                <a:latin typeface="Lato"/>
              </a:defRPr>
            </a:pPr>
            <a:r>
              <a:t>Bisaccate</a:t>
            </a:r>
          </a:p>
        </p:txBody>
      </p:sp>
      <p:sp>
        <p:nvSpPr>
          <p:cNvPr id="11" name="TextBox 10"/>
          <p:cNvSpPr txBox="1"/>
          <p:nvPr/>
        </p:nvSpPr>
        <p:spPr>
          <a:xfrm>
            <a:off x="4762500" y="1917700"/>
            <a:ext cx="609600" cy="247650"/>
          </a:xfrm>
          <a:prstGeom prst="rect">
            <a:avLst/>
          </a:prstGeom>
          <a:noFill/>
        </p:spPr>
        <p:txBody>
          <a:bodyPr wrap="none" lIns="0" rIns="0" tIns="0" bIns="0">
            <a:spAutoFit/>
          </a:bodyPr>
          <a:lstStyle/>
          <a:p>
            <a:pPr>
              <a:defRPr sz="1300" b="1">
                <a:solidFill>
                  <a:srgbClr val="16756D"/>
                </a:solidFill>
                <a:latin typeface="Lato"/>
              </a:defRPr>
            </a:pPr>
            <a:r>
              <a:t>316</a:t>
            </a:r>
          </a:p>
        </p:txBody>
      </p:sp>
      <p:sp>
        <p:nvSpPr>
          <p:cNvPr id="12" name="TextBox 11"/>
          <p:cNvSpPr txBox="1"/>
          <p:nvPr/>
        </p:nvSpPr>
        <p:spPr>
          <a:xfrm>
            <a:off x="5562600" y="1917700"/>
            <a:ext cx="444500" cy="247650"/>
          </a:xfrm>
          <a:prstGeom prst="rect">
            <a:avLst/>
          </a:prstGeom>
          <a:noFill/>
        </p:spPr>
        <p:txBody>
          <a:bodyPr wrap="none" lIns="0" rIns="0" tIns="0" bIns="0">
            <a:spAutoFit/>
          </a:bodyPr>
          <a:lstStyle/>
          <a:p>
            <a:pPr>
              <a:defRPr sz="1300" b="0">
                <a:solidFill>
                  <a:srgbClr val="142F38"/>
                </a:solidFill>
                <a:latin typeface="Lato"/>
              </a:defRPr>
            </a:pPr>
            <a:r>
              <a:t>42</a:t>
            </a:r>
          </a:p>
        </p:txBody>
      </p:sp>
      <p:sp>
        <p:nvSpPr>
          <p:cNvPr id="13" name="Rectangle 12"/>
          <p:cNvSpPr/>
          <p:nvPr/>
        </p:nvSpPr>
        <p:spPr>
          <a:xfrm>
            <a:off x="457200" y="21463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8800" y="2159000"/>
            <a:ext cx="4025900" cy="247650"/>
          </a:xfrm>
          <a:prstGeom prst="rect">
            <a:avLst/>
          </a:prstGeom>
          <a:noFill/>
        </p:spPr>
        <p:txBody>
          <a:bodyPr wrap="none" lIns="0" rIns="0" tIns="0" bIns="0">
            <a:spAutoFit/>
          </a:bodyPr>
          <a:lstStyle/>
          <a:p>
            <a:pPr>
              <a:defRPr sz="1300" b="0">
                <a:solidFill>
                  <a:srgbClr val="142F38"/>
                </a:solidFill>
                <a:latin typeface="Lato"/>
              </a:defRPr>
            </a:pPr>
            <a:r>
              <a:t>Momipites sp</a:t>
            </a:r>
          </a:p>
        </p:txBody>
      </p:sp>
      <p:sp>
        <p:nvSpPr>
          <p:cNvPr id="15" name="TextBox 14"/>
          <p:cNvSpPr txBox="1"/>
          <p:nvPr/>
        </p:nvSpPr>
        <p:spPr>
          <a:xfrm>
            <a:off x="4762500" y="2159000"/>
            <a:ext cx="609600" cy="247650"/>
          </a:xfrm>
          <a:prstGeom prst="rect">
            <a:avLst/>
          </a:prstGeom>
          <a:noFill/>
        </p:spPr>
        <p:txBody>
          <a:bodyPr wrap="none" lIns="0" rIns="0" tIns="0" bIns="0">
            <a:spAutoFit/>
          </a:bodyPr>
          <a:lstStyle/>
          <a:p>
            <a:pPr>
              <a:defRPr sz="1300" b="1">
                <a:solidFill>
                  <a:srgbClr val="16756D"/>
                </a:solidFill>
                <a:latin typeface="Lato"/>
              </a:defRPr>
            </a:pPr>
            <a:r>
              <a:t>184</a:t>
            </a:r>
          </a:p>
        </p:txBody>
      </p:sp>
      <p:sp>
        <p:nvSpPr>
          <p:cNvPr id="16" name="TextBox 15"/>
          <p:cNvSpPr txBox="1"/>
          <p:nvPr/>
        </p:nvSpPr>
        <p:spPr>
          <a:xfrm>
            <a:off x="5562600" y="2159000"/>
            <a:ext cx="444500" cy="247650"/>
          </a:xfrm>
          <a:prstGeom prst="rect">
            <a:avLst/>
          </a:prstGeom>
          <a:noFill/>
        </p:spPr>
        <p:txBody>
          <a:bodyPr wrap="none" lIns="0" rIns="0" tIns="0" bIns="0">
            <a:spAutoFit/>
          </a:bodyPr>
          <a:lstStyle/>
          <a:p>
            <a:pPr>
              <a:defRPr sz="1300" b="0">
                <a:solidFill>
                  <a:srgbClr val="142F38"/>
                </a:solidFill>
                <a:latin typeface="Lato"/>
              </a:defRPr>
            </a:pPr>
            <a:r>
              <a:t>34</a:t>
            </a:r>
          </a:p>
        </p:txBody>
      </p:sp>
      <p:sp>
        <p:nvSpPr>
          <p:cNvPr id="17" name="Rectangle 16"/>
          <p:cNvSpPr/>
          <p:nvPr/>
        </p:nvSpPr>
        <p:spPr>
          <a:xfrm>
            <a:off x="457200" y="23876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8800" y="2400300"/>
            <a:ext cx="4025900" cy="247650"/>
          </a:xfrm>
          <a:prstGeom prst="rect">
            <a:avLst/>
          </a:prstGeom>
          <a:noFill/>
        </p:spPr>
        <p:txBody>
          <a:bodyPr wrap="none" lIns="0" rIns="0" tIns="0" bIns="0">
            <a:spAutoFit/>
          </a:bodyPr>
          <a:lstStyle/>
          <a:p>
            <a:pPr>
              <a:defRPr sz="1300" b="0">
                <a:solidFill>
                  <a:srgbClr val="142F38"/>
                </a:solidFill>
                <a:latin typeface="Lato"/>
              </a:defRPr>
            </a:pPr>
            <a:r>
              <a:t>Caryapollenites sp.</a:t>
            </a:r>
          </a:p>
        </p:txBody>
      </p:sp>
      <p:sp>
        <p:nvSpPr>
          <p:cNvPr id="19" name="TextBox 18"/>
          <p:cNvSpPr txBox="1"/>
          <p:nvPr/>
        </p:nvSpPr>
        <p:spPr>
          <a:xfrm>
            <a:off x="4762500" y="2400300"/>
            <a:ext cx="609600" cy="247650"/>
          </a:xfrm>
          <a:prstGeom prst="rect">
            <a:avLst/>
          </a:prstGeom>
          <a:noFill/>
        </p:spPr>
        <p:txBody>
          <a:bodyPr wrap="none" lIns="0" rIns="0" tIns="0" bIns="0">
            <a:spAutoFit/>
          </a:bodyPr>
          <a:lstStyle/>
          <a:p>
            <a:pPr>
              <a:defRPr sz="1300" b="1">
                <a:solidFill>
                  <a:srgbClr val="16756D"/>
                </a:solidFill>
                <a:latin typeface="Lato"/>
              </a:defRPr>
            </a:pPr>
            <a:r>
              <a:t>95</a:t>
            </a:r>
          </a:p>
        </p:txBody>
      </p:sp>
      <p:sp>
        <p:nvSpPr>
          <p:cNvPr id="20" name="TextBox 19"/>
          <p:cNvSpPr txBox="1"/>
          <p:nvPr/>
        </p:nvSpPr>
        <p:spPr>
          <a:xfrm>
            <a:off x="5562600" y="2400300"/>
            <a:ext cx="444500" cy="247650"/>
          </a:xfrm>
          <a:prstGeom prst="rect">
            <a:avLst/>
          </a:prstGeom>
          <a:noFill/>
        </p:spPr>
        <p:txBody>
          <a:bodyPr wrap="none" lIns="0" rIns="0" tIns="0" bIns="0">
            <a:spAutoFit/>
          </a:bodyPr>
          <a:lstStyle/>
          <a:p>
            <a:pPr>
              <a:defRPr sz="1300" b="0">
                <a:solidFill>
                  <a:srgbClr val="142F38"/>
                </a:solidFill>
                <a:latin typeface="Lato"/>
              </a:defRPr>
            </a:pPr>
            <a:r>
              <a:t>18</a:t>
            </a:r>
          </a:p>
        </p:txBody>
      </p:sp>
      <p:sp>
        <p:nvSpPr>
          <p:cNvPr id="21" name="Rectangle 20"/>
          <p:cNvSpPr/>
          <p:nvPr/>
        </p:nvSpPr>
        <p:spPr>
          <a:xfrm>
            <a:off x="457200" y="26289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8800" y="2641600"/>
            <a:ext cx="4025900" cy="247650"/>
          </a:xfrm>
          <a:prstGeom prst="rect">
            <a:avLst/>
          </a:prstGeom>
          <a:noFill/>
        </p:spPr>
        <p:txBody>
          <a:bodyPr wrap="none" lIns="0" rIns="0" tIns="0" bIns="0">
            <a:spAutoFit/>
          </a:bodyPr>
          <a:lstStyle/>
          <a:p>
            <a:pPr>
              <a:defRPr sz="1300" b="0">
                <a:solidFill>
                  <a:srgbClr val="142F38"/>
                </a:solidFill>
                <a:latin typeface="Lato"/>
              </a:defRPr>
            </a:pPr>
            <a:r>
              <a:t>Alnipollenites verus</a:t>
            </a:r>
          </a:p>
        </p:txBody>
      </p:sp>
      <p:sp>
        <p:nvSpPr>
          <p:cNvPr id="23" name="TextBox 22"/>
          <p:cNvSpPr txBox="1"/>
          <p:nvPr/>
        </p:nvSpPr>
        <p:spPr>
          <a:xfrm>
            <a:off x="4762500" y="2641600"/>
            <a:ext cx="609600" cy="247650"/>
          </a:xfrm>
          <a:prstGeom prst="rect">
            <a:avLst/>
          </a:prstGeom>
          <a:noFill/>
        </p:spPr>
        <p:txBody>
          <a:bodyPr wrap="none" lIns="0" rIns="0" tIns="0" bIns="0">
            <a:spAutoFit/>
          </a:bodyPr>
          <a:lstStyle/>
          <a:p>
            <a:pPr>
              <a:defRPr sz="1300" b="1">
                <a:solidFill>
                  <a:srgbClr val="16756D"/>
                </a:solidFill>
                <a:latin typeface="Lato"/>
              </a:defRPr>
            </a:pPr>
            <a:r>
              <a:t>92</a:t>
            </a:r>
          </a:p>
        </p:txBody>
      </p:sp>
      <p:sp>
        <p:nvSpPr>
          <p:cNvPr id="24" name="TextBox 23"/>
          <p:cNvSpPr txBox="1"/>
          <p:nvPr/>
        </p:nvSpPr>
        <p:spPr>
          <a:xfrm>
            <a:off x="5562600" y="2641600"/>
            <a:ext cx="444500" cy="247650"/>
          </a:xfrm>
          <a:prstGeom prst="rect">
            <a:avLst/>
          </a:prstGeom>
          <a:noFill/>
        </p:spPr>
        <p:txBody>
          <a:bodyPr wrap="none" lIns="0" rIns="0" tIns="0" bIns="0">
            <a:spAutoFit/>
          </a:bodyPr>
          <a:lstStyle/>
          <a:p>
            <a:pPr>
              <a:defRPr sz="1300" b="0">
                <a:solidFill>
                  <a:srgbClr val="142F38"/>
                </a:solidFill>
                <a:latin typeface="Lato"/>
              </a:defRPr>
            </a:pPr>
            <a:r>
              <a:t>20</a:t>
            </a:r>
          </a:p>
        </p:txBody>
      </p:sp>
      <p:sp>
        <p:nvSpPr>
          <p:cNvPr id="25" name="Rectangle 24"/>
          <p:cNvSpPr/>
          <p:nvPr/>
        </p:nvSpPr>
        <p:spPr>
          <a:xfrm>
            <a:off x="457200" y="28702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8800" y="2882900"/>
            <a:ext cx="4025900" cy="247650"/>
          </a:xfrm>
          <a:prstGeom prst="rect">
            <a:avLst/>
          </a:prstGeom>
          <a:noFill/>
        </p:spPr>
        <p:txBody>
          <a:bodyPr wrap="none" lIns="0" rIns="0" tIns="0" bIns="0">
            <a:spAutoFit/>
          </a:bodyPr>
          <a:lstStyle/>
          <a:p>
            <a:pPr>
              <a:defRPr sz="1300" b="0">
                <a:solidFill>
                  <a:srgbClr val="142F38"/>
                </a:solidFill>
                <a:latin typeface="Lato"/>
              </a:defRPr>
            </a:pPr>
            <a:r>
              <a:t>Nudopollis sp.</a:t>
            </a:r>
          </a:p>
        </p:txBody>
      </p:sp>
      <p:sp>
        <p:nvSpPr>
          <p:cNvPr id="27" name="TextBox 26"/>
          <p:cNvSpPr txBox="1"/>
          <p:nvPr/>
        </p:nvSpPr>
        <p:spPr>
          <a:xfrm>
            <a:off x="4762500" y="2882900"/>
            <a:ext cx="609600" cy="247650"/>
          </a:xfrm>
          <a:prstGeom prst="rect">
            <a:avLst/>
          </a:prstGeom>
          <a:noFill/>
        </p:spPr>
        <p:txBody>
          <a:bodyPr wrap="none" lIns="0" rIns="0" tIns="0" bIns="0">
            <a:spAutoFit/>
          </a:bodyPr>
          <a:lstStyle/>
          <a:p>
            <a:pPr>
              <a:defRPr sz="1300" b="1">
                <a:solidFill>
                  <a:srgbClr val="16756D"/>
                </a:solidFill>
                <a:latin typeface="Lato"/>
              </a:defRPr>
            </a:pPr>
            <a:r>
              <a:t>89</a:t>
            </a:r>
          </a:p>
        </p:txBody>
      </p:sp>
      <p:sp>
        <p:nvSpPr>
          <p:cNvPr id="28" name="TextBox 27"/>
          <p:cNvSpPr txBox="1"/>
          <p:nvPr/>
        </p:nvSpPr>
        <p:spPr>
          <a:xfrm>
            <a:off x="5562600" y="2882900"/>
            <a:ext cx="444500" cy="247650"/>
          </a:xfrm>
          <a:prstGeom prst="rect">
            <a:avLst/>
          </a:prstGeom>
          <a:noFill/>
        </p:spPr>
        <p:txBody>
          <a:bodyPr wrap="none" lIns="0" rIns="0" tIns="0" bIns="0">
            <a:spAutoFit/>
          </a:bodyPr>
          <a:lstStyle/>
          <a:p>
            <a:pPr>
              <a:defRPr sz="1300" b="0">
                <a:solidFill>
                  <a:srgbClr val="142F38"/>
                </a:solidFill>
                <a:latin typeface="Lato"/>
              </a:defRPr>
            </a:pPr>
            <a:r>
              <a:t>5</a:t>
            </a:r>
          </a:p>
        </p:txBody>
      </p:sp>
      <p:sp>
        <p:nvSpPr>
          <p:cNvPr id="29" name="Rectangle 28"/>
          <p:cNvSpPr/>
          <p:nvPr/>
        </p:nvSpPr>
        <p:spPr>
          <a:xfrm>
            <a:off x="457200" y="31115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8800" y="3124200"/>
            <a:ext cx="4025900" cy="247650"/>
          </a:xfrm>
          <a:prstGeom prst="rect">
            <a:avLst/>
          </a:prstGeom>
          <a:noFill/>
        </p:spPr>
        <p:txBody>
          <a:bodyPr wrap="none" lIns="0" rIns="0" tIns="0" bIns="0">
            <a:spAutoFit/>
          </a:bodyPr>
          <a:lstStyle/>
          <a:p>
            <a:pPr>
              <a:defRPr sz="1300" b="0">
                <a:solidFill>
                  <a:srgbClr val="142F38"/>
                </a:solidFill>
                <a:latin typeface="Lato"/>
              </a:defRPr>
            </a:pPr>
            <a:r>
              <a:t>Arecipites sp.</a:t>
            </a:r>
          </a:p>
        </p:txBody>
      </p:sp>
      <p:sp>
        <p:nvSpPr>
          <p:cNvPr id="31" name="TextBox 30"/>
          <p:cNvSpPr txBox="1"/>
          <p:nvPr/>
        </p:nvSpPr>
        <p:spPr>
          <a:xfrm>
            <a:off x="4762500" y="3124200"/>
            <a:ext cx="609600" cy="247650"/>
          </a:xfrm>
          <a:prstGeom prst="rect">
            <a:avLst/>
          </a:prstGeom>
          <a:noFill/>
        </p:spPr>
        <p:txBody>
          <a:bodyPr wrap="none" lIns="0" rIns="0" tIns="0" bIns="0">
            <a:spAutoFit/>
          </a:bodyPr>
          <a:lstStyle/>
          <a:p>
            <a:pPr>
              <a:defRPr sz="1300" b="1">
                <a:solidFill>
                  <a:srgbClr val="16756D"/>
                </a:solidFill>
                <a:latin typeface="Lato"/>
              </a:defRPr>
            </a:pPr>
            <a:r>
              <a:t>81</a:t>
            </a:r>
          </a:p>
        </p:txBody>
      </p:sp>
      <p:sp>
        <p:nvSpPr>
          <p:cNvPr id="32" name="TextBox 31"/>
          <p:cNvSpPr txBox="1"/>
          <p:nvPr/>
        </p:nvSpPr>
        <p:spPr>
          <a:xfrm>
            <a:off x="5562600" y="3124200"/>
            <a:ext cx="444500" cy="247650"/>
          </a:xfrm>
          <a:prstGeom prst="rect">
            <a:avLst/>
          </a:prstGeom>
          <a:noFill/>
        </p:spPr>
        <p:txBody>
          <a:bodyPr wrap="none" lIns="0" rIns="0" tIns="0" bIns="0">
            <a:spAutoFit/>
          </a:bodyPr>
          <a:lstStyle/>
          <a:p>
            <a:pPr>
              <a:defRPr sz="1300" b="0">
                <a:solidFill>
                  <a:srgbClr val="142F38"/>
                </a:solidFill>
                <a:latin typeface="Lato"/>
              </a:defRPr>
            </a:pPr>
            <a:r>
              <a:t>20</a:t>
            </a:r>
          </a:p>
        </p:txBody>
      </p:sp>
      <p:sp>
        <p:nvSpPr>
          <p:cNvPr id="33" name="Rectangle 32"/>
          <p:cNvSpPr/>
          <p:nvPr/>
        </p:nvSpPr>
        <p:spPr>
          <a:xfrm>
            <a:off x="457200" y="33528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8800" y="3365500"/>
            <a:ext cx="4025900" cy="247650"/>
          </a:xfrm>
          <a:prstGeom prst="rect">
            <a:avLst/>
          </a:prstGeom>
          <a:noFill/>
        </p:spPr>
        <p:txBody>
          <a:bodyPr wrap="none" lIns="0" rIns="0" tIns="0" bIns="0">
            <a:spAutoFit/>
          </a:bodyPr>
          <a:lstStyle/>
          <a:p>
            <a:pPr>
              <a:defRPr sz="1300" b="0">
                <a:solidFill>
                  <a:srgbClr val="142F38"/>
                </a:solidFill>
                <a:latin typeface="Lato"/>
              </a:defRPr>
            </a:pPr>
            <a:r>
              <a:t>Platycaryapollenites swasticoidus</a:t>
            </a:r>
          </a:p>
        </p:txBody>
      </p:sp>
      <p:sp>
        <p:nvSpPr>
          <p:cNvPr id="35" name="TextBox 34"/>
          <p:cNvSpPr txBox="1"/>
          <p:nvPr/>
        </p:nvSpPr>
        <p:spPr>
          <a:xfrm>
            <a:off x="4762500" y="3365500"/>
            <a:ext cx="609600" cy="247650"/>
          </a:xfrm>
          <a:prstGeom prst="rect">
            <a:avLst/>
          </a:prstGeom>
          <a:noFill/>
        </p:spPr>
        <p:txBody>
          <a:bodyPr wrap="none" lIns="0" rIns="0" tIns="0" bIns="0">
            <a:spAutoFit/>
          </a:bodyPr>
          <a:lstStyle/>
          <a:p>
            <a:pPr>
              <a:defRPr sz="1300" b="1">
                <a:solidFill>
                  <a:srgbClr val="16756D"/>
                </a:solidFill>
                <a:latin typeface="Lato"/>
              </a:defRPr>
            </a:pPr>
            <a:r>
              <a:t>81</a:t>
            </a:r>
          </a:p>
        </p:txBody>
      </p:sp>
      <p:sp>
        <p:nvSpPr>
          <p:cNvPr id="36" name="TextBox 35"/>
          <p:cNvSpPr txBox="1"/>
          <p:nvPr/>
        </p:nvSpPr>
        <p:spPr>
          <a:xfrm>
            <a:off x="5562600" y="3365500"/>
            <a:ext cx="444500" cy="247650"/>
          </a:xfrm>
          <a:prstGeom prst="rect">
            <a:avLst/>
          </a:prstGeom>
          <a:noFill/>
        </p:spPr>
        <p:txBody>
          <a:bodyPr wrap="none" lIns="0" rIns="0" tIns="0" bIns="0">
            <a:spAutoFit/>
          </a:bodyPr>
          <a:lstStyle/>
          <a:p>
            <a:pPr>
              <a:defRPr sz="1300" b="0">
                <a:solidFill>
                  <a:srgbClr val="142F38"/>
                </a:solidFill>
                <a:latin typeface="Lato"/>
              </a:defRPr>
            </a:pPr>
            <a:r>
              <a:t>6</a:t>
            </a:r>
          </a:p>
        </p:txBody>
      </p:sp>
      <p:sp>
        <p:nvSpPr>
          <p:cNvPr id="37" name="Rectangle 36"/>
          <p:cNvSpPr/>
          <p:nvPr/>
        </p:nvSpPr>
        <p:spPr>
          <a:xfrm>
            <a:off x="457200" y="35941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8800" y="3606800"/>
            <a:ext cx="4025900" cy="247650"/>
          </a:xfrm>
          <a:prstGeom prst="rect">
            <a:avLst/>
          </a:prstGeom>
          <a:noFill/>
        </p:spPr>
        <p:txBody>
          <a:bodyPr wrap="none" lIns="0" rIns="0" tIns="0" bIns="0">
            <a:spAutoFit/>
          </a:bodyPr>
          <a:lstStyle/>
          <a:p>
            <a:pPr>
              <a:defRPr sz="1300" b="0">
                <a:solidFill>
                  <a:srgbClr val="142F38"/>
                </a:solidFill>
                <a:latin typeface="Lato"/>
              </a:defRPr>
            </a:pPr>
            <a:r>
              <a:t>Monocolpites sp.</a:t>
            </a:r>
          </a:p>
        </p:txBody>
      </p:sp>
      <p:sp>
        <p:nvSpPr>
          <p:cNvPr id="39" name="TextBox 38"/>
          <p:cNvSpPr txBox="1"/>
          <p:nvPr/>
        </p:nvSpPr>
        <p:spPr>
          <a:xfrm>
            <a:off x="4762500" y="3606800"/>
            <a:ext cx="609600" cy="247650"/>
          </a:xfrm>
          <a:prstGeom prst="rect">
            <a:avLst/>
          </a:prstGeom>
          <a:noFill/>
        </p:spPr>
        <p:txBody>
          <a:bodyPr wrap="none" lIns="0" rIns="0" tIns="0" bIns="0">
            <a:spAutoFit/>
          </a:bodyPr>
          <a:lstStyle/>
          <a:p>
            <a:pPr>
              <a:defRPr sz="1300" b="1">
                <a:solidFill>
                  <a:srgbClr val="16756D"/>
                </a:solidFill>
                <a:latin typeface="Lato"/>
              </a:defRPr>
            </a:pPr>
            <a:r>
              <a:t>80</a:t>
            </a:r>
          </a:p>
        </p:txBody>
      </p:sp>
      <p:sp>
        <p:nvSpPr>
          <p:cNvPr id="40" name="TextBox 39"/>
          <p:cNvSpPr txBox="1"/>
          <p:nvPr/>
        </p:nvSpPr>
        <p:spPr>
          <a:xfrm>
            <a:off x="5562600" y="3606800"/>
            <a:ext cx="444500" cy="247650"/>
          </a:xfrm>
          <a:prstGeom prst="rect">
            <a:avLst/>
          </a:prstGeom>
          <a:noFill/>
        </p:spPr>
        <p:txBody>
          <a:bodyPr wrap="none" lIns="0" rIns="0" tIns="0" bIns="0">
            <a:spAutoFit/>
          </a:bodyPr>
          <a:lstStyle/>
          <a:p>
            <a:pPr>
              <a:defRPr sz="1300" b="0">
                <a:solidFill>
                  <a:srgbClr val="142F38"/>
                </a:solidFill>
                <a:latin typeface="Lato"/>
              </a:defRPr>
            </a:pPr>
            <a:r>
              <a:t>23</a:t>
            </a:r>
          </a:p>
        </p:txBody>
      </p:sp>
      <p:sp>
        <p:nvSpPr>
          <p:cNvPr id="41" name="Rectangle 40"/>
          <p:cNvSpPr/>
          <p:nvPr/>
        </p:nvSpPr>
        <p:spPr>
          <a:xfrm>
            <a:off x="457200" y="38354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8800" y="3848100"/>
            <a:ext cx="4025900" cy="247650"/>
          </a:xfrm>
          <a:prstGeom prst="rect">
            <a:avLst/>
          </a:prstGeom>
          <a:noFill/>
        </p:spPr>
        <p:txBody>
          <a:bodyPr wrap="none" lIns="0" rIns="0" tIns="0" bIns="0">
            <a:spAutoFit/>
          </a:bodyPr>
          <a:lstStyle/>
          <a:p>
            <a:pPr>
              <a:defRPr sz="1300" b="0">
                <a:solidFill>
                  <a:srgbClr val="142F38"/>
                </a:solidFill>
                <a:latin typeface="Lato"/>
              </a:defRPr>
            </a:pPr>
            <a:r>
              <a:t>Betulaceae</a:t>
            </a:r>
          </a:p>
        </p:txBody>
      </p:sp>
      <p:sp>
        <p:nvSpPr>
          <p:cNvPr id="43" name="TextBox 42"/>
          <p:cNvSpPr txBox="1"/>
          <p:nvPr/>
        </p:nvSpPr>
        <p:spPr>
          <a:xfrm>
            <a:off x="4762500" y="3848100"/>
            <a:ext cx="609600" cy="247650"/>
          </a:xfrm>
          <a:prstGeom prst="rect">
            <a:avLst/>
          </a:prstGeom>
          <a:noFill/>
        </p:spPr>
        <p:txBody>
          <a:bodyPr wrap="none" lIns="0" rIns="0" tIns="0" bIns="0">
            <a:spAutoFit/>
          </a:bodyPr>
          <a:lstStyle/>
          <a:p>
            <a:pPr>
              <a:defRPr sz="1300" b="1">
                <a:solidFill>
                  <a:srgbClr val="16756D"/>
                </a:solidFill>
                <a:latin typeface="Lato"/>
              </a:defRPr>
            </a:pPr>
            <a:r>
              <a:t>78</a:t>
            </a:r>
          </a:p>
        </p:txBody>
      </p:sp>
      <p:sp>
        <p:nvSpPr>
          <p:cNvPr id="44" name="TextBox 43"/>
          <p:cNvSpPr txBox="1"/>
          <p:nvPr/>
        </p:nvSpPr>
        <p:spPr>
          <a:xfrm>
            <a:off x="5562600" y="3848100"/>
            <a:ext cx="444500" cy="247650"/>
          </a:xfrm>
          <a:prstGeom prst="rect">
            <a:avLst/>
          </a:prstGeom>
          <a:noFill/>
        </p:spPr>
        <p:txBody>
          <a:bodyPr wrap="none" lIns="0" rIns="0" tIns="0" bIns="0">
            <a:spAutoFit/>
          </a:bodyPr>
          <a:lstStyle/>
          <a:p>
            <a:pPr>
              <a:defRPr sz="1300" b="0">
                <a:solidFill>
                  <a:srgbClr val="142F38"/>
                </a:solidFill>
                <a:latin typeface="Lato"/>
              </a:defRPr>
            </a:pPr>
            <a:r>
              <a:t>25</a:t>
            </a:r>
          </a:p>
        </p:txBody>
      </p:sp>
      <p:sp>
        <p:nvSpPr>
          <p:cNvPr id="45" name="Rectangle 44"/>
          <p:cNvSpPr/>
          <p:nvPr/>
        </p:nvSpPr>
        <p:spPr>
          <a:xfrm>
            <a:off x="457200" y="40767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58800" y="4089400"/>
            <a:ext cx="4025900" cy="247650"/>
          </a:xfrm>
          <a:prstGeom prst="rect">
            <a:avLst/>
          </a:prstGeom>
          <a:noFill/>
        </p:spPr>
        <p:txBody>
          <a:bodyPr wrap="none" lIns="0" rIns="0" tIns="0" bIns="0">
            <a:spAutoFit/>
          </a:bodyPr>
          <a:lstStyle/>
          <a:p>
            <a:pPr>
              <a:defRPr sz="1300" b="0">
                <a:solidFill>
                  <a:srgbClr val="142F38"/>
                </a:solidFill>
                <a:latin typeface="Lato"/>
              </a:defRPr>
            </a:pPr>
            <a:r>
              <a:t>Retipollenites sp.</a:t>
            </a:r>
          </a:p>
        </p:txBody>
      </p:sp>
      <p:sp>
        <p:nvSpPr>
          <p:cNvPr id="47" name="TextBox 46"/>
          <p:cNvSpPr txBox="1"/>
          <p:nvPr/>
        </p:nvSpPr>
        <p:spPr>
          <a:xfrm>
            <a:off x="4762500" y="4089400"/>
            <a:ext cx="609600" cy="247650"/>
          </a:xfrm>
          <a:prstGeom prst="rect">
            <a:avLst/>
          </a:prstGeom>
          <a:noFill/>
        </p:spPr>
        <p:txBody>
          <a:bodyPr wrap="none" lIns="0" rIns="0" tIns="0" bIns="0">
            <a:spAutoFit/>
          </a:bodyPr>
          <a:lstStyle/>
          <a:p>
            <a:pPr>
              <a:defRPr sz="1300" b="1">
                <a:solidFill>
                  <a:srgbClr val="16756D"/>
                </a:solidFill>
                <a:latin typeface="Lato"/>
              </a:defRPr>
            </a:pPr>
            <a:r>
              <a:t>75</a:t>
            </a:r>
          </a:p>
        </p:txBody>
      </p:sp>
      <p:sp>
        <p:nvSpPr>
          <p:cNvPr id="48" name="TextBox 47"/>
          <p:cNvSpPr txBox="1"/>
          <p:nvPr/>
        </p:nvSpPr>
        <p:spPr>
          <a:xfrm>
            <a:off x="5562600" y="4089400"/>
            <a:ext cx="444500" cy="247650"/>
          </a:xfrm>
          <a:prstGeom prst="rect">
            <a:avLst/>
          </a:prstGeom>
          <a:noFill/>
        </p:spPr>
        <p:txBody>
          <a:bodyPr wrap="none" lIns="0" rIns="0" tIns="0" bIns="0">
            <a:spAutoFit/>
          </a:bodyPr>
          <a:lstStyle/>
          <a:p>
            <a:pPr>
              <a:defRPr sz="1300" b="0">
                <a:solidFill>
                  <a:srgbClr val="142F38"/>
                </a:solidFill>
                <a:latin typeface="Lato"/>
              </a:defRPr>
            </a:pPr>
            <a:r>
              <a:t>3</a:t>
            </a:r>
          </a:p>
        </p:txBody>
      </p:sp>
      <p:sp>
        <p:nvSpPr>
          <p:cNvPr id="49" name="Rectangle 48"/>
          <p:cNvSpPr/>
          <p:nvPr/>
        </p:nvSpPr>
        <p:spPr>
          <a:xfrm>
            <a:off x="457200" y="43180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8800" y="4330700"/>
            <a:ext cx="4025900" cy="247650"/>
          </a:xfrm>
          <a:prstGeom prst="rect">
            <a:avLst/>
          </a:prstGeom>
          <a:noFill/>
        </p:spPr>
        <p:txBody>
          <a:bodyPr wrap="none" lIns="0" rIns="0" tIns="0" bIns="0">
            <a:spAutoFit/>
          </a:bodyPr>
          <a:lstStyle/>
          <a:p>
            <a:pPr>
              <a:defRPr sz="1300" b="0">
                <a:solidFill>
                  <a:srgbClr val="142F38"/>
                </a:solidFill>
                <a:latin typeface="Lato"/>
              </a:defRPr>
            </a:pPr>
            <a:r>
              <a:t>Tetracolporopollenites sp.</a:t>
            </a:r>
          </a:p>
        </p:txBody>
      </p:sp>
      <p:sp>
        <p:nvSpPr>
          <p:cNvPr id="51" name="TextBox 50"/>
          <p:cNvSpPr txBox="1"/>
          <p:nvPr/>
        </p:nvSpPr>
        <p:spPr>
          <a:xfrm>
            <a:off x="4762500" y="4330700"/>
            <a:ext cx="609600" cy="247650"/>
          </a:xfrm>
          <a:prstGeom prst="rect">
            <a:avLst/>
          </a:prstGeom>
          <a:noFill/>
        </p:spPr>
        <p:txBody>
          <a:bodyPr wrap="none" lIns="0" rIns="0" tIns="0" bIns="0">
            <a:spAutoFit/>
          </a:bodyPr>
          <a:lstStyle/>
          <a:p>
            <a:pPr>
              <a:defRPr sz="1300" b="1">
                <a:solidFill>
                  <a:srgbClr val="16756D"/>
                </a:solidFill>
                <a:latin typeface="Lato"/>
              </a:defRPr>
            </a:pPr>
            <a:r>
              <a:t>67</a:t>
            </a:r>
          </a:p>
        </p:txBody>
      </p:sp>
      <p:sp>
        <p:nvSpPr>
          <p:cNvPr id="52" name="TextBox 51"/>
          <p:cNvSpPr txBox="1"/>
          <p:nvPr/>
        </p:nvSpPr>
        <p:spPr>
          <a:xfrm>
            <a:off x="5562600" y="4330700"/>
            <a:ext cx="444500" cy="247650"/>
          </a:xfrm>
          <a:prstGeom prst="rect">
            <a:avLst/>
          </a:prstGeom>
          <a:noFill/>
        </p:spPr>
        <p:txBody>
          <a:bodyPr wrap="none" lIns="0" rIns="0" tIns="0" bIns="0">
            <a:spAutoFit/>
          </a:bodyPr>
          <a:lstStyle/>
          <a:p>
            <a:pPr>
              <a:defRPr sz="1300" b="0">
                <a:solidFill>
                  <a:srgbClr val="142F38"/>
                </a:solidFill>
                <a:latin typeface="Lato"/>
              </a:defRPr>
            </a:pPr>
            <a:r>
              <a:t>8</a:t>
            </a:r>
          </a:p>
        </p:txBody>
      </p:sp>
      <p:sp>
        <p:nvSpPr>
          <p:cNvPr id="53" name="Rectangle 52"/>
          <p:cNvSpPr/>
          <p:nvPr/>
        </p:nvSpPr>
        <p:spPr>
          <a:xfrm>
            <a:off x="457200" y="45593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8800" y="4572000"/>
            <a:ext cx="4025900" cy="247650"/>
          </a:xfrm>
          <a:prstGeom prst="rect">
            <a:avLst/>
          </a:prstGeom>
          <a:noFill/>
        </p:spPr>
        <p:txBody>
          <a:bodyPr wrap="none" lIns="0" rIns="0" tIns="0" bIns="0">
            <a:spAutoFit/>
          </a:bodyPr>
          <a:lstStyle/>
          <a:p>
            <a:pPr>
              <a:defRPr sz="1300" b="0">
                <a:solidFill>
                  <a:srgbClr val="142F38"/>
                </a:solidFill>
                <a:latin typeface="Lato"/>
              </a:defRPr>
            </a:pPr>
            <a:r>
              <a:t>Rhoipites sp.</a:t>
            </a:r>
          </a:p>
        </p:txBody>
      </p:sp>
      <p:sp>
        <p:nvSpPr>
          <p:cNvPr id="55" name="TextBox 54"/>
          <p:cNvSpPr txBox="1"/>
          <p:nvPr/>
        </p:nvSpPr>
        <p:spPr>
          <a:xfrm>
            <a:off x="4762500" y="4572000"/>
            <a:ext cx="609600" cy="247650"/>
          </a:xfrm>
          <a:prstGeom prst="rect">
            <a:avLst/>
          </a:prstGeom>
          <a:noFill/>
        </p:spPr>
        <p:txBody>
          <a:bodyPr wrap="none" lIns="0" rIns="0" tIns="0" bIns="0">
            <a:spAutoFit/>
          </a:bodyPr>
          <a:lstStyle/>
          <a:p>
            <a:pPr>
              <a:defRPr sz="1300" b="1">
                <a:solidFill>
                  <a:srgbClr val="16756D"/>
                </a:solidFill>
                <a:latin typeface="Lato"/>
              </a:defRPr>
            </a:pPr>
            <a:r>
              <a:t>65</a:t>
            </a:r>
          </a:p>
        </p:txBody>
      </p:sp>
      <p:sp>
        <p:nvSpPr>
          <p:cNvPr id="56" name="TextBox 55"/>
          <p:cNvSpPr txBox="1"/>
          <p:nvPr/>
        </p:nvSpPr>
        <p:spPr>
          <a:xfrm>
            <a:off x="5562600" y="4572000"/>
            <a:ext cx="444500" cy="247650"/>
          </a:xfrm>
          <a:prstGeom prst="rect">
            <a:avLst/>
          </a:prstGeom>
          <a:noFill/>
        </p:spPr>
        <p:txBody>
          <a:bodyPr wrap="none" lIns="0" rIns="0" tIns="0" bIns="0">
            <a:spAutoFit/>
          </a:bodyPr>
          <a:lstStyle/>
          <a:p>
            <a:pPr>
              <a:defRPr sz="1300" b="0">
                <a:solidFill>
                  <a:srgbClr val="142F38"/>
                </a:solidFill>
                <a:latin typeface="Lato"/>
              </a:defRPr>
            </a:pPr>
            <a:r>
              <a:t>15</a:t>
            </a:r>
          </a:p>
        </p:txBody>
      </p:sp>
      <p:sp>
        <p:nvSpPr>
          <p:cNvPr id="57" name="Rectangle 56"/>
          <p:cNvSpPr/>
          <p:nvPr/>
        </p:nvSpPr>
        <p:spPr>
          <a:xfrm>
            <a:off x="457200" y="48006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8800" y="4813300"/>
            <a:ext cx="4025900" cy="247650"/>
          </a:xfrm>
          <a:prstGeom prst="rect">
            <a:avLst/>
          </a:prstGeom>
          <a:noFill/>
        </p:spPr>
        <p:txBody>
          <a:bodyPr wrap="none" lIns="0" rIns="0" tIns="0" bIns="0">
            <a:spAutoFit/>
          </a:bodyPr>
          <a:lstStyle/>
          <a:p>
            <a:pPr>
              <a:defRPr sz="1300" b="0">
                <a:solidFill>
                  <a:srgbClr val="142F38"/>
                </a:solidFill>
                <a:latin typeface="Lato"/>
              </a:defRPr>
            </a:pPr>
            <a:r>
              <a:t>Pistillipollenites sp.</a:t>
            </a:r>
          </a:p>
        </p:txBody>
      </p:sp>
      <p:sp>
        <p:nvSpPr>
          <p:cNvPr id="59" name="TextBox 58"/>
          <p:cNvSpPr txBox="1"/>
          <p:nvPr/>
        </p:nvSpPr>
        <p:spPr>
          <a:xfrm>
            <a:off x="4762500" y="4813300"/>
            <a:ext cx="609600" cy="247650"/>
          </a:xfrm>
          <a:prstGeom prst="rect">
            <a:avLst/>
          </a:prstGeom>
          <a:noFill/>
        </p:spPr>
        <p:txBody>
          <a:bodyPr wrap="none" lIns="0" rIns="0" tIns="0" bIns="0">
            <a:spAutoFit/>
          </a:bodyPr>
          <a:lstStyle/>
          <a:p>
            <a:pPr>
              <a:defRPr sz="1300" b="1">
                <a:solidFill>
                  <a:srgbClr val="16756D"/>
                </a:solidFill>
                <a:latin typeface="Lato"/>
              </a:defRPr>
            </a:pPr>
            <a:r>
              <a:t>64</a:t>
            </a:r>
          </a:p>
        </p:txBody>
      </p:sp>
      <p:sp>
        <p:nvSpPr>
          <p:cNvPr id="60" name="TextBox 59"/>
          <p:cNvSpPr txBox="1"/>
          <p:nvPr/>
        </p:nvSpPr>
        <p:spPr>
          <a:xfrm>
            <a:off x="5562600" y="4813300"/>
            <a:ext cx="444500" cy="247650"/>
          </a:xfrm>
          <a:prstGeom prst="rect">
            <a:avLst/>
          </a:prstGeom>
          <a:noFill/>
        </p:spPr>
        <p:txBody>
          <a:bodyPr wrap="none" lIns="0" rIns="0" tIns="0" bIns="0">
            <a:spAutoFit/>
          </a:bodyPr>
          <a:lstStyle/>
          <a:p>
            <a:pPr>
              <a:defRPr sz="1300" b="0">
                <a:solidFill>
                  <a:srgbClr val="142F38"/>
                </a:solidFill>
                <a:latin typeface="Lato"/>
              </a:defRPr>
            </a:pPr>
            <a:r>
              <a:t>7</a:t>
            </a:r>
          </a:p>
        </p:txBody>
      </p:sp>
      <p:sp>
        <p:nvSpPr>
          <p:cNvPr id="61" name="Rectangle 60"/>
          <p:cNvSpPr/>
          <p:nvPr/>
        </p:nvSpPr>
        <p:spPr>
          <a:xfrm>
            <a:off x="457200" y="50419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58800" y="5054600"/>
            <a:ext cx="4025900" cy="247650"/>
          </a:xfrm>
          <a:prstGeom prst="rect">
            <a:avLst/>
          </a:prstGeom>
          <a:noFill/>
        </p:spPr>
        <p:txBody>
          <a:bodyPr wrap="none" lIns="0" rIns="0" tIns="0" bIns="0">
            <a:spAutoFit/>
          </a:bodyPr>
          <a:lstStyle/>
          <a:p>
            <a:pPr>
              <a:defRPr sz="1300" b="0">
                <a:solidFill>
                  <a:srgbClr val="142F38"/>
                </a:solidFill>
                <a:latin typeface="Lato"/>
              </a:defRPr>
            </a:pPr>
            <a:r>
              <a:t>Ulmipollenites sp.</a:t>
            </a:r>
          </a:p>
        </p:txBody>
      </p:sp>
      <p:sp>
        <p:nvSpPr>
          <p:cNvPr id="63" name="TextBox 62"/>
          <p:cNvSpPr txBox="1"/>
          <p:nvPr/>
        </p:nvSpPr>
        <p:spPr>
          <a:xfrm>
            <a:off x="4762500" y="5054600"/>
            <a:ext cx="609600" cy="247650"/>
          </a:xfrm>
          <a:prstGeom prst="rect">
            <a:avLst/>
          </a:prstGeom>
          <a:noFill/>
        </p:spPr>
        <p:txBody>
          <a:bodyPr wrap="none" lIns="0" rIns="0" tIns="0" bIns="0">
            <a:spAutoFit/>
          </a:bodyPr>
          <a:lstStyle/>
          <a:p>
            <a:pPr>
              <a:defRPr sz="1300" b="1">
                <a:solidFill>
                  <a:srgbClr val="16756D"/>
                </a:solidFill>
                <a:latin typeface="Lato"/>
              </a:defRPr>
            </a:pPr>
            <a:r>
              <a:t>63</a:t>
            </a:r>
          </a:p>
        </p:txBody>
      </p:sp>
      <p:sp>
        <p:nvSpPr>
          <p:cNvPr id="64" name="TextBox 63"/>
          <p:cNvSpPr txBox="1"/>
          <p:nvPr/>
        </p:nvSpPr>
        <p:spPr>
          <a:xfrm>
            <a:off x="5562600" y="5054600"/>
            <a:ext cx="444500" cy="247650"/>
          </a:xfrm>
          <a:prstGeom prst="rect">
            <a:avLst/>
          </a:prstGeom>
          <a:noFill/>
        </p:spPr>
        <p:txBody>
          <a:bodyPr wrap="none" lIns="0" rIns="0" tIns="0" bIns="0">
            <a:spAutoFit/>
          </a:bodyPr>
          <a:lstStyle/>
          <a:p>
            <a:pPr>
              <a:defRPr sz="1300" b="0">
                <a:solidFill>
                  <a:srgbClr val="142F38"/>
                </a:solidFill>
                <a:latin typeface="Lato"/>
              </a:defRPr>
            </a:pPr>
            <a:r>
              <a:t>13</a:t>
            </a:r>
          </a:p>
        </p:txBody>
      </p:sp>
      <p:sp>
        <p:nvSpPr>
          <p:cNvPr id="65" name="Rectangle 64"/>
          <p:cNvSpPr/>
          <p:nvPr/>
        </p:nvSpPr>
        <p:spPr>
          <a:xfrm>
            <a:off x="457200" y="52832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58800" y="5295900"/>
            <a:ext cx="4025900" cy="247650"/>
          </a:xfrm>
          <a:prstGeom prst="rect">
            <a:avLst/>
          </a:prstGeom>
          <a:noFill/>
        </p:spPr>
        <p:txBody>
          <a:bodyPr wrap="none" lIns="0" rIns="0" tIns="0" bIns="0">
            <a:spAutoFit/>
          </a:bodyPr>
          <a:lstStyle/>
          <a:p>
            <a:pPr>
              <a:defRPr sz="1300" b="0">
                <a:solidFill>
                  <a:srgbClr val="142F38"/>
                </a:solidFill>
                <a:latin typeface="Lato"/>
              </a:defRPr>
            </a:pPr>
            <a:r>
              <a:t>Taxodium sp.</a:t>
            </a:r>
          </a:p>
        </p:txBody>
      </p:sp>
      <p:sp>
        <p:nvSpPr>
          <p:cNvPr id="67" name="TextBox 66"/>
          <p:cNvSpPr txBox="1"/>
          <p:nvPr/>
        </p:nvSpPr>
        <p:spPr>
          <a:xfrm>
            <a:off x="4762500" y="5295900"/>
            <a:ext cx="609600" cy="247650"/>
          </a:xfrm>
          <a:prstGeom prst="rect">
            <a:avLst/>
          </a:prstGeom>
          <a:noFill/>
        </p:spPr>
        <p:txBody>
          <a:bodyPr wrap="none" lIns="0" rIns="0" tIns="0" bIns="0">
            <a:spAutoFit/>
          </a:bodyPr>
          <a:lstStyle/>
          <a:p>
            <a:pPr>
              <a:defRPr sz="1300" b="1">
                <a:solidFill>
                  <a:srgbClr val="16756D"/>
                </a:solidFill>
                <a:latin typeface="Lato"/>
              </a:defRPr>
            </a:pPr>
            <a:r>
              <a:t>62</a:t>
            </a:r>
          </a:p>
        </p:txBody>
      </p:sp>
      <p:sp>
        <p:nvSpPr>
          <p:cNvPr id="68" name="TextBox 67"/>
          <p:cNvSpPr txBox="1"/>
          <p:nvPr/>
        </p:nvSpPr>
        <p:spPr>
          <a:xfrm>
            <a:off x="5562600" y="5295900"/>
            <a:ext cx="444500" cy="247650"/>
          </a:xfrm>
          <a:prstGeom prst="rect">
            <a:avLst/>
          </a:prstGeom>
          <a:noFill/>
        </p:spPr>
        <p:txBody>
          <a:bodyPr wrap="none" lIns="0" rIns="0" tIns="0" bIns="0">
            <a:spAutoFit/>
          </a:bodyPr>
          <a:lstStyle/>
          <a:p>
            <a:pPr>
              <a:defRPr sz="1300" b="0">
                <a:solidFill>
                  <a:srgbClr val="142F38"/>
                </a:solidFill>
                <a:latin typeface="Lato"/>
              </a:defRPr>
            </a:pPr>
            <a:r>
              <a:t>19</a:t>
            </a:r>
          </a:p>
        </p:txBody>
      </p:sp>
      <p:sp>
        <p:nvSpPr>
          <p:cNvPr id="69" name="Rectangle 68"/>
          <p:cNvSpPr/>
          <p:nvPr/>
        </p:nvSpPr>
        <p:spPr>
          <a:xfrm>
            <a:off x="457200" y="55245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58800" y="5537200"/>
            <a:ext cx="4025900" cy="247650"/>
          </a:xfrm>
          <a:prstGeom prst="rect">
            <a:avLst/>
          </a:prstGeom>
          <a:noFill/>
        </p:spPr>
        <p:txBody>
          <a:bodyPr wrap="none" lIns="0" rIns="0" tIns="0" bIns="0">
            <a:spAutoFit/>
          </a:bodyPr>
          <a:lstStyle/>
          <a:p>
            <a:pPr>
              <a:defRPr sz="1300" b="0">
                <a:solidFill>
                  <a:srgbClr val="142F38"/>
                </a:solidFill>
                <a:latin typeface="Lato"/>
              </a:defRPr>
            </a:pPr>
            <a:r>
              <a:t>Momipites ventifluminis</a:t>
            </a:r>
          </a:p>
        </p:txBody>
      </p:sp>
      <p:sp>
        <p:nvSpPr>
          <p:cNvPr id="71" name="TextBox 70"/>
          <p:cNvSpPr txBox="1"/>
          <p:nvPr/>
        </p:nvSpPr>
        <p:spPr>
          <a:xfrm>
            <a:off x="4762500" y="5537200"/>
            <a:ext cx="609600" cy="247650"/>
          </a:xfrm>
          <a:prstGeom prst="rect">
            <a:avLst/>
          </a:prstGeom>
          <a:noFill/>
        </p:spPr>
        <p:txBody>
          <a:bodyPr wrap="none" lIns="0" rIns="0" tIns="0" bIns="0">
            <a:spAutoFit/>
          </a:bodyPr>
          <a:lstStyle/>
          <a:p>
            <a:pPr>
              <a:defRPr sz="1300" b="1">
                <a:solidFill>
                  <a:srgbClr val="16756D"/>
                </a:solidFill>
                <a:latin typeface="Lato"/>
              </a:defRPr>
            </a:pPr>
            <a:r>
              <a:t>61</a:t>
            </a:r>
          </a:p>
        </p:txBody>
      </p:sp>
      <p:sp>
        <p:nvSpPr>
          <p:cNvPr id="72" name="TextBox 71"/>
          <p:cNvSpPr txBox="1"/>
          <p:nvPr/>
        </p:nvSpPr>
        <p:spPr>
          <a:xfrm>
            <a:off x="5562600" y="5537200"/>
            <a:ext cx="444500" cy="247650"/>
          </a:xfrm>
          <a:prstGeom prst="rect">
            <a:avLst/>
          </a:prstGeom>
          <a:noFill/>
        </p:spPr>
        <p:txBody>
          <a:bodyPr wrap="none" lIns="0" rIns="0" tIns="0" bIns="0">
            <a:spAutoFit/>
          </a:bodyPr>
          <a:lstStyle/>
          <a:p>
            <a:pPr>
              <a:defRPr sz="1300" b="0">
                <a:solidFill>
                  <a:srgbClr val="142F38"/>
                </a:solidFill>
                <a:latin typeface="Lato"/>
              </a:defRPr>
            </a:pPr>
            <a:r>
              <a:t>6</a:t>
            </a:r>
          </a:p>
        </p:txBody>
      </p:sp>
      <p:sp>
        <p:nvSpPr>
          <p:cNvPr id="73" name="TextBox 72"/>
          <p:cNvSpPr txBox="1"/>
          <p:nvPr/>
        </p:nvSpPr>
        <p:spPr>
          <a:xfrm>
            <a:off x="6324600" y="1638300"/>
            <a:ext cx="3810000" cy="209550"/>
          </a:xfrm>
          <a:prstGeom prst="rect">
            <a:avLst/>
          </a:prstGeom>
          <a:noFill/>
        </p:spPr>
        <p:txBody>
          <a:bodyPr wrap="none" lIns="0" rIns="0" tIns="0" bIns="0">
            <a:spAutoFit/>
          </a:bodyPr>
          <a:lstStyle/>
          <a:p>
            <a:pPr>
              <a:defRPr sz="1100" b="1">
                <a:solidFill>
                  <a:srgbClr val="596D71"/>
                </a:solidFill>
                <a:latin typeface="Lato"/>
              </a:defRPr>
            </a:pPr>
            <a:r>
              <a:t>CATEGORY</a:t>
            </a:r>
          </a:p>
        </p:txBody>
      </p:sp>
      <p:sp>
        <p:nvSpPr>
          <p:cNvPr id="74" name="TextBox 73"/>
          <p:cNvSpPr txBox="1"/>
          <p:nvPr/>
        </p:nvSpPr>
        <p:spPr>
          <a:xfrm>
            <a:off x="10414000" y="1638300"/>
            <a:ext cx="762000" cy="209550"/>
          </a:xfrm>
          <a:prstGeom prst="rect">
            <a:avLst/>
          </a:prstGeom>
          <a:noFill/>
        </p:spPr>
        <p:txBody>
          <a:bodyPr wrap="none" lIns="0" rIns="0" tIns="0" bIns="0">
            <a:spAutoFit/>
          </a:bodyPr>
          <a:lstStyle/>
          <a:p>
            <a:pPr>
              <a:defRPr sz="1100" b="1">
                <a:solidFill>
                  <a:srgbClr val="596D71"/>
                </a:solidFill>
                <a:latin typeface="Lato"/>
              </a:defRPr>
            </a:pPr>
            <a:r>
              <a:t>COUNT</a:t>
            </a:r>
          </a:p>
        </p:txBody>
      </p:sp>
      <p:sp>
        <p:nvSpPr>
          <p:cNvPr id="75" name="TextBox 74"/>
          <p:cNvSpPr txBox="1"/>
          <p:nvPr/>
        </p:nvSpPr>
        <p:spPr>
          <a:xfrm>
            <a:off x="11214100" y="1638300"/>
            <a:ext cx="660400" cy="209550"/>
          </a:xfrm>
          <a:prstGeom prst="rect">
            <a:avLst/>
          </a:prstGeom>
          <a:noFill/>
        </p:spPr>
        <p:txBody>
          <a:bodyPr wrap="none" lIns="0" rIns="0" tIns="0" bIns="0">
            <a:spAutoFit/>
          </a:bodyPr>
          <a:lstStyle/>
          <a:p>
            <a:pPr>
              <a:defRPr sz="1100" b="1">
                <a:solidFill>
                  <a:srgbClr val="596D71"/>
                </a:solidFill>
                <a:latin typeface="Lato"/>
              </a:defRPr>
            </a:pPr>
            <a:r>
              <a:t>SLIDES</a:t>
            </a:r>
          </a:p>
        </p:txBody>
      </p:sp>
      <p:sp>
        <p:nvSpPr>
          <p:cNvPr id="76" name="Rectangle 75"/>
          <p:cNvSpPr/>
          <p:nvPr/>
        </p:nvSpPr>
        <p:spPr>
          <a:xfrm>
            <a:off x="6223000" y="19050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324600" y="1917700"/>
            <a:ext cx="4025900" cy="247650"/>
          </a:xfrm>
          <a:prstGeom prst="rect">
            <a:avLst/>
          </a:prstGeom>
          <a:noFill/>
        </p:spPr>
        <p:txBody>
          <a:bodyPr wrap="none" lIns="0" rIns="0" tIns="0" bIns="0">
            <a:spAutoFit/>
          </a:bodyPr>
          <a:lstStyle/>
          <a:p>
            <a:pPr>
              <a:defRPr sz="1300" b="0">
                <a:solidFill>
                  <a:srgbClr val="142F38"/>
                </a:solidFill>
                <a:latin typeface="Lato"/>
              </a:defRPr>
            </a:pPr>
            <a:r>
              <a:t>Psilatricolpites sp.</a:t>
            </a:r>
          </a:p>
        </p:txBody>
      </p:sp>
      <p:sp>
        <p:nvSpPr>
          <p:cNvPr id="78" name="TextBox 77"/>
          <p:cNvSpPr txBox="1"/>
          <p:nvPr/>
        </p:nvSpPr>
        <p:spPr>
          <a:xfrm>
            <a:off x="10528300" y="1917700"/>
            <a:ext cx="609600" cy="247650"/>
          </a:xfrm>
          <a:prstGeom prst="rect">
            <a:avLst/>
          </a:prstGeom>
          <a:noFill/>
        </p:spPr>
        <p:txBody>
          <a:bodyPr wrap="none" lIns="0" rIns="0" tIns="0" bIns="0">
            <a:spAutoFit/>
          </a:bodyPr>
          <a:lstStyle/>
          <a:p>
            <a:pPr>
              <a:defRPr sz="1300" b="1">
                <a:solidFill>
                  <a:srgbClr val="16756D"/>
                </a:solidFill>
                <a:latin typeface="Lato"/>
              </a:defRPr>
            </a:pPr>
            <a:r>
              <a:t>61</a:t>
            </a:r>
          </a:p>
        </p:txBody>
      </p:sp>
      <p:sp>
        <p:nvSpPr>
          <p:cNvPr id="79" name="TextBox 78"/>
          <p:cNvSpPr txBox="1"/>
          <p:nvPr/>
        </p:nvSpPr>
        <p:spPr>
          <a:xfrm>
            <a:off x="11328400" y="1917700"/>
            <a:ext cx="444500" cy="247650"/>
          </a:xfrm>
          <a:prstGeom prst="rect">
            <a:avLst/>
          </a:prstGeom>
          <a:noFill/>
        </p:spPr>
        <p:txBody>
          <a:bodyPr wrap="none" lIns="0" rIns="0" tIns="0" bIns="0">
            <a:spAutoFit/>
          </a:bodyPr>
          <a:lstStyle/>
          <a:p>
            <a:pPr>
              <a:defRPr sz="1300" b="0">
                <a:solidFill>
                  <a:srgbClr val="142F38"/>
                </a:solidFill>
                <a:latin typeface="Lato"/>
              </a:defRPr>
            </a:pPr>
            <a:r>
              <a:t>18</a:t>
            </a:r>
          </a:p>
        </p:txBody>
      </p:sp>
      <p:sp>
        <p:nvSpPr>
          <p:cNvPr id="80" name="Rectangle 79"/>
          <p:cNvSpPr/>
          <p:nvPr/>
        </p:nvSpPr>
        <p:spPr>
          <a:xfrm>
            <a:off x="6223000" y="21463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24600" y="2159000"/>
            <a:ext cx="4025900" cy="247650"/>
          </a:xfrm>
          <a:prstGeom prst="rect">
            <a:avLst/>
          </a:prstGeom>
          <a:noFill/>
        </p:spPr>
        <p:txBody>
          <a:bodyPr wrap="none" lIns="0" rIns="0" tIns="0" bIns="0">
            <a:spAutoFit/>
          </a:bodyPr>
          <a:lstStyle/>
          <a:p>
            <a:pPr>
              <a:defRPr sz="1300" b="0">
                <a:solidFill>
                  <a:srgbClr val="142F38"/>
                </a:solidFill>
                <a:latin typeface="Lato"/>
              </a:defRPr>
            </a:pPr>
            <a:r>
              <a:t>Platycarya platycarioides</a:t>
            </a:r>
          </a:p>
        </p:txBody>
      </p:sp>
      <p:sp>
        <p:nvSpPr>
          <p:cNvPr id="82" name="TextBox 81"/>
          <p:cNvSpPr txBox="1"/>
          <p:nvPr/>
        </p:nvSpPr>
        <p:spPr>
          <a:xfrm>
            <a:off x="10528300" y="2159000"/>
            <a:ext cx="609600" cy="247650"/>
          </a:xfrm>
          <a:prstGeom prst="rect">
            <a:avLst/>
          </a:prstGeom>
          <a:noFill/>
        </p:spPr>
        <p:txBody>
          <a:bodyPr wrap="none" lIns="0" rIns="0" tIns="0" bIns="0">
            <a:spAutoFit/>
          </a:bodyPr>
          <a:lstStyle/>
          <a:p>
            <a:pPr>
              <a:defRPr sz="1300" b="1">
                <a:solidFill>
                  <a:srgbClr val="16756D"/>
                </a:solidFill>
                <a:latin typeface="Lato"/>
              </a:defRPr>
            </a:pPr>
            <a:r>
              <a:t>56</a:t>
            </a:r>
          </a:p>
        </p:txBody>
      </p:sp>
      <p:sp>
        <p:nvSpPr>
          <p:cNvPr id="83" name="TextBox 82"/>
          <p:cNvSpPr txBox="1"/>
          <p:nvPr/>
        </p:nvSpPr>
        <p:spPr>
          <a:xfrm>
            <a:off x="11328400" y="2159000"/>
            <a:ext cx="444500" cy="247650"/>
          </a:xfrm>
          <a:prstGeom prst="rect">
            <a:avLst/>
          </a:prstGeom>
          <a:noFill/>
        </p:spPr>
        <p:txBody>
          <a:bodyPr wrap="none" lIns="0" rIns="0" tIns="0" bIns="0">
            <a:spAutoFit/>
          </a:bodyPr>
          <a:lstStyle/>
          <a:p>
            <a:pPr>
              <a:defRPr sz="1300" b="0">
                <a:solidFill>
                  <a:srgbClr val="142F38"/>
                </a:solidFill>
                <a:latin typeface="Lato"/>
              </a:defRPr>
            </a:pPr>
            <a:r>
              <a:t>6</a:t>
            </a:r>
          </a:p>
        </p:txBody>
      </p:sp>
      <p:sp>
        <p:nvSpPr>
          <p:cNvPr id="84" name="Rectangle 83"/>
          <p:cNvSpPr/>
          <p:nvPr/>
        </p:nvSpPr>
        <p:spPr>
          <a:xfrm>
            <a:off x="6223000" y="23876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324600" y="2400300"/>
            <a:ext cx="4025900" cy="247650"/>
          </a:xfrm>
          <a:prstGeom prst="rect">
            <a:avLst/>
          </a:prstGeom>
          <a:noFill/>
        </p:spPr>
        <p:txBody>
          <a:bodyPr wrap="none" lIns="0" rIns="0" tIns="0" bIns="0">
            <a:spAutoFit/>
          </a:bodyPr>
          <a:lstStyle/>
          <a:p>
            <a:pPr>
              <a:defRPr sz="1300" b="0">
                <a:solidFill>
                  <a:srgbClr val="142F38"/>
                </a:solidFill>
                <a:latin typeface="Lato"/>
              </a:defRPr>
            </a:pPr>
            <a:r>
              <a:t>Caryapollenites veripites</a:t>
            </a:r>
          </a:p>
        </p:txBody>
      </p:sp>
      <p:sp>
        <p:nvSpPr>
          <p:cNvPr id="86" name="TextBox 85"/>
          <p:cNvSpPr txBox="1"/>
          <p:nvPr/>
        </p:nvSpPr>
        <p:spPr>
          <a:xfrm>
            <a:off x="10528300" y="2400300"/>
            <a:ext cx="609600" cy="247650"/>
          </a:xfrm>
          <a:prstGeom prst="rect">
            <a:avLst/>
          </a:prstGeom>
          <a:noFill/>
        </p:spPr>
        <p:txBody>
          <a:bodyPr wrap="none" lIns="0" rIns="0" tIns="0" bIns="0">
            <a:spAutoFit/>
          </a:bodyPr>
          <a:lstStyle/>
          <a:p>
            <a:pPr>
              <a:defRPr sz="1300" b="1">
                <a:solidFill>
                  <a:srgbClr val="16756D"/>
                </a:solidFill>
                <a:latin typeface="Lato"/>
              </a:defRPr>
            </a:pPr>
            <a:r>
              <a:t>55</a:t>
            </a:r>
          </a:p>
        </p:txBody>
      </p:sp>
      <p:sp>
        <p:nvSpPr>
          <p:cNvPr id="87" name="TextBox 86"/>
          <p:cNvSpPr txBox="1"/>
          <p:nvPr/>
        </p:nvSpPr>
        <p:spPr>
          <a:xfrm>
            <a:off x="11328400" y="2400300"/>
            <a:ext cx="444500" cy="247650"/>
          </a:xfrm>
          <a:prstGeom prst="rect">
            <a:avLst/>
          </a:prstGeom>
          <a:noFill/>
        </p:spPr>
        <p:txBody>
          <a:bodyPr wrap="none" lIns="0" rIns="0" tIns="0" bIns="0">
            <a:spAutoFit/>
          </a:bodyPr>
          <a:lstStyle/>
          <a:p>
            <a:pPr>
              <a:defRPr sz="1300" b="0">
                <a:solidFill>
                  <a:srgbClr val="142F38"/>
                </a:solidFill>
                <a:latin typeface="Lato"/>
              </a:defRPr>
            </a:pPr>
            <a:r>
              <a:t>7</a:t>
            </a:r>
          </a:p>
        </p:txBody>
      </p:sp>
      <p:sp>
        <p:nvSpPr>
          <p:cNvPr id="88" name="Rectangle 87"/>
          <p:cNvSpPr/>
          <p:nvPr/>
        </p:nvSpPr>
        <p:spPr>
          <a:xfrm>
            <a:off x="6223000" y="26289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324600" y="2641600"/>
            <a:ext cx="4025900" cy="247650"/>
          </a:xfrm>
          <a:prstGeom prst="rect">
            <a:avLst/>
          </a:prstGeom>
          <a:noFill/>
        </p:spPr>
        <p:txBody>
          <a:bodyPr wrap="none" lIns="0" rIns="0" tIns="0" bIns="0">
            <a:spAutoFit/>
          </a:bodyPr>
          <a:lstStyle/>
          <a:p>
            <a:pPr>
              <a:defRPr sz="1300" b="0">
                <a:solidFill>
                  <a:srgbClr val="142F38"/>
                </a:solidFill>
                <a:latin typeface="Lato"/>
              </a:defRPr>
            </a:pPr>
            <a:r>
              <a:t>Ericipites sp.</a:t>
            </a:r>
          </a:p>
        </p:txBody>
      </p:sp>
      <p:sp>
        <p:nvSpPr>
          <p:cNvPr id="90" name="TextBox 89"/>
          <p:cNvSpPr txBox="1"/>
          <p:nvPr/>
        </p:nvSpPr>
        <p:spPr>
          <a:xfrm>
            <a:off x="10528300" y="2641600"/>
            <a:ext cx="609600" cy="247650"/>
          </a:xfrm>
          <a:prstGeom prst="rect">
            <a:avLst/>
          </a:prstGeom>
          <a:noFill/>
        </p:spPr>
        <p:txBody>
          <a:bodyPr wrap="none" lIns="0" rIns="0" tIns="0" bIns="0">
            <a:spAutoFit/>
          </a:bodyPr>
          <a:lstStyle/>
          <a:p>
            <a:pPr>
              <a:defRPr sz="1300" b="1">
                <a:solidFill>
                  <a:srgbClr val="16756D"/>
                </a:solidFill>
                <a:latin typeface="Lato"/>
              </a:defRPr>
            </a:pPr>
            <a:r>
              <a:t>54</a:t>
            </a:r>
          </a:p>
        </p:txBody>
      </p:sp>
      <p:sp>
        <p:nvSpPr>
          <p:cNvPr id="91" name="TextBox 90"/>
          <p:cNvSpPr txBox="1"/>
          <p:nvPr/>
        </p:nvSpPr>
        <p:spPr>
          <a:xfrm>
            <a:off x="11328400" y="2641600"/>
            <a:ext cx="444500" cy="247650"/>
          </a:xfrm>
          <a:prstGeom prst="rect">
            <a:avLst/>
          </a:prstGeom>
          <a:noFill/>
        </p:spPr>
        <p:txBody>
          <a:bodyPr wrap="none" lIns="0" rIns="0" tIns="0" bIns="0">
            <a:spAutoFit/>
          </a:bodyPr>
          <a:lstStyle/>
          <a:p>
            <a:pPr>
              <a:defRPr sz="1300" b="0">
                <a:solidFill>
                  <a:srgbClr val="142F38"/>
                </a:solidFill>
                <a:latin typeface="Lato"/>
              </a:defRPr>
            </a:pPr>
            <a:r>
              <a:t>11</a:t>
            </a:r>
          </a:p>
        </p:txBody>
      </p:sp>
      <p:sp>
        <p:nvSpPr>
          <p:cNvPr id="92" name="Rectangle 91"/>
          <p:cNvSpPr/>
          <p:nvPr/>
        </p:nvSpPr>
        <p:spPr>
          <a:xfrm>
            <a:off x="6223000" y="28702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324600" y="2882900"/>
            <a:ext cx="4025900" cy="247650"/>
          </a:xfrm>
          <a:prstGeom prst="rect">
            <a:avLst/>
          </a:prstGeom>
          <a:noFill/>
        </p:spPr>
        <p:txBody>
          <a:bodyPr wrap="none" lIns="0" rIns="0" tIns="0" bIns="0">
            <a:spAutoFit/>
          </a:bodyPr>
          <a:lstStyle/>
          <a:p>
            <a:pPr>
              <a:defRPr sz="1300" b="0">
                <a:solidFill>
                  <a:srgbClr val="142F38"/>
                </a:solidFill>
                <a:latin typeface="Lato"/>
              </a:defRPr>
            </a:pPr>
            <a:r>
              <a:t>Rousea sp.</a:t>
            </a:r>
          </a:p>
        </p:txBody>
      </p:sp>
      <p:sp>
        <p:nvSpPr>
          <p:cNvPr id="94" name="TextBox 93"/>
          <p:cNvSpPr txBox="1"/>
          <p:nvPr/>
        </p:nvSpPr>
        <p:spPr>
          <a:xfrm>
            <a:off x="10528300" y="2882900"/>
            <a:ext cx="609600" cy="247650"/>
          </a:xfrm>
          <a:prstGeom prst="rect">
            <a:avLst/>
          </a:prstGeom>
          <a:noFill/>
        </p:spPr>
        <p:txBody>
          <a:bodyPr wrap="none" lIns="0" rIns="0" tIns="0" bIns="0">
            <a:spAutoFit/>
          </a:bodyPr>
          <a:lstStyle/>
          <a:p>
            <a:pPr>
              <a:defRPr sz="1300" b="1">
                <a:solidFill>
                  <a:srgbClr val="16756D"/>
                </a:solidFill>
                <a:latin typeface="Lato"/>
              </a:defRPr>
            </a:pPr>
            <a:r>
              <a:t>54</a:t>
            </a:r>
          </a:p>
        </p:txBody>
      </p:sp>
      <p:sp>
        <p:nvSpPr>
          <p:cNvPr id="95" name="TextBox 94"/>
          <p:cNvSpPr txBox="1"/>
          <p:nvPr/>
        </p:nvSpPr>
        <p:spPr>
          <a:xfrm>
            <a:off x="11328400" y="2882900"/>
            <a:ext cx="444500" cy="247650"/>
          </a:xfrm>
          <a:prstGeom prst="rect">
            <a:avLst/>
          </a:prstGeom>
          <a:noFill/>
        </p:spPr>
        <p:txBody>
          <a:bodyPr wrap="none" lIns="0" rIns="0" tIns="0" bIns="0">
            <a:spAutoFit/>
          </a:bodyPr>
          <a:lstStyle/>
          <a:p>
            <a:pPr>
              <a:defRPr sz="1300" b="0">
                <a:solidFill>
                  <a:srgbClr val="142F38"/>
                </a:solidFill>
                <a:latin typeface="Lato"/>
              </a:defRPr>
            </a:pPr>
            <a:r>
              <a:t>20</a:t>
            </a:r>
          </a:p>
        </p:txBody>
      </p:sp>
      <p:sp>
        <p:nvSpPr>
          <p:cNvPr id="96" name="Rectangle 95"/>
          <p:cNvSpPr/>
          <p:nvPr/>
        </p:nvSpPr>
        <p:spPr>
          <a:xfrm>
            <a:off x="6223000" y="31115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324600" y="3124200"/>
            <a:ext cx="4025900" cy="247650"/>
          </a:xfrm>
          <a:prstGeom prst="rect">
            <a:avLst/>
          </a:prstGeom>
          <a:noFill/>
        </p:spPr>
        <p:txBody>
          <a:bodyPr wrap="none" lIns="0" rIns="0" tIns="0" bIns="0">
            <a:spAutoFit/>
          </a:bodyPr>
          <a:lstStyle/>
          <a:p>
            <a:pPr>
              <a:defRPr sz="1300" b="0">
                <a:solidFill>
                  <a:srgbClr val="142F38"/>
                </a:solidFill>
                <a:latin typeface="Lato"/>
              </a:defRPr>
            </a:pPr>
            <a:r>
              <a:t>Cicatricosisporites sp.</a:t>
            </a:r>
          </a:p>
        </p:txBody>
      </p:sp>
      <p:sp>
        <p:nvSpPr>
          <p:cNvPr id="98" name="TextBox 97"/>
          <p:cNvSpPr txBox="1"/>
          <p:nvPr/>
        </p:nvSpPr>
        <p:spPr>
          <a:xfrm>
            <a:off x="10528300" y="3124200"/>
            <a:ext cx="609600" cy="247650"/>
          </a:xfrm>
          <a:prstGeom prst="rect">
            <a:avLst/>
          </a:prstGeom>
          <a:noFill/>
        </p:spPr>
        <p:txBody>
          <a:bodyPr wrap="none" lIns="0" rIns="0" tIns="0" bIns="0">
            <a:spAutoFit/>
          </a:bodyPr>
          <a:lstStyle/>
          <a:p>
            <a:pPr>
              <a:defRPr sz="1300" b="1">
                <a:solidFill>
                  <a:srgbClr val="16756D"/>
                </a:solidFill>
                <a:latin typeface="Lato"/>
              </a:defRPr>
            </a:pPr>
            <a:r>
              <a:t>52</a:t>
            </a:r>
          </a:p>
        </p:txBody>
      </p:sp>
      <p:sp>
        <p:nvSpPr>
          <p:cNvPr id="99" name="TextBox 98"/>
          <p:cNvSpPr txBox="1"/>
          <p:nvPr/>
        </p:nvSpPr>
        <p:spPr>
          <a:xfrm>
            <a:off x="11328400" y="3124200"/>
            <a:ext cx="444500" cy="247650"/>
          </a:xfrm>
          <a:prstGeom prst="rect">
            <a:avLst/>
          </a:prstGeom>
          <a:noFill/>
        </p:spPr>
        <p:txBody>
          <a:bodyPr wrap="none" lIns="0" rIns="0" tIns="0" bIns="0">
            <a:spAutoFit/>
          </a:bodyPr>
          <a:lstStyle/>
          <a:p>
            <a:pPr>
              <a:defRPr sz="1300" b="0">
                <a:solidFill>
                  <a:srgbClr val="142F38"/>
                </a:solidFill>
                <a:latin typeface="Lato"/>
              </a:defRPr>
            </a:pPr>
            <a:r>
              <a:t>6</a:t>
            </a:r>
          </a:p>
        </p:txBody>
      </p:sp>
      <p:sp>
        <p:nvSpPr>
          <p:cNvPr id="100" name="Rectangle 99"/>
          <p:cNvSpPr/>
          <p:nvPr/>
        </p:nvSpPr>
        <p:spPr>
          <a:xfrm>
            <a:off x="6223000" y="33528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324600" y="3365500"/>
            <a:ext cx="4025900" cy="247650"/>
          </a:xfrm>
          <a:prstGeom prst="rect">
            <a:avLst/>
          </a:prstGeom>
          <a:noFill/>
        </p:spPr>
        <p:txBody>
          <a:bodyPr wrap="none" lIns="0" rIns="0" tIns="0" bIns="0">
            <a:spAutoFit/>
          </a:bodyPr>
          <a:lstStyle/>
          <a:p>
            <a:pPr>
              <a:defRPr sz="1300" b="0">
                <a:solidFill>
                  <a:srgbClr val="142F38"/>
                </a:solidFill>
                <a:latin typeface="Lato"/>
              </a:defRPr>
            </a:pPr>
            <a:r>
              <a:t>Momipites wyomingensis</a:t>
            </a:r>
          </a:p>
        </p:txBody>
      </p:sp>
      <p:sp>
        <p:nvSpPr>
          <p:cNvPr id="102" name="TextBox 101"/>
          <p:cNvSpPr txBox="1"/>
          <p:nvPr/>
        </p:nvSpPr>
        <p:spPr>
          <a:xfrm>
            <a:off x="10528300" y="3365500"/>
            <a:ext cx="609600" cy="247650"/>
          </a:xfrm>
          <a:prstGeom prst="rect">
            <a:avLst/>
          </a:prstGeom>
          <a:noFill/>
        </p:spPr>
        <p:txBody>
          <a:bodyPr wrap="none" lIns="0" rIns="0" tIns="0" bIns="0">
            <a:spAutoFit/>
          </a:bodyPr>
          <a:lstStyle/>
          <a:p>
            <a:pPr>
              <a:defRPr sz="1300" b="1">
                <a:solidFill>
                  <a:srgbClr val="16756D"/>
                </a:solidFill>
                <a:latin typeface="Lato"/>
              </a:defRPr>
            </a:pPr>
            <a:r>
              <a:t>51</a:t>
            </a:r>
          </a:p>
        </p:txBody>
      </p:sp>
      <p:sp>
        <p:nvSpPr>
          <p:cNvPr id="103" name="TextBox 102"/>
          <p:cNvSpPr txBox="1"/>
          <p:nvPr/>
        </p:nvSpPr>
        <p:spPr>
          <a:xfrm>
            <a:off x="11328400" y="3365500"/>
            <a:ext cx="444500" cy="247650"/>
          </a:xfrm>
          <a:prstGeom prst="rect">
            <a:avLst/>
          </a:prstGeom>
          <a:noFill/>
        </p:spPr>
        <p:txBody>
          <a:bodyPr wrap="none" lIns="0" rIns="0" tIns="0" bIns="0">
            <a:spAutoFit/>
          </a:bodyPr>
          <a:lstStyle/>
          <a:p>
            <a:pPr>
              <a:defRPr sz="1300" b="0">
                <a:solidFill>
                  <a:srgbClr val="142F38"/>
                </a:solidFill>
                <a:latin typeface="Lato"/>
              </a:defRPr>
            </a:pPr>
            <a:r>
              <a:t>14</a:t>
            </a:r>
          </a:p>
        </p:txBody>
      </p:sp>
      <p:sp>
        <p:nvSpPr>
          <p:cNvPr id="104" name="Rectangle 103"/>
          <p:cNvSpPr/>
          <p:nvPr/>
        </p:nvSpPr>
        <p:spPr>
          <a:xfrm>
            <a:off x="6223000" y="35941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324600" y="3606800"/>
            <a:ext cx="4025900" cy="247650"/>
          </a:xfrm>
          <a:prstGeom prst="rect">
            <a:avLst/>
          </a:prstGeom>
          <a:noFill/>
        </p:spPr>
        <p:txBody>
          <a:bodyPr wrap="none" lIns="0" rIns="0" tIns="0" bIns="0">
            <a:spAutoFit/>
          </a:bodyPr>
          <a:lstStyle/>
          <a:p>
            <a:pPr>
              <a:defRPr sz="1300" b="0">
                <a:solidFill>
                  <a:srgbClr val="142F38"/>
                </a:solidFill>
                <a:latin typeface="Lato"/>
              </a:defRPr>
            </a:pPr>
            <a:r>
              <a:t>Psilatriletes sp.</a:t>
            </a:r>
          </a:p>
        </p:txBody>
      </p:sp>
      <p:sp>
        <p:nvSpPr>
          <p:cNvPr id="106" name="TextBox 105"/>
          <p:cNvSpPr txBox="1"/>
          <p:nvPr/>
        </p:nvSpPr>
        <p:spPr>
          <a:xfrm>
            <a:off x="10528300" y="3606800"/>
            <a:ext cx="609600" cy="247650"/>
          </a:xfrm>
          <a:prstGeom prst="rect">
            <a:avLst/>
          </a:prstGeom>
          <a:noFill/>
        </p:spPr>
        <p:txBody>
          <a:bodyPr wrap="none" lIns="0" rIns="0" tIns="0" bIns="0">
            <a:spAutoFit/>
          </a:bodyPr>
          <a:lstStyle/>
          <a:p>
            <a:pPr>
              <a:defRPr sz="1300" b="1">
                <a:solidFill>
                  <a:srgbClr val="16756D"/>
                </a:solidFill>
                <a:latin typeface="Lato"/>
              </a:defRPr>
            </a:pPr>
            <a:r>
              <a:t>48</a:t>
            </a:r>
          </a:p>
        </p:txBody>
      </p:sp>
      <p:sp>
        <p:nvSpPr>
          <p:cNvPr id="107" name="TextBox 106"/>
          <p:cNvSpPr txBox="1"/>
          <p:nvPr/>
        </p:nvSpPr>
        <p:spPr>
          <a:xfrm>
            <a:off x="11328400" y="3606800"/>
            <a:ext cx="444500" cy="247650"/>
          </a:xfrm>
          <a:prstGeom prst="rect">
            <a:avLst/>
          </a:prstGeom>
          <a:noFill/>
        </p:spPr>
        <p:txBody>
          <a:bodyPr wrap="none" lIns="0" rIns="0" tIns="0" bIns="0">
            <a:spAutoFit/>
          </a:bodyPr>
          <a:lstStyle/>
          <a:p>
            <a:pPr>
              <a:defRPr sz="1300" b="0">
                <a:solidFill>
                  <a:srgbClr val="142F38"/>
                </a:solidFill>
                <a:latin typeface="Lato"/>
              </a:defRPr>
            </a:pPr>
            <a:r>
              <a:t>21</a:t>
            </a:r>
          </a:p>
        </p:txBody>
      </p:sp>
      <p:sp>
        <p:nvSpPr>
          <p:cNvPr id="108" name="Rectangle 107"/>
          <p:cNvSpPr/>
          <p:nvPr/>
        </p:nvSpPr>
        <p:spPr>
          <a:xfrm>
            <a:off x="6223000" y="38354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324600" y="3848100"/>
            <a:ext cx="4025900" cy="247650"/>
          </a:xfrm>
          <a:prstGeom prst="rect">
            <a:avLst/>
          </a:prstGeom>
          <a:noFill/>
        </p:spPr>
        <p:txBody>
          <a:bodyPr wrap="none" lIns="0" rIns="0" tIns="0" bIns="0">
            <a:spAutoFit/>
          </a:bodyPr>
          <a:lstStyle/>
          <a:p>
            <a:pPr>
              <a:defRPr sz="1300" b="0">
                <a:solidFill>
                  <a:srgbClr val="142F38"/>
                </a:solidFill>
                <a:latin typeface="Lato"/>
              </a:defRPr>
            </a:pPr>
            <a:r>
              <a:t>Quercus sp.</a:t>
            </a:r>
          </a:p>
        </p:txBody>
      </p:sp>
      <p:sp>
        <p:nvSpPr>
          <p:cNvPr id="110" name="TextBox 109"/>
          <p:cNvSpPr txBox="1"/>
          <p:nvPr/>
        </p:nvSpPr>
        <p:spPr>
          <a:xfrm>
            <a:off x="10528300" y="3848100"/>
            <a:ext cx="609600" cy="247650"/>
          </a:xfrm>
          <a:prstGeom prst="rect">
            <a:avLst/>
          </a:prstGeom>
          <a:noFill/>
        </p:spPr>
        <p:txBody>
          <a:bodyPr wrap="none" lIns="0" rIns="0" tIns="0" bIns="0">
            <a:spAutoFit/>
          </a:bodyPr>
          <a:lstStyle/>
          <a:p>
            <a:pPr>
              <a:defRPr sz="1300" b="1">
                <a:solidFill>
                  <a:srgbClr val="16756D"/>
                </a:solidFill>
                <a:latin typeface="Lato"/>
              </a:defRPr>
            </a:pPr>
            <a:r>
              <a:t>44</a:t>
            </a:r>
          </a:p>
        </p:txBody>
      </p:sp>
      <p:sp>
        <p:nvSpPr>
          <p:cNvPr id="111" name="TextBox 110"/>
          <p:cNvSpPr txBox="1"/>
          <p:nvPr/>
        </p:nvSpPr>
        <p:spPr>
          <a:xfrm>
            <a:off x="11328400" y="3848100"/>
            <a:ext cx="444500" cy="247650"/>
          </a:xfrm>
          <a:prstGeom prst="rect">
            <a:avLst/>
          </a:prstGeom>
          <a:noFill/>
        </p:spPr>
        <p:txBody>
          <a:bodyPr wrap="none" lIns="0" rIns="0" tIns="0" bIns="0">
            <a:spAutoFit/>
          </a:bodyPr>
          <a:lstStyle/>
          <a:p>
            <a:pPr>
              <a:defRPr sz="1300" b="0">
                <a:solidFill>
                  <a:srgbClr val="142F38"/>
                </a:solidFill>
                <a:latin typeface="Lato"/>
              </a:defRPr>
            </a:pPr>
            <a:r>
              <a:t>8</a:t>
            </a:r>
          </a:p>
        </p:txBody>
      </p:sp>
      <p:sp>
        <p:nvSpPr>
          <p:cNvPr id="112" name="Rectangle 111"/>
          <p:cNvSpPr/>
          <p:nvPr/>
        </p:nvSpPr>
        <p:spPr>
          <a:xfrm>
            <a:off x="6223000" y="40767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324600" y="4089400"/>
            <a:ext cx="4025900" cy="247650"/>
          </a:xfrm>
          <a:prstGeom prst="rect">
            <a:avLst/>
          </a:prstGeom>
          <a:noFill/>
        </p:spPr>
        <p:txBody>
          <a:bodyPr wrap="none" lIns="0" rIns="0" tIns="0" bIns="0">
            <a:spAutoFit/>
          </a:bodyPr>
          <a:lstStyle/>
          <a:p>
            <a:pPr>
              <a:defRPr sz="1300" b="0">
                <a:solidFill>
                  <a:srgbClr val="142F38"/>
                </a:solidFill>
                <a:latin typeface="Lato"/>
              </a:defRPr>
            </a:pPr>
            <a:r>
              <a:t>Inaperturopollenites sp.</a:t>
            </a:r>
          </a:p>
        </p:txBody>
      </p:sp>
      <p:sp>
        <p:nvSpPr>
          <p:cNvPr id="114" name="TextBox 113"/>
          <p:cNvSpPr txBox="1"/>
          <p:nvPr/>
        </p:nvSpPr>
        <p:spPr>
          <a:xfrm>
            <a:off x="10528300" y="4089400"/>
            <a:ext cx="609600" cy="247650"/>
          </a:xfrm>
          <a:prstGeom prst="rect">
            <a:avLst/>
          </a:prstGeom>
          <a:noFill/>
        </p:spPr>
        <p:txBody>
          <a:bodyPr wrap="none" lIns="0" rIns="0" tIns="0" bIns="0">
            <a:spAutoFit/>
          </a:bodyPr>
          <a:lstStyle/>
          <a:p>
            <a:pPr>
              <a:defRPr sz="1300" b="1">
                <a:solidFill>
                  <a:srgbClr val="16756D"/>
                </a:solidFill>
                <a:latin typeface="Lato"/>
              </a:defRPr>
            </a:pPr>
            <a:r>
              <a:t>43</a:t>
            </a:r>
          </a:p>
        </p:txBody>
      </p:sp>
      <p:sp>
        <p:nvSpPr>
          <p:cNvPr id="115" name="TextBox 114"/>
          <p:cNvSpPr txBox="1"/>
          <p:nvPr/>
        </p:nvSpPr>
        <p:spPr>
          <a:xfrm>
            <a:off x="11328400" y="4089400"/>
            <a:ext cx="444500" cy="247650"/>
          </a:xfrm>
          <a:prstGeom prst="rect">
            <a:avLst/>
          </a:prstGeom>
          <a:noFill/>
        </p:spPr>
        <p:txBody>
          <a:bodyPr wrap="none" lIns="0" rIns="0" tIns="0" bIns="0">
            <a:spAutoFit/>
          </a:bodyPr>
          <a:lstStyle/>
          <a:p>
            <a:pPr>
              <a:defRPr sz="1300" b="0">
                <a:solidFill>
                  <a:srgbClr val="142F38"/>
                </a:solidFill>
                <a:latin typeface="Lato"/>
              </a:defRPr>
            </a:pPr>
            <a:r>
              <a:t>13</a:t>
            </a:r>
          </a:p>
        </p:txBody>
      </p:sp>
      <p:sp>
        <p:nvSpPr>
          <p:cNvPr id="116" name="Rectangle 115"/>
          <p:cNvSpPr/>
          <p:nvPr/>
        </p:nvSpPr>
        <p:spPr>
          <a:xfrm>
            <a:off x="6223000" y="43180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324600" y="4330700"/>
            <a:ext cx="4025900" cy="247650"/>
          </a:xfrm>
          <a:prstGeom prst="rect">
            <a:avLst/>
          </a:prstGeom>
          <a:noFill/>
        </p:spPr>
        <p:txBody>
          <a:bodyPr wrap="none" lIns="0" rIns="0" tIns="0" bIns="0">
            <a:spAutoFit/>
          </a:bodyPr>
          <a:lstStyle/>
          <a:p>
            <a:pPr>
              <a:defRPr sz="1300" b="0">
                <a:solidFill>
                  <a:srgbClr val="142F38"/>
                </a:solidFill>
                <a:latin typeface="Lato"/>
              </a:defRPr>
            </a:pPr>
            <a:r>
              <a:t>Polyatriopollenites type</a:t>
            </a:r>
          </a:p>
        </p:txBody>
      </p:sp>
      <p:sp>
        <p:nvSpPr>
          <p:cNvPr id="118" name="TextBox 117"/>
          <p:cNvSpPr txBox="1"/>
          <p:nvPr/>
        </p:nvSpPr>
        <p:spPr>
          <a:xfrm>
            <a:off x="10528300" y="4330700"/>
            <a:ext cx="609600" cy="247650"/>
          </a:xfrm>
          <a:prstGeom prst="rect">
            <a:avLst/>
          </a:prstGeom>
          <a:noFill/>
        </p:spPr>
        <p:txBody>
          <a:bodyPr wrap="none" lIns="0" rIns="0" tIns="0" bIns="0">
            <a:spAutoFit/>
          </a:bodyPr>
          <a:lstStyle/>
          <a:p>
            <a:pPr>
              <a:defRPr sz="1300" b="1">
                <a:solidFill>
                  <a:srgbClr val="16756D"/>
                </a:solidFill>
                <a:latin typeface="Lato"/>
              </a:defRPr>
            </a:pPr>
            <a:r>
              <a:t>43</a:t>
            </a:r>
          </a:p>
        </p:txBody>
      </p:sp>
      <p:sp>
        <p:nvSpPr>
          <p:cNvPr id="119" name="TextBox 118"/>
          <p:cNvSpPr txBox="1"/>
          <p:nvPr/>
        </p:nvSpPr>
        <p:spPr>
          <a:xfrm>
            <a:off x="11328400" y="4330700"/>
            <a:ext cx="444500" cy="247650"/>
          </a:xfrm>
          <a:prstGeom prst="rect">
            <a:avLst/>
          </a:prstGeom>
          <a:noFill/>
        </p:spPr>
        <p:txBody>
          <a:bodyPr wrap="none" lIns="0" rIns="0" tIns="0" bIns="0">
            <a:spAutoFit/>
          </a:bodyPr>
          <a:lstStyle/>
          <a:p>
            <a:pPr>
              <a:defRPr sz="1300" b="0">
                <a:solidFill>
                  <a:srgbClr val="142F38"/>
                </a:solidFill>
                <a:latin typeface="Lato"/>
              </a:defRPr>
            </a:pPr>
            <a:r>
              <a:t>12</a:t>
            </a:r>
          </a:p>
        </p:txBody>
      </p:sp>
      <p:sp>
        <p:nvSpPr>
          <p:cNvPr id="120" name="Rectangle 119"/>
          <p:cNvSpPr/>
          <p:nvPr/>
        </p:nvSpPr>
        <p:spPr>
          <a:xfrm>
            <a:off x="6223000" y="45593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324600" y="4572000"/>
            <a:ext cx="4025900" cy="247650"/>
          </a:xfrm>
          <a:prstGeom prst="rect">
            <a:avLst/>
          </a:prstGeom>
          <a:noFill/>
        </p:spPr>
        <p:txBody>
          <a:bodyPr wrap="none" lIns="0" rIns="0" tIns="0" bIns="0">
            <a:spAutoFit/>
          </a:bodyPr>
          <a:lstStyle/>
          <a:p>
            <a:pPr>
              <a:defRPr sz="1300" b="0">
                <a:solidFill>
                  <a:srgbClr val="142F38"/>
                </a:solidFill>
                <a:latin typeface="Lato"/>
              </a:defRPr>
            </a:pPr>
            <a:r>
              <a:t>Bombacacidites sp.</a:t>
            </a:r>
          </a:p>
        </p:txBody>
      </p:sp>
      <p:sp>
        <p:nvSpPr>
          <p:cNvPr id="122" name="TextBox 121"/>
          <p:cNvSpPr txBox="1"/>
          <p:nvPr/>
        </p:nvSpPr>
        <p:spPr>
          <a:xfrm>
            <a:off x="10528300" y="4572000"/>
            <a:ext cx="609600" cy="247650"/>
          </a:xfrm>
          <a:prstGeom prst="rect">
            <a:avLst/>
          </a:prstGeom>
          <a:noFill/>
        </p:spPr>
        <p:txBody>
          <a:bodyPr wrap="none" lIns="0" rIns="0" tIns="0" bIns="0">
            <a:spAutoFit/>
          </a:bodyPr>
          <a:lstStyle/>
          <a:p>
            <a:pPr>
              <a:defRPr sz="1300" b="1">
                <a:solidFill>
                  <a:srgbClr val="16756D"/>
                </a:solidFill>
                <a:latin typeface="Lato"/>
              </a:defRPr>
            </a:pPr>
            <a:r>
              <a:t>40</a:t>
            </a:r>
          </a:p>
        </p:txBody>
      </p:sp>
      <p:sp>
        <p:nvSpPr>
          <p:cNvPr id="123" name="TextBox 122"/>
          <p:cNvSpPr txBox="1"/>
          <p:nvPr/>
        </p:nvSpPr>
        <p:spPr>
          <a:xfrm>
            <a:off x="11328400" y="4572000"/>
            <a:ext cx="444500" cy="247650"/>
          </a:xfrm>
          <a:prstGeom prst="rect">
            <a:avLst/>
          </a:prstGeom>
          <a:noFill/>
        </p:spPr>
        <p:txBody>
          <a:bodyPr wrap="none" lIns="0" rIns="0" tIns="0" bIns="0">
            <a:spAutoFit/>
          </a:bodyPr>
          <a:lstStyle/>
          <a:p>
            <a:pPr>
              <a:defRPr sz="1300" b="0">
                <a:solidFill>
                  <a:srgbClr val="142F38"/>
                </a:solidFill>
                <a:latin typeface="Lato"/>
              </a:defRPr>
            </a:pPr>
            <a:r>
              <a:t>17</a:t>
            </a:r>
          </a:p>
        </p:txBody>
      </p:sp>
      <p:sp>
        <p:nvSpPr>
          <p:cNvPr id="124" name="Rectangle 123"/>
          <p:cNvSpPr/>
          <p:nvPr/>
        </p:nvSpPr>
        <p:spPr>
          <a:xfrm>
            <a:off x="6223000" y="48006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324600" y="4813300"/>
            <a:ext cx="4025900" cy="247650"/>
          </a:xfrm>
          <a:prstGeom prst="rect">
            <a:avLst/>
          </a:prstGeom>
          <a:noFill/>
        </p:spPr>
        <p:txBody>
          <a:bodyPr wrap="none" lIns="0" rIns="0" tIns="0" bIns="0">
            <a:spAutoFit/>
          </a:bodyPr>
          <a:lstStyle/>
          <a:p>
            <a:pPr>
              <a:defRPr sz="1300" b="0">
                <a:solidFill>
                  <a:srgbClr val="142F38"/>
                </a:solidFill>
                <a:latin typeface="Lato"/>
              </a:defRPr>
            </a:pPr>
            <a:r>
              <a:t>Laevigatosporites sp.</a:t>
            </a:r>
          </a:p>
        </p:txBody>
      </p:sp>
      <p:sp>
        <p:nvSpPr>
          <p:cNvPr id="126" name="TextBox 125"/>
          <p:cNvSpPr txBox="1"/>
          <p:nvPr/>
        </p:nvSpPr>
        <p:spPr>
          <a:xfrm>
            <a:off x="10528300" y="4813300"/>
            <a:ext cx="609600" cy="247650"/>
          </a:xfrm>
          <a:prstGeom prst="rect">
            <a:avLst/>
          </a:prstGeom>
          <a:noFill/>
        </p:spPr>
        <p:txBody>
          <a:bodyPr wrap="none" lIns="0" rIns="0" tIns="0" bIns="0">
            <a:spAutoFit/>
          </a:bodyPr>
          <a:lstStyle/>
          <a:p>
            <a:pPr>
              <a:defRPr sz="1300" b="1">
                <a:solidFill>
                  <a:srgbClr val="16756D"/>
                </a:solidFill>
                <a:latin typeface="Lato"/>
              </a:defRPr>
            </a:pPr>
            <a:r>
              <a:t>38</a:t>
            </a:r>
          </a:p>
        </p:txBody>
      </p:sp>
      <p:sp>
        <p:nvSpPr>
          <p:cNvPr id="127" name="TextBox 126"/>
          <p:cNvSpPr txBox="1"/>
          <p:nvPr/>
        </p:nvSpPr>
        <p:spPr>
          <a:xfrm>
            <a:off x="11328400" y="4813300"/>
            <a:ext cx="444500" cy="247650"/>
          </a:xfrm>
          <a:prstGeom prst="rect">
            <a:avLst/>
          </a:prstGeom>
          <a:noFill/>
        </p:spPr>
        <p:txBody>
          <a:bodyPr wrap="none" lIns="0" rIns="0" tIns="0" bIns="0">
            <a:spAutoFit/>
          </a:bodyPr>
          <a:lstStyle/>
          <a:p>
            <a:pPr>
              <a:defRPr sz="1300" b="0">
                <a:solidFill>
                  <a:srgbClr val="142F38"/>
                </a:solidFill>
                <a:latin typeface="Lato"/>
              </a:defRPr>
            </a:pPr>
            <a:r>
              <a:t>14</a:t>
            </a:r>
          </a:p>
        </p:txBody>
      </p:sp>
      <p:sp>
        <p:nvSpPr>
          <p:cNvPr id="128" name="Rectangle 127"/>
          <p:cNvSpPr/>
          <p:nvPr/>
        </p:nvSpPr>
        <p:spPr>
          <a:xfrm>
            <a:off x="6223000" y="50419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324600" y="5054600"/>
            <a:ext cx="4025900" cy="247650"/>
          </a:xfrm>
          <a:prstGeom prst="rect">
            <a:avLst/>
          </a:prstGeom>
          <a:noFill/>
        </p:spPr>
        <p:txBody>
          <a:bodyPr wrap="none" lIns="0" rIns="0" tIns="0" bIns="0">
            <a:spAutoFit/>
          </a:bodyPr>
          <a:lstStyle/>
          <a:p>
            <a:pPr>
              <a:defRPr sz="1300" b="0">
                <a:solidFill>
                  <a:srgbClr val="142F38"/>
                </a:solidFill>
                <a:latin typeface="Lato"/>
              </a:defRPr>
            </a:pPr>
            <a:r>
              <a:t>Momipites flexus</a:t>
            </a:r>
          </a:p>
        </p:txBody>
      </p:sp>
      <p:sp>
        <p:nvSpPr>
          <p:cNvPr id="130" name="TextBox 129"/>
          <p:cNvSpPr txBox="1"/>
          <p:nvPr/>
        </p:nvSpPr>
        <p:spPr>
          <a:xfrm>
            <a:off x="10528300" y="5054600"/>
            <a:ext cx="609600" cy="247650"/>
          </a:xfrm>
          <a:prstGeom prst="rect">
            <a:avLst/>
          </a:prstGeom>
          <a:noFill/>
        </p:spPr>
        <p:txBody>
          <a:bodyPr wrap="none" lIns="0" rIns="0" tIns="0" bIns="0">
            <a:spAutoFit/>
          </a:bodyPr>
          <a:lstStyle/>
          <a:p>
            <a:pPr>
              <a:defRPr sz="1300" b="1">
                <a:solidFill>
                  <a:srgbClr val="16756D"/>
                </a:solidFill>
                <a:latin typeface="Lato"/>
              </a:defRPr>
            </a:pPr>
            <a:r>
              <a:t>38</a:t>
            </a:r>
          </a:p>
        </p:txBody>
      </p:sp>
      <p:sp>
        <p:nvSpPr>
          <p:cNvPr id="131" name="TextBox 130"/>
          <p:cNvSpPr txBox="1"/>
          <p:nvPr/>
        </p:nvSpPr>
        <p:spPr>
          <a:xfrm>
            <a:off x="11328400" y="5054600"/>
            <a:ext cx="444500" cy="247650"/>
          </a:xfrm>
          <a:prstGeom prst="rect">
            <a:avLst/>
          </a:prstGeom>
          <a:noFill/>
        </p:spPr>
        <p:txBody>
          <a:bodyPr wrap="none" lIns="0" rIns="0" tIns="0" bIns="0">
            <a:spAutoFit/>
          </a:bodyPr>
          <a:lstStyle/>
          <a:p>
            <a:pPr>
              <a:defRPr sz="1300" b="0">
                <a:solidFill>
                  <a:srgbClr val="142F38"/>
                </a:solidFill>
                <a:latin typeface="Lato"/>
              </a:defRPr>
            </a:pPr>
            <a:r>
              <a:t>6</a:t>
            </a:r>
          </a:p>
        </p:txBody>
      </p:sp>
      <p:sp>
        <p:nvSpPr>
          <p:cNvPr id="132" name="Rectangle 131"/>
          <p:cNvSpPr/>
          <p:nvPr/>
        </p:nvSpPr>
        <p:spPr>
          <a:xfrm>
            <a:off x="6223000" y="52832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324600" y="5295900"/>
            <a:ext cx="4025900" cy="247650"/>
          </a:xfrm>
          <a:prstGeom prst="rect">
            <a:avLst/>
          </a:prstGeom>
          <a:noFill/>
        </p:spPr>
        <p:txBody>
          <a:bodyPr wrap="none" lIns="0" rIns="0" tIns="0" bIns="0">
            <a:spAutoFit/>
          </a:bodyPr>
          <a:lstStyle/>
          <a:p>
            <a:pPr>
              <a:defRPr sz="1300" b="0">
                <a:solidFill>
                  <a:srgbClr val="142F38"/>
                </a:solidFill>
                <a:latin typeface="Lato"/>
              </a:defRPr>
            </a:pPr>
            <a:r>
              <a:t>Illexpollenites sp.</a:t>
            </a:r>
          </a:p>
        </p:txBody>
      </p:sp>
      <p:sp>
        <p:nvSpPr>
          <p:cNvPr id="134" name="TextBox 133"/>
          <p:cNvSpPr txBox="1"/>
          <p:nvPr/>
        </p:nvSpPr>
        <p:spPr>
          <a:xfrm>
            <a:off x="10528300" y="5295900"/>
            <a:ext cx="609600" cy="247650"/>
          </a:xfrm>
          <a:prstGeom prst="rect">
            <a:avLst/>
          </a:prstGeom>
          <a:noFill/>
        </p:spPr>
        <p:txBody>
          <a:bodyPr wrap="none" lIns="0" rIns="0" tIns="0" bIns="0">
            <a:spAutoFit/>
          </a:bodyPr>
          <a:lstStyle/>
          <a:p>
            <a:pPr>
              <a:defRPr sz="1300" b="1">
                <a:solidFill>
                  <a:srgbClr val="16756D"/>
                </a:solidFill>
                <a:latin typeface="Lato"/>
              </a:defRPr>
            </a:pPr>
            <a:r>
              <a:t>33</a:t>
            </a:r>
          </a:p>
        </p:txBody>
      </p:sp>
      <p:sp>
        <p:nvSpPr>
          <p:cNvPr id="135" name="TextBox 134"/>
          <p:cNvSpPr txBox="1"/>
          <p:nvPr/>
        </p:nvSpPr>
        <p:spPr>
          <a:xfrm>
            <a:off x="11328400" y="5295900"/>
            <a:ext cx="444500" cy="247650"/>
          </a:xfrm>
          <a:prstGeom prst="rect">
            <a:avLst/>
          </a:prstGeom>
          <a:noFill/>
        </p:spPr>
        <p:txBody>
          <a:bodyPr wrap="none" lIns="0" rIns="0" tIns="0" bIns="0">
            <a:spAutoFit/>
          </a:bodyPr>
          <a:lstStyle/>
          <a:p>
            <a:pPr>
              <a:defRPr sz="1300" b="0">
                <a:solidFill>
                  <a:srgbClr val="142F38"/>
                </a:solidFill>
                <a:latin typeface="Lato"/>
              </a:defRPr>
            </a:pPr>
            <a:r>
              <a:t>7</a:t>
            </a:r>
          </a:p>
        </p:txBody>
      </p:sp>
      <p:sp>
        <p:nvSpPr>
          <p:cNvPr id="136" name="Rectangle 135"/>
          <p:cNvSpPr/>
          <p:nvPr/>
        </p:nvSpPr>
        <p:spPr>
          <a:xfrm>
            <a:off x="6223000" y="5524500"/>
            <a:ext cx="5588000" cy="24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324600" y="5537200"/>
            <a:ext cx="4025900" cy="247650"/>
          </a:xfrm>
          <a:prstGeom prst="rect">
            <a:avLst/>
          </a:prstGeom>
          <a:noFill/>
        </p:spPr>
        <p:txBody>
          <a:bodyPr wrap="none" lIns="0" rIns="0" tIns="0" bIns="0">
            <a:spAutoFit/>
          </a:bodyPr>
          <a:lstStyle/>
          <a:p>
            <a:pPr>
              <a:defRPr sz="1300" b="0">
                <a:solidFill>
                  <a:srgbClr val="142F38"/>
                </a:solidFill>
                <a:latin typeface="Lato"/>
              </a:defRPr>
            </a:pPr>
            <a:r>
              <a:t>Cupuliferoipollenites sp.</a:t>
            </a:r>
          </a:p>
        </p:txBody>
      </p:sp>
      <p:sp>
        <p:nvSpPr>
          <p:cNvPr id="138" name="TextBox 137"/>
          <p:cNvSpPr txBox="1"/>
          <p:nvPr/>
        </p:nvSpPr>
        <p:spPr>
          <a:xfrm>
            <a:off x="10528300" y="5537200"/>
            <a:ext cx="609600" cy="247650"/>
          </a:xfrm>
          <a:prstGeom prst="rect">
            <a:avLst/>
          </a:prstGeom>
          <a:noFill/>
        </p:spPr>
        <p:txBody>
          <a:bodyPr wrap="none" lIns="0" rIns="0" tIns="0" bIns="0">
            <a:spAutoFit/>
          </a:bodyPr>
          <a:lstStyle/>
          <a:p>
            <a:pPr>
              <a:defRPr sz="1300" b="1">
                <a:solidFill>
                  <a:srgbClr val="16756D"/>
                </a:solidFill>
                <a:latin typeface="Lato"/>
              </a:defRPr>
            </a:pPr>
            <a:r>
              <a:t>27</a:t>
            </a:r>
          </a:p>
        </p:txBody>
      </p:sp>
      <p:sp>
        <p:nvSpPr>
          <p:cNvPr id="139" name="TextBox 138"/>
          <p:cNvSpPr txBox="1"/>
          <p:nvPr/>
        </p:nvSpPr>
        <p:spPr>
          <a:xfrm>
            <a:off x="11328400" y="5537200"/>
            <a:ext cx="444500" cy="247650"/>
          </a:xfrm>
          <a:prstGeom prst="rect">
            <a:avLst/>
          </a:prstGeom>
          <a:noFill/>
        </p:spPr>
        <p:txBody>
          <a:bodyPr wrap="none" lIns="0" rIns="0" tIns="0" bIns="0">
            <a:spAutoFit/>
          </a:bodyPr>
          <a:lstStyle/>
          <a:p>
            <a:pPr>
              <a:defRPr sz="1300" b="0">
                <a:solidFill>
                  <a:srgbClr val="142F38"/>
                </a:solidFill>
                <a:latin typeface="Lato"/>
              </a:defRPr>
            </a:pPr>
            <a:r>
              <a:t>9</a:t>
            </a:r>
          </a:p>
        </p:txBody>
      </p:sp>
      <p:sp>
        <p:nvSpPr>
          <p:cNvPr id="140" name="TextBox 139"/>
          <p:cNvSpPr txBox="1"/>
          <p:nvPr/>
        </p:nvSpPr>
        <p:spPr>
          <a:xfrm>
            <a:off x="457200" y="5880100"/>
            <a:ext cx="11366500" cy="266700"/>
          </a:xfrm>
          <a:prstGeom prst="rect">
            <a:avLst/>
          </a:prstGeom>
          <a:noFill/>
        </p:spPr>
        <p:txBody>
          <a:bodyPr wrap="none" lIns="0" rIns="0" tIns="0" bIns="0">
            <a:spAutoFit/>
          </a:bodyPr>
          <a:lstStyle/>
          <a:p>
            <a:pPr>
              <a:defRPr sz="1400" b="1">
                <a:solidFill>
                  <a:srgbClr val="16756D"/>
                </a:solidFill>
                <a:latin typeface="Lato"/>
              </a:defRPr>
            </a:pPr>
            <a:r>
              <a:t>All 185 title counts and 65 category totals match the sponsor tables.</a:t>
            </a:r>
          </a:p>
        </p:txBody>
      </p:sp>
      <p:sp>
        <p:nvSpPr>
          <p:cNvPr id="141" name="TextBox 140"/>
          <p:cNvSpPr txBox="1"/>
          <p:nvPr/>
        </p:nvSpPr>
        <p:spPr>
          <a:xfrm>
            <a:off x="457200" y="6248400"/>
            <a:ext cx="11366500" cy="247650"/>
          </a:xfrm>
          <a:prstGeom prst="rect">
            <a:avLst/>
          </a:prstGeom>
          <a:noFill/>
        </p:spPr>
        <p:txBody>
          <a:bodyPr wrap="none" lIns="0" rIns="0" tIns="0" bIns="0">
            <a:spAutoFit/>
          </a:bodyPr>
          <a:lstStyle/>
          <a:p>
            <a:pPr>
              <a:defRPr sz="1300" b="0">
                <a:solidFill>
                  <a:srgbClr val="596D71"/>
                </a:solidFill>
                <a:latin typeface="Lato"/>
              </a:defRPr>
            </a:pPr>
            <a:r>
              <a:t>Full dataset: 11,275 named annotations • 65 categories • 185 annotation titles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