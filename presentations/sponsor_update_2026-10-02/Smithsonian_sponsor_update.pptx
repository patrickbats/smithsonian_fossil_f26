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SAY:</a:t>
            </a:r>
          </a:p>
          <a:p>
            <a:r>
              <a:t>This week, much of our effort went into preparing and presenting our initial class slides and report. That helped us clarify the scope and how we want to evaluate the models. We also made progress with data preparation. The latest team update reports 2,283 single-plane specimen crops and a draft split that we’re reviewing. We haven’t completed a full evaluation or trained the category classifiers yet.</a:t>
            </a:r>
          </a:p>
          <a:p/>
          <a:p>
            <a:r>
              <a:t>SOURCE CONTEXT — NOT SPOKEN:</a:t>
            </a:r>
          </a:p>
          <a:p>
            <a:r>
              <a:t>Team progress: PR #1, commit be4634b50e8f5f4404216f8e5ba13fc2e31410dd. Crop completion is reported by the contributor; the review independently reproduced the 2,283-record candidate count. Crops are single-plane, not focus-selected or fully multifocal. Split remains a review draft.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SAY:</a:t>
            </a:r>
          </a:p>
          <a:p>
            <a:r>
              <a:t>Our preliminary check used two frozen detectors from the previous work on 64 annotated targets across 29 slides. The best-plane checkpoint recovered 54 targets, and the focus-stack checkpoint recovered 51. This is an encouraging sign that we can reuse the detection work. However, these were small regions centered on known specimens, so the numbers are not whole-slide accuracy or classification accuracy. The checkpoints have different weights, so this also doesn’t isolate which image-preparation method is better.</a:t>
            </a:r>
          </a:p>
          <a:p/>
          <a:p>
            <a:r>
              <a:t>SOURCE CONTEXT — NOT SPOKEN:</a:t>
            </a:r>
          </a:p>
          <a:p>
            <a:r>
              <a:t>Source: reports/detection_pilot_2026-09-24/README.md. Confidence &gt;= 0.50 and box IoU &gt;= 0.50. Frozen YOLO checkpoints, not RF-DETR or classifier results. 50 targets overlap historical training-slide membership, 9 historical test, 5 unresolved; checkpoint exposure not fully verified. These results cannot establish independent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seconds</a:t>
            </a:r>
          </a:p>
          <a:p/>
          <a:p>
            <a:r>
              <a:t>SAY:</a:t>
            </a:r>
          </a:p>
          <a:p>
            <a:r>
              <a:t>Our next priority is to finalize the training, validation, and test sets. We’ll review crop quality and label issues, keep related microscope slides together, and check that the category coverage supports a useful evaluation. Once that protocol is agreed, we can train the first classification baseline. We also need to resolve shared storage before completing the multifocal crop export.</a:t>
            </a:r>
          </a:p>
          <a:p/>
          <a:p>
            <a:r>
              <a:t>SOURCE CONTEXT — NOT SPOKEN:</a:t>
            </a:r>
          </a:p>
          <a:p>
            <a:r>
              <a:t>PR #1: draft 1,605 train / 347 validation / 331 test; one category has no validation support and two test examples. These are not approved final assignments. Storage quotas were reported full October 1; not rechecked for this slide. No new jobs authorized by this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265176"/>
            <a:ext cx="228600"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182880"/>
            <a:ext cx="7955279" cy="182880"/>
          </a:xfrm>
          <a:prstGeom prst="rect">
            <a:avLst/>
          </a:prstGeom>
          <a:noFill/>
        </p:spPr>
        <p:txBody>
          <a:bodyPr wrap="square" lIns="0" rIns="0" tIns="0" bIns="0">
            <a:spAutoFit/>
          </a:bodyPr>
          <a:lstStyle/>
          <a:p>
            <a:pPr>
              <a:spcAft>
                <a:spcPts val="400"/>
              </a:spcAft>
              <a:defRPr sz="800" b="1">
                <a:solidFill>
                  <a:srgbClr val="93451F"/>
                </a:solidFill>
                <a:latin typeface="Lato"/>
              </a:defRPr>
            </a:pPr>
            <a:r>
              <a:t>01 / PROGRESS</a:t>
            </a:r>
          </a:p>
        </p:txBody>
      </p:sp>
      <p:sp>
        <p:nvSpPr>
          <p:cNvPr id="5" name="TextBox 4"/>
          <p:cNvSpPr txBox="1"/>
          <p:nvPr/>
        </p:nvSpPr>
        <p:spPr>
          <a:xfrm>
            <a:off x="365760" y="594360"/>
            <a:ext cx="8412480" cy="603504"/>
          </a:xfrm>
          <a:prstGeom prst="rect">
            <a:avLst/>
          </a:prstGeom>
          <a:noFill/>
        </p:spPr>
        <p:txBody>
          <a:bodyPr wrap="square" lIns="0" rIns="0" tIns="0" bIns="0">
            <a:spAutoFit/>
          </a:bodyPr>
          <a:lstStyle/>
          <a:p>
            <a:pPr>
              <a:spcAft>
                <a:spcPts val="400"/>
              </a:spcAft>
              <a:defRPr sz="2700" b="1">
                <a:solidFill>
                  <a:srgbClr val="202D48"/>
                </a:solidFill>
                <a:latin typeface="Lato"/>
              </a:defRPr>
            </a:pPr>
            <a:r>
              <a:t>This week: presentation and data preparation</a:t>
            </a:r>
          </a:p>
        </p:txBody>
      </p:sp>
      <p:sp>
        <p:nvSpPr>
          <p:cNvPr id="6" name="Rectangle 5"/>
          <p:cNvSpPr/>
          <p:nvPr/>
        </p:nvSpPr>
        <p:spPr>
          <a:xfrm>
            <a:off x="365760" y="4809744"/>
            <a:ext cx="841248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4910328"/>
            <a:ext cx="7315200" cy="146304"/>
          </a:xfrm>
          <a:prstGeom prst="rect">
            <a:avLst/>
          </a:prstGeom>
          <a:noFill/>
        </p:spPr>
        <p:txBody>
          <a:bodyPr wrap="square" lIns="0" rIns="0" tIns="0" bIns="0">
            <a:spAutoFit/>
          </a:bodyPr>
          <a:lstStyle/>
          <a:p>
            <a:pPr>
              <a:spcAft>
                <a:spcPts val="400"/>
              </a:spcAft>
              <a:defRPr sz="700" b="0">
                <a:solidFill>
                  <a:srgbClr val="596477"/>
                </a:solidFill>
                <a:latin typeface="Lato"/>
              </a:defRPr>
            </a:pPr>
            <a:r>
              <a:t>SMITHSONIAN × RICE D2K / SPONSOR UPDATE</a:t>
            </a:r>
          </a:p>
        </p:txBody>
      </p:sp>
      <p:sp>
        <p:nvSpPr>
          <p:cNvPr id="8" name="TextBox 7"/>
          <p:cNvSpPr txBox="1"/>
          <p:nvPr/>
        </p:nvSpPr>
        <p:spPr>
          <a:xfrm>
            <a:off x="8549640" y="4882896"/>
            <a:ext cx="274320" cy="182880"/>
          </a:xfrm>
          <a:prstGeom prst="rect">
            <a:avLst/>
          </a:prstGeom>
          <a:noFill/>
        </p:spPr>
        <p:txBody>
          <a:bodyPr wrap="square" lIns="0" rIns="0" tIns="0" bIns="0">
            <a:spAutoFit/>
          </a:bodyPr>
          <a:lstStyle/>
          <a:p>
            <a:pPr>
              <a:spcAft>
                <a:spcPts val="400"/>
              </a:spcAft>
              <a:defRPr sz="800" b="0">
                <a:solidFill>
                  <a:srgbClr val="596477"/>
                </a:solidFill>
                <a:latin typeface="Lato"/>
              </a:defRPr>
            </a:pPr>
            <a:r>
              <a:t>1</a:t>
            </a:r>
          </a:p>
        </p:txBody>
      </p:sp>
      <p:sp>
        <p:nvSpPr>
          <p:cNvPr id="9" name="Rectangle 8"/>
          <p:cNvSpPr/>
          <p:nvPr/>
        </p:nvSpPr>
        <p:spPr>
          <a:xfrm>
            <a:off x="365760" y="1481328"/>
            <a:ext cx="3840480" cy="2459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719072"/>
            <a:ext cx="3438144" cy="329184"/>
          </a:xfrm>
          <a:prstGeom prst="rect">
            <a:avLst/>
          </a:prstGeom>
          <a:noFill/>
        </p:spPr>
        <p:txBody>
          <a:bodyPr wrap="square" lIns="0" rIns="0" tIns="0" bIns="0">
            <a:spAutoFit/>
          </a:bodyPr>
          <a:lstStyle/>
          <a:p>
            <a:pPr>
              <a:spcAft>
                <a:spcPts val="400"/>
              </a:spcAft>
              <a:defRPr sz="1900" b="1">
                <a:solidFill>
                  <a:srgbClr val="202D48"/>
                </a:solidFill>
                <a:latin typeface="Lato"/>
              </a:defRPr>
            </a:pPr>
            <a:r>
              <a:t>Main focus this week</a:t>
            </a:r>
          </a:p>
        </p:txBody>
      </p:sp>
      <p:sp>
        <p:nvSpPr>
          <p:cNvPr id="11" name="TextBox 10"/>
          <p:cNvSpPr txBox="1"/>
          <p:nvPr/>
        </p:nvSpPr>
        <p:spPr>
          <a:xfrm>
            <a:off x="566928" y="2267712"/>
            <a:ext cx="3410712" cy="1005840"/>
          </a:xfrm>
          <a:prstGeom prst="rect">
            <a:avLst/>
          </a:prstGeom>
          <a:noFill/>
        </p:spPr>
        <p:txBody>
          <a:bodyPr wrap="square" lIns="0" rIns="0" tIns="0" bIns="0">
            <a:spAutoFit/>
          </a:bodyPr>
          <a:lstStyle/>
          <a:p>
            <a:pPr>
              <a:spcAft>
                <a:spcPts val="400"/>
              </a:spcAft>
              <a:defRPr sz="2000" b="0">
                <a:solidFill>
                  <a:srgbClr val="202D48"/>
                </a:solidFill>
                <a:latin typeface="Lato"/>
              </a:defRPr>
            </a:pPr>
            <a:r>
              <a:t>Prepared and presented our</a:t>
            </a:r>
          </a:p>
          <a:p>
            <a:pPr>
              <a:spcAft>
                <a:spcPts val="400"/>
              </a:spcAft>
              <a:defRPr sz="2000" b="0">
                <a:solidFill>
                  <a:srgbClr val="202D48"/>
                </a:solidFill>
                <a:latin typeface="Lato"/>
              </a:defRPr>
            </a:pPr>
            <a:r>
              <a:t>initial class slides and report.</a:t>
            </a:r>
          </a:p>
        </p:txBody>
      </p:sp>
      <p:sp>
        <p:nvSpPr>
          <p:cNvPr id="12" name="TextBox 11"/>
          <p:cNvSpPr txBox="1"/>
          <p:nvPr/>
        </p:nvSpPr>
        <p:spPr>
          <a:xfrm>
            <a:off x="566928" y="3401568"/>
            <a:ext cx="3410712" cy="310896"/>
          </a:xfrm>
          <a:prstGeom prst="rect">
            <a:avLst/>
          </a:prstGeom>
          <a:noFill/>
        </p:spPr>
        <p:txBody>
          <a:bodyPr wrap="square" lIns="0" rIns="0" tIns="0" bIns="0">
            <a:spAutoFit/>
          </a:bodyPr>
          <a:lstStyle/>
          <a:p>
            <a:pPr>
              <a:spcAft>
                <a:spcPts val="400"/>
              </a:spcAft>
              <a:defRPr sz="1200" b="0">
                <a:solidFill>
                  <a:srgbClr val="596477"/>
                </a:solidFill>
                <a:latin typeface="Lato"/>
              </a:defRPr>
            </a:pPr>
            <a:r>
              <a:t>Clarified the scope and evaluation plan.</a:t>
            </a:r>
          </a:p>
        </p:txBody>
      </p:sp>
      <p:sp>
        <p:nvSpPr>
          <p:cNvPr id="13" name="TextBox 12"/>
          <p:cNvSpPr txBox="1"/>
          <p:nvPr/>
        </p:nvSpPr>
        <p:spPr>
          <a:xfrm>
            <a:off x="4617720" y="1618488"/>
            <a:ext cx="4023360" cy="365760"/>
          </a:xfrm>
          <a:prstGeom prst="rect">
            <a:avLst/>
          </a:prstGeom>
          <a:noFill/>
        </p:spPr>
        <p:txBody>
          <a:bodyPr wrap="square" lIns="0" rIns="0" tIns="0" bIns="0">
            <a:spAutoFit/>
          </a:bodyPr>
          <a:lstStyle/>
          <a:p>
            <a:pPr>
              <a:spcAft>
                <a:spcPts val="400"/>
              </a:spcAft>
              <a:defRPr sz="1900" b="1">
                <a:solidFill>
                  <a:srgbClr val="202D48"/>
                </a:solidFill>
                <a:latin typeface="Lato"/>
              </a:defRPr>
            </a:pPr>
            <a:r>
              <a:t>Initial specimen crops prepared</a:t>
            </a:r>
          </a:p>
        </p:txBody>
      </p:sp>
      <p:sp>
        <p:nvSpPr>
          <p:cNvPr id="14" name="TextBox 13"/>
          <p:cNvSpPr txBox="1"/>
          <p:nvPr/>
        </p:nvSpPr>
        <p:spPr>
          <a:xfrm>
            <a:off x="4663440" y="2029968"/>
            <a:ext cx="3840480" cy="164592"/>
          </a:xfrm>
          <a:prstGeom prst="rect">
            <a:avLst/>
          </a:prstGeom>
          <a:noFill/>
        </p:spPr>
        <p:txBody>
          <a:bodyPr wrap="square" lIns="0" rIns="0" tIns="0" bIns="0">
            <a:spAutoFit/>
          </a:bodyPr>
          <a:lstStyle/>
          <a:p>
            <a:pPr>
              <a:spcAft>
                <a:spcPts val="400"/>
              </a:spcAft>
              <a:defRPr sz="1000" b="0">
                <a:solidFill>
                  <a:srgbClr val="596477"/>
                </a:solidFill>
                <a:latin typeface="Lato"/>
              </a:defRPr>
            </a:pPr>
            <a:r>
              <a:t>Example specimens</a:t>
            </a:r>
          </a:p>
        </p:txBody>
      </p:sp>
      <p:pic>
        <p:nvPicPr>
          <p:cNvPr id="15" name="Picture 14" descr="shard_0_target_008_crop.png"/>
          <p:cNvPicPr>
            <a:picLocks noChangeAspect="1"/>
          </p:cNvPicPr>
          <p:nvPr/>
        </p:nvPicPr>
        <p:blipFill>
          <a:blip r:embed="rId2"/>
          <a:stretch>
            <a:fillRect/>
          </a:stretch>
        </p:blipFill>
        <p:spPr>
          <a:xfrm>
            <a:off x="4663440" y="2203704"/>
            <a:ext cx="1188720" cy="1188720"/>
          </a:xfrm>
          <a:prstGeom prst="rect">
            <a:avLst/>
          </a:prstGeom>
        </p:spPr>
      </p:pic>
      <p:pic>
        <p:nvPicPr>
          <p:cNvPr id="16" name="Picture 15" descr="shard_0_target_016_crop.png"/>
          <p:cNvPicPr>
            <a:picLocks noChangeAspect="1"/>
          </p:cNvPicPr>
          <p:nvPr/>
        </p:nvPicPr>
        <p:blipFill>
          <a:blip r:embed="rId3"/>
          <a:stretch>
            <a:fillRect/>
          </a:stretch>
        </p:blipFill>
        <p:spPr>
          <a:xfrm>
            <a:off x="6007607" y="2203704"/>
            <a:ext cx="1188720" cy="1188720"/>
          </a:xfrm>
          <a:prstGeom prst="rect">
            <a:avLst/>
          </a:prstGeom>
        </p:spPr>
      </p:pic>
      <p:pic>
        <p:nvPicPr>
          <p:cNvPr id="17" name="Picture 16" descr="shard_0_target_027_crop.png"/>
          <p:cNvPicPr>
            <a:picLocks noChangeAspect="1"/>
          </p:cNvPicPr>
          <p:nvPr/>
        </p:nvPicPr>
        <p:blipFill>
          <a:blip r:embed="rId4"/>
          <a:stretch>
            <a:fillRect/>
          </a:stretch>
        </p:blipFill>
        <p:spPr>
          <a:xfrm>
            <a:off x="7351775" y="2203704"/>
            <a:ext cx="1188720" cy="1188720"/>
          </a:xfrm>
          <a:prstGeom prst="rect">
            <a:avLst/>
          </a:prstGeom>
        </p:spPr>
      </p:pic>
      <p:sp>
        <p:nvSpPr>
          <p:cNvPr id="18" name="TextBox 17"/>
          <p:cNvSpPr txBox="1"/>
          <p:nvPr/>
        </p:nvSpPr>
        <p:spPr>
          <a:xfrm>
            <a:off x="4663440" y="3602736"/>
            <a:ext cx="3840480" cy="384048"/>
          </a:xfrm>
          <a:prstGeom prst="rect">
            <a:avLst/>
          </a:prstGeom>
          <a:noFill/>
        </p:spPr>
        <p:txBody>
          <a:bodyPr wrap="square" lIns="0" rIns="0" tIns="0" bIns="0">
            <a:spAutoFit/>
          </a:bodyPr>
          <a:lstStyle/>
          <a:p>
            <a:pPr>
              <a:spcAft>
                <a:spcPts val="400"/>
              </a:spcAft>
              <a:defRPr sz="1300" b="0">
                <a:solidFill>
                  <a:srgbClr val="596477"/>
                </a:solidFill>
                <a:latin typeface="Lato"/>
              </a:defRPr>
            </a:pPr>
            <a:r>
              <a:t>2,283 single-plane crops · split under review</a:t>
            </a:r>
          </a:p>
        </p:txBody>
      </p:sp>
      <p:sp>
        <p:nvSpPr>
          <p:cNvPr id="19" name="TextBox 18"/>
          <p:cNvSpPr txBox="1"/>
          <p:nvPr/>
        </p:nvSpPr>
        <p:spPr>
          <a:xfrm>
            <a:off x="411480" y="4379976"/>
            <a:ext cx="8321040" cy="274320"/>
          </a:xfrm>
          <a:prstGeom prst="rect">
            <a:avLst/>
          </a:prstGeom>
          <a:noFill/>
        </p:spPr>
        <p:txBody>
          <a:bodyPr wrap="square" lIns="0" rIns="0" tIns="0" bIns="0">
            <a:spAutoFit/>
          </a:bodyPr>
          <a:lstStyle/>
          <a:p>
            <a:pPr>
              <a:spcAft>
                <a:spcPts val="400"/>
              </a:spcAft>
              <a:defRPr sz="1700" b="1">
                <a:solidFill>
                  <a:srgbClr val="93451F"/>
                </a:solidFill>
                <a:latin typeface="Lato"/>
              </a:defRPr>
            </a:pPr>
            <a:r>
              <a:t>Full evaluation and classifier training are still ahead.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265176"/>
            <a:ext cx="228600"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182880"/>
            <a:ext cx="7955279" cy="182880"/>
          </a:xfrm>
          <a:prstGeom prst="rect">
            <a:avLst/>
          </a:prstGeom>
          <a:noFill/>
        </p:spPr>
        <p:txBody>
          <a:bodyPr wrap="square" lIns="0" rIns="0" tIns="0" bIns="0">
            <a:spAutoFit/>
          </a:bodyPr>
          <a:lstStyle/>
          <a:p>
            <a:pPr>
              <a:spcAft>
                <a:spcPts val="400"/>
              </a:spcAft>
              <a:defRPr sz="800" b="1">
                <a:solidFill>
                  <a:srgbClr val="93451F"/>
                </a:solidFill>
                <a:latin typeface="Lato"/>
              </a:defRPr>
            </a:pPr>
            <a:r>
              <a:t>02 / PRELIMINARY DETECTION</a:t>
            </a:r>
          </a:p>
        </p:txBody>
      </p:sp>
      <p:sp>
        <p:nvSpPr>
          <p:cNvPr id="5" name="TextBox 4"/>
          <p:cNvSpPr txBox="1"/>
          <p:nvPr/>
        </p:nvSpPr>
        <p:spPr>
          <a:xfrm>
            <a:off x="365760" y="594360"/>
            <a:ext cx="8412480" cy="603504"/>
          </a:xfrm>
          <a:prstGeom prst="rect">
            <a:avLst/>
          </a:prstGeom>
          <a:noFill/>
        </p:spPr>
        <p:txBody>
          <a:bodyPr wrap="square" lIns="0" rIns="0" tIns="0" bIns="0">
            <a:spAutoFit/>
          </a:bodyPr>
          <a:lstStyle/>
          <a:p>
            <a:pPr>
              <a:spcAft>
                <a:spcPts val="400"/>
              </a:spcAft>
              <a:defRPr sz="2700" b="1">
                <a:solidFill>
                  <a:srgbClr val="202D48"/>
                </a:solidFill>
                <a:latin typeface="Lato"/>
              </a:defRPr>
            </a:pPr>
            <a:r>
              <a:t>Previous detectors recover many known specimens</a:t>
            </a:r>
          </a:p>
        </p:txBody>
      </p:sp>
      <p:sp>
        <p:nvSpPr>
          <p:cNvPr id="6" name="Rectangle 5"/>
          <p:cNvSpPr/>
          <p:nvPr/>
        </p:nvSpPr>
        <p:spPr>
          <a:xfrm>
            <a:off x="365760" y="4809744"/>
            <a:ext cx="841248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4910328"/>
            <a:ext cx="7315200" cy="146304"/>
          </a:xfrm>
          <a:prstGeom prst="rect">
            <a:avLst/>
          </a:prstGeom>
          <a:noFill/>
        </p:spPr>
        <p:txBody>
          <a:bodyPr wrap="square" lIns="0" rIns="0" tIns="0" bIns="0">
            <a:spAutoFit/>
          </a:bodyPr>
          <a:lstStyle/>
          <a:p>
            <a:pPr>
              <a:spcAft>
                <a:spcPts val="400"/>
              </a:spcAft>
              <a:defRPr sz="700" b="0">
                <a:solidFill>
                  <a:srgbClr val="596477"/>
                </a:solidFill>
                <a:latin typeface="Lato"/>
              </a:defRPr>
            </a:pPr>
            <a:r>
              <a:t>SMITHSONIAN × RICE D2K / SPONSOR UPDATE</a:t>
            </a:r>
          </a:p>
        </p:txBody>
      </p:sp>
      <p:sp>
        <p:nvSpPr>
          <p:cNvPr id="8" name="TextBox 7"/>
          <p:cNvSpPr txBox="1"/>
          <p:nvPr/>
        </p:nvSpPr>
        <p:spPr>
          <a:xfrm>
            <a:off x="8549640" y="4882896"/>
            <a:ext cx="274320" cy="182880"/>
          </a:xfrm>
          <a:prstGeom prst="rect">
            <a:avLst/>
          </a:prstGeom>
          <a:noFill/>
        </p:spPr>
        <p:txBody>
          <a:bodyPr wrap="square" lIns="0" rIns="0" tIns="0" bIns="0">
            <a:spAutoFit/>
          </a:bodyPr>
          <a:lstStyle/>
          <a:p>
            <a:pPr>
              <a:spcAft>
                <a:spcPts val="400"/>
              </a:spcAft>
              <a:defRPr sz="800" b="0">
                <a:solidFill>
                  <a:srgbClr val="596477"/>
                </a:solidFill>
                <a:latin typeface="Lato"/>
              </a:defRPr>
            </a:pPr>
            <a:r>
              <a:t>2</a:t>
            </a:r>
          </a:p>
        </p:txBody>
      </p:sp>
      <p:sp>
        <p:nvSpPr>
          <p:cNvPr id="9" name="TextBox 8"/>
          <p:cNvSpPr txBox="1"/>
          <p:nvPr/>
        </p:nvSpPr>
        <p:spPr>
          <a:xfrm>
            <a:off x="411480" y="1261872"/>
            <a:ext cx="8321040" cy="347472"/>
          </a:xfrm>
          <a:prstGeom prst="rect">
            <a:avLst/>
          </a:prstGeom>
          <a:noFill/>
        </p:spPr>
        <p:txBody>
          <a:bodyPr wrap="square" lIns="0" rIns="0" tIns="0" bIns="0">
            <a:spAutoFit/>
          </a:bodyPr>
          <a:lstStyle/>
          <a:p>
            <a:pPr>
              <a:spcAft>
                <a:spcPts val="400"/>
              </a:spcAft>
              <a:defRPr sz="1700" b="0">
                <a:solidFill>
                  <a:srgbClr val="596477"/>
                </a:solidFill>
                <a:latin typeface="Lato"/>
              </a:defRPr>
            </a:pPr>
            <a:r>
              <a:t>Small diagnostic: 64 annotated targets across 29 microscope slides</a:t>
            </a:r>
          </a:p>
        </p:txBody>
      </p:sp>
      <p:sp>
        <p:nvSpPr>
          <p:cNvPr id="10" name="TextBox 9"/>
          <p:cNvSpPr txBox="1"/>
          <p:nvPr/>
        </p:nvSpPr>
        <p:spPr>
          <a:xfrm>
            <a:off x="411480" y="1938528"/>
            <a:ext cx="2834640" cy="365760"/>
          </a:xfrm>
          <a:prstGeom prst="rect">
            <a:avLst/>
          </a:prstGeom>
          <a:noFill/>
        </p:spPr>
        <p:txBody>
          <a:bodyPr wrap="square" lIns="0" rIns="0" tIns="0" bIns="0">
            <a:spAutoFit/>
          </a:bodyPr>
          <a:lstStyle/>
          <a:p>
            <a:pPr>
              <a:spcAft>
                <a:spcPts val="400"/>
              </a:spcAft>
              <a:defRPr sz="1800" b="1">
                <a:solidFill>
                  <a:srgbClr val="202D48"/>
                </a:solidFill>
                <a:latin typeface="Lato"/>
              </a:defRPr>
            </a:pPr>
            <a:r>
              <a:t>Best-plane checkpoint</a:t>
            </a:r>
          </a:p>
        </p:txBody>
      </p:sp>
      <p:sp>
        <p:nvSpPr>
          <p:cNvPr id="11" name="Rectangle 10"/>
          <p:cNvSpPr/>
          <p:nvPr/>
        </p:nvSpPr>
        <p:spPr>
          <a:xfrm>
            <a:off x="3355848" y="1961388"/>
            <a:ext cx="3886200" cy="347472"/>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55848" y="1961388"/>
            <a:ext cx="3278981" cy="34747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70648" y="1874520"/>
            <a:ext cx="1371600" cy="475488"/>
          </a:xfrm>
          <a:prstGeom prst="rect">
            <a:avLst/>
          </a:prstGeom>
          <a:noFill/>
        </p:spPr>
        <p:txBody>
          <a:bodyPr wrap="square" lIns="0" rIns="0" tIns="0" bIns="0">
            <a:spAutoFit/>
          </a:bodyPr>
          <a:lstStyle/>
          <a:p>
            <a:pPr>
              <a:spcAft>
                <a:spcPts val="400"/>
              </a:spcAft>
              <a:defRPr sz="2700" b="1">
                <a:solidFill>
                  <a:srgbClr val="202D48"/>
                </a:solidFill>
                <a:latin typeface="Lato"/>
              </a:defRPr>
            </a:pPr>
            <a:r>
              <a:t>54/64</a:t>
            </a:r>
          </a:p>
        </p:txBody>
      </p:sp>
      <p:sp>
        <p:nvSpPr>
          <p:cNvPr id="14" name="TextBox 13"/>
          <p:cNvSpPr txBox="1"/>
          <p:nvPr/>
        </p:nvSpPr>
        <p:spPr>
          <a:xfrm>
            <a:off x="7470648" y="2350008"/>
            <a:ext cx="1280160" cy="265176"/>
          </a:xfrm>
          <a:prstGeom prst="rect">
            <a:avLst/>
          </a:prstGeom>
          <a:noFill/>
        </p:spPr>
        <p:txBody>
          <a:bodyPr wrap="square" lIns="0" rIns="0" tIns="0" bIns="0">
            <a:spAutoFit/>
          </a:bodyPr>
          <a:lstStyle/>
          <a:p>
            <a:pPr>
              <a:spcAft>
                <a:spcPts val="400"/>
              </a:spcAft>
              <a:defRPr sz="1100" b="0">
                <a:solidFill>
                  <a:srgbClr val="596477"/>
                </a:solidFill>
                <a:latin typeface="Lato"/>
              </a:defRPr>
            </a:pPr>
            <a:r>
              <a:t>84.4% recovered</a:t>
            </a:r>
          </a:p>
        </p:txBody>
      </p:sp>
      <p:sp>
        <p:nvSpPr>
          <p:cNvPr id="15" name="TextBox 14"/>
          <p:cNvSpPr txBox="1"/>
          <p:nvPr/>
        </p:nvSpPr>
        <p:spPr>
          <a:xfrm>
            <a:off x="411480" y="2871216"/>
            <a:ext cx="2834640" cy="365760"/>
          </a:xfrm>
          <a:prstGeom prst="rect">
            <a:avLst/>
          </a:prstGeom>
          <a:noFill/>
        </p:spPr>
        <p:txBody>
          <a:bodyPr wrap="square" lIns="0" rIns="0" tIns="0" bIns="0">
            <a:spAutoFit/>
          </a:bodyPr>
          <a:lstStyle/>
          <a:p>
            <a:pPr>
              <a:spcAft>
                <a:spcPts val="400"/>
              </a:spcAft>
              <a:defRPr sz="1800" b="1">
                <a:solidFill>
                  <a:srgbClr val="202D48"/>
                </a:solidFill>
                <a:latin typeface="Lato"/>
              </a:defRPr>
            </a:pPr>
            <a:r>
              <a:t>Focus-stack checkpoint</a:t>
            </a:r>
          </a:p>
        </p:txBody>
      </p:sp>
      <p:sp>
        <p:nvSpPr>
          <p:cNvPr id="16" name="Rectangle 15"/>
          <p:cNvSpPr/>
          <p:nvPr/>
        </p:nvSpPr>
        <p:spPr>
          <a:xfrm>
            <a:off x="3355848" y="2894076"/>
            <a:ext cx="3886200" cy="347472"/>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55848" y="2894076"/>
            <a:ext cx="3096815" cy="347472"/>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0648" y="2807208"/>
            <a:ext cx="1371600" cy="475488"/>
          </a:xfrm>
          <a:prstGeom prst="rect">
            <a:avLst/>
          </a:prstGeom>
          <a:noFill/>
        </p:spPr>
        <p:txBody>
          <a:bodyPr wrap="square" lIns="0" rIns="0" tIns="0" bIns="0">
            <a:spAutoFit/>
          </a:bodyPr>
          <a:lstStyle/>
          <a:p>
            <a:pPr>
              <a:spcAft>
                <a:spcPts val="400"/>
              </a:spcAft>
              <a:defRPr sz="2700" b="1">
                <a:solidFill>
                  <a:srgbClr val="202D48"/>
                </a:solidFill>
                <a:latin typeface="Lato"/>
              </a:defRPr>
            </a:pPr>
            <a:r>
              <a:t>51/64</a:t>
            </a:r>
          </a:p>
        </p:txBody>
      </p:sp>
      <p:sp>
        <p:nvSpPr>
          <p:cNvPr id="19" name="TextBox 18"/>
          <p:cNvSpPr txBox="1"/>
          <p:nvPr/>
        </p:nvSpPr>
        <p:spPr>
          <a:xfrm>
            <a:off x="7470648" y="3282696"/>
            <a:ext cx="1280160" cy="265176"/>
          </a:xfrm>
          <a:prstGeom prst="rect">
            <a:avLst/>
          </a:prstGeom>
          <a:noFill/>
        </p:spPr>
        <p:txBody>
          <a:bodyPr wrap="square" lIns="0" rIns="0" tIns="0" bIns="0">
            <a:spAutoFit/>
          </a:bodyPr>
          <a:lstStyle/>
          <a:p>
            <a:pPr>
              <a:spcAft>
                <a:spcPts val="400"/>
              </a:spcAft>
              <a:defRPr sz="1100" b="0">
                <a:solidFill>
                  <a:srgbClr val="596477"/>
                </a:solidFill>
                <a:latin typeface="Lato"/>
              </a:defRPr>
            </a:pPr>
            <a:r>
              <a:t>79.7% recovered</a:t>
            </a:r>
          </a:p>
        </p:txBody>
      </p:sp>
      <p:sp>
        <p:nvSpPr>
          <p:cNvPr id="20" name="TextBox 19"/>
          <p:cNvSpPr txBox="1"/>
          <p:nvPr/>
        </p:nvSpPr>
        <p:spPr>
          <a:xfrm>
            <a:off x="411480" y="3922776"/>
            <a:ext cx="8321040" cy="356616"/>
          </a:xfrm>
          <a:prstGeom prst="rect">
            <a:avLst/>
          </a:prstGeom>
          <a:noFill/>
        </p:spPr>
        <p:txBody>
          <a:bodyPr wrap="square" lIns="0" rIns="0" tIns="0" bIns="0">
            <a:spAutoFit/>
          </a:bodyPr>
          <a:lstStyle/>
          <a:p>
            <a:pPr>
              <a:spcAft>
                <a:spcPts val="400"/>
              </a:spcAft>
              <a:defRPr sz="1900" b="1">
                <a:solidFill>
                  <a:srgbClr val="93451F"/>
                </a:solidFill>
                <a:latin typeface="Lato"/>
              </a:defRPr>
            </a:pPr>
            <a:r>
              <a:t>Encouraging for reuse; broader evaluation is still needed.</a:t>
            </a:r>
          </a:p>
        </p:txBody>
      </p:sp>
      <p:sp>
        <p:nvSpPr>
          <p:cNvPr id="21" name="TextBox 20"/>
          <p:cNvSpPr txBox="1"/>
          <p:nvPr/>
        </p:nvSpPr>
        <p:spPr>
          <a:xfrm>
            <a:off x="411480" y="4489704"/>
            <a:ext cx="8321040" cy="192024"/>
          </a:xfrm>
          <a:prstGeom prst="rect">
            <a:avLst/>
          </a:prstGeom>
          <a:noFill/>
        </p:spPr>
        <p:txBody>
          <a:bodyPr wrap="square" lIns="0" rIns="0" tIns="0" bIns="0">
            <a:spAutoFit/>
          </a:bodyPr>
          <a:lstStyle/>
          <a:p>
            <a:pPr>
              <a:spcAft>
                <a:spcPts val="400"/>
              </a:spcAft>
              <a:defRPr sz="1100" b="0">
                <a:solidFill>
                  <a:srgbClr val="596477"/>
                </a:solidFill>
                <a:latin typeface="Lato"/>
              </a:defRPr>
            </a:pPr>
            <a:r>
              <a:t>Known-target recovery in centered crops—not whole-slide or classification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265176"/>
            <a:ext cx="228600"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182880"/>
            <a:ext cx="7955279" cy="182880"/>
          </a:xfrm>
          <a:prstGeom prst="rect">
            <a:avLst/>
          </a:prstGeom>
          <a:noFill/>
        </p:spPr>
        <p:txBody>
          <a:bodyPr wrap="square" lIns="0" rIns="0" tIns="0" bIns="0">
            <a:spAutoFit/>
          </a:bodyPr>
          <a:lstStyle/>
          <a:p>
            <a:pPr>
              <a:spcAft>
                <a:spcPts val="400"/>
              </a:spcAft>
              <a:defRPr sz="800" b="1">
                <a:solidFill>
                  <a:srgbClr val="93451F"/>
                </a:solidFill>
                <a:latin typeface="Lato"/>
              </a:defRPr>
            </a:pPr>
            <a:r>
              <a:t>03 / NEXT STEPS</a:t>
            </a:r>
          </a:p>
        </p:txBody>
      </p:sp>
      <p:sp>
        <p:nvSpPr>
          <p:cNvPr id="5" name="TextBox 4"/>
          <p:cNvSpPr txBox="1"/>
          <p:nvPr/>
        </p:nvSpPr>
        <p:spPr>
          <a:xfrm>
            <a:off x="365760" y="594360"/>
            <a:ext cx="8412480" cy="603504"/>
          </a:xfrm>
          <a:prstGeom prst="rect">
            <a:avLst/>
          </a:prstGeom>
          <a:noFill/>
        </p:spPr>
        <p:txBody>
          <a:bodyPr wrap="square" lIns="0" rIns="0" tIns="0" bIns="0">
            <a:spAutoFit/>
          </a:bodyPr>
          <a:lstStyle/>
          <a:p>
            <a:pPr>
              <a:spcAft>
                <a:spcPts val="400"/>
              </a:spcAft>
              <a:defRPr sz="2700" b="1">
                <a:solidFill>
                  <a:srgbClr val="202D48"/>
                </a:solidFill>
                <a:latin typeface="Lato"/>
              </a:defRPr>
            </a:pPr>
            <a:r>
              <a:t>Finalize the training, validation, and test sets</a:t>
            </a:r>
          </a:p>
        </p:txBody>
      </p:sp>
      <p:sp>
        <p:nvSpPr>
          <p:cNvPr id="6" name="Rectangle 5"/>
          <p:cNvSpPr/>
          <p:nvPr/>
        </p:nvSpPr>
        <p:spPr>
          <a:xfrm>
            <a:off x="365760" y="4809744"/>
            <a:ext cx="841248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4910328"/>
            <a:ext cx="7315200" cy="146304"/>
          </a:xfrm>
          <a:prstGeom prst="rect">
            <a:avLst/>
          </a:prstGeom>
          <a:noFill/>
        </p:spPr>
        <p:txBody>
          <a:bodyPr wrap="square" lIns="0" rIns="0" tIns="0" bIns="0">
            <a:spAutoFit/>
          </a:bodyPr>
          <a:lstStyle/>
          <a:p>
            <a:pPr>
              <a:spcAft>
                <a:spcPts val="400"/>
              </a:spcAft>
              <a:defRPr sz="700" b="0">
                <a:solidFill>
                  <a:srgbClr val="596477"/>
                </a:solidFill>
                <a:latin typeface="Lato"/>
              </a:defRPr>
            </a:pPr>
            <a:r>
              <a:t>SMITHSONIAN × RICE D2K / SPONSOR UPDATE</a:t>
            </a:r>
          </a:p>
        </p:txBody>
      </p:sp>
      <p:sp>
        <p:nvSpPr>
          <p:cNvPr id="8" name="TextBox 7"/>
          <p:cNvSpPr txBox="1"/>
          <p:nvPr/>
        </p:nvSpPr>
        <p:spPr>
          <a:xfrm>
            <a:off x="8549640" y="4882896"/>
            <a:ext cx="274320" cy="182880"/>
          </a:xfrm>
          <a:prstGeom prst="rect">
            <a:avLst/>
          </a:prstGeom>
          <a:noFill/>
        </p:spPr>
        <p:txBody>
          <a:bodyPr wrap="square" lIns="0" rIns="0" tIns="0" bIns="0">
            <a:spAutoFit/>
          </a:bodyPr>
          <a:lstStyle/>
          <a:p>
            <a:pPr>
              <a:spcAft>
                <a:spcPts val="400"/>
              </a:spcAft>
              <a:defRPr sz="800" b="0">
                <a:solidFill>
                  <a:srgbClr val="596477"/>
                </a:solidFill>
                <a:latin typeface="Lato"/>
              </a:defRPr>
            </a:pPr>
            <a:r>
              <a:t>3</a:t>
            </a:r>
          </a:p>
        </p:txBody>
      </p:sp>
      <p:sp>
        <p:nvSpPr>
          <p:cNvPr id="9" name="Rectangle 8"/>
          <p:cNvSpPr/>
          <p:nvPr/>
        </p:nvSpPr>
        <p:spPr>
          <a:xfrm>
            <a:off x="411480" y="1545336"/>
            <a:ext cx="2560320" cy="2350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746504"/>
            <a:ext cx="2231136" cy="256032"/>
          </a:xfrm>
          <a:prstGeom prst="rect">
            <a:avLst/>
          </a:prstGeom>
          <a:noFill/>
        </p:spPr>
        <p:txBody>
          <a:bodyPr wrap="square" lIns="0" rIns="0" tIns="0" bIns="0">
            <a:spAutoFit/>
          </a:bodyPr>
          <a:lstStyle/>
          <a:p>
            <a:pPr>
              <a:spcAft>
                <a:spcPts val="400"/>
              </a:spcAft>
              <a:defRPr sz="1200" b="1">
                <a:solidFill>
                  <a:srgbClr val="93451F"/>
                </a:solidFill>
                <a:latin typeface="Lato"/>
              </a:defRPr>
            </a:pPr>
            <a:r>
              <a:t>01</a:t>
            </a:r>
          </a:p>
        </p:txBody>
      </p:sp>
      <p:sp>
        <p:nvSpPr>
          <p:cNvPr id="11" name="TextBox 10"/>
          <p:cNvSpPr txBox="1"/>
          <p:nvPr/>
        </p:nvSpPr>
        <p:spPr>
          <a:xfrm>
            <a:off x="576072" y="2221992"/>
            <a:ext cx="2231136" cy="649224"/>
          </a:xfrm>
          <a:prstGeom prst="rect">
            <a:avLst/>
          </a:prstGeom>
          <a:noFill/>
        </p:spPr>
        <p:txBody>
          <a:bodyPr wrap="square" lIns="0" rIns="0" tIns="0" bIns="0">
            <a:spAutoFit/>
          </a:bodyPr>
          <a:lstStyle/>
          <a:p>
            <a:pPr>
              <a:spcAft>
                <a:spcPts val="400"/>
              </a:spcAft>
              <a:defRPr sz="2000" b="1">
                <a:solidFill>
                  <a:srgbClr val="202D48"/>
                </a:solidFill>
                <a:latin typeface="Lato"/>
              </a:defRPr>
            </a:pPr>
            <a:r>
              <a:t>Review the examples</a:t>
            </a:r>
          </a:p>
        </p:txBody>
      </p:sp>
      <p:sp>
        <p:nvSpPr>
          <p:cNvPr id="12" name="TextBox 11"/>
          <p:cNvSpPr txBox="1"/>
          <p:nvPr/>
        </p:nvSpPr>
        <p:spPr>
          <a:xfrm>
            <a:off x="576072" y="3063240"/>
            <a:ext cx="2231136" cy="621792"/>
          </a:xfrm>
          <a:prstGeom prst="rect">
            <a:avLst/>
          </a:prstGeom>
          <a:noFill/>
        </p:spPr>
        <p:txBody>
          <a:bodyPr wrap="square" lIns="0" rIns="0" tIns="0" bIns="0">
            <a:spAutoFit/>
          </a:bodyPr>
          <a:lstStyle/>
          <a:p>
            <a:pPr>
              <a:spcAft>
                <a:spcPts val="400"/>
              </a:spcAft>
              <a:defRPr sz="1400" b="0">
                <a:solidFill>
                  <a:srgbClr val="596477"/>
                </a:solidFill>
                <a:latin typeface="Lato"/>
              </a:defRPr>
            </a:pPr>
            <a:r>
              <a:t>Check crop quality</a:t>
            </a:r>
          </a:p>
          <a:p>
            <a:pPr>
              <a:spcAft>
                <a:spcPts val="400"/>
              </a:spcAft>
              <a:defRPr sz="1400" b="0">
                <a:solidFill>
                  <a:srgbClr val="596477"/>
                </a:solidFill>
                <a:latin typeface="Lato"/>
              </a:defRPr>
            </a:pPr>
            <a:r>
              <a:t>and uncertain labels.</a:t>
            </a:r>
          </a:p>
        </p:txBody>
      </p:sp>
      <p:sp>
        <p:nvSpPr>
          <p:cNvPr id="13" name="Rectangle 12"/>
          <p:cNvSpPr/>
          <p:nvPr/>
        </p:nvSpPr>
        <p:spPr>
          <a:xfrm>
            <a:off x="3291840" y="1545336"/>
            <a:ext cx="2560320" cy="2350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1746504"/>
            <a:ext cx="2231136" cy="256032"/>
          </a:xfrm>
          <a:prstGeom prst="rect">
            <a:avLst/>
          </a:prstGeom>
          <a:noFill/>
        </p:spPr>
        <p:txBody>
          <a:bodyPr wrap="square" lIns="0" rIns="0" tIns="0" bIns="0">
            <a:spAutoFit/>
          </a:bodyPr>
          <a:lstStyle/>
          <a:p>
            <a:pPr>
              <a:spcAft>
                <a:spcPts val="400"/>
              </a:spcAft>
              <a:defRPr sz="1200" b="1">
                <a:solidFill>
                  <a:srgbClr val="93451F"/>
                </a:solidFill>
                <a:latin typeface="Lato"/>
              </a:defRPr>
            </a:pPr>
            <a:r>
              <a:t>02</a:t>
            </a:r>
          </a:p>
        </p:txBody>
      </p:sp>
      <p:sp>
        <p:nvSpPr>
          <p:cNvPr id="15" name="TextBox 14"/>
          <p:cNvSpPr txBox="1"/>
          <p:nvPr/>
        </p:nvSpPr>
        <p:spPr>
          <a:xfrm>
            <a:off x="3456432" y="2221992"/>
            <a:ext cx="2231136" cy="649224"/>
          </a:xfrm>
          <a:prstGeom prst="rect">
            <a:avLst/>
          </a:prstGeom>
          <a:noFill/>
        </p:spPr>
        <p:txBody>
          <a:bodyPr wrap="square" lIns="0" rIns="0" tIns="0" bIns="0">
            <a:spAutoFit/>
          </a:bodyPr>
          <a:lstStyle/>
          <a:p>
            <a:pPr>
              <a:spcAft>
                <a:spcPts val="400"/>
              </a:spcAft>
              <a:defRPr sz="2000" b="1">
                <a:solidFill>
                  <a:srgbClr val="202D48"/>
                </a:solidFill>
                <a:latin typeface="Lato"/>
              </a:defRPr>
            </a:pPr>
            <a:r>
              <a:t>Finalize the split</a:t>
            </a:r>
          </a:p>
        </p:txBody>
      </p:sp>
      <p:sp>
        <p:nvSpPr>
          <p:cNvPr id="16" name="TextBox 15"/>
          <p:cNvSpPr txBox="1"/>
          <p:nvPr/>
        </p:nvSpPr>
        <p:spPr>
          <a:xfrm>
            <a:off x="3456432" y="3063240"/>
            <a:ext cx="2231136" cy="621792"/>
          </a:xfrm>
          <a:prstGeom prst="rect">
            <a:avLst/>
          </a:prstGeom>
          <a:noFill/>
        </p:spPr>
        <p:txBody>
          <a:bodyPr wrap="square" lIns="0" rIns="0" tIns="0" bIns="0">
            <a:spAutoFit/>
          </a:bodyPr>
          <a:lstStyle/>
          <a:p>
            <a:pPr>
              <a:spcAft>
                <a:spcPts val="400"/>
              </a:spcAft>
              <a:defRPr sz="1400" b="0">
                <a:solidFill>
                  <a:srgbClr val="596477"/>
                </a:solidFill>
                <a:latin typeface="Lato"/>
              </a:defRPr>
            </a:pPr>
            <a:r>
              <a:t>Group related slides;</a:t>
            </a:r>
          </a:p>
          <a:p>
            <a:pPr>
              <a:spcAft>
                <a:spcPts val="400"/>
              </a:spcAft>
              <a:defRPr sz="1400" b="0">
                <a:solidFill>
                  <a:srgbClr val="596477"/>
                </a:solidFill>
                <a:latin typeface="Lato"/>
              </a:defRPr>
            </a:pPr>
            <a:r>
              <a:t>check category coverage.</a:t>
            </a:r>
          </a:p>
        </p:txBody>
      </p:sp>
      <p:sp>
        <p:nvSpPr>
          <p:cNvPr id="17" name="Rectangle 16"/>
          <p:cNvSpPr/>
          <p:nvPr/>
        </p:nvSpPr>
        <p:spPr>
          <a:xfrm>
            <a:off x="6172200" y="1545336"/>
            <a:ext cx="2560320" cy="2350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1746504"/>
            <a:ext cx="2231136" cy="256032"/>
          </a:xfrm>
          <a:prstGeom prst="rect">
            <a:avLst/>
          </a:prstGeom>
          <a:noFill/>
        </p:spPr>
        <p:txBody>
          <a:bodyPr wrap="square" lIns="0" rIns="0" tIns="0" bIns="0">
            <a:spAutoFit/>
          </a:bodyPr>
          <a:lstStyle/>
          <a:p>
            <a:pPr>
              <a:spcAft>
                <a:spcPts val="400"/>
              </a:spcAft>
              <a:defRPr sz="1200" b="1">
                <a:solidFill>
                  <a:srgbClr val="93451F"/>
                </a:solidFill>
                <a:latin typeface="Lato"/>
              </a:defRPr>
            </a:pPr>
            <a:r>
              <a:t>03</a:t>
            </a:r>
          </a:p>
        </p:txBody>
      </p:sp>
      <p:sp>
        <p:nvSpPr>
          <p:cNvPr id="19" name="TextBox 18"/>
          <p:cNvSpPr txBox="1"/>
          <p:nvPr/>
        </p:nvSpPr>
        <p:spPr>
          <a:xfrm>
            <a:off x="6336792" y="2221992"/>
            <a:ext cx="2231136" cy="649224"/>
          </a:xfrm>
          <a:prstGeom prst="rect">
            <a:avLst/>
          </a:prstGeom>
          <a:noFill/>
        </p:spPr>
        <p:txBody>
          <a:bodyPr wrap="square" lIns="0" rIns="0" tIns="0" bIns="0">
            <a:spAutoFit/>
          </a:bodyPr>
          <a:lstStyle/>
          <a:p>
            <a:pPr>
              <a:spcAft>
                <a:spcPts val="400"/>
              </a:spcAft>
              <a:defRPr sz="2000" b="1">
                <a:solidFill>
                  <a:srgbClr val="202D48"/>
                </a:solidFill>
                <a:latin typeface="Lato"/>
              </a:defRPr>
            </a:pPr>
            <a:r>
              <a:t>Start the baseline</a:t>
            </a:r>
          </a:p>
        </p:txBody>
      </p:sp>
      <p:sp>
        <p:nvSpPr>
          <p:cNvPr id="20" name="TextBox 19"/>
          <p:cNvSpPr txBox="1"/>
          <p:nvPr/>
        </p:nvSpPr>
        <p:spPr>
          <a:xfrm>
            <a:off x="6336792" y="3063240"/>
            <a:ext cx="2231136" cy="621792"/>
          </a:xfrm>
          <a:prstGeom prst="rect">
            <a:avLst/>
          </a:prstGeom>
          <a:noFill/>
        </p:spPr>
        <p:txBody>
          <a:bodyPr wrap="square" lIns="0" rIns="0" tIns="0" bIns="0">
            <a:spAutoFit/>
          </a:bodyPr>
          <a:lstStyle/>
          <a:p>
            <a:pPr>
              <a:spcAft>
                <a:spcPts val="400"/>
              </a:spcAft>
              <a:defRPr sz="1400" b="0">
                <a:solidFill>
                  <a:srgbClr val="596477"/>
                </a:solidFill>
                <a:latin typeface="Lato"/>
              </a:defRPr>
            </a:pPr>
            <a:r>
              <a:t>Train the first classifier</a:t>
            </a:r>
          </a:p>
          <a:p>
            <a:pPr>
              <a:spcAft>
                <a:spcPts val="400"/>
              </a:spcAft>
              <a:defRPr sz="1400" b="0">
                <a:solidFill>
                  <a:srgbClr val="596477"/>
                </a:solidFill>
                <a:latin typeface="Lato"/>
              </a:defRPr>
            </a:pPr>
            <a:r>
              <a:t>and evaluate its errors.</a:t>
            </a:r>
          </a:p>
        </p:txBody>
      </p:sp>
      <p:sp>
        <p:nvSpPr>
          <p:cNvPr id="21" name="TextBox 20"/>
          <p:cNvSpPr txBox="1"/>
          <p:nvPr/>
        </p:nvSpPr>
        <p:spPr>
          <a:xfrm>
            <a:off x="411480" y="4261104"/>
            <a:ext cx="8321040" cy="356616"/>
          </a:xfrm>
          <a:prstGeom prst="rect">
            <a:avLst/>
          </a:prstGeom>
          <a:noFill/>
        </p:spPr>
        <p:txBody>
          <a:bodyPr wrap="square" lIns="0" rIns="0" tIns="0" bIns="0">
            <a:spAutoFit/>
          </a:bodyPr>
          <a:lstStyle/>
          <a:p>
            <a:pPr>
              <a:spcAft>
                <a:spcPts val="400"/>
              </a:spcAft>
              <a:defRPr sz="1500" b="1">
                <a:solidFill>
                  <a:srgbClr val="93451F"/>
                </a:solidFill>
                <a:latin typeface="Lato"/>
              </a:defRPr>
            </a:pPr>
            <a:r>
              <a:t>Also: resolve shared storage for the full multifocal crop export.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