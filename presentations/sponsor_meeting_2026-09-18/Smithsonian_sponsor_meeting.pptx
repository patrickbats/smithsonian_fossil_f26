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Thank you for meeting with us. Our understanding is that the project will help identify fossil pollen types in microscope images, supporting your work on past vegetation and warm climates. Today we will show what we can access, explain how we have organized the labels, and agree on the first useful version. We have not trained a classifier yet. The image is a real region from a slide on Rice’s cluster, with existing annotation boxes—not model predictions.</a:t>
            </a:r>
          </a:p>
          <a:p>
            <a:r>
              <a:t>MEETING FLOW: Allow about eight minutes for the overview and use the remaining time for discussion and decisions.</a:t>
            </a:r>
          </a:p>
          <a:p>
            <a:r>
              <a:t>SOURCE: Sponsor presentation and September 11 meeting; Alaska preview provenance.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previous group focused on where palynomorphs are. Our main focus is what type each specimen is. Those are separate tasks. A box can show where to look without telling us a detailed biological category. We propose beginning with existing marked specimens, then connecting the classifier to detection results.</a:t>
            </a:r>
          </a:p>
          <a:p>
            <a:r>
              <a:t>ASK: Does this reflect the priority for this semester?</a:t>
            </a:r>
          </a:p>
          <a:p>
            <a:r>
              <a:t>LISTEN FOR: Whether sponsors expect classification of expert annotations first, existing detector outputs first, or a complete whole-slide system. Do not promise a complete new detector or a full slide application.</a:t>
            </a:r>
          </a:p>
          <a:p>
            <a:r>
              <a:t>TRANSITION: Here is what those marked specimens look like in our actual data.</a:t>
            </a:r>
          </a:p>
          <a:p>
            <a:r>
              <a:t>SOURCE: September 11 sponsor meeting and project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 blue boxes surround four annotated objects in a small image region. This entire panel is only a tiny part of one slide. The full Alaska image is about 28.5 GB. We can read a small region without bringing the whole slide onto our laptops. The original data stay on Rice’s computing cluster, NOTS.</a:t>
            </a:r>
          </a:p>
          <a:p>
            <a:r>
              <a:t>IMPORTANT: These four objects have the broad original title pol. They illustrate object location, not four confirmed examples of our detailed target categories. The displayed image is an existing focus-stacked tile from Spring 2026; different focus levels can help reveal structure. We have not established the best focus representation for classification.</a:t>
            </a:r>
          </a:p>
          <a:p>
            <a:r>
              <a:t>SOURCE: C_418058_W_Nassichuk_R_2025_01_21_14_59_16_Alaska; HDF5 tile_63624_42509. Preview boxes were checked against annotation geometry; see assets/provenance.json.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read 82 annotation files in the training folder and 46 additional annotation files, and found a matching image filename for each of the 128. This was an annotation and file inventory, not a visual inspection of all 128 slides. We mapped names to your category table, first using exact names, then formatting fixes, and then a set of provisional connections approved internally by our team. That leaves 933 annotation records in 27 of your YES categories. Of those 933, 112 depend on provisional connections.</a:t>
            </a:r>
          </a:p>
          <a:p>
            <a:r>
              <a:t>CAUTION: These are annotation records, not a claim that 933 unique specimens have passed a full quality review. The 27 categories are represented in the inventory; they are not all necessarily suitable for a first model. We have kept MAYBE categories separate.</a:t>
            </a:r>
          </a:p>
          <a:p>
            <a:r>
              <a:t>SOURCE: data/current/classification_annotations.csv and category_summary.csv, September 17 audit. The current working set supersedes earlier 819- and 821-record inventories.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examples are unevenly distributed. Bisaccate has 335 annotation records across 44 slides; Momipites has 262 across 40. Rhoipites has 39, but all are on one slide. A model can accidentally learn a slide’s appearance instead of the biological distinctions. Testing on different slides helps us assess whether it transfers. With only one slide for a category, we cannot put that category into separate training and test slides using this set.</a:t>
            </a:r>
          </a:p>
          <a:p>
            <a:r>
              <a:t>ASK: Would a smaller first classifier covering well-supported categories be useful? Which categories matter most scientifically? Which scarce categories are essential, and could additional examples be labeled? Explain that few examples make learning variation and measuring performance harder.</a:t>
            </a:r>
          </a:p>
          <a:p>
            <a:r>
              <a:t>DO NOT: Present the displayed five as a finalized class selection or promise that count alone makes a category usable. Note that counts include provisional mappings.</a:t>
            </a:r>
          </a:p>
          <a:p>
            <a:r>
              <a:t>SOURCE: data/current/category_summary.csv, September 17 working selection.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label inventory is ready, but we have not yet extracted and checked the complete set of specimen images. We will now extract regions around the selected annotations, including annotations outside the historical training rectangles. We will inspect the crops for alignment, focus, preservation, and duplicates, then prepare training and evaluation groups. The current count may change after this quality review.</a:t>
            </a:r>
          </a:p>
          <a:p>
            <a:r>
              <a:t>CATEGORY POLICY: We are using Ingrid’s category mappings and the agreed working extensions. Do not reopen the explicit Siltaria-to-Rhoipites or Liliacidites-to-Arecipites CSV mappings as if they were arbitrary. Original names and provisional flags remain recorded; these groupings are not claims of taxonomic synonymy. Ask about a specific qualified label only if it affects the work, rather than spending the main meeting reviewing every name.</a:t>
            </a:r>
          </a:p>
          <a:p>
            <a:r>
              <a:t>ASK: Which visual features are essential for distinguishing the priority types? Which preservation or staining problems make a specimen unsuitable? Could you point out a few good and difficult examples?</a:t>
            </a:r>
          </a:p>
          <a:p>
            <a:r>
              <a:t>VERSION CHECK IF NEEDED: We can proceed with this working set. If there is a newer or corrected annotation set behind the spreadsheet, please identify it so we can record the version and compare it. Differences in totals have not been explained by the naming cleanup.</a:t>
            </a:r>
          </a:p>
          <a:p>
            <a:r>
              <a:t>SOURCE: Current working inventory and pipeline plan. Extraction, quality review and final evaluation splits remain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want to know whether the model learns useful biological distinctions, not just whether it recognizes familiar images. We propose holding some slides aside for evaluation, keeping all views of a specimen together, and reporting performance separately for each category. The exact split is not finalized.</a:t>
            </a:r>
          </a:p>
          <a:p>
            <a:r>
              <a:t>ASK FIRST: What is of utmost importance for us to get correct in this project? Which distinctions are essential, and which mistakes would change your scientific conclusions? Is flagging an uncertain specimen preferable to forcing a label? Your email suggested about 60 specimens for categories over 100. Should that limit apply to the training examples, with separate specimens retained for evaluation?</a:t>
            </a:r>
          </a:p>
          <a:p>
            <a:r>
              <a:t>NOTE: Do not propose an arbitrary accuracy promise. We should agree on numeric targets after verifying labels and obtaining a first result. A confidence score is a model estimate, not automatically a calibrated probability.</a:t>
            </a:r>
          </a:p>
          <a:p>
            <a:r>
              <a:t>SOURCE: Sponsor email for the approximate-60 request; project pipeline plan for proposed evaluation approach.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proposed first version takes an existing marked specimen, assigns a category, and lets you inspect the result beside the image. We would export predictions into a new annotation file and keep original expert annotations untouched. A simple viewer could show the category, location, and uncertain cases. This is a proposed workflow, not software we have already built.</a:t>
            </a:r>
          </a:p>
          <a:p>
            <a:r>
              <a:t>ASK: Which application will you use to open the annotations? Can you supply an example of a result file that would be convenient? Should we prioritize annotated outputs, downloadable specimen crops, or browsing predictions? Is starting with existing marked specimens acceptable before integrating detector outputs?</a:t>
            </a:r>
          </a:p>
          <a:p>
            <a:r>
              <a:t>SCOPE: Full whole-slide navigation and interactive model fine-tuning remain possible extensions rather than promises for the first version.</a:t>
            </a:r>
          </a:p>
          <a:p>
            <a:r>
              <a:t>SOURCE: September 11 sponsor discussion and current pipeline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only if asked about a particular category. Counts reflect the current working mapping, including provisional aliases. A represented category is not necessarily ready for training or evaluation. Five YES categories have no matched records in this selection: Momipites flexus, Momipites ventifluminis, Nudopollis sp., Psilatricolpites sp., and Rousea sp. The 63 MAYBE annotations are separate. The 212 unmatched and 344 untitled entries are not part of the initial selection.</a:t>
            </a:r>
          </a:p>
          <a:p>
            <a:r>
              <a:t>SOURCE: data/current/category_summary.csv. Total 933 YES records across 27 represented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 close, these are the main questions we have discussed. What is most important for us to get right? Which rare categories are essential, and can additional examples be labeled? What should we look for when reviewing specimen images? Can we start with the better-supported categories, and should the approximately-60 limit apply to training only? Finally, what result format and way of reviewing uncertain cases would be useful?</a:t>
            </a:r>
          </a:p>
          <a:p>
            <a:r>
              <a:t>EMPHASIZE: The total of 933 annotations does not mean we have enough examples for every category. Scarce categories are harder to learn and evaluate, especially when all examples come from one slide. We should agree on a practical first scope and expand it as evidence allows.</a:t>
            </a:r>
          </a:p>
          <a:p>
            <a:r>
              <a:t>FACILITATE: Read back agreed answers rather than asking answered questions again. For remaining questions, record an owner, a next action and a follow-up date.</a:t>
            </a:r>
          </a:p>
          <a:p>
            <a:r>
              <a:t>NEXT: Extract and inspect the specimen crops, including annotations outside the old training rectangles; define evaluation groups; then train a first model.</a:t>
            </a:r>
          </a:p>
          <a:p>
            <a:r>
              <a:t>SOURCE: Recap of the discussion questions; no new sponsor commitments or model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01 / PURPOSE</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From fossil pollen to a picture of past vegetation</a:t>
            </a:r>
          </a:p>
        </p:txBody>
      </p:sp>
      <p:sp>
        <p:nvSpPr>
          <p:cNvPr id="6" name="TextBox 5"/>
          <p:cNvSpPr txBox="1"/>
          <p:nvPr/>
        </p:nvSpPr>
        <p:spPr>
          <a:xfrm>
            <a:off x="508000" y="1409700"/>
            <a:ext cx="11112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Project progress and decisions for our first classifier</a:t>
            </a:r>
          </a:p>
        </p:txBody>
      </p:sp>
      <p:sp>
        <p:nvSpPr>
          <p:cNvPr id="7" name="Rectangle 6"/>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9" name="TextBox 8"/>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01</a:t>
            </a:r>
          </a:p>
        </p:txBody>
      </p:sp>
      <p:pic>
        <p:nvPicPr>
          <p:cNvPr id="10" name="Picture 9" descr="alaska_boxes.png"/>
          <p:cNvPicPr>
            <a:picLocks noChangeAspect="1"/>
          </p:cNvPicPr>
          <p:nvPr/>
        </p:nvPicPr>
        <p:blipFill>
          <a:blip r:embed="rId2"/>
          <a:stretch>
            <a:fillRect/>
          </a:stretch>
        </p:blipFill>
        <p:spPr>
          <a:xfrm>
            <a:off x="7171606" y="1943100"/>
            <a:ext cx="4071786" cy="4279900"/>
          </a:xfrm>
          <a:prstGeom prst="rect">
            <a:avLst/>
          </a:prstGeom>
        </p:spPr>
      </p:pic>
      <p:sp>
        <p:nvSpPr>
          <p:cNvPr id="11" name="TextBox 10"/>
          <p:cNvSpPr txBox="1"/>
          <p:nvPr/>
        </p:nvSpPr>
        <p:spPr>
          <a:xfrm>
            <a:off x="508000" y="2273300"/>
            <a:ext cx="5778500" cy="1129792"/>
          </a:xfrm>
          <a:prstGeom prst="rect">
            <a:avLst/>
          </a:prstGeom>
          <a:noFill/>
        </p:spPr>
        <p:txBody>
          <a:bodyPr wrap="none" lIns="0" rIns="0" tIns="0" bIns="0">
            <a:spAutoFit/>
          </a:bodyPr>
          <a:lstStyle/>
          <a:p>
            <a:pPr>
              <a:lnSpc>
                <a:spcPts val="4148"/>
              </a:lnSpc>
              <a:spcAft>
                <a:spcPts val="0"/>
              </a:spcAft>
              <a:defRPr sz="3400" b="1">
                <a:solidFill>
                  <a:srgbClr val="142F38"/>
                </a:solidFill>
                <a:latin typeface="Lato"/>
              </a:defRPr>
            </a:pPr>
            <a:r>
              <a:t>Identify pollen types</a:t>
            </a:r>
          </a:p>
          <a:p>
            <a:pPr>
              <a:lnSpc>
                <a:spcPts val="4148"/>
              </a:lnSpc>
              <a:spcAft>
                <a:spcPts val="0"/>
              </a:spcAft>
              <a:defRPr sz="3400" b="1">
                <a:solidFill>
                  <a:srgbClr val="142F38"/>
                </a:solidFill>
                <a:latin typeface="Lato"/>
              </a:defRPr>
            </a:pPr>
            <a:r>
              <a:t>in microscope images.</a:t>
            </a:r>
          </a:p>
        </p:txBody>
      </p:sp>
      <p:sp>
        <p:nvSpPr>
          <p:cNvPr id="12" name="TextBox 11"/>
          <p:cNvSpPr txBox="1"/>
          <p:nvPr/>
        </p:nvSpPr>
        <p:spPr>
          <a:xfrm>
            <a:off x="508000" y="3581400"/>
            <a:ext cx="5461000" cy="757936"/>
          </a:xfrm>
          <a:prstGeom prst="rect">
            <a:avLst/>
          </a:prstGeom>
          <a:noFill/>
        </p:spPr>
        <p:txBody>
          <a:bodyPr wrap="none" lIns="0" rIns="0" tIns="0" bIns="0">
            <a:spAutoFit/>
          </a:bodyPr>
          <a:lstStyle/>
          <a:p>
            <a:pPr>
              <a:lnSpc>
                <a:spcPts val="2684"/>
              </a:lnSpc>
              <a:spcAft>
                <a:spcPts val="0"/>
              </a:spcAft>
              <a:defRPr sz="2200" b="0">
                <a:solidFill>
                  <a:srgbClr val="596D71"/>
                </a:solidFill>
                <a:latin typeface="Lato"/>
              </a:defRPr>
            </a:pPr>
            <a:r>
              <a:t>Support research on North American</a:t>
            </a:r>
          </a:p>
          <a:p>
            <a:pPr>
              <a:lnSpc>
                <a:spcPts val="2684"/>
              </a:lnSpc>
              <a:spcAft>
                <a:spcPts val="0"/>
              </a:spcAft>
              <a:defRPr sz="2200" b="0">
                <a:solidFill>
                  <a:srgbClr val="596D71"/>
                </a:solidFill>
                <a:latin typeface="Lato"/>
              </a:defRPr>
            </a:pPr>
            <a:r>
              <a:t>vegetation about 50–60 million years ago.</a:t>
            </a:r>
          </a:p>
        </p:txBody>
      </p:sp>
      <p:sp>
        <p:nvSpPr>
          <p:cNvPr id="13" name="TextBox 12"/>
          <p:cNvSpPr txBox="1"/>
          <p:nvPr/>
        </p:nvSpPr>
        <p:spPr>
          <a:xfrm>
            <a:off x="508000" y="5295900"/>
            <a:ext cx="5588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Today: what we have → what we need to agree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02 / SHARED UNDERSTANDING</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Finding a grain and naming it are different tasks</a:t>
            </a:r>
          </a:p>
        </p:txBody>
      </p:sp>
      <p:sp>
        <p:nvSpPr>
          <p:cNvPr id="6" name="Rectangle 5"/>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8" name="TextBox 7"/>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02</a:t>
            </a:r>
          </a:p>
        </p:txBody>
      </p:sp>
      <p:sp>
        <p:nvSpPr>
          <p:cNvPr id="9" name="Rectangle 8"/>
          <p:cNvSpPr/>
          <p:nvPr/>
        </p:nvSpPr>
        <p:spPr>
          <a:xfrm>
            <a:off x="508000" y="2159000"/>
            <a:ext cx="3365500" cy="278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336800"/>
            <a:ext cx="29083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PREVIOUS WORK</a:t>
            </a:r>
          </a:p>
        </p:txBody>
      </p:sp>
      <p:sp>
        <p:nvSpPr>
          <p:cNvPr id="11" name="TextBox 10"/>
          <p:cNvSpPr txBox="1"/>
          <p:nvPr/>
        </p:nvSpPr>
        <p:spPr>
          <a:xfrm>
            <a:off x="736600" y="2705100"/>
            <a:ext cx="29083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Find the specimen</a:t>
            </a:r>
          </a:p>
        </p:txBody>
      </p:sp>
      <p:sp>
        <p:nvSpPr>
          <p:cNvPr id="12" name="TextBox 11"/>
          <p:cNvSpPr txBox="1"/>
          <p:nvPr/>
        </p:nvSpPr>
        <p:spPr>
          <a:xfrm>
            <a:off x="736600" y="3225800"/>
            <a:ext cx="2908300" cy="602996"/>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Locate an object within a</a:t>
            </a:r>
          </a:p>
          <a:p>
            <a:pPr>
              <a:lnSpc>
                <a:spcPts val="2074"/>
              </a:lnSpc>
              <a:spcAft>
                <a:spcPts val="0"/>
              </a:spcAft>
              <a:defRPr sz="1700" b="0">
                <a:solidFill>
                  <a:srgbClr val="596D71"/>
                </a:solidFill>
                <a:latin typeface="Lato"/>
              </a:defRPr>
            </a:pPr>
            <a:r>
              <a:t>large microscope image.</a:t>
            </a:r>
          </a:p>
        </p:txBody>
      </p:sp>
      <p:sp>
        <p:nvSpPr>
          <p:cNvPr id="13" name="Rectangle 12"/>
          <p:cNvSpPr/>
          <p:nvPr/>
        </p:nvSpPr>
        <p:spPr>
          <a:xfrm>
            <a:off x="4406900" y="2159000"/>
            <a:ext cx="3365500" cy="278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5500" y="2336800"/>
            <a:ext cx="29083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THIS SEMESTER</a:t>
            </a:r>
          </a:p>
        </p:txBody>
      </p:sp>
      <p:sp>
        <p:nvSpPr>
          <p:cNvPr id="15" name="TextBox 14"/>
          <p:cNvSpPr txBox="1"/>
          <p:nvPr/>
        </p:nvSpPr>
        <p:spPr>
          <a:xfrm>
            <a:off x="4635500" y="2705100"/>
            <a:ext cx="29083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Identify its type</a:t>
            </a:r>
          </a:p>
        </p:txBody>
      </p:sp>
      <p:sp>
        <p:nvSpPr>
          <p:cNvPr id="16" name="TextBox 15"/>
          <p:cNvSpPr txBox="1"/>
          <p:nvPr/>
        </p:nvSpPr>
        <p:spPr>
          <a:xfrm>
            <a:off x="4635500" y="3225800"/>
            <a:ext cx="2908300" cy="602996"/>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Assign a useful category to an</a:t>
            </a:r>
          </a:p>
          <a:p>
            <a:pPr>
              <a:lnSpc>
                <a:spcPts val="2074"/>
              </a:lnSpc>
              <a:spcAft>
                <a:spcPts val="0"/>
              </a:spcAft>
              <a:defRPr sz="1700" b="0">
                <a:solidFill>
                  <a:srgbClr val="596D71"/>
                </a:solidFill>
                <a:latin typeface="Lato"/>
              </a:defRPr>
            </a:pPr>
            <a:r>
              <a:t>already located specimen.</a:t>
            </a:r>
          </a:p>
        </p:txBody>
      </p:sp>
      <p:sp>
        <p:nvSpPr>
          <p:cNvPr id="17" name="Rectangle 16"/>
          <p:cNvSpPr/>
          <p:nvPr/>
        </p:nvSpPr>
        <p:spPr>
          <a:xfrm>
            <a:off x="8305800" y="2159000"/>
            <a:ext cx="3378200" cy="2781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4400" y="2336800"/>
            <a:ext cx="29210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SCIENTIFIC USE</a:t>
            </a:r>
          </a:p>
        </p:txBody>
      </p:sp>
      <p:sp>
        <p:nvSpPr>
          <p:cNvPr id="19" name="TextBox 18"/>
          <p:cNvSpPr txBox="1"/>
          <p:nvPr/>
        </p:nvSpPr>
        <p:spPr>
          <a:xfrm>
            <a:off x="8534400" y="2705100"/>
            <a:ext cx="29210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Review the result</a:t>
            </a:r>
          </a:p>
        </p:txBody>
      </p:sp>
      <p:sp>
        <p:nvSpPr>
          <p:cNvPr id="20" name="TextBox 19"/>
          <p:cNvSpPr txBox="1"/>
          <p:nvPr/>
        </p:nvSpPr>
        <p:spPr>
          <a:xfrm>
            <a:off x="8534400" y="3225800"/>
            <a:ext cx="29210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Let an expert inspect the</a:t>
            </a:r>
          </a:p>
          <a:p>
            <a:pPr>
              <a:lnSpc>
                <a:spcPts val="2074"/>
              </a:lnSpc>
              <a:spcAft>
                <a:spcPts val="0"/>
              </a:spcAft>
              <a:defRPr sz="1700" b="0">
                <a:solidFill>
                  <a:srgbClr val="596D71"/>
                </a:solidFill>
                <a:latin typeface="Lato"/>
              </a:defRPr>
            </a:pPr>
            <a:r>
              <a:t>image, category and uncertain</a:t>
            </a:r>
          </a:p>
          <a:p>
            <a:pPr>
              <a:lnSpc>
                <a:spcPts val="2074"/>
              </a:lnSpc>
              <a:spcAft>
                <a:spcPts val="0"/>
              </a:spcAft>
              <a:defRPr sz="1700" b="0">
                <a:solidFill>
                  <a:srgbClr val="596D71"/>
                </a:solidFill>
                <a:latin typeface="Lato"/>
              </a:defRPr>
            </a:pPr>
            <a:r>
              <a:t>cases.</a:t>
            </a:r>
          </a:p>
        </p:txBody>
      </p:sp>
      <p:sp>
        <p:nvSpPr>
          <p:cNvPr id="21" name="TextBox 20"/>
          <p:cNvSpPr txBox="1"/>
          <p:nvPr/>
        </p:nvSpPr>
        <p:spPr>
          <a:xfrm>
            <a:off x="4000500" y="3162300"/>
            <a:ext cx="317500" cy="463550"/>
          </a:xfrm>
          <a:prstGeom prst="rect">
            <a:avLst/>
          </a:prstGeom>
          <a:noFill/>
        </p:spPr>
        <p:txBody>
          <a:bodyPr wrap="none" lIns="0" rIns="0" tIns="0" bIns="0">
            <a:spAutoFit/>
          </a:bodyPr>
          <a:lstStyle/>
          <a:p>
            <a:pPr>
              <a:lnSpc>
                <a:spcPts val="3050"/>
              </a:lnSpc>
              <a:spcAft>
                <a:spcPts val="0"/>
              </a:spcAft>
              <a:defRPr sz="2500" b="1">
                <a:solidFill>
                  <a:srgbClr val="16756D"/>
                </a:solidFill>
                <a:latin typeface="Lato"/>
              </a:defRPr>
            </a:pPr>
            <a:r>
              <a:t>→</a:t>
            </a:r>
          </a:p>
        </p:txBody>
      </p:sp>
      <p:sp>
        <p:nvSpPr>
          <p:cNvPr id="22" name="TextBox 21"/>
          <p:cNvSpPr txBox="1"/>
          <p:nvPr/>
        </p:nvSpPr>
        <p:spPr>
          <a:xfrm>
            <a:off x="7899400" y="3162300"/>
            <a:ext cx="317500" cy="463550"/>
          </a:xfrm>
          <a:prstGeom prst="rect">
            <a:avLst/>
          </a:prstGeom>
          <a:noFill/>
        </p:spPr>
        <p:txBody>
          <a:bodyPr wrap="none" lIns="0" rIns="0" tIns="0" bIns="0">
            <a:spAutoFit/>
          </a:bodyPr>
          <a:lstStyle/>
          <a:p>
            <a:pPr>
              <a:lnSpc>
                <a:spcPts val="3050"/>
              </a:lnSpc>
              <a:spcAft>
                <a:spcPts val="0"/>
              </a:spcAft>
              <a:defRPr sz="2500" b="1">
                <a:solidFill>
                  <a:srgbClr val="16756D"/>
                </a:solidFill>
                <a:latin typeface="Lato"/>
              </a:defRPr>
            </a:pPr>
            <a:r>
              <a:t>→</a:t>
            </a:r>
          </a:p>
        </p:txBody>
      </p:sp>
      <p:sp>
        <p:nvSpPr>
          <p:cNvPr id="23" name="Rectangle 22"/>
          <p:cNvSpPr/>
          <p:nvPr/>
        </p:nvSpPr>
        <p:spPr>
          <a:xfrm>
            <a:off x="508000" y="5702300"/>
            <a:ext cx="11176000" cy="5461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8500" y="5829300"/>
            <a:ext cx="10795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Does this capture the most useful focus for this semester?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03 / A REAL EXAMPLE</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We can view small regions of the large slides</a:t>
            </a:r>
          </a:p>
        </p:txBody>
      </p:sp>
      <p:sp>
        <p:nvSpPr>
          <p:cNvPr id="6" name="Rectangle 5"/>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8" name="TextBox 7"/>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03</a:t>
            </a:r>
          </a:p>
        </p:txBody>
      </p:sp>
      <p:pic>
        <p:nvPicPr>
          <p:cNvPr id="9" name="Picture 8" descr="alaska_boxes.png"/>
          <p:cNvPicPr>
            <a:picLocks noChangeAspect="1"/>
          </p:cNvPicPr>
          <p:nvPr/>
        </p:nvPicPr>
        <p:blipFill>
          <a:blip r:embed="rId2"/>
          <a:stretch>
            <a:fillRect/>
          </a:stretch>
        </p:blipFill>
        <p:spPr>
          <a:xfrm>
            <a:off x="1163405" y="1739900"/>
            <a:ext cx="4277188" cy="4495800"/>
          </a:xfrm>
          <a:prstGeom prst="rect">
            <a:avLst/>
          </a:prstGeom>
        </p:spPr>
      </p:pic>
      <p:sp>
        <p:nvSpPr>
          <p:cNvPr id="10" name="TextBox 9"/>
          <p:cNvSpPr txBox="1"/>
          <p:nvPr/>
        </p:nvSpPr>
        <p:spPr>
          <a:xfrm>
            <a:off x="6667500" y="2120900"/>
            <a:ext cx="4851400" cy="479044"/>
          </a:xfrm>
          <a:prstGeom prst="rect">
            <a:avLst/>
          </a:prstGeom>
          <a:noFill/>
        </p:spPr>
        <p:txBody>
          <a:bodyPr wrap="none" lIns="0" rIns="0" tIns="0" bIns="0">
            <a:spAutoFit/>
          </a:bodyPr>
          <a:lstStyle/>
          <a:p>
            <a:pPr>
              <a:lnSpc>
                <a:spcPts val="3172"/>
              </a:lnSpc>
              <a:spcAft>
                <a:spcPts val="0"/>
              </a:spcAft>
              <a:defRPr sz="2600" b="1">
                <a:solidFill>
                  <a:srgbClr val="142F38"/>
                </a:solidFill>
                <a:latin typeface="Lato"/>
              </a:defRPr>
            </a:pPr>
            <a:r>
              <a:t>The boxes tell us where to look.</a:t>
            </a:r>
          </a:p>
        </p:txBody>
      </p:sp>
      <p:sp>
        <p:nvSpPr>
          <p:cNvPr id="11" name="TextBox 10"/>
          <p:cNvSpPr txBox="1"/>
          <p:nvPr/>
        </p:nvSpPr>
        <p:spPr>
          <a:xfrm>
            <a:off x="6667500" y="3136900"/>
            <a:ext cx="4724400" cy="757936"/>
          </a:xfrm>
          <a:prstGeom prst="rect">
            <a:avLst/>
          </a:prstGeom>
          <a:noFill/>
        </p:spPr>
        <p:txBody>
          <a:bodyPr wrap="none" lIns="0" rIns="0" tIns="0" bIns="0">
            <a:spAutoFit/>
          </a:bodyPr>
          <a:lstStyle/>
          <a:p>
            <a:pPr>
              <a:lnSpc>
                <a:spcPts val="2684"/>
              </a:lnSpc>
              <a:spcAft>
                <a:spcPts val="0"/>
              </a:spcAft>
              <a:defRPr sz="2200" b="0">
                <a:solidFill>
                  <a:srgbClr val="596D71"/>
                </a:solidFill>
                <a:latin typeface="Lato"/>
              </a:defRPr>
            </a:pPr>
            <a:r>
              <a:t>These examples are labeled “pol”</a:t>
            </a:r>
          </a:p>
          <a:p>
            <a:pPr>
              <a:lnSpc>
                <a:spcPts val="2684"/>
              </a:lnSpc>
              <a:spcAft>
                <a:spcPts val="0"/>
              </a:spcAft>
              <a:defRPr sz="2200" b="0">
                <a:solidFill>
                  <a:srgbClr val="596D71"/>
                </a:solidFill>
                <a:latin typeface="Lato"/>
              </a:defRPr>
            </a:pPr>
            <a:r>
              <a:t>(broad pollen), not a detailed type.</a:t>
            </a:r>
          </a:p>
        </p:txBody>
      </p:sp>
      <p:sp>
        <p:nvSpPr>
          <p:cNvPr id="12" name="Rectangle 11"/>
          <p:cNvSpPr/>
          <p:nvPr/>
        </p:nvSpPr>
        <p:spPr>
          <a:xfrm>
            <a:off x="6477000" y="4305300"/>
            <a:ext cx="5207000" cy="13843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0200" y="4470400"/>
            <a:ext cx="4762500" cy="386080"/>
          </a:xfrm>
          <a:prstGeom prst="rect">
            <a:avLst/>
          </a:prstGeom>
          <a:noFill/>
        </p:spPr>
        <p:txBody>
          <a:bodyPr wrap="none" lIns="0" rIns="0" tIns="0" bIns="0">
            <a:spAutoFit/>
          </a:bodyPr>
          <a:lstStyle/>
          <a:p>
            <a:pPr>
              <a:lnSpc>
                <a:spcPts val="2440"/>
              </a:lnSpc>
              <a:spcAft>
                <a:spcPts val="0"/>
              </a:spcAft>
              <a:defRPr sz="2000" b="1">
                <a:solidFill>
                  <a:srgbClr val="16756D"/>
                </a:solidFill>
                <a:latin typeface="Lato"/>
              </a:defRPr>
            </a:pPr>
            <a:r>
              <a:t>Images stay on Rice’s cluster.</a:t>
            </a:r>
          </a:p>
        </p:txBody>
      </p:sp>
      <p:sp>
        <p:nvSpPr>
          <p:cNvPr id="14" name="TextBox 13"/>
          <p:cNvSpPr txBox="1"/>
          <p:nvPr/>
        </p:nvSpPr>
        <p:spPr>
          <a:xfrm>
            <a:off x="6680200" y="4876800"/>
            <a:ext cx="4762500" cy="633984"/>
          </a:xfrm>
          <a:prstGeom prst="rect">
            <a:avLst/>
          </a:prstGeom>
          <a:noFill/>
        </p:spPr>
        <p:txBody>
          <a:bodyPr wrap="none" lIns="0" rIns="0" tIns="0" bIns="0">
            <a:spAutoFit/>
          </a:bodyPr>
          <a:lstStyle/>
          <a:p>
            <a:pPr>
              <a:lnSpc>
                <a:spcPts val="2196"/>
              </a:lnSpc>
              <a:spcAft>
                <a:spcPts val="0"/>
              </a:spcAft>
              <a:defRPr sz="1800" b="0">
                <a:solidFill>
                  <a:srgbClr val="142F38"/>
                </a:solidFill>
                <a:latin typeface="Lato"/>
              </a:defRPr>
            </a:pPr>
            <a:r>
              <a:t>We read small regions instead of downloading</a:t>
            </a:r>
          </a:p>
          <a:p>
            <a:pPr>
              <a:lnSpc>
                <a:spcPts val="2196"/>
              </a:lnSpc>
              <a:spcAft>
                <a:spcPts val="0"/>
              </a:spcAft>
              <a:defRPr sz="1800" b="0">
                <a:solidFill>
                  <a:srgbClr val="142F38"/>
                </a:solidFill>
                <a:latin typeface="Lato"/>
              </a:defRPr>
            </a:pPr>
            <a:r>
              <a:t>whole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04 / PROGRESS</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The label inventory is ready</a:t>
            </a:r>
          </a:p>
        </p:txBody>
      </p:sp>
      <p:sp>
        <p:nvSpPr>
          <p:cNvPr id="6" name="TextBox 5"/>
          <p:cNvSpPr txBox="1"/>
          <p:nvPr/>
        </p:nvSpPr>
        <p:spPr>
          <a:xfrm>
            <a:off x="508000" y="1409700"/>
            <a:ext cx="11112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We connected slide files, specimen locations and names to our working categories.</a:t>
            </a:r>
          </a:p>
        </p:txBody>
      </p:sp>
      <p:sp>
        <p:nvSpPr>
          <p:cNvPr id="7" name="Rectangle 6"/>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9" name="TextBox 8"/>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04</a:t>
            </a:r>
          </a:p>
        </p:txBody>
      </p:sp>
      <p:sp>
        <p:nvSpPr>
          <p:cNvPr id="10" name="Rectangle 9"/>
          <p:cNvSpPr/>
          <p:nvPr/>
        </p:nvSpPr>
        <p:spPr>
          <a:xfrm>
            <a:off x="508000" y="2235200"/>
            <a:ext cx="3556000" cy="213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413000"/>
            <a:ext cx="3048000" cy="959357"/>
          </a:xfrm>
          <a:prstGeom prst="rect">
            <a:avLst/>
          </a:prstGeom>
          <a:noFill/>
        </p:spPr>
        <p:txBody>
          <a:bodyPr wrap="none" lIns="0" rIns="0" tIns="0" bIns="0">
            <a:spAutoFit/>
          </a:bodyPr>
          <a:lstStyle/>
          <a:p>
            <a:pPr>
              <a:lnSpc>
                <a:spcPts val="6953"/>
              </a:lnSpc>
              <a:spcAft>
                <a:spcPts val="0"/>
              </a:spcAft>
              <a:defRPr sz="5700" b="1">
                <a:solidFill>
                  <a:srgbClr val="16756D"/>
                </a:solidFill>
                <a:latin typeface="Lato"/>
              </a:defRPr>
            </a:pPr>
            <a:r>
              <a:t>128</a:t>
            </a:r>
          </a:p>
        </p:txBody>
      </p:sp>
      <p:sp>
        <p:nvSpPr>
          <p:cNvPr id="12" name="TextBox 11"/>
          <p:cNvSpPr txBox="1"/>
          <p:nvPr/>
        </p:nvSpPr>
        <p:spPr>
          <a:xfrm>
            <a:off x="762000" y="3416300"/>
            <a:ext cx="3048000" cy="664972"/>
          </a:xfrm>
          <a:prstGeom prst="rect">
            <a:avLst/>
          </a:prstGeom>
          <a:noFill/>
        </p:spPr>
        <p:txBody>
          <a:bodyPr wrap="none" lIns="0" rIns="0" tIns="0" bIns="0">
            <a:spAutoFit/>
          </a:bodyPr>
          <a:lstStyle/>
          <a:p>
            <a:pPr>
              <a:lnSpc>
                <a:spcPts val="2318"/>
              </a:lnSpc>
              <a:spcAft>
                <a:spcPts val="0"/>
              </a:spcAft>
              <a:defRPr sz="1900" b="0">
                <a:solidFill>
                  <a:srgbClr val="142F38"/>
                </a:solidFill>
                <a:latin typeface="Lato"/>
              </a:defRPr>
            </a:pPr>
            <a:r>
              <a:t>Annotation files linked to</a:t>
            </a:r>
          </a:p>
          <a:p>
            <a:pPr>
              <a:lnSpc>
                <a:spcPts val="2318"/>
              </a:lnSpc>
              <a:spcAft>
                <a:spcPts val="0"/>
              </a:spcAft>
              <a:defRPr sz="1900" b="0">
                <a:solidFill>
                  <a:srgbClr val="142F38"/>
                </a:solidFill>
                <a:latin typeface="Lato"/>
              </a:defRPr>
            </a:pPr>
            <a:r>
              <a:t>slide images</a:t>
            </a:r>
          </a:p>
        </p:txBody>
      </p:sp>
      <p:sp>
        <p:nvSpPr>
          <p:cNvPr id="13" name="Rectangle 12"/>
          <p:cNvSpPr/>
          <p:nvPr/>
        </p:nvSpPr>
        <p:spPr>
          <a:xfrm>
            <a:off x="4318000" y="2235200"/>
            <a:ext cx="3556000" cy="213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13000"/>
            <a:ext cx="3048000" cy="959357"/>
          </a:xfrm>
          <a:prstGeom prst="rect">
            <a:avLst/>
          </a:prstGeom>
          <a:noFill/>
        </p:spPr>
        <p:txBody>
          <a:bodyPr wrap="none" lIns="0" rIns="0" tIns="0" bIns="0">
            <a:spAutoFit/>
          </a:bodyPr>
          <a:lstStyle/>
          <a:p>
            <a:pPr>
              <a:lnSpc>
                <a:spcPts val="6953"/>
              </a:lnSpc>
              <a:spcAft>
                <a:spcPts val="0"/>
              </a:spcAft>
              <a:defRPr sz="5700" b="1">
                <a:solidFill>
                  <a:srgbClr val="16756D"/>
                </a:solidFill>
                <a:latin typeface="Lato"/>
              </a:defRPr>
            </a:pPr>
            <a:r>
              <a:t>933</a:t>
            </a:r>
          </a:p>
        </p:txBody>
      </p:sp>
      <p:sp>
        <p:nvSpPr>
          <p:cNvPr id="15" name="TextBox 14"/>
          <p:cNvSpPr txBox="1"/>
          <p:nvPr/>
        </p:nvSpPr>
        <p:spPr>
          <a:xfrm>
            <a:off x="4572000" y="3416300"/>
            <a:ext cx="3048000" cy="664972"/>
          </a:xfrm>
          <a:prstGeom prst="rect">
            <a:avLst/>
          </a:prstGeom>
          <a:noFill/>
        </p:spPr>
        <p:txBody>
          <a:bodyPr wrap="none" lIns="0" rIns="0" tIns="0" bIns="0">
            <a:spAutoFit/>
          </a:bodyPr>
          <a:lstStyle/>
          <a:p>
            <a:pPr>
              <a:lnSpc>
                <a:spcPts val="2318"/>
              </a:lnSpc>
              <a:spcAft>
                <a:spcPts val="0"/>
              </a:spcAft>
              <a:defRPr sz="1900" b="0">
                <a:solidFill>
                  <a:srgbClr val="142F38"/>
                </a:solidFill>
                <a:latin typeface="Lato"/>
              </a:defRPr>
            </a:pPr>
            <a:r>
              <a:t>Annotations in our YES</a:t>
            </a:r>
          </a:p>
          <a:p>
            <a:pPr>
              <a:lnSpc>
                <a:spcPts val="2318"/>
              </a:lnSpc>
              <a:spcAft>
                <a:spcPts val="0"/>
              </a:spcAft>
              <a:defRPr sz="1900" b="0">
                <a:solidFill>
                  <a:srgbClr val="142F38"/>
                </a:solidFill>
                <a:latin typeface="Lato"/>
              </a:defRPr>
            </a:pPr>
            <a:r>
              <a:t>working set</a:t>
            </a:r>
          </a:p>
        </p:txBody>
      </p:sp>
      <p:sp>
        <p:nvSpPr>
          <p:cNvPr id="16" name="Rectangle 15"/>
          <p:cNvSpPr/>
          <p:nvPr/>
        </p:nvSpPr>
        <p:spPr>
          <a:xfrm>
            <a:off x="8128000" y="2235200"/>
            <a:ext cx="3556000" cy="213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0" y="2413000"/>
            <a:ext cx="3048000" cy="959357"/>
          </a:xfrm>
          <a:prstGeom prst="rect">
            <a:avLst/>
          </a:prstGeom>
          <a:noFill/>
        </p:spPr>
        <p:txBody>
          <a:bodyPr wrap="none" lIns="0" rIns="0" tIns="0" bIns="0">
            <a:spAutoFit/>
          </a:bodyPr>
          <a:lstStyle/>
          <a:p>
            <a:pPr>
              <a:lnSpc>
                <a:spcPts val="6953"/>
              </a:lnSpc>
              <a:spcAft>
                <a:spcPts val="0"/>
              </a:spcAft>
              <a:defRPr sz="5700" b="1">
                <a:solidFill>
                  <a:srgbClr val="16756D"/>
                </a:solidFill>
                <a:latin typeface="Lato"/>
              </a:defRPr>
            </a:pPr>
            <a:r>
              <a:t>27</a:t>
            </a:r>
          </a:p>
        </p:txBody>
      </p:sp>
      <p:sp>
        <p:nvSpPr>
          <p:cNvPr id="18" name="TextBox 17"/>
          <p:cNvSpPr txBox="1"/>
          <p:nvPr/>
        </p:nvSpPr>
        <p:spPr>
          <a:xfrm>
            <a:off x="8382000" y="3416300"/>
            <a:ext cx="3048000" cy="664972"/>
          </a:xfrm>
          <a:prstGeom prst="rect">
            <a:avLst/>
          </a:prstGeom>
          <a:noFill/>
        </p:spPr>
        <p:txBody>
          <a:bodyPr wrap="none" lIns="0" rIns="0" tIns="0" bIns="0">
            <a:spAutoFit/>
          </a:bodyPr>
          <a:lstStyle/>
          <a:p>
            <a:pPr>
              <a:lnSpc>
                <a:spcPts val="2318"/>
              </a:lnSpc>
              <a:spcAft>
                <a:spcPts val="0"/>
              </a:spcAft>
              <a:defRPr sz="1900" b="0">
                <a:solidFill>
                  <a:srgbClr val="142F38"/>
                </a:solidFill>
                <a:latin typeface="Lato"/>
              </a:defRPr>
            </a:pPr>
            <a:r>
              <a:t>Priority categories</a:t>
            </a:r>
          </a:p>
          <a:p>
            <a:pPr>
              <a:lnSpc>
                <a:spcPts val="2318"/>
              </a:lnSpc>
              <a:spcAft>
                <a:spcPts val="0"/>
              </a:spcAft>
              <a:defRPr sz="1900" b="0">
                <a:solidFill>
                  <a:srgbClr val="142F38"/>
                </a:solidFill>
                <a:latin typeface="Lato"/>
              </a:defRPr>
            </a:pPr>
            <a:r>
              <a:t>represented</a:t>
            </a:r>
          </a:p>
        </p:txBody>
      </p:sp>
      <p:sp>
        <p:nvSpPr>
          <p:cNvPr id="19" name="Rectangle 18"/>
          <p:cNvSpPr/>
          <p:nvPr/>
        </p:nvSpPr>
        <p:spPr>
          <a:xfrm>
            <a:off x="508000" y="4635500"/>
            <a:ext cx="11176000" cy="901700"/>
          </a:xfrm>
          <a:prstGeom prst="rect">
            <a:avLst/>
          </a:prstGeom>
          <a:solidFill>
            <a:srgbClr val="F2E5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4762500"/>
            <a:ext cx="10731500" cy="401574"/>
          </a:xfrm>
          <a:prstGeom prst="rect">
            <a:avLst/>
          </a:prstGeom>
          <a:noFill/>
        </p:spPr>
        <p:txBody>
          <a:bodyPr wrap="none" lIns="0" rIns="0" tIns="0" bIns="0">
            <a:spAutoFit/>
          </a:bodyPr>
          <a:lstStyle/>
          <a:p>
            <a:pPr>
              <a:lnSpc>
                <a:spcPts val="2562"/>
              </a:lnSpc>
              <a:spcAft>
                <a:spcPts val="0"/>
              </a:spcAft>
              <a:defRPr sz="2100" b="1">
                <a:solidFill>
                  <a:srgbClr val="142F38"/>
                </a:solidFill>
                <a:latin typeface="Lato"/>
              </a:defRPr>
            </a:pPr>
            <a:r>
              <a:t>Next: extract and inspect the specimen images.</a:t>
            </a:r>
          </a:p>
        </p:txBody>
      </p:sp>
      <p:sp>
        <p:nvSpPr>
          <p:cNvPr id="21" name="TextBox 20"/>
          <p:cNvSpPr txBox="1"/>
          <p:nvPr/>
        </p:nvSpPr>
        <p:spPr>
          <a:xfrm>
            <a:off x="723900" y="5143500"/>
            <a:ext cx="10731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The labeled image dataset is not yet prepared for training.</a:t>
            </a:r>
          </a:p>
        </p:txBody>
      </p:sp>
      <p:sp>
        <p:nvSpPr>
          <p:cNvPr id="22" name="TextBox 21"/>
          <p:cNvSpPr txBox="1"/>
          <p:nvPr/>
        </p:nvSpPr>
        <p:spPr>
          <a:xfrm>
            <a:off x="508000" y="5842000"/>
            <a:ext cx="11049000" cy="355092"/>
          </a:xfrm>
          <a:prstGeom prst="rect">
            <a:avLst/>
          </a:prstGeom>
          <a:noFill/>
        </p:spPr>
        <p:txBody>
          <a:bodyPr wrap="none" lIns="0" rIns="0" tIns="0" bIns="0">
            <a:spAutoFit/>
          </a:bodyPr>
          <a:lstStyle/>
          <a:p>
            <a:pPr>
              <a:lnSpc>
                <a:spcPts val="2196"/>
              </a:lnSpc>
              <a:spcAft>
                <a:spcPts val="0"/>
              </a:spcAft>
              <a:defRPr sz="1800" b="1">
                <a:solidFill>
                  <a:srgbClr val="16756D"/>
                </a:solidFill>
                <a:latin typeface="Lato"/>
              </a:defRPr>
            </a:pPr>
            <a:r>
              <a:t>Inventory completed • example images viewed • no classifier trained yet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05 / WHAT THE INVENTORY SHOWS</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Some categories have much stronger coverage</a:t>
            </a:r>
          </a:p>
        </p:txBody>
      </p:sp>
      <p:sp>
        <p:nvSpPr>
          <p:cNvPr id="6" name="TextBox 5"/>
          <p:cNvSpPr txBox="1"/>
          <p:nvPr/>
        </p:nvSpPr>
        <p:spPr>
          <a:xfrm>
            <a:off x="508000" y="1409700"/>
            <a:ext cx="11112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Examples from our current working inventory</a:t>
            </a:r>
          </a:p>
        </p:txBody>
      </p:sp>
      <p:sp>
        <p:nvSpPr>
          <p:cNvPr id="7" name="Rectangle 6"/>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9" name="TextBox 8"/>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05</a:t>
            </a:r>
          </a:p>
        </p:txBody>
      </p:sp>
      <p:sp>
        <p:nvSpPr>
          <p:cNvPr id="10" name="TextBox 9"/>
          <p:cNvSpPr txBox="1"/>
          <p:nvPr/>
        </p:nvSpPr>
        <p:spPr>
          <a:xfrm>
            <a:off x="508000" y="2095500"/>
            <a:ext cx="3556000" cy="262128"/>
          </a:xfrm>
          <a:prstGeom prst="rect">
            <a:avLst/>
          </a:prstGeom>
          <a:noFill/>
        </p:spPr>
        <p:txBody>
          <a:bodyPr wrap="none" lIns="0" rIns="0" tIns="0" bIns="0">
            <a:spAutoFit/>
          </a:bodyPr>
          <a:lstStyle/>
          <a:p>
            <a:pPr>
              <a:lnSpc>
                <a:spcPts val="1464"/>
              </a:lnSpc>
              <a:spcAft>
                <a:spcPts val="0"/>
              </a:spcAft>
              <a:defRPr sz="1200" b="1">
                <a:solidFill>
                  <a:srgbClr val="596D71"/>
                </a:solidFill>
                <a:latin typeface="Lato"/>
              </a:defRPr>
            </a:pPr>
            <a:r>
              <a:t>CATEGORY</a:t>
            </a:r>
          </a:p>
        </p:txBody>
      </p:sp>
      <p:sp>
        <p:nvSpPr>
          <p:cNvPr id="11" name="TextBox 10"/>
          <p:cNvSpPr txBox="1"/>
          <p:nvPr/>
        </p:nvSpPr>
        <p:spPr>
          <a:xfrm>
            <a:off x="4584700" y="2095500"/>
            <a:ext cx="2286000" cy="262128"/>
          </a:xfrm>
          <a:prstGeom prst="rect">
            <a:avLst/>
          </a:prstGeom>
          <a:noFill/>
        </p:spPr>
        <p:txBody>
          <a:bodyPr wrap="none" lIns="0" rIns="0" tIns="0" bIns="0">
            <a:spAutoFit/>
          </a:bodyPr>
          <a:lstStyle/>
          <a:p>
            <a:pPr>
              <a:lnSpc>
                <a:spcPts val="1464"/>
              </a:lnSpc>
              <a:spcAft>
                <a:spcPts val="0"/>
              </a:spcAft>
              <a:defRPr sz="1200" b="1">
                <a:solidFill>
                  <a:srgbClr val="596D71"/>
                </a:solidFill>
                <a:latin typeface="Lato"/>
              </a:defRPr>
            </a:pPr>
            <a:r>
              <a:t>ANNOTATIONS</a:t>
            </a:r>
          </a:p>
        </p:txBody>
      </p:sp>
      <p:sp>
        <p:nvSpPr>
          <p:cNvPr id="12" name="TextBox 11"/>
          <p:cNvSpPr txBox="1"/>
          <p:nvPr/>
        </p:nvSpPr>
        <p:spPr>
          <a:xfrm>
            <a:off x="9398000" y="2095500"/>
            <a:ext cx="1270000" cy="262128"/>
          </a:xfrm>
          <a:prstGeom prst="rect">
            <a:avLst/>
          </a:prstGeom>
          <a:noFill/>
        </p:spPr>
        <p:txBody>
          <a:bodyPr wrap="none" lIns="0" rIns="0" tIns="0" bIns="0">
            <a:spAutoFit/>
          </a:bodyPr>
          <a:lstStyle/>
          <a:p>
            <a:pPr>
              <a:lnSpc>
                <a:spcPts val="1464"/>
              </a:lnSpc>
              <a:spcAft>
                <a:spcPts val="0"/>
              </a:spcAft>
              <a:defRPr sz="1200" b="1">
                <a:solidFill>
                  <a:srgbClr val="596D71"/>
                </a:solidFill>
                <a:latin typeface="Lato"/>
              </a:defRPr>
            </a:pPr>
            <a:r>
              <a:t>SLIDES</a:t>
            </a:r>
          </a:p>
        </p:txBody>
      </p:sp>
      <p:sp>
        <p:nvSpPr>
          <p:cNvPr id="13" name="TextBox 12"/>
          <p:cNvSpPr txBox="1"/>
          <p:nvPr/>
        </p:nvSpPr>
        <p:spPr>
          <a:xfrm>
            <a:off x="508000" y="2540000"/>
            <a:ext cx="38989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Bisaccate</a:t>
            </a:r>
          </a:p>
        </p:txBody>
      </p:sp>
      <p:sp>
        <p:nvSpPr>
          <p:cNvPr id="14" name="Rectangle 13"/>
          <p:cNvSpPr/>
          <p:nvPr/>
        </p:nvSpPr>
        <p:spPr>
          <a:xfrm>
            <a:off x="4584700" y="2578100"/>
            <a:ext cx="4127500" cy="2286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84700" y="2578100"/>
            <a:ext cx="4127500" cy="2286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6500" y="2514600"/>
            <a:ext cx="571500" cy="355092"/>
          </a:xfrm>
          <a:prstGeom prst="rect">
            <a:avLst/>
          </a:prstGeom>
          <a:noFill/>
        </p:spPr>
        <p:txBody>
          <a:bodyPr wrap="none" lIns="0" rIns="0" tIns="0" bIns="0">
            <a:spAutoFit/>
          </a:bodyPr>
          <a:lstStyle/>
          <a:p>
            <a:pPr>
              <a:lnSpc>
                <a:spcPts val="2196"/>
              </a:lnSpc>
              <a:spcAft>
                <a:spcPts val="0"/>
              </a:spcAft>
              <a:defRPr sz="1800" b="1">
                <a:solidFill>
                  <a:srgbClr val="16756D"/>
                </a:solidFill>
                <a:latin typeface="Lato"/>
              </a:defRPr>
            </a:pPr>
            <a:r>
              <a:t>335</a:t>
            </a:r>
          </a:p>
        </p:txBody>
      </p:sp>
      <p:sp>
        <p:nvSpPr>
          <p:cNvPr id="17" name="TextBox 16"/>
          <p:cNvSpPr txBox="1"/>
          <p:nvPr/>
        </p:nvSpPr>
        <p:spPr>
          <a:xfrm>
            <a:off x="9829800" y="2514600"/>
            <a:ext cx="762000" cy="355092"/>
          </a:xfrm>
          <a:prstGeom prst="rect">
            <a:avLst/>
          </a:prstGeom>
          <a:noFill/>
        </p:spPr>
        <p:txBody>
          <a:bodyPr wrap="none" lIns="0" rIns="0" tIns="0" bIns="0">
            <a:spAutoFit/>
          </a:bodyPr>
          <a:lstStyle/>
          <a:p>
            <a:pPr>
              <a:lnSpc>
                <a:spcPts val="2196"/>
              </a:lnSpc>
              <a:spcAft>
                <a:spcPts val="0"/>
              </a:spcAft>
              <a:defRPr sz="1800" b="1">
                <a:solidFill>
                  <a:srgbClr val="142F38"/>
                </a:solidFill>
                <a:latin typeface="Lato"/>
              </a:defRPr>
            </a:pPr>
            <a:r>
              <a:t>44</a:t>
            </a:r>
          </a:p>
        </p:txBody>
      </p:sp>
      <p:sp>
        <p:nvSpPr>
          <p:cNvPr id="18" name="TextBox 17"/>
          <p:cNvSpPr txBox="1"/>
          <p:nvPr/>
        </p:nvSpPr>
        <p:spPr>
          <a:xfrm>
            <a:off x="508000" y="3086100"/>
            <a:ext cx="38989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Momipites sp</a:t>
            </a:r>
          </a:p>
        </p:txBody>
      </p:sp>
      <p:sp>
        <p:nvSpPr>
          <p:cNvPr id="19" name="Rectangle 18"/>
          <p:cNvSpPr/>
          <p:nvPr/>
        </p:nvSpPr>
        <p:spPr>
          <a:xfrm>
            <a:off x="4584700" y="3124200"/>
            <a:ext cx="4127500" cy="2286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84700" y="3124200"/>
            <a:ext cx="3228074" cy="2286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26500" y="3060700"/>
            <a:ext cx="571500" cy="355092"/>
          </a:xfrm>
          <a:prstGeom prst="rect">
            <a:avLst/>
          </a:prstGeom>
          <a:noFill/>
        </p:spPr>
        <p:txBody>
          <a:bodyPr wrap="none" lIns="0" rIns="0" tIns="0" bIns="0">
            <a:spAutoFit/>
          </a:bodyPr>
          <a:lstStyle/>
          <a:p>
            <a:pPr>
              <a:lnSpc>
                <a:spcPts val="2196"/>
              </a:lnSpc>
              <a:spcAft>
                <a:spcPts val="0"/>
              </a:spcAft>
              <a:defRPr sz="1800" b="1">
                <a:solidFill>
                  <a:srgbClr val="16756D"/>
                </a:solidFill>
                <a:latin typeface="Lato"/>
              </a:defRPr>
            </a:pPr>
            <a:r>
              <a:t>262</a:t>
            </a:r>
          </a:p>
        </p:txBody>
      </p:sp>
      <p:sp>
        <p:nvSpPr>
          <p:cNvPr id="22" name="TextBox 21"/>
          <p:cNvSpPr txBox="1"/>
          <p:nvPr/>
        </p:nvSpPr>
        <p:spPr>
          <a:xfrm>
            <a:off x="9829800" y="3060700"/>
            <a:ext cx="762000" cy="355092"/>
          </a:xfrm>
          <a:prstGeom prst="rect">
            <a:avLst/>
          </a:prstGeom>
          <a:noFill/>
        </p:spPr>
        <p:txBody>
          <a:bodyPr wrap="none" lIns="0" rIns="0" tIns="0" bIns="0">
            <a:spAutoFit/>
          </a:bodyPr>
          <a:lstStyle/>
          <a:p>
            <a:pPr>
              <a:lnSpc>
                <a:spcPts val="2196"/>
              </a:lnSpc>
              <a:spcAft>
                <a:spcPts val="0"/>
              </a:spcAft>
              <a:defRPr sz="1800" b="1">
                <a:solidFill>
                  <a:srgbClr val="142F38"/>
                </a:solidFill>
                <a:latin typeface="Lato"/>
              </a:defRPr>
            </a:pPr>
            <a:r>
              <a:t>40</a:t>
            </a:r>
          </a:p>
        </p:txBody>
      </p:sp>
      <p:sp>
        <p:nvSpPr>
          <p:cNvPr id="23" name="TextBox 22"/>
          <p:cNvSpPr txBox="1"/>
          <p:nvPr/>
        </p:nvSpPr>
        <p:spPr>
          <a:xfrm>
            <a:off x="508000" y="3632200"/>
            <a:ext cx="38989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Caryapollenites sp.</a:t>
            </a:r>
          </a:p>
        </p:txBody>
      </p:sp>
      <p:sp>
        <p:nvSpPr>
          <p:cNvPr id="24" name="Rectangle 23"/>
          <p:cNvSpPr/>
          <p:nvPr/>
        </p:nvSpPr>
        <p:spPr>
          <a:xfrm>
            <a:off x="4584700" y="3670300"/>
            <a:ext cx="4127500" cy="2286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84700" y="3670300"/>
            <a:ext cx="480514" cy="2286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6500" y="3606800"/>
            <a:ext cx="571500" cy="355092"/>
          </a:xfrm>
          <a:prstGeom prst="rect">
            <a:avLst/>
          </a:prstGeom>
          <a:noFill/>
        </p:spPr>
        <p:txBody>
          <a:bodyPr wrap="none" lIns="0" rIns="0" tIns="0" bIns="0">
            <a:spAutoFit/>
          </a:bodyPr>
          <a:lstStyle/>
          <a:p>
            <a:pPr>
              <a:lnSpc>
                <a:spcPts val="2196"/>
              </a:lnSpc>
              <a:spcAft>
                <a:spcPts val="0"/>
              </a:spcAft>
              <a:defRPr sz="1800" b="1">
                <a:solidFill>
                  <a:srgbClr val="16756D"/>
                </a:solidFill>
                <a:latin typeface="Lato"/>
              </a:defRPr>
            </a:pPr>
            <a:r>
              <a:t>39</a:t>
            </a:r>
          </a:p>
        </p:txBody>
      </p:sp>
      <p:sp>
        <p:nvSpPr>
          <p:cNvPr id="27" name="TextBox 26"/>
          <p:cNvSpPr txBox="1"/>
          <p:nvPr/>
        </p:nvSpPr>
        <p:spPr>
          <a:xfrm>
            <a:off x="9829800" y="3606800"/>
            <a:ext cx="762000" cy="355092"/>
          </a:xfrm>
          <a:prstGeom prst="rect">
            <a:avLst/>
          </a:prstGeom>
          <a:noFill/>
        </p:spPr>
        <p:txBody>
          <a:bodyPr wrap="none" lIns="0" rIns="0" tIns="0" bIns="0">
            <a:spAutoFit/>
          </a:bodyPr>
          <a:lstStyle/>
          <a:p>
            <a:pPr>
              <a:lnSpc>
                <a:spcPts val="2196"/>
              </a:lnSpc>
              <a:spcAft>
                <a:spcPts val="0"/>
              </a:spcAft>
              <a:defRPr sz="1800" b="1">
                <a:solidFill>
                  <a:srgbClr val="142F38"/>
                </a:solidFill>
                <a:latin typeface="Lato"/>
              </a:defRPr>
            </a:pPr>
            <a:r>
              <a:t>15</a:t>
            </a:r>
          </a:p>
        </p:txBody>
      </p:sp>
      <p:sp>
        <p:nvSpPr>
          <p:cNvPr id="28" name="TextBox 27"/>
          <p:cNvSpPr txBox="1"/>
          <p:nvPr/>
        </p:nvSpPr>
        <p:spPr>
          <a:xfrm>
            <a:off x="508000" y="4178300"/>
            <a:ext cx="38989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Monocolpites sp.</a:t>
            </a:r>
          </a:p>
        </p:txBody>
      </p:sp>
      <p:sp>
        <p:nvSpPr>
          <p:cNvPr id="29" name="Rectangle 28"/>
          <p:cNvSpPr/>
          <p:nvPr/>
        </p:nvSpPr>
        <p:spPr>
          <a:xfrm>
            <a:off x="4584700" y="4216400"/>
            <a:ext cx="4127500" cy="2286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84700" y="4216400"/>
            <a:ext cx="406589" cy="2286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26500" y="4152900"/>
            <a:ext cx="571500" cy="355092"/>
          </a:xfrm>
          <a:prstGeom prst="rect">
            <a:avLst/>
          </a:prstGeom>
          <a:noFill/>
        </p:spPr>
        <p:txBody>
          <a:bodyPr wrap="none" lIns="0" rIns="0" tIns="0" bIns="0">
            <a:spAutoFit/>
          </a:bodyPr>
          <a:lstStyle/>
          <a:p>
            <a:pPr>
              <a:lnSpc>
                <a:spcPts val="2196"/>
              </a:lnSpc>
              <a:spcAft>
                <a:spcPts val="0"/>
              </a:spcAft>
              <a:defRPr sz="1800" b="1">
                <a:solidFill>
                  <a:srgbClr val="16756D"/>
                </a:solidFill>
                <a:latin typeface="Lato"/>
              </a:defRPr>
            </a:pPr>
            <a:r>
              <a:t>33</a:t>
            </a:r>
          </a:p>
        </p:txBody>
      </p:sp>
      <p:sp>
        <p:nvSpPr>
          <p:cNvPr id="32" name="TextBox 31"/>
          <p:cNvSpPr txBox="1"/>
          <p:nvPr/>
        </p:nvSpPr>
        <p:spPr>
          <a:xfrm>
            <a:off x="9829800" y="4152900"/>
            <a:ext cx="762000" cy="355092"/>
          </a:xfrm>
          <a:prstGeom prst="rect">
            <a:avLst/>
          </a:prstGeom>
          <a:noFill/>
        </p:spPr>
        <p:txBody>
          <a:bodyPr wrap="none" lIns="0" rIns="0" tIns="0" bIns="0">
            <a:spAutoFit/>
          </a:bodyPr>
          <a:lstStyle/>
          <a:p>
            <a:pPr>
              <a:lnSpc>
                <a:spcPts val="2196"/>
              </a:lnSpc>
              <a:spcAft>
                <a:spcPts val="0"/>
              </a:spcAft>
              <a:defRPr sz="1800" b="1">
                <a:solidFill>
                  <a:srgbClr val="142F38"/>
                </a:solidFill>
                <a:latin typeface="Lato"/>
              </a:defRPr>
            </a:pPr>
            <a:r>
              <a:t>12</a:t>
            </a:r>
          </a:p>
        </p:txBody>
      </p:sp>
      <p:sp>
        <p:nvSpPr>
          <p:cNvPr id="33" name="TextBox 32"/>
          <p:cNvSpPr txBox="1"/>
          <p:nvPr/>
        </p:nvSpPr>
        <p:spPr>
          <a:xfrm>
            <a:off x="508000" y="4724400"/>
            <a:ext cx="38989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Rhoipites sp.</a:t>
            </a:r>
          </a:p>
        </p:txBody>
      </p:sp>
      <p:sp>
        <p:nvSpPr>
          <p:cNvPr id="34" name="Rectangle 33"/>
          <p:cNvSpPr/>
          <p:nvPr/>
        </p:nvSpPr>
        <p:spPr>
          <a:xfrm>
            <a:off x="4584700" y="4762500"/>
            <a:ext cx="4127500" cy="2286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84700" y="4762500"/>
            <a:ext cx="480514" cy="2286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26500" y="4699000"/>
            <a:ext cx="571500" cy="355092"/>
          </a:xfrm>
          <a:prstGeom prst="rect">
            <a:avLst/>
          </a:prstGeom>
          <a:noFill/>
        </p:spPr>
        <p:txBody>
          <a:bodyPr wrap="none" lIns="0" rIns="0" tIns="0" bIns="0">
            <a:spAutoFit/>
          </a:bodyPr>
          <a:lstStyle/>
          <a:p>
            <a:pPr>
              <a:lnSpc>
                <a:spcPts val="2196"/>
              </a:lnSpc>
              <a:spcAft>
                <a:spcPts val="0"/>
              </a:spcAft>
              <a:defRPr sz="1800" b="1">
                <a:solidFill>
                  <a:srgbClr val="16756D"/>
                </a:solidFill>
                <a:latin typeface="Lato"/>
              </a:defRPr>
            </a:pPr>
            <a:r>
              <a:t>39</a:t>
            </a:r>
          </a:p>
        </p:txBody>
      </p:sp>
      <p:sp>
        <p:nvSpPr>
          <p:cNvPr id="37" name="TextBox 36"/>
          <p:cNvSpPr txBox="1"/>
          <p:nvPr/>
        </p:nvSpPr>
        <p:spPr>
          <a:xfrm>
            <a:off x="9829800" y="4699000"/>
            <a:ext cx="762000" cy="355092"/>
          </a:xfrm>
          <a:prstGeom prst="rect">
            <a:avLst/>
          </a:prstGeom>
          <a:noFill/>
        </p:spPr>
        <p:txBody>
          <a:bodyPr wrap="none" lIns="0" rIns="0" tIns="0" bIns="0">
            <a:spAutoFit/>
          </a:bodyPr>
          <a:lstStyle/>
          <a:p>
            <a:pPr>
              <a:lnSpc>
                <a:spcPts val="2196"/>
              </a:lnSpc>
              <a:spcAft>
                <a:spcPts val="0"/>
              </a:spcAft>
              <a:defRPr sz="1800" b="1">
                <a:solidFill>
                  <a:srgbClr val="142F38"/>
                </a:solidFill>
                <a:latin typeface="Lato"/>
              </a:defRPr>
            </a:pPr>
            <a:r>
              <a:t>1</a:t>
            </a:r>
          </a:p>
        </p:txBody>
      </p:sp>
      <p:sp>
        <p:nvSpPr>
          <p:cNvPr id="38" name="Rectangle 37"/>
          <p:cNvSpPr/>
          <p:nvPr/>
        </p:nvSpPr>
        <p:spPr>
          <a:xfrm>
            <a:off x="508000" y="5702300"/>
            <a:ext cx="11176000" cy="5461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8500" y="5829300"/>
            <a:ext cx="10795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Which scarce categories are essential, and could more examples be labeled?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06 / NEXT WORK</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Turn the inventory into a training dataset</a:t>
            </a:r>
          </a:p>
        </p:txBody>
      </p:sp>
      <p:sp>
        <p:nvSpPr>
          <p:cNvPr id="6" name="TextBox 5"/>
          <p:cNvSpPr txBox="1"/>
          <p:nvPr/>
        </p:nvSpPr>
        <p:spPr>
          <a:xfrm>
            <a:off x="508000" y="1409700"/>
            <a:ext cx="11112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We will use the agreed working categories and keep the original labels for traceability.</a:t>
            </a:r>
          </a:p>
        </p:txBody>
      </p:sp>
      <p:sp>
        <p:nvSpPr>
          <p:cNvPr id="7" name="Rectangle 6"/>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9" name="TextBox 8"/>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06</a:t>
            </a:r>
          </a:p>
        </p:txBody>
      </p:sp>
      <p:sp>
        <p:nvSpPr>
          <p:cNvPr id="10" name="Rectangle 9"/>
          <p:cNvSpPr/>
          <p:nvPr/>
        </p:nvSpPr>
        <p:spPr>
          <a:xfrm>
            <a:off x="508000" y="2171700"/>
            <a:ext cx="3556000" cy="2832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3495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01</a:t>
            </a:r>
          </a:p>
        </p:txBody>
      </p:sp>
      <p:sp>
        <p:nvSpPr>
          <p:cNvPr id="12" name="TextBox 11"/>
          <p:cNvSpPr txBox="1"/>
          <p:nvPr/>
        </p:nvSpPr>
        <p:spPr>
          <a:xfrm>
            <a:off x="736600" y="27178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Extract the images</a:t>
            </a:r>
          </a:p>
        </p:txBody>
      </p:sp>
      <p:sp>
        <p:nvSpPr>
          <p:cNvPr id="13" name="TextBox 12"/>
          <p:cNvSpPr txBox="1"/>
          <p:nvPr/>
        </p:nvSpPr>
        <p:spPr>
          <a:xfrm>
            <a:off x="736600" y="3238500"/>
            <a:ext cx="3098800" cy="1129792"/>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Read a small region around each</a:t>
            </a:r>
          </a:p>
          <a:p>
            <a:pPr>
              <a:lnSpc>
                <a:spcPts val="2074"/>
              </a:lnSpc>
              <a:spcAft>
                <a:spcPts val="0"/>
              </a:spcAft>
              <a:defRPr sz="1700" b="0">
                <a:solidFill>
                  <a:srgbClr val="596D71"/>
                </a:solidFill>
                <a:latin typeface="Lato"/>
              </a:defRPr>
            </a:pPr>
            <a:r>
              <a:t>selected annotation, including</a:t>
            </a:r>
          </a:p>
          <a:p>
            <a:pPr>
              <a:lnSpc>
                <a:spcPts val="2074"/>
              </a:lnSpc>
              <a:spcAft>
                <a:spcPts val="0"/>
              </a:spcAft>
              <a:defRPr sz="1700" b="0">
                <a:solidFill>
                  <a:srgbClr val="596D71"/>
                </a:solidFill>
                <a:latin typeface="Lato"/>
              </a:defRPr>
            </a:pPr>
            <a:r>
              <a:t>marks outside the old training</a:t>
            </a:r>
          </a:p>
          <a:p>
            <a:pPr>
              <a:lnSpc>
                <a:spcPts val="2074"/>
              </a:lnSpc>
              <a:spcAft>
                <a:spcPts val="0"/>
              </a:spcAft>
              <a:defRPr sz="1700" b="0">
                <a:solidFill>
                  <a:srgbClr val="596D71"/>
                </a:solidFill>
                <a:latin typeface="Lato"/>
              </a:defRPr>
            </a:pPr>
            <a:r>
              <a:t>areas.</a:t>
            </a:r>
          </a:p>
        </p:txBody>
      </p:sp>
      <p:sp>
        <p:nvSpPr>
          <p:cNvPr id="14" name="Rectangle 13"/>
          <p:cNvSpPr/>
          <p:nvPr/>
        </p:nvSpPr>
        <p:spPr>
          <a:xfrm>
            <a:off x="4318000" y="2171700"/>
            <a:ext cx="3556000" cy="2832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3495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02</a:t>
            </a:r>
          </a:p>
        </p:txBody>
      </p:sp>
      <p:sp>
        <p:nvSpPr>
          <p:cNvPr id="16" name="TextBox 15"/>
          <p:cNvSpPr txBox="1"/>
          <p:nvPr/>
        </p:nvSpPr>
        <p:spPr>
          <a:xfrm>
            <a:off x="4546600" y="27178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Check the examples</a:t>
            </a:r>
          </a:p>
        </p:txBody>
      </p:sp>
      <p:sp>
        <p:nvSpPr>
          <p:cNvPr id="17" name="TextBox 16"/>
          <p:cNvSpPr txBox="1"/>
          <p:nvPr/>
        </p:nvSpPr>
        <p:spPr>
          <a:xfrm>
            <a:off x="4546600" y="3238500"/>
            <a:ext cx="30988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Inspect position, focus and</a:t>
            </a:r>
          </a:p>
          <a:p>
            <a:pPr>
              <a:lnSpc>
                <a:spcPts val="2074"/>
              </a:lnSpc>
              <a:spcAft>
                <a:spcPts val="0"/>
              </a:spcAft>
              <a:defRPr sz="1700" b="0">
                <a:solidFill>
                  <a:srgbClr val="596D71"/>
                </a:solidFill>
                <a:latin typeface="Lato"/>
              </a:defRPr>
            </a:pPr>
            <a:r>
              <a:t>image quality; look for duplicate</a:t>
            </a:r>
          </a:p>
          <a:p>
            <a:pPr>
              <a:lnSpc>
                <a:spcPts val="2074"/>
              </a:lnSpc>
              <a:spcAft>
                <a:spcPts val="0"/>
              </a:spcAft>
              <a:defRPr sz="1700" b="0">
                <a:solidFill>
                  <a:srgbClr val="596D71"/>
                </a:solidFill>
                <a:latin typeface="Lato"/>
              </a:defRPr>
            </a:pPr>
            <a:r>
              <a:t>or unusable specimens.</a:t>
            </a:r>
          </a:p>
        </p:txBody>
      </p:sp>
      <p:sp>
        <p:nvSpPr>
          <p:cNvPr id="18" name="Rectangle 17"/>
          <p:cNvSpPr/>
          <p:nvPr/>
        </p:nvSpPr>
        <p:spPr>
          <a:xfrm>
            <a:off x="8128000" y="2171700"/>
            <a:ext cx="3556000" cy="2832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6600" y="23495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03</a:t>
            </a:r>
          </a:p>
        </p:txBody>
      </p:sp>
      <p:sp>
        <p:nvSpPr>
          <p:cNvPr id="20" name="TextBox 19"/>
          <p:cNvSpPr txBox="1"/>
          <p:nvPr/>
        </p:nvSpPr>
        <p:spPr>
          <a:xfrm>
            <a:off x="8356600" y="27178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Prepare a fair test</a:t>
            </a:r>
          </a:p>
        </p:txBody>
      </p:sp>
      <p:sp>
        <p:nvSpPr>
          <p:cNvPr id="21" name="TextBox 20"/>
          <p:cNvSpPr txBox="1"/>
          <p:nvPr/>
        </p:nvSpPr>
        <p:spPr>
          <a:xfrm>
            <a:off x="8356600" y="3238500"/>
            <a:ext cx="30988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Choose supported categories</a:t>
            </a:r>
          </a:p>
          <a:p>
            <a:pPr>
              <a:lnSpc>
                <a:spcPts val="2074"/>
              </a:lnSpc>
              <a:spcAft>
                <a:spcPts val="0"/>
              </a:spcAft>
              <a:defRPr sz="1700" b="0">
                <a:solidFill>
                  <a:srgbClr val="596D71"/>
                </a:solidFill>
                <a:latin typeface="Lato"/>
              </a:defRPr>
            </a:pPr>
            <a:r>
              <a:t>and reserve slides for evaluation</a:t>
            </a:r>
          </a:p>
          <a:p>
            <a:pPr>
              <a:lnSpc>
                <a:spcPts val="2074"/>
              </a:lnSpc>
              <a:spcAft>
                <a:spcPts val="0"/>
              </a:spcAft>
              <a:defRPr sz="1700" b="0">
                <a:solidFill>
                  <a:srgbClr val="596D71"/>
                </a:solidFill>
                <a:latin typeface="Lato"/>
              </a:defRPr>
            </a:pPr>
            <a:r>
              <a:t>before training.</a:t>
            </a:r>
          </a:p>
        </p:txBody>
      </p:sp>
      <p:sp>
        <p:nvSpPr>
          <p:cNvPr id="22" name="Rectangle 21"/>
          <p:cNvSpPr/>
          <p:nvPr/>
        </p:nvSpPr>
        <p:spPr>
          <a:xfrm>
            <a:off x="508000" y="5702300"/>
            <a:ext cx="11176000" cy="5461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500" y="5829300"/>
            <a:ext cx="10795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Which visual features and preservation problems should we check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07 / SCIENTIFIC PRIORITIES</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What is most important for us to get right?</a:t>
            </a:r>
          </a:p>
        </p:txBody>
      </p:sp>
      <p:sp>
        <p:nvSpPr>
          <p:cNvPr id="6" name="Rectangle 5"/>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8" name="TextBox 7"/>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07</a:t>
            </a:r>
          </a:p>
        </p:txBody>
      </p:sp>
      <p:sp>
        <p:nvSpPr>
          <p:cNvPr id="9" name="Rectangle 8"/>
          <p:cNvSpPr/>
          <p:nvPr/>
        </p:nvSpPr>
        <p:spPr>
          <a:xfrm>
            <a:off x="508000" y="2171700"/>
            <a:ext cx="3556000" cy="2832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3495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01</a:t>
            </a:r>
          </a:p>
        </p:txBody>
      </p:sp>
      <p:sp>
        <p:nvSpPr>
          <p:cNvPr id="11" name="TextBox 10"/>
          <p:cNvSpPr txBox="1"/>
          <p:nvPr/>
        </p:nvSpPr>
        <p:spPr>
          <a:xfrm>
            <a:off x="736600" y="27178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Critical distinctions</a:t>
            </a:r>
          </a:p>
        </p:txBody>
      </p:sp>
      <p:sp>
        <p:nvSpPr>
          <p:cNvPr id="12" name="TextBox 11"/>
          <p:cNvSpPr txBox="1"/>
          <p:nvPr/>
        </p:nvSpPr>
        <p:spPr>
          <a:xfrm>
            <a:off x="736600" y="3238500"/>
            <a:ext cx="30988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Which pollen types must we be</a:t>
            </a:r>
          </a:p>
          <a:p>
            <a:pPr>
              <a:lnSpc>
                <a:spcPts val="2074"/>
              </a:lnSpc>
              <a:spcAft>
                <a:spcPts val="0"/>
              </a:spcAft>
              <a:defRPr sz="1700" b="0">
                <a:solidFill>
                  <a:srgbClr val="596D71"/>
                </a:solidFill>
                <a:latin typeface="Lato"/>
              </a:defRPr>
            </a:pPr>
            <a:r>
              <a:t>especially careful not to</a:t>
            </a:r>
          </a:p>
          <a:p>
            <a:pPr>
              <a:lnSpc>
                <a:spcPts val="2074"/>
              </a:lnSpc>
              <a:spcAft>
                <a:spcPts val="0"/>
              </a:spcAft>
              <a:defRPr sz="1700" b="0">
                <a:solidFill>
                  <a:srgbClr val="596D71"/>
                </a:solidFill>
                <a:latin typeface="Lato"/>
              </a:defRPr>
            </a:pPr>
            <a:r>
              <a:t>confuse?</a:t>
            </a:r>
          </a:p>
        </p:txBody>
      </p:sp>
      <p:sp>
        <p:nvSpPr>
          <p:cNvPr id="13" name="Rectangle 12"/>
          <p:cNvSpPr/>
          <p:nvPr/>
        </p:nvSpPr>
        <p:spPr>
          <a:xfrm>
            <a:off x="4318000" y="2171700"/>
            <a:ext cx="3556000" cy="2832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23495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02</a:t>
            </a:r>
          </a:p>
        </p:txBody>
      </p:sp>
      <p:sp>
        <p:nvSpPr>
          <p:cNvPr id="15" name="TextBox 14"/>
          <p:cNvSpPr txBox="1"/>
          <p:nvPr/>
        </p:nvSpPr>
        <p:spPr>
          <a:xfrm>
            <a:off x="4546600" y="27178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Fair testing</a:t>
            </a:r>
          </a:p>
        </p:txBody>
      </p:sp>
      <p:sp>
        <p:nvSpPr>
          <p:cNvPr id="16" name="TextBox 15"/>
          <p:cNvSpPr txBox="1"/>
          <p:nvPr/>
        </p:nvSpPr>
        <p:spPr>
          <a:xfrm>
            <a:off x="4546600" y="3238500"/>
            <a:ext cx="30988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Check performance on</a:t>
            </a:r>
          </a:p>
          <a:p>
            <a:pPr>
              <a:lnSpc>
                <a:spcPts val="2074"/>
              </a:lnSpc>
              <a:spcAft>
                <a:spcPts val="0"/>
              </a:spcAft>
              <a:defRPr sz="1700" b="0">
                <a:solidFill>
                  <a:srgbClr val="596D71"/>
                </a:solidFill>
                <a:latin typeface="Lato"/>
              </a:defRPr>
            </a:pPr>
            <a:r>
              <a:t>specimens from slides the</a:t>
            </a:r>
          </a:p>
          <a:p>
            <a:pPr>
              <a:lnSpc>
                <a:spcPts val="2074"/>
              </a:lnSpc>
              <a:spcAft>
                <a:spcPts val="0"/>
              </a:spcAft>
              <a:defRPr sz="1700" b="0">
                <a:solidFill>
                  <a:srgbClr val="596D71"/>
                </a:solidFill>
                <a:latin typeface="Lato"/>
              </a:defRPr>
            </a:pPr>
            <a:r>
              <a:t>model did not learn from.</a:t>
            </a:r>
          </a:p>
        </p:txBody>
      </p:sp>
      <p:sp>
        <p:nvSpPr>
          <p:cNvPr id="17" name="Rectangle 16"/>
          <p:cNvSpPr/>
          <p:nvPr/>
        </p:nvSpPr>
        <p:spPr>
          <a:xfrm>
            <a:off x="8128000" y="2171700"/>
            <a:ext cx="3556000" cy="2832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23495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03</a:t>
            </a:r>
          </a:p>
        </p:txBody>
      </p:sp>
      <p:sp>
        <p:nvSpPr>
          <p:cNvPr id="19" name="TextBox 18"/>
          <p:cNvSpPr txBox="1"/>
          <p:nvPr/>
        </p:nvSpPr>
        <p:spPr>
          <a:xfrm>
            <a:off x="8356600" y="27178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Uncertain cases</a:t>
            </a:r>
          </a:p>
        </p:txBody>
      </p:sp>
      <p:sp>
        <p:nvSpPr>
          <p:cNvPr id="20" name="TextBox 19"/>
          <p:cNvSpPr txBox="1"/>
          <p:nvPr/>
        </p:nvSpPr>
        <p:spPr>
          <a:xfrm>
            <a:off x="8356600" y="3238500"/>
            <a:ext cx="30988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Allow a specimen to be flagged</a:t>
            </a:r>
          </a:p>
          <a:p>
            <a:pPr>
              <a:lnSpc>
                <a:spcPts val="2074"/>
              </a:lnSpc>
              <a:spcAft>
                <a:spcPts val="0"/>
              </a:spcAft>
              <a:defRPr sz="1700" b="0">
                <a:solidFill>
                  <a:srgbClr val="596D71"/>
                </a:solidFill>
                <a:latin typeface="Lato"/>
              </a:defRPr>
            </a:pPr>
            <a:r>
              <a:t>for expert review when the</a:t>
            </a:r>
          </a:p>
          <a:p>
            <a:pPr>
              <a:lnSpc>
                <a:spcPts val="2074"/>
              </a:lnSpc>
              <a:spcAft>
                <a:spcPts val="0"/>
              </a:spcAft>
              <a:defRPr sz="1700" b="0">
                <a:solidFill>
                  <a:srgbClr val="596D71"/>
                </a:solidFill>
                <a:latin typeface="Lato"/>
              </a:defRPr>
            </a:pPr>
            <a:r>
              <a:t>prediction is uncertain.</a:t>
            </a:r>
          </a:p>
        </p:txBody>
      </p:sp>
      <p:sp>
        <p:nvSpPr>
          <p:cNvPr id="21" name="Rectangle 20"/>
          <p:cNvSpPr/>
          <p:nvPr/>
        </p:nvSpPr>
        <p:spPr>
          <a:xfrm>
            <a:off x="508000" y="5702300"/>
            <a:ext cx="11176000" cy="5461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5829300"/>
            <a:ext cx="10795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For large categories, should ~60 specimens apply to training 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08 / DECISION: DELIVERABLES</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A simple result you can inspect</a:t>
            </a:r>
          </a:p>
        </p:txBody>
      </p:sp>
      <p:sp>
        <p:nvSpPr>
          <p:cNvPr id="6" name="Rectangle 5"/>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8" name="TextBox 7"/>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08</a:t>
            </a:r>
          </a:p>
        </p:txBody>
      </p:sp>
      <p:sp>
        <p:nvSpPr>
          <p:cNvPr id="9" name="Rectangle 8"/>
          <p:cNvSpPr/>
          <p:nvPr/>
        </p:nvSpPr>
        <p:spPr>
          <a:xfrm>
            <a:off x="508000" y="2222500"/>
            <a:ext cx="3556000" cy="255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4003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INPUT</a:t>
            </a:r>
          </a:p>
        </p:txBody>
      </p:sp>
      <p:sp>
        <p:nvSpPr>
          <p:cNvPr id="11" name="TextBox 10"/>
          <p:cNvSpPr txBox="1"/>
          <p:nvPr/>
        </p:nvSpPr>
        <p:spPr>
          <a:xfrm>
            <a:off x="736600" y="27686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A marked specimen</a:t>
            </a:r>
          </a:p>
        </p:txBody>
      </p:sp>
      <p:sp>
        <p:nvSpPr>
          <p:cNvPr id="12" name="TextBox 11"/>
          <p:cNvSpPr txBox="1"/>
          <p:nvPr/>
        </p:nvSpPr>
        <p:spPr>
          <a:xfrm>
            <a:off x="736600" y="3289300"/>
            <a:ext cx="3098800" cy="602996"/>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An image region with a known</a:t>
            </a:r>
          </a:p>
          <a:p>
            <a:pPr>
              <a:lnSpc>
                <a:spcPts val="2074"/>
              </a:lnSpc>
              <a:spcAft>
                <a:spcPts val="0"/>
              </a:spcAft>
              <a:defRPr sz="1700" b="0">
                <a:solidFill>
                  <a:srgbClr val="596D71"/>
                </a:solidFill>
                <a:latin typeface="Lato"/>
              </a:defRPr>
            </a:pPr>
            <a:r>
              <a:t>location on the original slide.</a:t>
            </a:r>
          </a:p>
        </p:txBody>
      </p:sp>
      <p:sp>
        <p:nvSpPr>
          <p:cNvPr id="13" name="Rectangle 12"/>
          <p:cNvSpPr/>
          <p:nvPr/>
        </p:nvSpPr>
        <p:spPr>
          <a:xfrm>
            <a:off x="4318000" y="2222500"/>
            <a:ext cx="3556000" cy="255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24003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RESULT</a:t>
            </a:r>
          </a:p>
        </p:txBody>
      </p:sp>
      <p:sp>
        <p:nvSpPr>
          <p:cNvPr id="15" name="TextBox 14"/>
          <p:cNvSpPr txBox="1"/>
          <p:nvPr/>
        </p:nvSpPr>
        <p:spPr>
          <a:xfrm>
            <a:off x="4546600" y="27686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A proposed category</a:t>
            </a:r>
          </a:p>
        </p:txBody>
      </p:sp>
      <p:sp>
        <p:nvSpPr>
          <p:cNvPr id="16" name="TextBox 15"/>
          <p:cNvSpPr txBox="1"/>
          <p:nvPr/>
        </p:nvSpPr>
        <p:spPr>
          <a:xfrm>
            <a:off x="4546600" y="3289300"/>
            <a:ext cx="3098800" cy="602996"/>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The predicted type, with</a:t>
            </a:r>
          </a:p>
          <a:p>
            <a:pPr>
              <a:lnSpc>
                <a:spcPts val="2074"/>
              </a:lnSpc>
              <a:spcAft>
                <a:spcPts val="0"/>
              </a:spcAft>
              <a:defRPr sz="1700" b="0">
                <a:solidFill>
                  <a:srgbClr val="596D71"/>
                </a:solidFill>
                <a:latin typeface="Lato"/>
              </a:defRPr>
            </a:pPr>
            <a:r>
              <a:t>uncertain cases clearly flagged.</a:t>
            </a:r>
          </a:p>
        </p:txBody>
      </p:sp>
      <p:sp>
        <p:nvSpPr>
          <p:cNvPr id="17" name="Rectangle 16"/>
          <p:cNvSpPr/>
          <p:nvPr/>
        </p:nvSpPr>
        <p:spPr>
          <a:xfrm>
            <a:off x="8128000" y="2222500"/>
            <a:ext cx="3556000" cy="255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2400300"/>
            <a:ext cx="3098800" cy="293116"/>
          </a:xfrm>
          <a:prstGeom prst="rect">
            <a:avLst/>
          </a:prstGeom>
          <a:noFill/>
        </p:spPr>
        <p:txBody>
          <a:bodyPr wrap="none" lIns="0" rIns="0" tIns="0" bIns="0">
            <a:spAutoFit/>
          </a:bodyPr>
          <a:lstStyle/>
          <a:p>
            <a:pPr>
              <a:lnSpc>
                <a:spcPts val="1707"/>
              </a:lnSpc>
              <a:spcAft>
                <a:spcPts val="0"/>
              </a:spcAft>
              <a:defRPr sz="1400" b="1">
                <a:solidFill>
                  <a:srgbClr val="16756D"/>
                </a:solidFill>
                <a:latin typeface="Lato"/>
              </a:defRPr>
            </a:pPr>
            <a:r>
              <a:t>REVIEW</a:t>
            </a:r>
          </a:p>
        </p:txBody>
      </p:sp>
      <p:sp>
        <p:nvSpPr>
          <p:cNvPr id="19" name="TextBox 18"/>
          <p:cNvSpPr txBox="1"/>
          <p:nvPr/>
        </p:nvSpPr>
        <p:spPr>
          <a:xfrm>
            <a:off x="8356600" y="2768600"/>
            <a:ext cx="3098800" cy="432562"/>
          </a:xfrm>
          <a:prstGeom prst="rect">
            <a:avLst/>
          </a:prstGeom>
          <a:noFill/>
        </p:spPr>
        <p:txBody>
          <a:bodyPr wrap="none" lIns="0" rIns="0" tIns="0" bIns="0">
            <a:spAutoFit/>
          </a:bodyPr>
          <a:lstStyle/>
          <a:p>
            <a:pPr>
              <a:lnSpc>
                <a:spcPts val="2806"/>
              </a:lnSpc>
              <a:spcAft>
                <a:spcPts val="0"/>
              </a:spcAft>
              <a:defRPr sz="2300" b="1">
                <a:solidFill>
                  <a:srgbClr val="142F38"/>
                </a:solidFill>
                <a:latin typeface="Lato"/>
              </a:defRPr>
            </a:pPr>
            <a:r>
              <a:t>Image + identification</a:t>
            </a:r>
          </a:p>
        </p:txBody>
      </p:sp>
      <p:sp>
        <p:nvSpPr>
          <p:cNvPr id="20" name="TextBox 19"/>
          <p:cNvSpPr txBox="1"/>
          <p:nvPr/>
        </p:nvSpPr>
        <p:spPr>
          <a:xfrm>
            <a:off x="8356600" y="3289300"/>
            <a:ext cx="3098800" cy="866394"/>
          </a:xfrm>
          <a:prstGeom prst="rect">
            <a:avLst/>
          </a:prstGeom>
          <a:noFill/>
        </p:spPr>
        <p:txBody>
          <a:bodyPr wrap="none" lIns="0" rIns="0" tIns="0" bIns="0">
            <a:spAutoFit/>
          </a:bodyPr>
          <a:lstStyle/>
          <a:p>
            <a:pPr>
              <a:lnSpc>
                <a:spcPts val="2074"/>
              </a:lnSpc>
              <a:spcAft>
                <a:spcPts val="0"/>
              </a:spcAft>
              <a:defRPr sz="1700" b="0">
                <a:solidFill>
                  <a:srgbClr val="596D71"/>
                </a:solidFill>
                <a:latin typeface="Lato"/>
              </a:defRPr>
            </a:pPr>
            <a:r>
              <a:t>A simple viewer and a new</a:t>
            </a:r>
          </a:p>
          <a:p>
            <a:pPr>
              <a:lnSpc>
                <a:spcPts val="2074"/>
              </a:lnSpc>
              <a:spcAft>
                <a:spcPts val="0"/>
              </a:spcAft>
              <a:defRPr sz="1700" b="0">
                <a:solidFill>
                  <a:srgbClr val="596D71"/>
                </a:solidFill>
                <a:latin typeface="Lato"/>
              </a:defRPr>
            </a:pPr>
            <a:r>
              <a:t>annotation file; originals</a:t>
            </a:r>
          </a:p>
          <a:p>
            <a:pPr>
              <a:lnSpc>
                <a:spcPts val="2074"/>
              </a:lnSpc>
              <a:spcAft>
                <a:spcPts val="0"/>
              </a:spcAft>
              <a:defRPr sz="1700" b="0">
                <a:solidFill>
                  <a:srgbClr val="596D71"/>
                </a:solidFill>
                <a:latin typeface="Lato"/>
              </a:defRPr>
            </a:pPr>
            <a:r>
              <a:t>preserved.</a:t>
            </a:r>
          </a:p>
        </p:txBody>
      </p:sp>
      <p:sp>
        <p:nvSpPr>
          <p:cNvPr id="21" name="TextBox 20"/>
          <p:cNvSpPr txBox="1"/>
          <p:nvPr/>
        </p:nvSpPr>
        <p:spPr>
          <a:xfrm>
            <a:off x="508000" y="5130800"/>
            <a:ext cx="11176000" cy="417068"/>
          </a:xfrm>
          <a:prstGeom prst="rect">
            <a:avLst/>
          </a:prstGeom>
          <a:noFill/>
        </p:spPr>
        <p:txBody>
          <a:bodyPr wrap="none" lIns="0" rIns="0" tIns="0" bIns="0">
            <a:spAutoFit/>
          </a:bodyPr>
          <a:lstStyle/>
          <a:p>
            <a:pPr>
              <a:lnSpc>
                <a:spcPts val="2684"/>
              </a:lnSpc>
              <a:spcAft>
                <a:spcPts val="0"/>
              </a:spcAft>
              <a:defRPr sz="2200" b="1">
                <a:solidFill>
                  <a:srgbClr val="142F38"/>
                </a:solidFill>
                <a:latin typeface="Lato"/>
              </a:defRPr>
            </a:pPr>
            <a:r>
              <a:t>First version: classify existing marked specimens.</a:t>
            </a:r>
          </a:p>
        </p:txBody>
      </p:sp>
      <p:sp>
        <p:nvSpPr>
          <p:cNvPr id="22" name="Rectangle 21"/>
          <p:cNvSpPr/>
          <p:nvPr/>
        </p:nvSpPr>
        <p:spPr>
          <a:xfrm>
            <a:off x="508000" y="5702300"/>
            <a:ext cx="11176000" cy="5461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500" y="5829300"/>
            <a:ext cx="10795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Which viewing software and export format would fit your workflow?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APPENDIX A / INVENTORY</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All 27 represented YES categories</a:t>
            </a:r>
          </a:p>
        </p:txBody>
      </p:sp>
      <p:sp>
        <p:nvSpPr>
          <p:cNvPr id="6" name="TextBox 5"/>
          <p:cNvSpPr txBox="1"/>
          <p:nvPr/>
        </p:nvSpPr>
        <p:spPr>
          <a:xfrm>
            <a:off x="508000" y="1409700"/>
            <a:ext cx="11112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Current working annotation counts</a:t>
            </a:r>
          </a:p>
        </p:txBody>
      </p:sp>
      <p:sp>
        <p:nvSpPr>
          <p:cNvPr id="7" name="Rectangle 6"/>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9" name="TextBox 8"/>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09</a:t>
            </a:r>
          </a:p>
        </p:txBody>
      </p:sp>
      <p:sp>
        <p:nvSpPr>
          <p:cNvPr id="10" name="TextBox 9"/>
          <p:cNvSpPr txBox="1"/>
          <p:nvPr/>
        </p:nvSpPr>
        <p:spPr>
          <a:xfrm>
            <a:off x="508000" y="2006600"/>
            <a:ext cx="4000500" cy="246634"/>
          </a:xfrm>
          <a:prstGeom prst="rect">
            <a:avLst/>
          </a:prstGeom>
          <a:noFill/>
        </p:spPr>
        <p:txBody>
          <a:bodyPr wrap="none" lIns="0" rIns="0" tIns="0" bIns="0">
            <a:spAutoFit/>
          </a:bodyPr>
          <a:lstStyle/>
          <a:p>
            <a:pPr>
              <a:lnSpc>
                <a:spcPts val="1342"/>
              </a:lnSpc>
              <a:spcAft>
                <a:spcPts val="0"/>
              </a:spcAft>
              <a:defRPr sz="1100" b="1">
                <a:solidFill>
                  <a:srgbClr val="596D71"/>
                </a:solidFill>
                <a:latin typeface="Lato"/>
              </a:defRPr>
            </a:pPr>
            <a:r>
              <a:t>CATEGORY</a:t>
            </a:r>
          </a:p>
        </p:txBody>
      </p:sp>
      <p:sp>
        <p:nvSpPr>
          <p:cNvPr id="11" name="TextBox 10"/>
          <p:cNvSpPr txBox="1"/>
          <p:nvPr/>
        </p:nvSpPr>
        <p:spPr>
          <a:xfrm>
            <a:off x="4546600" y="2006600"/>
            <a:ext cx="673100" cy="246634"/>
          </a:xfrm>
          <a:prstGeom prst="rect">
            <a:avLst/>
          </a:prstGeom>
          <a:noFill/>
        </p:spPr>
        <p:txBody>
          <a:bodyPr wrap="none" lIns="0" rIns="0" tIns="0" bIns="0">
            <a:spAutoFit/>
          </a:bodyPr>
          <a:lstStyle/>
          <a:p>
            <a:pPr>
              <a:lnSpc>
                <a:spcPts val="1342"/>
              </a:lnSpc>
              <a:spcAft>
                <a:spcPts val="0"/>
              </a:spcAft>
              <a:defRPr sz="1100" b="1">
                <a:solidFill>
                  <a:srgbClr val="596D71"/>
                </a:solidFill>
                <a:latin typeface="Lato"/>
              </a:defRPr>
            </a:pPr>
            <a:r>
              <a:t>COUNT</a:t>
            </a:r>
          </a:p>
        </p:txBody>
      </p:sp>
      <p:sp>
        <p:nvSpPr>
          <p:cNvPr id="12" name="TextBox 11"/>
          <p:cNvSpPr txBox="1"/>
          <p:nvPr/>
        </p:nvSpPr>
        <p:spPr>
          <a:xfrm>
            <a:off x="5295900" y="2006600"/>
            <a:ext cx="762000" cy="246634"/>
          </a:xfrm>
          <a:prstGeom prst="rect">
            <a:avLst/>
          </a:prstGeom>
          <a:noFill/>
        </p:spPr>
        <p:txBody>
          <a:bodyPr wrap="none" lIns="0" rIns="0" tIns="0" bIns="0">
            <a:spAutoFit/>
          </a:bodyPr>
          <a:lstStyle/>
          <a:p>
            <a:pPr>
              <a:lnSpc>
                <a:spcPts val="1342"/>
              </a:lnSpc>
              <a:spcAft>
                <a:spcPts val="0"/>
              </a:spcAft>
              <a:defRPr sz="1100" b="1">
                <a:solidFill>
                  <a:srgbClr val="596D71"/>
                </a:solidFill>
                <a:latin typeface="Lato"/>
              </a:defRPr>
            </a:pPr>
            <a:r>
              <a:t>SLIDES</a:t>
            </a:r>
          </a:p>
        </p:txBody>
      </p:sp>
      <p:sp>
        <p:nvSpPr>
          <p:cNvPr id="13" name="TextBox 12"/>
          <p:cNvSpPr txBox="1"/>
          <p:nvPr/>
        </p:nvSpPr>
        <p:spPr>
          <a:xfrm>
            <a:off x="508000" y="23241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Bisaccate</a:t>
            </a:r>
          </a:p>
        </p:txBody>
      </p:sp>
      <p:sp>
        <p:nvSpPr>
          <p:cNvPr id="14" name="TextBox 13"/>
          <p:cNvSpPr txBox="1"/>
          <p:nvPr/>
        </p:nvSpPr>
        <p:spPr>
          <a:xfrm>
            <a:off x="4635500" y="23241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335</a:t>
            </a:r>
          </a:p>
        </p:txBody>
      </p:sp>
      <p:sp>
        <p:nvSpPr>
          <p:cNvPr id="15" name="TextBox 14"/>
          <p:cNvSpPr txBox="1"/>
          <p:nvPr/>
        </p:nvSpPr>
        <p:spPr>
          <a:xfrm>
            <a:off x="5486400" y="23241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44</a:t>
            </a:r>
          </a:p>
        </p:txBody>
      </p:sp>
      <p:sp>
        <p:nvSpPr>
          <p:cNvPr id="16" name="TextBox 15"/>
          <p:cNvSpPr txBox="1"/>
          <p:nvPr/>
        </p:nvSpPr>
        <p:spPr>
          <a:xfrm>
            <a:off x="508000" y="25844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Momipites sp</a:t>
            </a:r>
          </a:p>
        </p:txBody>
      </p:sp>
      <p:sp>
        <p:nvSpPr>
          <p:cNvPr id="17" name="TextBox 16"/>
          <p:cNvSpPr txBox="1"/>
          <p:nvPr/>
        </p:nvSpPr>
        <p:spPr>
          <a:xfrm>
            <a:off x="4635500" y="25844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262</a:t>
            </a:r>
          </a:p>
        </p:txBody>
      </p:sp>
      <p:sp>
        <p:nvSpPr>
          <p:cNvPr id="18" name="TextBox 17"/>
          <p:cNvSpPr txBox="1"/>
          <p:nvPr/>
        </p:nvSpPr>
        <p:spPr>
          <a:xfrm>
            <a:off x="5486400" y="25844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40</a:t>
            </a:r>
          </a:p>
        </p:txBody>
      </p:sp>
      <p:sp>
        <p:nvSpPr>
          <p:cNvPr id="19" name="TextBox 18"/>
          <p:cNvSpPr txBox="1"/>
          <p:nvPr/>
        </p:nvSpPr>
        <p:spPr>
          <a:xfrm>
            <a:off x="508000" y="28448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Caryapollenites sp.</a:t>
            </a:r>
          </a:p>
        </p:txBody>
      </p:sp>
      <p:sp>
        <p:nvSpPr>
          <p:cNvPr id="20" name="TextBox 19"/>
          <p:cNvSpPr txBox="1"/>
          <p:nvPr/>
        </p:nvSpPr>
        <p:spPr>
          <a:xfrm>
            <a:off x="4635500" y="28448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39</a:t>
            </a:r>
          </a:p>
        </p:txBody>
      </p:sp>
      <p:sp>
        <p:nvSpPr>
          <p:cNvPr id="21" name="TextBox 20"/>
          <p:cNvSpPr txBox="1"/>
          <p:nvPr/>
        </p:nvSpPr>
        <p:spPr>
          <a:xfrm>
            <a:off x="5486400" y="28448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15</a:t>
            </a:r>
          </a:p>
        </p:txBody>
      </p:sp>
      <p:sp>
        <p:nvSpPr>
          <p:cNvPr id="22" name="TextBox 21"/>
          <p:cNvSpPr txBox="1"/>
          <p:nvPr/>
        </p:nvSpPr>
        <p:spPr>
          <a:xfrm>
            <a:off x="508000" y="31051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Rhoipites sp.</a:t>
            </a:r>
          </a:p>
        </p:txBody>
      </p:sp>
      <p:sp>
        <p:nvSpPr>
          <p:cNvPr id="23" name="TextBox 22"/>
          <p:cNvSpPr txBox="1"/>
          <p:nvPr/>
        </p:nvSpPr>
        <p:spPr>
          <a:xfrm>
            <a:off x="4635500" y="31051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39</a:t>
            </a:r>
          </a:p>
        </p:txBody>
      </p:sp>
      <p:sp>
        <p:nvSpPr>
          <p:cNvPr id="24" name="TextBox 23"/>
          <p:cNvSpPr txBox="1"/>
          <p:nvPr/>
        </p:nvSpPr>
        <p:spPr>
          <a:xfrm>
            <a:off x="5486400" y="31051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25" name="TextBox 24"/>
          <p:cNvSpPr txBox="1"/>
          <p:nvPr/>
        </p:nvSpPr>
        <p:spPr>
          <a:xfrm>
            <a:off x="508000" y="33655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Monocolpites sp.</a:t>
            </a:r>
          </a:p>
        </p:txBody>
      </p:sp>
      <p:sp>
        <p:nvSpPr>
          <p:cNvPr id="26" name="TextBox 25"/>
          <p:cNvSpPr txBox="1"/>
          <p:nvPr/>
        </p:nvSpPr>
        <p:spPr>
          <a:xfrm>
            <a:off x="4635500" y="33655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33</a:t>
            </a:r>
          </a:p>
        </p:txBody>
      </p:sp>
      <p:sp>
        <p:nvSpPr>
          <p:cNvPr id="27" name="TextBox 26"/>
          <p:cNvSpPr txBox="1"/>
          <p:nvPr/>
        </p:nvSpPr>
        <p:spPr>
          <a:xfrm>
            <a:off x="5486400" y="33655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12</a:t>
            </a:r>
          </a:p>
        </p:txBody>
      </p:sp>
      <p:sp>
        <p:nvSpPr>
          <p:cNvPr id="28" name="TextBox 27"/>
          <p:cNvSpPr txBox="1"/>
          <p:nvPr/>
        </p:nvSpPr>
        <p:spPr>
          <a:xfrm>
            <a:off x="508000" y="36258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Alnipollenites verus</a:t>
            </a:r>
          </a:p>
        </p:txBody>
      </p:sp>
      <p:sp>
        <p:nvSpPr>
          <p:cNvPr id="29" name="TextBox 28"/>
          <p:cNvSpPr txBox="1"/>
          <p:nvPr/>
        </p:nvSpPr>
        <p:spPr>
          <a:xfrm>
            <a:off x="4635500" y="36258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31</a:t>
            </a:r>
          </a:p>
        </p:txBody>
      </p:sp>
      <p:sp>
        <p:nvSpPr>
          <p:cNvPr id="30" name="TextBox 29"/>
          <p:cNvSpPr txBox="1"/>
          <p:nvPr/>
        </p:nvSpPr>
        <p:spPr>
          <a:xfrm>
            <a:off x="5486400" y="36258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11</a:t>
            </a:r>
          </a:p>
        </p:txBody>
      </p:sp>
      <p:sp>
        <p:nvSpPr>
          <p:cNvPr id="31" name="TextBox 30"/>
          <p:cNvSpPr txBox="1"/>
          <p:nvPr/>
        </p:nvSpPr>
        <p:spPr>
          <a:xfrm>
            <a:off x="508000" y="38862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Cupuliferoipollenites sp.</a:t>
            </a:r>
          </a:p>
        </p:txBody>
      </p:sp>
      <p:sp>
        <p:nvSpPr>
          <p:cNvPr id="32" name="TextBox 31"/>
          <p:cNvSpPr txBox="1"/>
          <p:nvPr/>
        </p:nvSpPr>
        <p:spPr>
          <a:xfrm>
            <a:off x="4635500" y="38862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29</a:t>
            </a:r>
          </a:p>
        </p:txBody>
      </p:sp>
      <p:sp>
        <p:nvSpPr>
          <p:cNvPr id="33" name="TextBox 32"/>
          <p:cNvSpPr txBox="1"/>
          <p:nvPr/>
        </p:nvSpPr>
        <p:spPr>
          <a:xfrm>
            <a:off x="5486400" y="38862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34" name="TextBox 33"/>
          <p:cNvSpPr txBox="1"/>
          <p:nvPr/>
        </p:nvSpPr>
        <p:spPr>
          <a:xfrm>
            <a:off x="508000" y="41465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Psilatriletes sp.</a:t>
            </a:r>
          </a:p>
        </p:txBody>
      </p:sp>
      <p:sp>
        <p:nvSpPr>
          <p:cNvPr id="35" name="TextBox 34"/>
          <p:cNvSpPr txBox="1"/>
          <p:nvPr/>
        </p:nvSpPr>
        <p:spPr>
          <a:xfrm>
            <a:off x="4635500" y="41465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20</a:t>
            </a:r>
          </a:p>
        </p:txBody>
      </p:sp>
      <p:sp>
        <p:nvSpPr>
          <p:cNvPr id="36" name="TextBox 35"/>
          <p:cNvSpPr txBox="1"/>
          <p:nvPr/>
        </p:nvSpPr>
        <p:spPr>
          <a:xfrm>
            <a:off x="5486400" y="41465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13</a:t>
            </a:r>
          </a:p>
        </p:txBody>
      </p:sp>
      <p:sp>
        <p:nvSpPr>
          <p:cNvPr id="37" name="TextBox 36"/>
          <p:cNvSpPr txBox="1"/>
          <p:nvPr/>
        </p:nvSpPr>
        <p:spPr>
          <a:xfrm>
            <a:off x="508000" y="44069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Cicatricosisporites sp.</a:t>
            </a:r>
          </a:p>
        </p:txBody>
      </p:sp>
      <p:sp>
        <p:nvSpPr>
          <p:cNvPr id="38" name="TextBox 37"/>
          <p:cNvSpPr txBox="1"/>
          <p:nvPr/>
        </p:nvSpPr>
        <p:spPr>
          <a:xfrm>
            <a:off x="4635500" y="44069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19</a:t>
            </a:r>
          </a:p>
        </p:txBody>
      </p:sp>
      <p:sp>
        <p:nvSpPr>
          <p:cNvPr id="39" name="TextBox 38"/>
          <p:cNvSpPr txBox="1"/>
          <p:nvPr/>
        </p:nvSpPr>
        <p:spPr>
          <a:xfrm>
            <a:off x="5486400" y="44069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6</a:t>
            </a:r>
          </a:p>
        </p:txBody>
      </p:sp>
      <p:sp>
        <p:nvSpPr>
          <p:cNvPr id="40" name="TextBox 39"/>
          <p:cNvSpPr txBox="1"/>
          <p:nvPr/>
        </p:nvSpPr>
        <p:spPr>
          <a:xfrm>
            <a:off x="508000" y="46672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Ericipites sp.</a:t>
            </a:r>
          </a:p>
        </p:txBody>
      </p:sp>
      <p:sp>
        <p:nvSpPr>
          <p:cNvPr id="41" name="TextBox 40"/>
          <p:cNvSpPr txBox="1"/>
          <p:nvPr/>
        </p:nvSpPr>
        <p:spPr>
          <a:xfrm>
            <a:off x="4635500" y="46672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18</a:t>
            </a:r>
          </a:p>
        </p:txBody>
      </p:sp>
      <p:sp>
        <p:nvSpPr>
          <p:cNvPr id="42" name="TextBox 41"/>
          <p:cNvSpPr txBox="1"/>
          <p:nvPr/>
        </p:nvSpPr>
        <p:spPr>
          <a:xfrm>
            <a:off x="5486400" y="46672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7</a:t>
            </a:r>
          </a:p>
        </p:txBody>
      </p:sp>
      <p:sp>
        <p:nvSpPr>
          <p:cNvPr id="43" name="TextBox 42"/>
          <p:cNvSpPr txBox="1"/>
          <p:nvPr/>
        </p:nvSpPr>
        <p:spPr>
          <a:xfrm>
            <a:off x="508000" y="49276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Quercus sp.</a:t>
            </a:r>
          </a:p>
        </p:txBody>
      </p:sp>
      <p:sp>
        <p:nvSpPr>
          <p:cNvPr id="44" name="TextBox 43"/>
          <p:cNvSpPr txBox="1"/>
          <p:nvPr/>
        </p:nvSpPr>
        <p:spPr>
          <a:xfrm>
            <a:off x="4635500" y="49276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18</a:t>
            </a:r>
          </a:p>
        </p:txBody>
      </p:sp>
      <p:sp>
        <p:nvSpPr>
          <p:cNvPr id="45" name="TextBox 44"/>
          <p:cNvSpPr txBox="1"/>
          <p:nvPr/>
        </p:nvSpPr>
        <p:spPr>
          <a:xfrm>
            <a:off x="5486400" y="49276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46" name="TextBox 45"/>
          <p:cNvSpPr txBox="1"/>
          <p:nvPr/>
        </p:nvSpPr>
        <p:spPr>
          <a:xfrm>
            <a:off x="508000" y="51879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Betulaceae</a:t>
            </a:r>
          </a:p>
        </p:txBody>
      </p:sp>
      <p:sp>
        <p:nvSpPr>
          <p:cNvPr id="47" name="TextBox 46"/>
          <p:cNvSpPr txBox="1"/>
          <p:nvPr/>
        </p:nvSpPr>
        <p:spPr>
          <a:xfrm>
            <a:off x="4635500" y="51879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17</a:t>
            </a:r>
          </a:p>
        </p:txBody>
      </p:sp>
      <p:sp>
        <p:nvSpPr>
          <p:cNvPr id="48" name="TextBox 47"/>
          <p:cNvSpPr txBox="1"/>
          <p:nvPr/>
        </p:nvSpPr>
        <p:spPr>
          <a:xfrm>
            <a:off x="5486400" y="51879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12</a:t>
            </a:r>
          </a:p>
        </p:txBody>
      </p:sp>
      <p:sp>
        <p:nvSpPr>
          <p:cNvPr id="49" name="TextBox 48"/>
          <p:cNvSpPr txBox="1"/>
          <p:nvPr/>
        </p:nvSpPr>
        <p:spPr>
          <a:xfrm>
            <a:off x="508000" y="54483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Arecipites sp.</a:t>
            </a:r>
          </a:p>
        </p:txBody>
      </p:sp>
      <p:sp>
        <p:nvSpPr>
          <p:cNvPr id="50" name="TextBox 49"/>
          <p:cNvSpPr txBox="1"/>
          <p:nvPr/>
        </p:nvSpPr>
        <p:spPr>
          <a:xfrm>
            <a:off x="4635500" y="54483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13</a:t>
            </a:r>
          </a:p>
        </p:txBody>
      </p:sp>
      <p:sp>
        <p:nvSpPr>
          <p:cNvPr id="51" name="TextBox 50"/>
          <p:cNvSpPr txBox="1"/>
          <p:nvPr/>
        </p:nvSpPr>
        <p:spPr>
          <a:xfrm>
            <a:off x="5486400" y="54483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9</a:t>
            </a:r>
          </a:p>
        </p:txBody>
      </p:sp>
      <p:sp>
        <p:nvSpPr>
          <p:cNvPr id="52" name="TextBox 51"/>
          <p:cNvSpPr txBox="1"/>
          <p:nvPr/>
        </p:nvSpPr>
        <p:spPr>
          <a:xfrm>
            <a:off x="508000" y="57086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Platycarya platycarioides</a:t>
            </a:r>
          </a:p>
        </p:txBody>
      </p:sp>
      <p:sp>
        <p:nvSpPr>
          <p:cNvPr id="53" name="TextBox 52"/>
          <p:cNvSpPr txBox="1"/>
          <p:nvPr/>
        </p:nvSpPr>
        <p:spPr>
          <a:xfrm>
            <a:off x="4635500" y="57086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11</a:t>
            </a:r>
          </a:p>
        </p:txBody>
      </p:sp>
      <p:sp>
        <p:nvSpPr>
          <p:cNvPr id="54" name="TextBox 53"/>
          <p:cNvSpPr txBox="1"/>
          <p:nvPr/>
        </p:nvSpPr>
        <p:spPr>
          <a:xfrm>
            <a:off x="5486400" y="57086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5</a:t>
            </a:r>
          </a:p>
        </p:txBody>
      </p:sp>
      <p:sp>
        <p:nvSpPr>
          <p:cNvPr id="55" name="TextBox 54"/>
          <p:cNvSpPr txBox="1"/>
          <p:nvPr/>
        </p:nvSpPr>
        <p:spPr>
          <a:xfrm>
            <a:off x="6223000" y="2006600"/>
            <a:ext cx="4000500" cy="246634"/>
          </a:xfrm>
          <a:prstGeom prst="rect">
            <a:avLst/>
          </a:prstGeom>
          <a:noFill/>
        </p:spPr>
        <p:txBody>
          <a:bodyPr wrap="none" lIns="0" rIns="0" tIns="0" bIns="0">
            <a:spAutoFit/>
          </a:bodyPr>
          <a:lstStyle/>
          <a:p>
            <a:pPr>
              <a:lnSpc>
                <a:spcPts val="1342"/>
              </a:lnSpc>
              <a:spcAft>
                <a:spcPts val="0"/>
              </a:spcAft>
              <a:defRPr sz="1100" b="1">
                <a:solidFill>
                  <a:srgbClr val="596D71"/>
                </a:solidFill>
                <a:latin typeface="Lato"/>
              </a:defRPr>
            </a:pPr>
            <a:r>
              <a:t>CATEGORY</a:t>
            </a:r>
          </a:p>
        </p:txBody>
      </p:sp>
      <p:sp>
        <p:nvSpPr>
          <p:cNvPr id="56" name="TextBox 55"/>
          <p:cNvSpPr txBox="1"/>
          <p:nvPr/>
        </p:nvSpPr>
        <p:spPr>
          <a:xfrm>
            <a:off x="10261600" y="2006600"/>
            <a:ext cx="673100" cy="246634"/>
          </a:xfrm>
          <a:prstGeom prst="rect">
            <a:avLst/>
          </a:prstGeom>
          <a:noFill/>
        </p:spPr>
        <p:txBody>
          <a:bodyPr wrap="none" lIns="0" rIns="0" tIns="0" bIns="0">
            <a:spAutoFit/>
          </a:bodyPr>
          <a:lstStyle/>
          <a:p>
            <a:pPr>
              <a:lnSpc>
                <a:spcPts val="1342"/>
              </a:lnSpc>
              <a:spcAft>
                <a:spcPts val="0"/>
              </a:spcAft>
              <a:defRPr sz="1100" b="1">
                <a:solidFill>
                  <a:srgbClr val="596D71"/>
                </a:solidFill>
                <a:latin typeface="Lato"/>
              </a:defRPr>
            </a:pPr>
            <a:r>
              <a:t>COUNT</a:t>
            </a:r>
          </a:p>
        </p:txBody>
      </p:sp>
      <p:sp>
        <p:nvSpPr>
          <p:cNvPr id="57" name="TextBox 56"/>
          <p:cNvSpPr txBox="1"/>
          <p:nvPr/>
        </p:nvSpPr>
        <p:spPr>
          <a:xfrm>
            <a:off x="11010900" y="2006600"/>
            <a:ext cx="762000" cy="246634"/>
          </a:xfrm>
          <a:prstGeom prst="rect">
            <a:avLst/>
          </a:prstGeom>
          <a:noFill/>
        </p:spPr>
        <p:txBody>
          <a:bodyPr wrap="none" lIns="0" rIns="0" tIns="0" bIns="0">
            <a:spAutoFit/>
          </a:bodyPr>
          <a:lstStyle/>
          <a:p>
            <a:pPr>
              <a:lnSpc>
                <a:spcPts val="1342"/>
              </a:lnSpc>
              <a:spcAft>
                <a:spcPts val="0"/>
              </a:spcAft>
              <a:defRPr sz="1100" b="1">
                <a:solidFill>
                  <a:srgbClr val="596D71"/>
                </a:solidFill>
                <a:latin typeface="Lato"/>
              </a:defRPr>
            </a:pPr>
            <a:r>
              <a:t>SLIDES</a:t>
            </a:r>
          </a:p>
        </p:txBody>
      </p:sp>
      <p:sp>
        <p:nvSpPr>
          <p:cNvPr id="58" name="TextBox 57"/>
          <p:cNvSpPr txBox="1"/>
          <p:nvPr/>
        </p:nvSpPr>
        <p:spPr>
          <a:xfrm>
            <a:off x="6223000" y="23241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Bombacacidites sp.</a:t>
            </a:r>
          </a:p>
        </p:txBody>
      </p:sp>
      <p:sp>
        <p:nvSpPr>
          <p:cNvPr id="59" name="TextBox 58"/>
          <p:cNvSpPr txBox="1"/>
          <p:nvPr/>
        </p:nvSpPr>
        <p:spPr>
          <a:xfrm>
            <a:off x="10350500" y="23241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10</a:t>
            </a:r>
          </a:p>
        </p:txBody>
      </p:sp>
      <p:sp>
        <p:nvSpPr>
          <p:cNvPr id="60" name="TextBox 59"/>
          <p:cNvSpPr txBox="1"/>
          <p:nvPr/>
        </p:nvSpPr>
        <p:spPr>
          <a:xfrm>
            <a:off x="11201400" y="23241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7</a:t>
            </a:r>
          </a:p>
        </p:txBody>
      </p:sp>
      <p:sp>
        <p:nvSpPr>
          <p:cNvPr id="61" name="TextBox 60"/>
          <p:cNvSpPr txBox="1"/>
          <p:nvPr/>
        </p:nvSpPr>
        <p:spPr>
          <a:xfrm>
            <a:off x="6223000" y="25844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Inaperturopollenites sp.</a:t>
            </a:r>
          </a:p>
        </p:txBody>
      </p:sp>
      <p:sp>
        <p:nvSpPr>
          <p:cNvPr id="62" name="TextBox 61"/>
          <p:cNvSpPr txBox="1"/>
          <p:nvPr/>
        </p:nvSpPr>
        <p:spPr>
          <a:xfrm>
            <a:off x="10350500" y="25844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10</a:t>
            </a:r>
          </a:p>
        </p:txBody>
      </p:sp>
      <p:sp>
        <p:nvSpPr>
          <p:cNvPr id="63" name="TextBox 62"/>
          <p:cNvSpPr txBox="1"/>
          <p:nvPr/>
        </p:nvSpPr>
        <p:spPr>
          <a:xfrm>
            <a:off x="11201400" y="25844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2</a:t>
            </a:r>
          </a:p>
        </p:txBody>
      </p:sp>
      <p:sp>
        <p:nvSpPr>
          <p:cNvPr id="64" name="TextBox 63"/>
          <p:cNvSpPr txBox="1"/>
          <p:nvPr/>
        </p:nvSpPr>
        <p:spPr>
          <a:xfrm>
            <a:off x="6223000" y="28448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Caryapollenites veripites</a:t>
            </a:r>
          </a:p>
        </p:txBody>
      </p:sp>
      <p:sp>
        <p:nvSpPr>
          <p:cNvPr id="65" name="TextBox 64"/>
          <p:cNvSpPr txBox="1"/>
          <p:nvPr/>
        </p:nvSpPr>
        <p:spPr>
          <a:xfrm>
            <a:off x="10350500" y="28448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7</a:t>
            </a:r>
          </a:p>
        </p:txBody>
      </p:sp>
      <p:sp>
        <p:nvSpPr>
          <p:cNvPr id="66" name="TextBox 65"/>
          <p:cNvSpPr txBox="1"/>
          <p:nvPr/>
        </p:nvSpPr>
        <p:spPr>
          <a:xfrm>
            <a:off x="11201400" y="28448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3</a:t>
            </a:r>
          </a:p>
        </p:txBody>
      </p:sp>
      <p:sp>
        <p:nvSpPr>
          <p:cNvPr id="67" name="TextBox 66"/>
          <p:cNvSpPr txBox="1"/>
          <p:nvPr/>
        </p:nvSpPr>
        <p:spPr>
          <a:xfrm>
            <a:off x="6223000" y="31051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Laevigatosporites sp.</a:t>
            </a:r>
          </a:p>
        </p:txBody>
      </p:sp>
      <p:sp>
        <p:nvSpPr>
          <p:cNvPr id="68" name="TextBox 67"/>
          <p:cNvSpPr txBox="1"/>
          <p:nvPr/>
        </p:nvSpPr>
        <p:spPr>
          <a:xfrm>
            <a:off x="10350500" y="31051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6</a:t>
            </a:r>
          </a:p>
        </p:txBody>
      </p:sp>
      <p:sp>
        <p:nvSpPr>
          <p:cNvPr id="69" name="TextBox 68"/>
          <p:cNvSpPr txBox="1"/>
          <p:nvPr/>
        </p:nvSpPr>
        <p:spPr>
          <a:xfrm>
            <a:off x="11201400" y="31051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4</a:t>
            </a:r>
          </a:p>
        </p:txBody>
      </p:sp>
      <p:sp>
        <p:nvSpPr>
          <p:cNvPr id="70" name="TextBox 69"/>
          <p:cNvSpPr txBox="1"/>
          <p:nvPr/>
        </p:nvSpPr>
        <p:spPr>
          <a:xfrm>
            <a:off x="6223000" y="33655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Illexpollenites sp.</a:t>
            </a:r>
          </a:p>
        </p:txBody>
      </p:sp>
      <p:sp>
        <p:nvSpPr>
          <p:cNvPr id="71" name="TextBox 70"/>
          <p:cNvSpPr txBox="1"/>
          <p:nvPr/>
        </p:nvSpPr>
        <p:spPr>
          <a:xfrm>
            <a:off x="10350500" y="33655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5</a:t>
            </a:r>
          </a:p>
        </p:txBody>
      </p:sp>
      <p:sp>
        <p:nvSpPr>
          <p:cNvPr id="72" name="TextBox 71"/>
          <p:cNvSpPr txBox="1"/>
          <p:nvPr/>
        </p:nvSpPr>
        <p:spPr>
          <a:xfrm>
            <a:off x="11201400" y="33655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4</a:t>
            </a:r>
          </a:p>
        </p:txBody>
      </p:sp>
      <p:sp>
        <p:nvSpPr>
          <p:cNvPr id="73" name="TextBox 72"/>
          <p:cNvSpPr txBox="1"/>
          <p:nvPr/>
        </p:nvSpPr>
        <p:spPr>
          <a:xfrm>
            <a:off x="6223000" y="36258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Tetracolporopollenites sp.</a:t>
            </a:r>
          </a:p>
        </p:txBody>
      </p:sp>
      <p:sp>
        <p:nvSpPr>
          <p:cNvPr id="74" name="TextBox 73"/>
          <p:cNvSpPr txBox="1"/>
          <p:nvPr/>
        </p:nvSpPr>
        <p:spPr>
          <a:xfrm>
            <a:off x="10350500" y="36258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3</a:t>
            </a:r>
          </a:p>
        </p:txBody>
      </p:sp>
      <p:sp>
        <p:nvSpPr>
          <p:cNvPr id="75" name="TextBox 74"/>
          <p:cNvSpPr txBox="1"/>
          <p:nvPr/>
        </p:nvSpPr>
        <p:spPr>
          <a:xfrm>
            <a:off x="11201400" y="36258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76" name="TextBox 75"/>
          <p:cNvSpPr txBox="1"/>
          <p:nvPr/>
        </p:nvSpPr>
        <p:spPr>
          <a:xfrm>
            <a:off x="6223000" y="38862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Ulmipollenites sp.</a:t>
            </a:r>
          </a:p>
        </p:txBody>
      </p:sp>
      <p:sp>
        <p:nvSpPr>
          <p:cNvPr id="77" name="TextBox 76"/>
          <p:cNvSpPr txBox="1"/>
          <p:nvPr/>
        </p:nvSpPr>
        <p:spPr>
          <a:xfrm>
            <a:off x="10350500" y="38862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2</a:t>
            </a:r>
          </a:p>
        </p:txBody>
      </p:sp>
      <p:sp>
        <p:nvSpPr>
          <p:cNvPr id="78" name="TextBox 77"/>
          <p:cNvSpPr txBox="1"/>
          <p:nvPr/>
        </p:nvSpPr>
        <p:spPr>
          <a:xfrm>
            <a:off x="11201400" y="38862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79" name="TextBox 78"/>
          <p:cNvSpPr txBox="1"/>
          <p:nvPr/>
        </p:nvSpPr>
        <p:spPr>
          <a:xfrm>
            <a:off x="6223000" y="41465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Momipites wyomingensis</a:t>
            </a:r>
          </a:p>
        </p:txBody>
      </p:sp>
      <p:sp>
        <p:nvSpPr>
          <p:cNvPr id="80" name="TextBox 79"/>
          <p:cNvSpPr txBox="1"/>
          <p:nvPr/>
        </p:nvSpPr>
        <p:spPr>
          <a:xfrm>
            <a:off x="10350500" y="41465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a:t>
            </a:r>
          </a:p>
        </p:txBody>
      </p:sp>
      <p:sp>
        <p:nvSpPr>
          <p:cNvPr id="81" name="TextBox 80"/>
          <p:cNvSpPr txBox="1"/>
          <p:nvPr/>
        </p:nvSpPr>
        <p:spPr>
          <a:xfrm>
            <a:off x="11201400" y="41465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82" name="TextBox 81"/>
          <p:cNvSpPr txBox="1"/>
          <p:nvPr/>
        </p:nvSpPr>
        <p:spPr>
          <a:xfrm>
            <a:off x="6223000" y="44069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Pistillipollenites sp.</a:t>
            </a:r>
          </a:p>
        </p:txBody>
      </p:sp>
      <p:sp>
        <p:nvSpPr>
          <p:cNvPr id="83" name="TextBox 82"/>
          <p:cNvSpPr txBox="1"/>
          <p:nvPr/>
        </p:nvSpPr>
        <p:spPr>
          <a:xfrm>
            <a:off x="10350500" y="44069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a:t>
            </a:r>
          </a:p>
        </p:txBody>
      </p:sp>
      <p:sp>
        <p:nvSpPr>
          <p:cNvPr id="84" name="TextBox 83"/>
          <p:cNvSpPr txBox="1"/>
          <p:nvPr/>
        </p:nvSpPr>
        <p:spPr>
          <a:xfrm>
            <a:off x="11201400" y="44069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85" name="TextBox 84"/>
          <p:cNvSpPr txBox="1"/>
          <p:nvPr/>
        </p:nvSpPr>
        <p:spPr>
          <a:xfrm>
            <a:off x="6223000" y="46672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Platycaryapollenites swasticoidus</a:t>
            </a:r>
          </a:p>
        </p:txBody>
      </p:sp>
      <p:sp>
        <p:nvSpPr>
          <p:cNvPr id="86" name="TextBox 85"/>
          <p:cNvSpPr txBox="1"/>
          <p:nvPr/>
        </p:nvSpPr>
        <p:spPr>
          <a:xfrm>
            <a:off x="10350500" y="46672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a:t>
            </a:r>
          </a:p>
        </p:txBody>
      </p:sp>
      <p:sp>
        <p:nvSpPr>
          <p:cNvPr id="87" name="TextBox 86"/>
          <p:cNvSpPr txBox="1"/>
          <p:nvPr/>
        </p:nvSpPr>
        <p:spPr>
          <a:xfrm>
            <a:off x="11201400" y="46672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88" name="TextBox 87"/>
          <p:cNvSpPr txBox="1"/>
          <p:nvPr/>
        </p:nvSpPr>
        <p:spPr>
          <a:xfrm>
            <a:off x="6223000" y="49276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Polyatriopollenites type</a:t>
            </a:r>
          </a:p>
        </p:txBody>
      </p:sp>
      <p:sp>
        <p:nvSpPr>
          <p:cNvPr id="89" name="TextBox 88"/>
          <p:cNvSpPr txBox="1"/>
          <p:nvPr/>
        </p:nvSpPr>
        <p:spPr>
          <a:xfrm>
            <a:off x="10350500" y="49276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a:t>
            </a:r>
          </a:p>
        </p:txBody>
      </p:sp>
      <p:sp>
        <p:nvSpPr>
          <p:cNvPr id="90" name="TextBox 89"/>
          <p:cNvSpPr txBox="1"/>
          <p:nvPr/>
        </p:nvSpPr>
        <p:spPr>
          <a:xfrm>
            <a:off x="11201400" y="49276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91" name="TextBox 90"/>
          <p:cNvSpPr txBox="1"/>
          <p:nvPr/>
        </p:nvSpPr>
        <p:spPr>
          <a:xfrm>
            <a:off x="6223000" y="518795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Retipollenites sp.</a:t>
            </a:r>
          </a:p>
        </p:txBody>
      </p:sp>
      <p:sp>
        <p:nvSpPr>
          <p:cNvPr id="92" name="TextBox 91"/>
          <p:cNvSpPr txBox="1"/>
          <p:nvPr/>
        </p:nvSpPr>
        <p:spPr>
          <a:xfrm>
            <a:off x="10350500" y="518795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a:t>
            </a:r>
          </a:p>
        </p:txBody>
      </p:sp>
      <p:sp>
        <p:nvSpPr>
          <p:cNvPr id="93" name="TextBox 92"/>
          <p:cNvSpPr txBox="1"/>
          <p:nvPr/>
        </p:nvSpPr>
        <p:spPr>
          <a:xfrm>
            <a:off x="11201400" y="518795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
        <p:nvSpPr>
          <p:cNvPr id="94" name="TextBox 93"/>
          <p:cNvSpPr txBox="1"/>
          <p:nvPr/>
        </p:nvSpPr>
        <p:spPr>
          <a:xfrm>
            <a:off x="6223000" y="5448300"/>
            <a:ext cx="40005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Taxodium sp.</a:t>
            </a:r>
          </a:p>
        </p:txBody>
      </p:sp>
      <p:sp>
        <p:nvSpPr>
          <p:cNvPr id="95" name="TextBox 94"/>
          <p:cNvSpPr txBox="1"/>
          <p:nvPr/>
        </p:nvSpPr>
        <p:spPr>
          <a:xfrm>
            <a:off x="10350500" y="5448300"/>
            <a:ext cx="571500" cy="277622"/>
          </a:xfrm>
          <a:prstGeom prst="rect">
            <a:avLst/>
          </a:prstGeom>
          <a:noFill/>
        </p:spPr>
        <p:txBody>
          <a:bodyPr wrap="none" lIns="0" rIns="0" tIns="0" bIns="0">
            <a:spAutoFit/>
          </a:bodyPr>
          <a:lstStyle/>
          <a:p>
            <a:pPr>
              <a:lnSpc>
                <a:spcPts val="1586"/>
              </a:lnSpc>
              <a:spcAft>
                <a:spcPts val="0"/>
              </a:spcAft>
              <a:defRPr sz="1300" b="1">
                <a:solidFill>
                  <a:srgbClr val="16756D"/>
                </a:solidFill>
                <a:latin typeface="Lato"/>
              </a:defRPr>
            </a:pPr>
            <a:r>
              <a:t>1</a:t>
            </a:r>
          </a:p>
        </p:txBody>
      </p:sp>
      <p:sp>
        <p:nvSpPr>
          <p:cNvPr id="96" name="TextBox 95"/>
          <p:cNvSpPr txBox="1"/>
          <p:nvPr/>
        </p:nvSpPr>
        <p:spPr>
          <a:xfrm>
            <a:off x="11201400" y="5448300"/>
            <a:ext cx="508000" cy="277622"/>
          </a:xfrm>
          <a:prstGeom prst="rect">
            <a:avLst/>
          </a:prstGeom>
          <a:noFill/>
        </p:spPr>
        <p:txBody>
          <a:bodyPr wrap="none" lIns="0" rIns="0" tIns="0" bIns="0">
            <a:spAutoFit/>
          </a:bodyPr>
          <a:lstStyle/>
          <a:p>
            <a:pPr>
              <a:lnSpc>
                <a:spcPts val="1586"/>
              </a:lnSpc>
              <a:spcAft>
                <a:spcPts val="0"/>
              </a:spcAft>
              <a:defRPr sz="1300" b="0">
                <a:solidFill>
                  <a:srgbClr val="142F38"/>
                </a:solidFill>
                <a:latin typeface="Lato"/>
              </a:defRPr>
            </a:pPr>
            <a:r>
              <a:t>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19100"/>
            <a:ext cx="330200" cy="508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7900" y="330200"/>
            <a:ext cx="10414000" cy="246634"/>
          </a:xfrm>
          <a:prstGeom prst="rect">
            <a:avLst/>
          </a:prstGeom>
          <a:noFill/>
        </p:spPr>
        <p:txBody>
          <a:bodyPr wrap="none" lIns="0" rIns="0" tIns="0" bIns="0">
            <a:spAutoFit/>
          </a:bodyPr>
          <a:lstStyle/>
          <a:p>
            <a:pPr>
              <a:lnSpc>
                <a:spcPts val="1342"/>
              </a:lnSpc>
              <a:spcAft>
                <a:spcPts val="0"/>
              </a:spcAft>
              <a:defRPr sz="1100" b="1">
                <a:solidFill>
                  <a:srgbClr val="16756D"/>
                </a:solidFill>
                <a:latin typeface="Lato"/>
              </a:defRPr>
            </a:pPr>
            <a:r>
              <a:t>FINAL DISCUSSION</a:t>
            </a:r>
          </a:p>
        </p:txBody>
      </p:sp>
      <p:sp>
        <p:nvSpPr>
          <p:cNvPr id="5" name="TextBox 4"/>
          <p:cNvSpPr txBox="1"/>
          <p:nvPr/>
        </p:nvSpPr>
        <p:spPr>
          <a:xfrm>
            <a:off x="508000" y="800100"/>
            <a:ext cx="11176000" cy="556514"/>
          </a:xfrm>
          <a:prstGeom prst="rect">
            <a:avLst/>
          </a:prstGeom>
          <a:noFill/>
        </p:spPr>
        <p:txBody>
          <a:bodyPr wrap="none" lIns="0" rIns="0" tIns="0" bIns="0">
            <a:spAutoFit/>
          </a:bodyPr>
          <a:lstStyle/>
          <a:p>
            <a:pPr>
              <a:lnSpc>
                <a:spcPts val="3782"/>
              </a:lnSpc>
              <a:spcAft>
                <a:spcPts val="0"/>
              </a:spcAft>
              <a:defRPr sz="3100" b="1">
                <a:solidFill>
                  <a:srgbClr val="142F38"/>
                </a:solidFill>
                <a:latin typeface="Lato"/>
              </a:defRPr>
            </a:pPr>
            <a:r>
              <a:t>The main questions to leave with</a:t>
            </a:r>
          </a:p>
        </p:txBody>
      </p:sp>
      <p:sp>
        <p:nvSpPr>
          <p:cNvPr id="6" name="TextBox 5"/>
          <p:cNvSpPr txBox="1"/>
          <p:nvPr/>
        </p:nvSpPr>
        <p:spPr>
          <a:xfrm>
            <a:off x="508000" y="1409700"/>
            <a:ext cx="111125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Agree on priorities, next actions and who can help.</a:t>
            </a:r>
          </a:p>
        </p:txBody>
      </p:sp>
      <p:sp>
        <p:nvSpPr>
          <p:cNvPr id="7" name="Rectangle 6"/>
          <p:cNvSpPr/>
          <p:nvPr/>
        </p:nvSpPr>
        <p:spPr>
          <a:xfrm>
            <a:off x="508000" y="6413500"/>
            <a:ext cx="11176000" cy="12700"/>
          </a:xfrm>
          <a:prstGeom prst="rect">
            <a:avLst/>
          </a:prstGeom>
          <a:solidFill>
            <a:srgbClr val="D6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40500"/>
            <a:ext cx="10160000" cy="215646"/>
          </a:xfrm>
          <a:prstGeom prst="rect">
            <a:avLst/>
          </a:prstGeom>
          <a:noFill/>
        </p:spPr>
        <p:txBody>
          <a:bodyPr wrap="none" lIns="0" rIns="0" tIns="0" bIns="0">
            <a:spAutoFit/>
          </a:bodyPr>
          <a:lstStyle/>
          <a:p>
            <a:pPr>
              <a:lnSpc>
                <a:spcPts val="1098"/>
              </a:lnSpc>
              <a:spcAft>
                <a:spcPts val="0"/>
              </a:spcAft>
              <a:defRPr sz="900" b="0">
                <a:solidFill>
                  <a:srgbClr val="596D71"/>
                </a:solidFill>
                <a:latin typeface="Lato"/>
              </a:defRPr>
            </a:pPr>
            <a:r>
              <a:t>SMITHSONIAN × RICE D2K / SPONSOR DISCUSSION / 18 SEPT 2026</a:t>
            </a:r>
          </a:p>
        </p:txBody>
      </p:sp>
      <p:sp>
        <p:nvSpPr>
          <p:cNvPr id="9" name="TextBox 8"/>
          <p:cNvSpPr txBox="1"/>
          <p:nvPr/>
        </p:nvSpPr>
        <p:spPr>
          <a:xfrm>
            <a:off x="11315700" y="6502400"/>
            <a:ext cx="381000" cy="262128"/>
          </a:xfrm>
          <a:prstGeom prst="rect">
            <a:avLst/>
          </a:prstGeom>
          <a:noFill/>
        </p:spPr>
        <p:txBody>
          <a:bodyPr wrap="none" lIns="0" rIns="0" tIns="0" bIns="0">
            <a:spAutoFit/>
          </a:bodyPr>
          <a:lstStyle/>
          <a:p>
            <a:pPr>
              <a:lnSpc>
                <a:spcPts val="1464"/>
              </a:lnSpc>
              <a:spcAft>
                <a:spcPts val="0"/>
              </a:spcAft>
              <a:defRPr sz="1200" b="1">
                <a:solidFill>
                  <a:srgbClr val="16756D"/>
                </a:solidFill>
                <a:latin typeface="Lato"/>
              </a:defRPr>
            </a:pPr>
            <a:r>
              <a:t>10</a:t>
            </a:r>
          </a:p>
        </p:txBody>
      </p:sp>
      <p:sp>
        <p:nvSpPr>
          <p:cNvPr id="10" name="Rectangle 9"/>
          <p:cNvSpPr/>
          <p:nvPr/>
        </p:nvSpPr>
        <p:spPr>
          <a:xfrm>
            <a:off x="508000" y="1917700"/>
            <a:ext cx="406400" cy="4064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1968500"/>
            <a:ext cx="279400" cy="355092"/>
          </a:xfrm>
          <a:prstGeom prst="rect">
            <a:avLst/>
          </a:prstGeom>
          <a:noFill/>
        </p:spPr>
        <p:txBody>
          <a:bodyPr wrap="none" lIns="0" rIns="0" tIns="0" bIns="0">
            <a:spAutoFit/>
          </a:bodyPr>
          <a:lstStyle/>
          <a:p>
            <a:pPr>
              <a:lnSpc>
                <a:spcPts val="2196"/>
              </a:lnSpc>
              <a:spcAft>
                <a:spcPts val="0"/>
              </a:spcAft>
              <a:defRPr sz="1800" b="1">
                <a:solidFill>
                  <a:srgbClr val="FFFFFF"/>
                </a:solidFill>
                <a:latin typeface="Lato"/>
              </a:defRPr>
            </a:pPr>
            <a:r>
              <a:t>1</a:t>
            </a:r>
          </a:p>
        </p:txBody>
      </p:sp>
      <p:sp>
        <p:nvSpPr>
          <p:cNvPr id="12" name="TextBox 11"/>
          <p:cNvSpPr txBox="1"/>
          <p:nvPr/>
        </p:nvSpPr>
        <p:spPr>
          <a:xfrm>
            <a:off x="1117600" y="1892300"/>
            <a:ext cx="104648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What matters most?</a:t>
            </a:r>
          </a:p>
        </p:txBody>
      </p:sp>
      <p:sp>
        <p:nvSpPr>
          <p:cNvPr id="13" name="TextBox 12"/>
          <p:cNvSpPr txBox="1"/>
          <p:nvPr/>
        </p:nvSpPr>
        <p:spPr>
          <a:xfrm>
            <a:off x="1117600" y="2209800"/>
            <a:ext cx="104648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Which pollen types must we get right, and which mistakes matter most?</a:t>
            </a:r>
          </a:p>
        </p:txBody>
      </p:sp>
      <p:sp>
        <p:nvSpPr>
          <p:cNvPr id="14" name="Rectangle 13"/>
          <p:cNvSpPr/>
          <p:nvPr/>
        </p:nvSpPr>
        <p:spPr>
          <a:xfrm>
            <a:off x="508000" y="2654300"/>
            <a:ext cx="406400" cy="4064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705100"/>
            <a:ext cx="279400" cy="355092"/>
          </a:xfrm>
          <a:prstGeom prst="rect">
            <a:avLst/>
          </a:prstGeom>
          <a:noFill/>
        </p:spPr>
        <p:txBody>
          <a:bodyPr wrap="none" lIns="0" rIns="0" tIns="0" bIns="0">
            <a:spAutoFit/>
          </a:bodyPr>
          <a:lstStyle/>
          <a:p>
            <a:pPr>
              <a:lnSpc>
                <a:spcPts val="2196"/>
              </a:lnSpc>
              <a:spcAft>
                <a:spcPts val="0"/>
              </a:spcAft>
              <a:defRPr sz="1800" b="1">
                <a:solidFill>
                  <a:srgbClr val="FFFFFF"/>
                </a:solidFill>
                <a:latin typeface="Lato"/>
              </a:defRPr>
            </a:pPr>
            <a:r>
              <a:t>2</a:t>
            </a:r>
          </a:p>
        </p:txBody>
      </p:sp>
      <p:sp>
        <p:nvSpPr>
          <p:cNvPr id="16" name="TextBox 15"/>
          <p:cNvSpPr txBox="1"/>
          <p:nvPr/>
        </p:nvSpPr>
        <p:spPr>
          <a:xfrm>
            <a:off x="1117600" y="2628900"/>
            <a:ext cx="104648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Where do we need more examples?</a:t>
            </a:r>
          </a:p>
        </p:txBody>
      </p:sp>
      <p:sp>
        <p:nvSpPr>
          <p:cNvPr id="17" name="TextBox 16"/>
          <p:cNvSpPr txBox="1"/>
          <p:nvPr/>
        </p:nvSpPr>
        <p:spPr>
          <a:xfrm>
            <a:off x="1117600" y="2946400"/>
            <a:ext cx="104648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Which scarce categories are essential? Could more specimens be labeled?</a:t>
            </a:r>
          </a:p>
        </p:txBody>
      </p:sp>
      <p:sp>
        <p:nvSpPr>
          <p:cNvPr id="18" name="Rectangle 17"/>
          <p:cNvSpPr/>
          <p:nvPr/>
        </p:nvSpPr>
        <p:spPr>
          <a:xfrm>
            <a:off x="508000" y="3390900"/>
            <a:ext cx="406400" cy="4064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 y="3441700"/>
            <a:ext cx="279400" cy="355092"/>
          </a:xfrm>
          <a:prstGeom prst="rect">
            <a:avLst/>
          </a:prstGeom>
          <a:noFill/>
        </p:spPr>
        <p:txBody>
          <a:bodyPr wrap="none" lIns="0" rIns="0" tIns="0" bIns="0">
            <a:spAutoFit/>
          </a:bodyPr>
          <a:lstStyle/>
          <a:p>
            <a:pPr>
              <a:lnSpc>
                <a:spcPts val="2196"/>
              </a:lnSpc>
              <a:spcAft>
                <a:spcPts val="0"/>
              </a:spcAft>
              <a:defRPr sz="1800" b="1">
                <a:solidFill>
                  <a:srgbClr val="FFFFFF"/>
                </a:solidFill>
                <a:latin typeface="Lato"/>
              </a:defRPr>
            </a:pPr>
            <a:r>
              <a:t>3</a:t>
            </a:r>
          </a:p>
        </p:txBody>
      </p:sp>
      <p:sp>
        <p:nvSpPr>
          <p:cNvPr id="20" name="TextBox 19"/>
          <p:cNvSpPr txBox="1"/>
          <p:nvPr/>
        </p:nvSpPr>
        <p:spPr>
          <a:xfrm>
            <a:off x="1117600" y="3365500"/>
            <a:ext cx="104648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What should we check in the images?</a:t>
            </a:r>
          </a:p>
        </p:txBody>
      </p:sp>
      <p:sp>
        <p:nvSpPr>
          <p:cNvPr id="21" name="TextBox 20"/>
          <p:cNvSpPr txBox="1"/>
          <p:nvPr/>
        </p:nvSpPr>
        <p:spPr>
          <a:xfrm>
            <a:off x="1117600" y="3683000"/>
            <a:ext cx="104648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Which visual features and preservation problems should guide our checks?</a:t>
            </a:r>
          </a:p>
        </p:txBody>
      </p:sp>
      <p:sp>
        <p:nvSpPr>
          <p:cNvPr id="22" name="Rectangle 21"/>
          <p:cNvSpPr/>
          <p:nvPr/>
        </p:nvSpPr>
        <p:spPr>
          <a:xfrm>
            <a:off x="508000" y="4127500"/>
            <a:ext cx="406400" cy="4064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000" y="4178300"/>
            <a:ext cx="279400" cy="355092"/>
          </a:xfrm>
          <a:prstGeom prst="rect">
            <a:avLst/>
          </a:prstGeom>
          <a:noFill/>
        </p:spPr>
        <p:txBody>
          <a:bodyPr wrap="none" lIns="0" rIns="0" tIns="0" bIns="0">
            <a:spAutoFit/>
          </a:bodyPr>
          <a:lstStyle/>
          <a:p>
            <a:pPr>
              <a:lnSpc>
                <a:spcPts val="2196"/>
              </a:lnSpc>
              <a:spcAft>
                <a:spcPts val="0"/>
              </a:spcAft>
              <a:defRPr sz="1800" b="1">
                <a:solidFill>
                  <a:srgbClr val="FFFFFF"/>
                </a:solidFill>
                <a:latin typeface="Lato"/>
              </a:defRPr>
            </a:pPr>
            <a:r>
              <a:t>4</a:t>
            </a:r>
          </a:p>
        </p:txBody>
      </p:sp>
      <p:sp>
        <p:nvSpPr>
          <p:cNvPr id="24" name="TextBox 23"/>
          <p:cNvSpPr txBox="1"/>
          <p:nvPr/>
        </p:nvSpPr>
        <p:spPr>
          <a:xfrm>
            <a:off x="1117600" y="4102100"/>
            <a:ext cx="104648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How should we start and test fairly?</a:t>
            </a:r>
          </a:p>
        </p:txBody>
      </p:sp>
      <p:sp>
        <p:nvSpPr>
          <p:cNvPr id="25" name="TextBox 24"/>
          <p:cNvSpPr txBox="1"/>
          <p:nvPr/>
        </p:nvSpPr>
        <p:spPr>
          <a:xfrm>
            <a:off x="1117600" y="4419600"/>
            <a:ext cx="104648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Start with better-supported categories? Apply the ~60 limit to training only?</a:t>
            </a:r>
          </a:p>
        </p:txBody>
      </p:sp>
      <p:sp>
        <p:nvSpPr>
          <p:cNvPr id="26" name="Rectangle 25"/>
          <p:cNvSpPr/>
          <p:nvPr/>
        </p:nvSpPr>
        <p:spPr>
          <a:xfrm>
            <a:off x="508000" y="4864100"/>
            <a:ext cx="406400" cy="406400"/>
          </a:xfrm>
          <a:prstGeom prst="rect">
            <a:avLst/>
          </a:prstGeom>
          <a:solidFill>
            <a:srgbClr val="1675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000" y="4914900"/>
            <a:ext cx="279400" cy="355092"/>
          </a:xfrm>
          <a:prstGeom prst="rect">
            <a:avLst/>
          </a:prstGeom>
          <a:noFill/>
        </p:spPr>
        <p:txBody>
          <a:bodyPr wrap="none" lIns="0" rIns="0" tIns="0" bIns="0">
            <a:spAutoFit/>
          </a:bodyPr>
          <a:lstStyle/>
          <a:p>
            <a:pPr>
              <a:lnSpc>
                <a:spcPts val="2196"/>
              </a:lnSpc>
              <a:spcAft>
                <a:spcPts val="0"/>
              </a:spcAft>
              <a:defRPr sz="1800" b="1">
                <a:solidFill>
                  <a:srgbClr val="FFFFFF"/>
                </a:solidFill>
                <a:latin typeface="Lato"/>
              </a:defRPr>
            </a:pPr>
            <a:r>
              <a:t>5</a:t>
            </a:r>
          </a:p>
        </p:txBody>
      </p:sp>
      <p:sp>
        <p:nvSpPr>
          <p:cNvPr id="28" name="TextBox 27"/>
          <p:cNvSpPr txBox="1"/>
          <p:nvPr/>
        </p:nvSpPr>
        <p:spPr>
          <a:xfrm>
            <a:off x="1117600" y="4838700"/>
            <a:ext cx="10464800" cy="370586"/>
          </a:xfrm>
          <a:prstGeom prst="rect">
            <a:avLst/>
          </a:prstGeom>
          <a:noFill/>
        </p:spPr>
        <p:txBody>
          <a:bodyPr wrap="none" lIns="0" rIns="0" tIns="0" bIns="0">
            <a:spAutoFit/>
          </a:bodyPr>
          <a:lstStyle/>
          <a:p>
            <a:pPr>
              <a:lnSpc>
                <a:spcPts val="2318"/>
              </a:lnSpc>
              <a:spcAft>
                <a:spcPts val="0"/>
              </a:spcAft>
              <a:defRPr sz="1900" b="1">
                <a:solidFill>
                  <a:srgbClr val="142F38"/>
                </a:solidFill>
                <a:latin typeface="Lato"/>
              </a:defRPr>
            </a:pPr>
            <a:r>
              <a:t>What would be most useful to receive?</a:t>
            </a:r>
          </a:p>
        </p:txBody>
      </p:sp>
      <p:sp>
        <p:nvSpPr>
          <p:cNvPr id="29" name="TextBox 28"/>
          <p:cNvSpPr txBox="1"/>
          <p:nvPr/>
        </p:nvSpPr>
        <p:spPr>
          <a:xfrm>
            <a:off x="1117600" y="5156200"/>
            <a:ext cx="10464800" cy="324104"/>
          </a:xfrm>
          <a:prstGeom prst="rect">
            <a:avLst/>
          </a:prstGeom>
          <a:noFill/>
        </p:spPr>
        <p:txBody>
          <a:bodyPr wrap="none" lIns="0" rIns="0" tIns="0" bIns="0">
            <a:spAutoFit/>
          </a:bodyPr>
          <a:lstStyle/>
          <a:p>
            <a:pPr>
              <a:lnSpc>
                <a:spcPts val="1952"/>
              </a:lnSpc>
              <a:spcAft>
                <a:spcPts val="0"/>
              </a:spcAft>
              <a:defRPr sz="1600" b="0">
                <a:solidFill>
                  <a:srgbClr val="596D71"/>
                </a:solidFill>
                <a:latin typeface="Lato"/>
              </a:defRPr>
            </a:pPr>
            <a:r>
              <a:t>Which viewer, annotation format and review of uncertain cases fit your work?</a:t>
            </a:r>
          </a:p>
        </p:txBody>
      </p:sp>
      <p:sp>
        <p:nvSpPr>
          <p:cNvPr id="30" name="Rectangle 29"/>
          <p:cNvSpPr/>
          <p:nvPr/>
        </p:nvSpPr>
        <p:spPr>
          <a:xfrm>
            <a:off x="508000" y="5702300"/>
            <a:ext cx="11176000" cy="546100"/>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5829300"/>
            <a:ext cx="10795000" cy="339598"/>
          </a:xfrm>
          <a:prstGeom prst="rect">
            <a:avLst/>
          </a:prstGeom>
          <a:noFill/>
        </p:spPr>
        <p:txBody>
          <a:bodyPr wrap="none" lIns="0" rIns="0" tIns="0" bIns="0">
            <a:spAutoFit/>
          </a:bodyPr>
          <a:lstStyle/>
          <a:p>
            <a:pPr>
              <a:lnSpc>
                <a:spcPts val="2074"/>
              </a:lnSpc>
              <a:spcAft>
                <a:spcPts val="0"/>
              </a:spcAft>
              <a:defRPr sz="1700" b="1">
                <a:solidFill>
                  <a:srgbClr val="16756D"/>
                </a:solidFill>
                <a:latin typeface="Lato"/>
              </a:defRPr>
            </a:pPr>
            <a:r>
              <a:t>Before we finish: confirm an owner and next step for each open question.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