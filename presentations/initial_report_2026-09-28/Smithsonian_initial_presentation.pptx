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20 seconds</a:t>
            </a:r>
          </a:p>
          <a:p/>
          <a:p>
            <a:r>
              <a:t>SAY:</a:t>
            </a:r>
          </a:p>
          <a:p>
            <a:r>
              <a:t>Our project asks whether fossil specimens are better located and identified by one joint model, or by a detector followed by a separate classifier. We are building on existing Smithsonian and Rice work to support expert review of fossil pollen and other palynomorphs.</a:t>
            </a:r>
          </a:p>
          <a:p/>
          <a:p>
            <a:r>
              <a:t>SOURCE / PRESENTER CONTEXT (not spoken):</a:t>
            </a:r>
          </a:p>
          <a:p>
            <a:r>
              <a:t>Report pp. 3–4, objectives. Palynomorphs include pollen and spores. Image: expert-labeled Bombacacidites focus-stacked crop.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25 seconds</a:t>
            </a:r>
          </a:p>
          <a:p/>
          <a:p>
            <a:r>
              <a:t>SAY:</a:t>
            </a:r>
          </a:p>
          <a:p>
            <a:r>
              <a:t>Fossil pollen provides evidence about past vegetation and warm climates around fifty million years ago. The report describes a broader Smithsonian collection of roughly seventy thousand slides, far larger than our working dataset. Locating and identifying specimens manually is time-consuming. Automation could help scientists review more material while retaining access to the original images.</a:t>
            </a:r>
          </a:p>
          <a:p/>
          <a:p>
            <a:r>
              <a:t>SOURCE / PRESENTER CONTEXT (not spoken):</a:t>
            </a:r>
          </a:p>
          <a:p>
            <a:r>
              <a:t>Report p. 3, Introduction; collection estimate attributed there to Romero et al., report reference [2]. This collection estimate is distinct from the 83-slide working dataset.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25 seconds</a:t>
            </a:r>
          </a:p>
          <a:p/>
          <a:p>
            <a:r>
              <a:t>SAY:</a:t>
            </a:r>
          </a:p>
          <a:p>
            <a:r>
              <a:t>Identification depends on features such as shape, apertures, and surface structure. Different structures may be sharp at different focal depths, while staining and surrounding debris change the appearance. These real examples illustrate that variation. Focus stacking produces a usable two-dimensional image, but we must check whether it preserves the details needed for classification.</a:t>
            </a:r>
          </a:p>
          <a:p/>
          <a:p>
            <a:r>
              <a:t>SOURCE / PRESENTER CONTEXT (not spoken):</a:t>
            </a:r>
          </a:p>
          <a:p>
            <a:r>
              <a:t>Report pp. 3–5, multifocal imaging and data quality; p. 7 specimen examples. These are different specimens with different source field widths, not a focal-plane sequence or a controlled stain comparison.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30 seconds</a:t>
            </a:r>
          </a:p>
          <a:p/>
          <a:p>
            <a:r>
              <a:t>SAY:</a:t>
            </a:r>
          </a:p>
          <a:p>
            <a:r>
              <a:t>Prior work gives us two foundations. Shaikh and colleagues developed whole-slide detection with image tiling and focal compression. Studies by Punyasena and Martinsen provide precedents for detecting specimens and classifying crops separately. Those studies use different images and categories, so their results do not establish performance here. Our contribution is to compare joint and two-stage identification on the same fossil dataset.</a:t>
            </a:r>
          </a:p>
          <a:p/>
          <a:p>
            <a:r>
              <a:t>SOURCE / PRESENTER CONTEXT (not spoken):</a:t>
            </a:r>
          </a:p>
          <a:p>
            <a:r>
              <a:t>Report pp. 3–4, related work, references [4], [5], [7]. No claim that earlier studies used Swin or establish its superiority. Swin rationale: hierarchical local-window image features, report reference [9].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30 seconds</a:t>
            </a:r>
          </a:p>
          <a:p/>
          <a:p>
            <a:r>
              <a:t>SAY:</a:t>
            </a:r>
          </a:p>
          <a:p>
            <a:r>
              <a:t>The working dataset contains eighty-three annotated slides and eleven thousand two hundred seventy-five named annotations. Our initial target inventory uses two thousand two hundred ninety annotations across thirty-two candidate categories. Counts range from twenty-seven to three hundred sixteen per target category. We will assess both category frequency and independent slide coverage, and consider training-only balancing rather than changing the evaluation data.</a:t>
            </a:r>
          </a:p>
          <a:p/>
          <a:p>
            <a:r>
              <a:t>SOURCE / PRESENTER CONTEXT (not spoken):</a:t>
            </a:r>
          </a:p>
          <a:p>
            <a:r>
              <a:t>Report pp. 4–5, data inventory and imbalance. These are records before quality review, duplicate checking, regrouping and sampling. The two bars show the range on a common scale.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25 seconds</a:t>
            </a:r>
          </a:p>
          <a:p/>
          <a:p>
            <a:r>
              <a:t>SAY:</a:t>
            </a:r>
          </a:p>
          <a:p>
            <a:r>
              <a:t>Both approaches share the same preparation and source groups. We will check annotation geometry, focus, and specimen quality, and keep related slides and all views of a specimen together when defining splits. Images are processed as overlapping, focus-stacked tiles. Every derived specimen retains its source coordinates and labels, so predictions can be traced back and inspected.</a:t>
            </a:r>
          </a:p>
          <a:p/>
          <a:p>
            <a:r>
              <a:t>SOURCE / PRESENTER CONTEXT (not spoken):</a:t>
            </a:r>
          </a:p>
          <a:p>
            <a:r>
              <a:t>Report p. 5, Pipeline. Source groups assigned before tiling, augmentation or balancing; split proportions and exact settings remain to be specified.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25 seconds</a:t>
            </a:r>
          </a:p>
          <a:p/>
          <a:p>
            <a:r>
              <a:t>SAY:</a:t>
            </a:r>
          </a:p>
          <a:p>
            <a:r>
              <a:t>The first approach adapts RF-DETR to predict specimen locations and categories together. It processes image tiles, and overlapping predictions are merged in whole-slide coordinates. This gives a unified detection-and-identification model. The question is whether its joint objective can learn uncommon or visually similar categories well enough.</a:t>
            </a:r>
          </a:p>
          <a:p/>
          <a:p>
            <a:r>
              <a:t>SOURCE / PRESENTER CONTEXT (not spoken):</a:t>
            </a:r>
          </a:p>
          <a:p>
            <a:r>
              <a:t>Report pp. 6 and 8, Model 1. Architecture restored from report and recolored to match this deck. Model internals and output marks are conceptual, not measured predictions; thumbnails are real images.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25 seconds</a:t>
            </a:r>
          </a:p>
          <a:p/>
          <a:p>
            <a:r>
              <a:t>SAY:</a:t>
            </a:r>
          </a:p>
          <a:p>
            <a:r>
              <a:t>The second approach first uses RF-DETR to find specimens, then applies Swin-Tiny to their crops. This separates identification from localization and makes classifier errors easier to examine. However, missed detections or poor crops can reduce overall performance. Comparing expert-defined crops with detected crops will help identify that bottleneck.</a:t>
            </a:r>
          </a:p>
          <a:p/>
          <a:p>
            <a:r>
              <a:t>SOURCE / PRESENTER CONTEXT (not spoken):</a:t>
            </a:r>
          </a:p>
          <a:p>
            <a:r>
              <a:t>Report pp. 7–8, Model 2. Same source split and preprocessing; detector and classifier scores retained separately. Proposed model, not completed classifier training.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35 seconds</a:t>
            </a:r>
          </a:p>
          <a:p/>
          <a:p>
            <a:r>
              <a:t>SAY:</a:t>
            </a:r>
          </a:p>
          <a:p>
            <a:r>
              <a:t>We will evaluate detection, classification, and the combined workflow on separate source groups, with per-category metrics so common categories do not dominate. Detection precision requires sufficiently complete annotations. As preliminary evidence, existing YOLO checkpoints recovered fifty-four and fifty-one of sixty-four known targets. These were centered crops with possible prior training exposure, so the results establish feasibility rather than independent generalization. The proposed RF-DETR and Swin comparison remains to be run.</a:t>
            </a:r>
          </a:p>
          <a:p/>
          <a:p>
            <a:r>
              <a:t>SOURCE / PRESENTER CONTEXT (not spoken):</a:t>
            </a:r>
          </a:p>
          <a:p>
            <a:r>
              <a:t>Report pp. 8–9. Pilot: best-plane 54/64; focus-stack 51/64, confidence and IoU each &gt;=0.50. Different checkpoints mean preprocessing is not isolated. Macro-F1 averages category-level F1; balanced accuracy averages recall.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20 seconds</a:t>
            </a:r>
          </a:p>
          <a:p/>
          <a:p>
            <a:r>
              <a:t>SAY:</a:t>
            </a:r>
          </a:p>
          <a:p>
            <a:r>
              <a:t>Next we will finalize categories, inspect crops, and freeze the evaluation protocol before training the baselines. The selected approach will support a simple interface linking specimen images and locations to proposed labels and uncertainty. The goal is useful scientific review, with clear evidence about where automated identification succeeds or fails.</a:t>
            </a:r>
          </a:p>
          <a:p/>
          <a:p>
            <a:r>
              <a:t>SOURCE / PRESENTER CONTEXT (not spoken):</a:t>
            </a:r>
          </a:p>
          <a:p>
            <a:r>
              <a:t>Report p. 10, next steps and limitations. No promise of a finalized grouping, trained classifier, or completed viewer.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01 / THE PROJECT</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202D48"/>
                </a:solidFill>
                <a:latin typeface="Lato"/>
              </a:defRPr>
            </a:pPr>
            <a:r>
              <a:t>Fossil palynomorph detection and classification</a:t>
            </a:r>
          </a:p>
        </p:txBody>
      </p:sp>
      <p:sp>
        <p:nvSpPr>
          <p:cNvPr id="6" name="Rectangle 5"/>
          <p:cNvSpPr/>
          <p:nvPr/>
        </p:nvSpPr>
        <p:spPr>
          <a:xfrm>
            <a:off x="457200" y="6413500"/>
            <a:ext cx="11277600" cy="127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96477"/>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1</a:t>
            </a:r>
          </a:p>
        </p:txBody>
      </p:sp>
      <p:sp>
        <p:nvSpPr>
          <p:cNvPr id="9" name="TextBox 8"/>
          <p:cNvSpPr txBox="1"/>
          <p:nvPr/>
        </p:nvSpPr>
        <p:spPr>
          <a:xfrm>
            <a:off x="457200" y="1917700"/>
            <a:ext cx="6096000" cy="1559560"/>
          </a:xfrm>
          <a:prstGeom prst="rect">
            <a:avLst/>
          </a:prstGeom>
          <a:noFill/>
        </p:spPr>
        <p:txBody>
          <a:bodyPr wrap="none" lIns="0" rIns="0" tIns="0" bIns="0">
            <a:spAutoFit/>
          </a:bodyPr>
          <a:lstStyle/>
          <a:p>
            <a:pPr>
              <a:lnSpc>
                <a:spcPts val="3960"/>
              </a:lnSpc>
              <a:spcAft>
                <a:spcPts val="0"/>
              </a:spcAft>
              <a:defRPr sz="3300" b="1">
                <a:solidFill>
                  <a:srgbClr val="202D48"/>
                </a:solidFill>
                <a:latin typeface="Lato"/>
              </a:defRPr>
            </a:pPr>
            <a:r>
              <a:t>One joint model,</a:t>
            </a:r>
          </a:p>
          <a:p>
            <a:pPr>
              <a:lnSpc>
                <a:spcPts val="3960"/>
              </a:lnSpc>
              <a:spcAft>
                <a:spcPts val="0"/>
              </a:spcAft>
              <a:defRPr sz="3300" b="1">
                <a:solidFill>
                  <a:srgbClr val="202D48"/>
                </a:solidFill>
                <a:latin typeface="Lato"/>
              </a:defRPr>
            </a:pPr>
            <a:r>
              <a:t>or a detector plus</a:t>
            </a:r>
          </a:p>
          <a:p>
            <a:pPr>
              <a:lnSpc>
                <a:spcPts val="3960"/>
              </a:lnSpc>
              <a:spcAft>
                <a:spcPts val="0"/>
              </a:spcAft>
              <a:defRPr sz="3300" b="1">
                <a:solidFill>
                  <a:srgbClr val="202D48"/>
                </a:solidFill>
                <a:latin typeface="Lato"/>
              </a:defRPr>
            </a:pPr>
            <a:r>
              <a:t>a specialist classifier?</a:t>
            </a:r>
          </a:p>
        </p:txBody>
      </p:sp>
      <p:pic>
        <p:nvPicPr>
          <p:cNvPr id="10" name="Picture 9" descr="shard_0_target_027_crop.png"/>
          <p:cNvPicPr>
            <a:picLocks noChangeAspect="1"/>
          </p:cNvPicPr>
          <p:nvPr/>
        </p:nvPicPr>
        <p:blipFill>
          <a:blip r:embed="rId2"/>
          <a:stretch>
            <a:fillRect/>
          </a:stretch>
        </p:blipFill>
        <p:spPr>
          <a:xfrm>
            <a:off x="7480300" y="1803400"/>
            <a:ext cx="3429000" cy="3429000"/>
          </a:xfrm>
          <a:prstGeom prst="rect">
            <a:avLst/>
          </a:prstGeom>
        </p:spPr>
      </p:pic>
      <p:sp>
        <p:nvSpPr>
          <p:cNvPr id="11" name="TextBox 10"/>
          <p:cNvSpPr txBox="1"/>
          <p:nvPr/>
        </p:nvSpPr>
        <p:spPr>
          <a:xfrm>
            <a:off x="457200" y="4610100"/>
            <a:ext cx="6477000" cy="538480"/>
          </a:xfrm>
          <a:prstGeom prst="rect">
            <a:avLst/>
          </a:prstGeom>
          <a:noFill/>
        </p:spPr>
        <p:txBody>
          <a:bodyPr wrap="none" lIns="0" rIns="0" tIns="0" bIns="0">
            <a:spAutoFit/>
          </a:bodyPr>
          <a:lstStyle/>
          <a:p>
            <a:pPr>
              <a:lnSpc>
                <a:spcPts val="1920"/>
              </a:lnSpc>
              <a:spcAft>
                <a:spcPts val="0"/>
              </a:spcAft>
              <a:defRPr sz="1600" b="0">
                <a:solidFill>
                  <a:srgbClr val="596477"/>
                </a:solidFill>
                <a:latin typeface="Lato"/>
              </a:defRPr>
            </a:pPr>
            <a:r>
              <a:t>Patrick Batsell • Yun Ying Tsai • Yeonju Kim</a:t>
            </a:r>
          </a:p>
          <a:p>
            <a:pPr>
              <a:lnSpc>
                <a:spcPts val="1920"/>
              </a:lnSpc>
              <a:spcAft>
                <a:spcPts val="0"/>
              </a:spcAft>
              <a:defRPr sz="1600" b="0">
                <a:solidFill>
                  <a:srgbClr val="596477"/>
                </a:solidFill>
                <a:latin typeface="Lato"/>
              </a:defRPr>
            </a:pPr>
            <a:r>
              <a:t>Yunfan Bao • Alan Yang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02 / SCIENTIFIC MOTIVATION</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202D48"/>
                </a:solidFill>
                <a:latin typeface="Lato"/>
              </a:defRPr>
            </a:pPr>
            <a:r>
              <a:t>A vast collection, examined one specimen at a time</a:t>
            </a:r>
          </a:p>
        </p:txBody>
      </p:sp>
      <p:sp>
        <p:nvSpPr>
          <p:cNvPr id="6" name="Rectangle 5"/>
          <p:cNvSpPr/>
          <p:nvPr/>
        </p:nvSpPr>
        <p:spPr>
          <a:xfrm>
            <a:off x="457200" y="6413500"/>
            <a:ext cx="11277600" cy="127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96477"/>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2</a:t>
            </a:r>
          </a:p>
        </p:txBody>
      </p:sp>
      <p:sp>
        <p:nvSpPr>
          <p:cNvPr id="9" name="Rectangle 8"/>
          <p:cNvSpPr/>
          <p:nvPr/>
        </p:nvSpPr>
        <p:spPr>
          <a:xfrm>
            <a:off x="457200" y="1879600"/>
            <a:ext cx="5511800" cy="2019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6600" y="2120900"/>
            <a:ext cx="4953000" cy="706120"/>
          </a:xfrm>
          <a:prstGeom prst="rect">
            <a:avLst/>
          </a:prstGeom>
          <a:noFill/>
        </p:spPr>
        <p:txBody>
          <a:bodyPr wrap="none" lIns="0" rIns="0" tIns="0" bIns="0">
            <a:spAutoFit/>
          </a:bodyPr>
          <a:lstStyle/>
          <a:p>
            <a:pPr>
              <a:lnSpc>
                <a:spcPts val="5160"/>
              </a:lnSpc>
              <a:spcAft>
                <a:spcPts val="0"/>
              </a:spcAft>
              <a:defRPr sz="4300" b="1">
                <a:solidFill>
                  <a:srgbClr val="93451F"/>
                </a:solidFill>
                <a:latin typeface="Lato"/>
              </a:defRPr>
            </a:pPr>
            <a:r>
              <a:t>~50 million</a:t>
            </a:r>
          </a:p>
        </p:txBody>
      </p:sp>
      <p:sp>
        <p:nvSpPr>
          <p:cNvPr id="11" name="TextBox 10"/>
          <p:cNvSpPr txBox="1"/>
          <p:nvPr/>
        </p:nvSpPr>
        <p:spPr>
          <a:xfrm>
            <a:off x="736600" y="3073400"/>
            <a:ext cx="4953000" cy="370840"/>
          </a:xfrm>
          <a:prstGeom prst="rect">
            <a:avLst/>
          </a:prstGeom>
          <a:noFill/>
        </p:spPr>
        <p:txBody>
          <a:bodyPr wrap="none" lIns="0" rIns="0" tIns="0" bIns="0">
            <a:spAutoFit/>
          </a:bodyPr>
          <a:lstStyle/>
          <a:p>
            <a:pPr>
              <a:lnSpc>
                <a:spcPts val="2520"/>
              </a:lnSpc>
              <a:spcAft>
                <a:spcPts val="0"/>
              </a:spcAft>
              <a:defRPr sz="2100" b="0">
                <a:solidFill>
                  <a:srgbClr val="596477"/>
                </a:solidFill>
                <a:latin typeface="Lato"/>
              </a:defRPr>
            </a:pPr>
            <a:r>
              <a:t>years into the past</a:t>
            </a:r>
          </a:p>
        </p:txBody>
      </p:sp>
      <p:sp>
        <p:nvSpPr>
          <p:cNvPr id="12" name="Rectangle 11"/>
          <p:cNvSpPr/>
          <p:nvPr/>
        </p:nvSpPr>
        <p:spPr>
          <a:xfrm>
            <a:off x="6223000" y="1879600"/>
            <a:ext cx="5511800" cy="2019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2400" y="2120900"/>
            <a:ext cx="4953000" cy="706120"/>
          </a:xfrm>
          <a:prstGeom prst="rect">
            <a:avLst/>
          </a:prstGeom>
          <a:noFill/>
        </p:spPr>
        <p:txBody>
          <a:bodyPr wrap="none" lIns="0" rIns="0" tIns="0" bIns="0">
            <a:spAutoFit/>
          </a:bodyPr>
          <a:lstStyle/>
          <a:p>
            <a:pPr>
              <a:lnSpc>
                <a:spcPts val="5160"/>
              </a:lnSpc>
              <a:spcAft>
                <a:spcPts val="0"/>
              </a:spcAft>
              <a:defRPr sz="4300" b="1">
                <a:solidFill>
                  <a:srgbClr val="93451F"/>
                </a:solidFill>
                <a:latin typeface="Lato"/>
              </a:defRPr>
            </a:pPr>
            <a:r>
              <a:t>~70,000</a:t>
            </a:r>
          </a:p>
        </p:txBody>
      </p:sp>
      <p:sp>
        <p:nvSpPr>
          <p:cNvPr id="14" name="TextBox 13"/>
          <p:cNvSpPr txBox="1"/>
          <p:nvPr/>
        </p:nvSpPr>
        <p:spPr>
          <a:xfrm>
            <a:off x="6502400" y="3073400"/>
            <a:ext cx="4953000" cy="370840"/>
          </a:xfrm>
          <a:prstGeom prst="rect">
            <a:avLst/>
          </a:prstGeom>
          <a:noFill/>
        </p:spPr>
        <p:txBody>
          <a:bodyPr wrap="none" lIns="0" rIns="0" tIns="0" bIns="0">
            <a:spAutoFit/>
          </a:bodyPr>
          <a:lstStyle/>
          <a:p>
            <a:pPr>
              <a:lnSpc>
                <a:spcPts val="2520"/>
              </a:lnSpc>
              <a:spcAft>
                <a:spcPts val="0"/>
              </a:spcAft>
              <a:defRPr sz="2100" b="0">
                <a:solidFill>
                  <a:srgbClr val="596477"/>
                </a:solidFill>
                <a:latin typeface="Lato"/>
              </a:defRPr>
            </a:pPr>
            <a:r>
              <a:t>slides in the broader collection</a:t>
            </a:r>
          </a:p>
        </p:txBody>
      </p:sp>
      <p:sp>
        <p:nvSpPr>
          <p:cNvPr id="15" name="TextBox 14"/>
          <p:cNvSpPr txBox="1"/>
          <p:nvPr/>
        </p:nvSpPr>
        <p:spPr>
          <a:xfrm>
            <a:off x="457200" y="4406900"/>
            <a:ext cx="11277600" cy="462280"/>
          </a:xfrm>
          <a:prstGeom prst="rect">
            <a:avLst/>
          </a:prstGeom>
          <a:noFill/>
        </p:spPr>
        <p:txBody>
          <a:bodyPr wrap="none" lIns="0" rIns="0" tIns="0" bIns="0">
            <a:spAutoFit/>
          </a:bodyPr>
          <a:lstStyle/>
          <a:p>
            <a:pPr>
              <a:lnSpc>
                <a:spcPts val="3240"/>
              </a:lnSpc>
              <a:spcAft>
                <a:spcPts val="0"/>
              </a:spcAft>
              <a:defRPr sz="2700" b="1">
                <a:solidFill>
                  <a:srgbClr val="202D48"/>
                </a:solidFill>
                <a:latin typeface="Lato"/>
              </a:defRPr>
            </a:pPr>
            <a:r>
              <a:t>Pollen helps reconstruct vegetation and warm climates.</a:t>
            </a:r>
          </a:p>
        </p:txBody>
      </p:sp>
      <p:sp>
        <p:nvSpPr>
          <p:cNvPr id="16" name="Rectangle 15"/>
          <p:cNvSpPr/>
          <p:nvPr/>
        </p:nvSpPr>
        <p:spPr>
          <a:xfrm>
            <a:off x="457200" y="5638800"/>
            <a:ext cx="11277600" cy="5461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000" y="5765800"/>
            <a:ext cx="109220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The challenge is scaling expert identification.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03 / IMAGE CHALLENGES</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202D48"/>
                </a:solidFill>
                <a:latin typeface="Lato"/>
              </a:defRPr>
            </a:pPr>
            <a:r>
              <a:t>Important features are small—and not always in focus</a:t>
            </a:r>
          </a:p>
        </p:txBody>
      </p:sp>
      <p:sp>
        <p:nvSpPr>
          <p:cNvPr id="6" name="Rectangle 5"/>
          <p:cNvSpPr/>
          <p:nvPr/>
        </p:nvSpPr>
        <p:spPr>
          <a:xfrm>
            <a:off x="457200" y="6413500"/>
            <a:ext cx="11277600" cy="127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96477"/>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3</a:t>
            </a:r>
          </a:p>
        </p:txBody>
      </p:sp>
      <p:pic>
        <p:nvPicPr>
          <p:cNvPr id="9" name="Picture 8" descr="shard_0_target_008_crop.png"/>
          <p:cNvPicPr>
            <a:picLocks noChangeAspect="1"/>
          </p:cNvPicPr>
          <p:nvPr/>
        </p:nvPicPr>
        <p:blipFill>
          <a:blip r:embed="rId2"/>
          <a:stretch>
            <a:fillRect/>
          </a:stretch>
        </p:blipFill>
        <p:spPr>
          <a:xfrm>
            <a:off x="850900" y="1803400"/>
            <a:ext cx="2819400" cy="2819400"/>
          </a:xfrm>
          <a:prstGeom prst="rect">
            <a:avLst/>
          </a:prstGeom>
        </p:spPr>
      </p:pic>
      <p:sp>
        <p:nvSpPr>
          <p:cNvPr id="10" name="TextBox 9"/>
          <p:cNvSpPr txBox="1"/>
          <p:nvPr/>
        </p:nvSpPr>
        <p:spPr>
          <a:xfrm>
            <a:off x="457200" y="4838700"/>
            <a:ext cx="3606800" cy="401320"/>
          </a:xfrm>
          <a:prstGeom prst="rect">
            <a:avLst/>
          </a:prstGeom>
          <a:noFill/>
        </p:spPr>
        <p:txBody>
          <a:bodyPr wrap="none" lIns="0" rIns="0" tIns="0" bIns="0">
            <a:spAutoFit/>
          </a:bodyPr>
          <a:lstStyle/>
          <a:p>
            <a:pPr>
              <a:lnSpc>
                <a:spcPts val="2760"/>
              </a:lnSpc>
              <a:spcAft>
                <a:spcPts val="0"/>
              </a:spcAft>
              <a:defRPr sz="2300" b="1">
                <a:solidFill>
                  <a:srgbClr val="202D48"/>
                </a:solidFill>
                <a:latin typeface="Lato"/>
              </a:defRPr>
            </a:pPr>
            <a:r>
              <a:t>Subtle morphology</a:t>
            </a:r>
          </a:p>
        </p:txBody>
      </p:sp>
      <p:pic>
        <p:nvPicPr>
          <p:cNvPr id="11" name="Picture 10" descr="shard_0_target_027_crop.png"/>
          <p:cNvPicPr>
            <a:picLocks noChangeAspect="1"/>
          </p:cNvPicPr>
          <p:nvPr/>
        </p:nvPicPr>
        <p:blipFill>
          <a:blip r:embed="rId3"/>
          <a:stretch>
            <a:fillRect/>
          </a:stretch>
        </p:blipFill>
        <p:spPr>
          <a:xfrm>
            <a:off x="4686300" y="1803400"/>
            <a:ext cx="2819400" cy="2819400"/>
          </a:xfrm>
          <a:prstGeom prst="rect">
            <a:avLst/>
          </a:prstGeom>
        </p:spPr>
      </p:pic>
      <p:sp>
        <p:nvSpPr>
          <p:cNvPr id="12" name="TextBox 11"/>
          <p:cNvSpPr txBox="1"/>
          <p:nvPr/>
        </p:nvSpPr>
        <p:spPr>
          <a:xfrm>
            <a:off x="4292600" y="4838700"/>
            <a:ext cx="3606800" cy="401320"/>
          </a:xfrm>
          <a:prstGeom prst="rect">
            <a:avLst/>
          </a:prstGeom>
          <a:noFill/>
        </p:spPr>
        <p:txBody>
          <a:bodyPr wrap="none" lIns="0" rIns="0" tIns="0" bIns="0">
            <a:spAutoFit/>
          </a:bodyPr>
          <a:lstStyle/>
          <a:p>
            <a:pPr>
              <a:lnSpc>
                <a:spcPts val="2760"/>
              </a:lnSpc>
              <a:spcAft>
                <a:spcPts val="0"/>
              </a:spcAft>
              <a:defRPr sz="2300" b="1">
                <a:solidFill>
                  <a:srgbClr val="202D48"/>
                </a:solidFill>
                <a:latin typeface="Lato"/>
              </a:defRPr>
            </a:pPr>
            <a:r>
              <a:t>Staining differences</a:t>
            </a:r>
          </a:p>
        </p:txBody>
      </p:sp>
      <p:pic>
        <p:nvPicPr>
          <p:cNvPr id="13" name="Picture 12" descr="shard_0_target_000_crop.png"/>
          <p:cNvPicPr>
            <a:picLocks noChangeAspect="1"/>
          </p:cNvPicPr>
          <p:nvPr/>
        </p:nvPicPr>
        <p:blipFill>
          <a:blip r:embed="rId4"/>
          <a:stretch>
            <a:fillRect/>
          </a:stretch>
        </p:blipFill>
        <p:spPr>
          <a:xfrm>
            <a:off x="8521700" y="1803400"/>
            <a:ext cx="2819400" cy="2819400"/>
          </a:xfrm>
          <a:prstGeom prst="rect">
            <a:avLst/>
          </a:prstGeom>
        </p:spPr>
      </p:pic>
      <p:sp>
        <p:nvSpPr>
          <p:cNvPr id="14" name="TextBox 13"/>
          <p:cNvSpPr txBox="1"/>
          <p:nvPr/>
        </p:nvSpPr>
        <p:spPr>
          <a:xfrm>
            <a:off x="8128000" y="4838700"/>
            <a:ext cx="3606800" cy="401320"/>
          </a:xfrm>
          <a:prstGeom prst="rect">
            <a:avLst/>
          </a:prstGeom>
          <a:noFill/>
        </p:spPr>
        <p:txBody>
          <a:bodyPr wrap="none" lIns="0" rIns="0" tIns="0" bIns="0">
            <a:spAutoFit/>
          </a:bodyPr>
          <a:lstStyle/>
          <a:p>
            <a:pPr>
              <a:lnSpc>
                <a:spcPts val="2760"/>
              </a:lnSpc>
              <a:spcAft>
                <a:spcPts val="0"/>
              </a:spcAft>
              <a:defRPr sz="2300" b="1">
                <a:solidFill>
                  <a:srgbClr val="202D48"/>
                </a:solidFill>
                <a:latin typeface="Lato"/>
              </a:defRPr>
            </a:pPr>
            <a:r>
              <a:t>Debris and overlap</a:t>
            </a:r>
          </a:p>
        </p:txBody>
      </p:sp>
      <p:sp>
        <p:nvSpPr>
          <p:cNvPr id="15" name="Rectangle 14"/>
          <p:cNvSpPr/>
          <p:nvPr/>
        </p:nvSpPr>
        <p:spPr>
          <a:xfrm>
            <a:off x="457200" y="5638800"/>
            <a:ext cx="11277600" cy="5461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000" y="5765800"/>
            <a:ext cx="109220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Multiple focal depths capture different parts of each specimen.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04 / RELATED WORK</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202D48"/>
                </a:solidFill>
                <a:latin typeface="Lato"/>
              </a:defRPr>
            </a:pPr>
            <a:r>
              <a:t>Build on detection; test how best to add identification</a:t>
            </a:r>
          </a:p>
        </p:txBody>
      </p:sp>
      <p:sp>
        <p:nvSpPr>
          <p:cNvPr id="6" name="Rectangle 5"/>
          <p:cNvSpPr/>
          <p:nvPr/>
        </p:nvSpPr>
        <p:spPr>
          <a:xfrm>
            <a:off x="457200" y="6413500"/>
            <a:ext cx="11277600" cy="127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96477"/>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4</a:t>
            </a:r>
          </a:p>
        </p:txBody>
      </p:sp>
      <p:sp>
        <p:nvSpPr>
          <p:cNvPr id="9" name="TextBox 8"/>
          <p:cNvSpPr txBox="1"/>
          <p:nvPr/>
        </p:nvSpPr>
        <p:spPr>
          <a:xfrm>
            <a:off x="457200" y="1841500"/>
            <a:ext cx="635000" cy="401320"/>
          </a:xfrm>
          <a:prstGeom prst="rect">
            <a:avLst/>
          </a:prstGeom>
          <a:noFill/>
        </p:spPr>
        <p:txBody>
          <a:bodyPr wrap="none" lIns="0" rIns="0" tIns="0" bIns="0">
            <a:spAutoFit/>
          </a:bodyPr>
          <a:lstStyle/>
          <a:p>
            <a:pPr>
              <a:lnSpc>
                <a:spcPts val="2760"/>
              </a:lnSpc>
              <a:spcAft>
                <a:spcPts val="0"/>
              </a:spcAft>
              <a:defRPr sz="2300" b="1">
                <a:solidFill>
                  <a:srgbClr val="93451F"/>
                </a:solidFill>
                <a:latin typeface="Lato"/>
              </a:defRPr>
            </a:pPr>
            <a:r>
              <a:t>01</a:t>
            </a:r>
          </a:p>
        </p:txBody>
      </p:sp>
      <p:sp>
        <p:nvSpPr>
          <p:cNvPr id="10" name="TextBox 9"/>
          <p:cNvSpPr txBox="1"/>
          <p:nvPr/>
        </p:nvSpPr>
        <p:spPr>
          <a:xfrm>
            <a:off x="1384300" y="1841500"/>
            <a:ext cx="10350500" cy="431800"/>
          </a:xfrm>
          <a:prstGeom prst="rect">
            <a:avLst/>
          </a:prstGeom>
          <a:noFill/>
        </p:spPr>
        <p:txBody>
          <a:bodyPr wrap="none" lIns="0" rIns="0" tIns="0" bIns="0">
            <a:spAutoFit/>
          </a:bodyPr>
          <a:lstStyle/>
          <a:p>
            <a:pPr>
              <a:lnSpc>
                <a:spcPts val="3000"/>
              </a:lnSpc>
              <a:spcAft>
                <a:spcPts val="0"/>
              </a:spcAft>
              <a:defRPr sz="2500" b="1">
                <a:solidFill>
                  <a:srgbClr val="202D48"/>
                </a:solidFill>
                <a:latin typeface="Lato"/>
              </a:defRPr>
            </a:pPr>
            <a:r>
              <a:t>Whole-slide detection</a:t>
            </a:r>
          </a:p>
        </p:txBody>
      </p:sp>
      <p:sp>
        <p:nvSpPr>
          <p:cNvPr id="11" name="TextBox 10"/>
          <p:cNvSpPr txBox="1"/>
          <p:nvPr/>
        </p:nvSpPr>
        <p:spPr>
          <a:xfrm>
            <a:off x="1384300" y="2298700"/>
            <a:ext cx="10350500" cy="340360"/>
          </a:xfrm>
          <a:prstGeom prst="rect">
            <a:avLst/>
          </a:prstGeom>
          <a:noFill/>
        </p:spPr>
        <p:txBody>
          <a:bodyPr wrap="none" lIns="0" rIns="0" tIns="0" bIns="0">
            <a:spAutoFit/>
          </a:bodyPr>
          <a:lstStyle/>
          <a:p>
            <a:pPr>
              <a:lnSpc>
                <a:spcPts val="2280"/>
              </a:lnSpc>
              <a:spcAft>
                <a:spcPts val="0"/>
              </a:spcAft>
              <a:defRPr sz="1900" b="0">
                <a:solidFill>
                  <a:srgbClr val="596477"/>
                </a:solidFill>
                <a:latin typeface="Lato"/>
              </a:defRPr>
            </a:pPr>
            <a:r>
              <a:t>Shaikh et al.: tiling, focal compression, and detection</a:t>
            </a:r>
          </a:p>
        </p:txBody>
      </p:sp>
      <p:sp>
        <p:nvSpPr>
          <p:cNvPr id="12" name="TextBox 11"/>
          <p:cNvSpPr txBox="1"/>
          <p:nvPr/>
        </p:nvSpPr>
        <p:spPr>
          <a:xfrm>
            <a:off x="457200" y="2997200"/>
            <a:ext cx="635000" cy="401320"/>
          </a:xfrm>
          <a:prstGeom prst="rect">
            <a:avLst/>
          </a:prstGeom>
          <a:noFill/>
        </p:spPr>
        <p:txBody>
          <a:bodyPr wrap="none" lIns="0" rIns="0" tIns="0" bIns="0">
            <a:spAutoFit/>
          </a:bodyPr>
          <a:lstStyle/>
          <a:p>
            <a:pPr>
              <a:lnSpc>
                <a:spcPts val="2760"/>
              </a:lnSpc>
              <a:spcAft>
                <a:spcPts val="0"/>
              </a:spcAft>
              <a:defRPr sz="2300" b="1">
                <a:solidFill>
                  <a:srgbClr val="93451F"/>
                </a:solidFill>
                <a:latin typeface="Lato"/>
              </a:defRPr>
            </a:pPr>
            <a:r>
              <a:t>02</a:t>
            </a:r>
          </a:p>
        </p:txBody>
      </p:sp>
      <p:sp>
        <p:nvSpPr>
          <p:cNvPr id="13" name="TextBox 12"/>
          <p:cNvSpPr txBox="1"/>
          <p:nvPr/>
        </p:nvSpPr>
        <p:spPr>
          <a:xfrm>
            <a:off x="1384300" y="2997200"/>
            <a:ext cx="10350500" cy="431800"/>
          </a:xfrm>
          <a:prstGeom prst="rect">
            <a:avLst/>
          </a:prstGeom>
          <a:noFill/>
        </p:spPr>
        <p:txBody>
          <a:bodyPr wrap="none" lIns="0" rIns="0" tIns="0" bIns="0">
            <a:spAutoFit/>
          </a:bodyPr>
          <a:lstStyle/>
          <a:p>
            <a:pPr>
              <a:lnSpc>
                <a:spcPts val="3000"/>
              </a:lnSpc>
              <a:spcAft>
                <a:spcPts val="0"/>
              </a:spcAft>
              <a:defRPr sz="2500" b="1">
                <a:solidFill>
                  <a:srgbClr val="202D48"/>
                </a:solidFill>
                <a:latin typeface="Lato"/>
              </a:defRPr>
            </a:pPr>
            <a:r>
              <a:t>Separate crop classification</a:t>
            </a:r>
          </a:p>
        </p:txBody>
      </p:sp>
      <p:sp>
        <p:nvSpPr>
          <p:cNvPr id="14" name="TextBox 13"/>
          <p:cNvSpPr txBox="1"/>
          <p:nvPr/>
        </p:nvSpPr>
        <p:spPr>
          <a:xfrm>
            <a:off x="1384300" y="3454400"/>
            <a:ext cx="10350500" cy="340360"/>
          </a:xfrm>
          <a:prstGeom prst="rect">
            <a:avLst/>
          </a:prstGeom>
          <a:noFill/>
        </p:spPr>
        <p:txBody>
          <a:bodyPr wrap="none" lIns="0" rIns="0" tIns="0" bIns="0">
            <a:spAutoFit/>
          </a:bodyPr>
          <a:lstStyle/>
          <a:p>
            <a:pPr>
              <a:lnSpc>
                <a:spcPts val="2280"/>
              </a:lnSpc>
              <a:spcAft>
                <a:spcPts val="0"/>
              </a:spcAft>
              <a:defRPr sz="1900" b="0">
                <a:solidFill>
                  <a:srgbClr val="596477"/>
                </a:solidFill>
                <a:latin typeface="Lato"/>
              </a:defRPr>
            </a:pPr>
            <a:r>
              <a:t>Punyasena et al. and Martinsen et al.: two-stage precedents</a:t>
            </a:r>
          </a:p>
        </p:txBody>
      </p:sp>
      <p:sp>
        <p:nvSpPr>
          <p:cNvPr id="15" name="TextBox 14"/>
          <p:cNvSpPr txBox="1"/>
          <p:nvPr/>
        </p:nvSpPr>
        <p:spPr>
          <a:xfrm>
            <a:off x="457200" y="4152900"/>
            <a:ext cx="635000" cy="401320"/>
          </a:xfrm>
          <a:prstGeom prst="rect">
            <a:avLst/>
          </a:prstGeom>
          <a:noFill/>
        </p:spPr>
        <p:txBody>
          <a:bodyPr wrap="none" lIns="0" rIns="0" tIns="0" bIns="0">
            <a:spAutoFit/>
          </a:bodyPr>
          <a:lstStyle/>
          <a:p>
            <a:pPr>
              <a:lnSpc>
                <a:spcPts val="2760"/>
              </a:lnSpc>
              <a:spcAft>
                <a:spcPts val="0"/>
              </a:spcAft>
              <a:defRPr sz="2300" b="1">
                <a:solidFill>
                  <a:srgbClr val="93451F"/>
                </a:solidFill>
                <a:latin typeface="Lato"/>
              </a:defRPr>
            </a:pPr>
            <a:r>
              <a:t>03</a:t>
            </a:r>
          </a:p>
        </p:txBody>
      </p:sp>
      <p:sp>
        <p:nvSpPr>
          <p:cNvPr id="16" name="TextBox 15"/>
          <p:cNvSpPr txBox="1"/>
          <p:nvPr/>
        </p:nvSpPr>
        <p:spPr>
          <a:xfrm>
            <a:off x="1384300" y="4152900"/>
            <a:ext cx="10350500" cy="431800"/>
          </a:xfrm>
          <a:prstGeom prst="rect">
            <a:avLst/>
          </a:prstGeom>
          <a:noFill/>
        </p:spPr>
        <p:txBody>
          <a:bodyPr wrap="none" lIns="0" rIns="0" tIns="0" bIns="0">
            <a:spAutoFit/>
          </a:bodyPr>
          <a:lstStyle/>
          <a:p>
            <a:pPr>
              <a:lnSpc>
                <a:spcPts val="3000"/>
              </a:lnSpc>
              <a:spcAft>
                <a:spcPts val="0"/>
              </a:spcAft>
              <a:defRPr sz="2500" b="1">
                <a:solidFill>
                  <a:srgbClr val="202D48"/>
                </a:solidFill>
                <a:latin typeface="Lato"/>
              </a:defRPr>
            </a:pPr>
            <a:r>
              <a:t>Our comparison</a:t>
            </a:r>
          </a:p>
        </p:txBody>
      </p:sp>
      <p:sp>
        <p:nvSpPr>
          <p:cNvPr id="17" name="TextBox 16"/>
          <p:cNvSpPr txBox="1"/>
          <p:nvPr/>
        </p:nvSpPr>
        <p:spPr>
          <a:xfrm>
            <a:off x="1384300" y="4610100"/>
            <a:ext cx="10350500" cy="340360"/>
          </a:xfrm>
          <a:prstGeom prst="rect">
            <a:avLst/>
          </a:prstGeom>
          <a:noFill/>
        </p:spPr>
        <p:txBody>
          <a:bodyPr wrap="none" lIns="0" rIns="0" tIns="0" bIns="0">
            <a:spAutoFit/>
          </a:bodyPr>
          <a:lstStyle/>
          <a:p>
            <a:pPr>
              <a:lnSpc>
                <a:spcPts val="2280"/>
              </a:lnSpc>
              <a:spcAft>
                <a:spcPts val="0"/>
              </a:spcAft>
              <a:defRPr sz="1900" b="0">
                <a:solidFill>
                  <a:srgbClr val="596477"/>
                </a:solidFill>
                <a:latin typeface="Lato"/>
              </a:defRPr>
            </a:pPr>
            <a:r>
              <a:t>Joint RF-DETR versus RF-DETR + Swin-Tiny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05 / THE DATA</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202D48"/>
                </a:solidFill>
                <a:latin typeface="Lato"/>
              </a:defRPr>
            </a:pPr>
            <a:r>
              <a:t>83 annotated slides; uneven category coverage</a:t>
            </a:r>
          </a:p>
        </p:txBody>
      </p:sp>
      <p:sp>
        <p:nvSpPr>
          <p:cNvPr id="6" name="Rectangle 5"/>
          <p:cNvSpPr/>
          <p:nvPr/>
        </p:nvSpPr>
        <p:spPr>
          <a:xfrm>
            <a:off x="457200" y="6413500"/>
            <a:ext cx="11277600" cy="127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96477"/>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5</a:t>
            </a:r>
          </a:p>
        </p:txBody>
      </p:sp>
      <p:sp>
        <p:nvSpPr>
          <p:cNvPr id="9" name="Rectangle 8"/>
          <p:cNvSpPr/>
          <p:nvPr/>
        </p:nvSpPr>
        <p:spPr>
          <a:xfrm>
            <a:off x="457200" y="1727200"/>
            <a:ext cx="3606800" cy="1536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892300"/>
            <a:ext cx="3124200" cy="675640"/>
          </a:xfrm>
          <a:prstGeom prst="rect">
            <a:avLst/>
          </a:prstGeom>
          <a:noFill/>
        </p:spPr>
        <p:txBody>
          <a:bodyPr wrap="none" lIns="0" rIns="0" tIns="0" bIns="0">
            <a:spAutoFit/>
          </a:bodyPr>
          <a:lstStyle/>
          <a:p>
            <a:pPr>
              <a:lnSpc>
                <a:spcPts val="4920"/>
              </a:lnSpc>
              <a:spcAft>
                <a:spcPts val="0"/>
              </a:spcAft>
              <a:defRPr sz="4100" b="1">
                <a:solidFill>
                  <a:srgbClr val="93451F"/>
                </a:solidFill>
                <a:latin typeface="Lato"/>
              </a:defRPr>
            </a:pPr>
            <a:r>
              <a:t>11,275</a:t>
            </a:r>
          </a:p>
        </p:txBody>
      </p:sp>
      <p:sp>
        <p:nvSpPr>
          <p:cNvPr id="11" name="TextBox 10"/>
          <p:cNvSpPr txBox="1"/>
          <p:nvPr/>
        </p:nvSpPr>
        <p:spPr>
          <a:xfrm>
            <a:off x="685800" y="2730500"/>
            <a:ext cx="3175000" cy="309880"/>
          </a:xfrm>
          <a:prstGeom prst="rect">
            <a:avLst/>
          </a:prstGeom>
          <a:noFill/>
        </p:spPr>
        <p:txBody>
          <a:bodyPr wrap="none" lIns="0" rIns="0" tIns="0" bIns="0">
            <a:spAutoFit/>
          </a:bodyPr>
          <a:lstStyle/>
          <a:p>
            <a:pPr>
              <a:lnSpc>
                <a:spcPts val="2039"/>
              </a:lnSpc>
              <a:spcAft>
                <a:spcPts val="0"/>
              </a:spcAft>
              <a:defRPr sz="1700" b="0">
                <a:solidFill>
                  <a:srgbClr val="596477"/>
                </a:solidFill>
                <a:latin typeface="Lato"/>
              </a:defRPr>
            </a:pPr>
            <a:r>
              <a:t>named annotations overall</a:t>
            </a:r>
          </a:p>
        </p:txBody>
      </p:sp>
      <p:sp>
        <p:nvSpPr>
          <p:cNvPr id="12" name="Rectangle 11"/>
          <p:cNvSpPr/>
          <p:nvPr/>
        </p:nvSpPr>
        <p:spPr>
          <a:xfrm>
            <a:off x="4292600" y="1727200"/>
            <a:ext cx="3606800" cy="1536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1892300"/>
            <a:ext cx="3124200" cy="675640"/>
          </a:xfrm>
          <a:prstGeom prst="rect">
            <a:avLst/>
          </a:prstGeom>
          <a:noFill/>
        </p:spPr>
        <p:txBody>
          <a:bodyPr wrap="none" lIns="0" rIns="0" tIns="0" bIns="0">
            <a:spAutoFit/>
          </a:bodyPr>
          <a:lstStyle/>
          <a:p>
            <a:pPr>
              <a:lnSpc>
                <a:spcPts val="4920"/>
              </a:lnSpc>
              <a:spcAft>
                <a:spcPts val="0"/>
              </a:spcAft>
              <a:defRPr sz="4100" b="1">
                <a:solidFill>
                  <a:srgbClr val="93451F"/>
                </a:solidFill>
                <a:latin typeface="Lato"/>
              </a:defRPr>
            </a:pPr>
            <a:r>
              <a:t>2,290</a:t>
            </a:r>
          </a:p>
        </p:txBody>
      </p:sp>
      <p:sp>
        <p:nvSpPr>
          <p:cNvPr id="14" name="TextBox 13"/>
          <p:cNvSpPr txBox="1"/>
          <p:nvPr/>
        </p:nvSpPr>
        <p:spPr>
          <a:xfrm>
            <a:off x="4521200" y="2730500"/>
            <a:ext cx="3175000" cy="309880"/>
          </a:xfrm>
          <a:prstGeom prst="rect">
            <a:avLst/>
          </a:prstGeom>
          <a:noFill/>
        </p:spPr>
        <p:txBody>
          <a:bodyPr wrap="none" lIns="0" rIns="0" tIns="0" bIns="0">
            <a:spAutoFit/>
          </a:bodyPr>
          <a:lstStyle/>
          <a:p>
            <a:pPr>
              <a:lnSpc>
                <a:spcPts val="2039"/>
              </a:lnSpc>
              <a:spcAft>
                <a:spcPts val="0"/>
              </a:spcAft>
              <a:defRPr sz="1700" b="0">
                <a:solidFill>
                  <a:srgbClr val="596477"/>
                </a:solidFill>
                <a:latin typeface="Lato"/>
              </a:defRPr>
            </a:pPr>
            <a:r>
              <a:t>initial target annotations</a:t>
            </a:r>
          </a:p>
        </p:txBody>
      </p:sp>
      <p:sp>
        <p:nvSpPr>
          <p:cNvPr id="15" name="Rectangle 14"/>
          <p:cNvSpPr/>
          <p:nvPr/>
        </p:nvSpPr>
        <p:spPr>
          <a:xfrm>
            <a:off x="8128000" y="1727200"/>
            <a:ext cx="3606800" cy="1536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1892300"/>
            <a:ext cx="3124200" cy="675640"/>
          </a:xfrm>
          <a:prstGeom prst="rect">
            <a:avLst/>
          </a:prstGeom>
          <a:noFill/>
        </p:spPr>
        <p:txBody>
          <a:bodyPr wrap="none" lIns="0" rIns="0" tIns="0" bIns="0">
            <a:spAutoFit/>
          </a:bodyPr>
          <a:lstStyle/>
          <a:p>
            <a:pPr>
              <a:lnSpc>
                <a:spcPts val="4920"/>
              </a:lnSpc>
              <a:spcAft>
                <a:spcPts val="0"/>
              </a:spcAft>
              <a:defRPr sz="4100" b="1">
                <a:solidFill>
                  <a:srgbClr val="93451F"/>
                </a:solidFill>
                <a:latin typeface="Lato"/>
              </a:defRPr>
            </a:pPr>
            <a:r>
              <a:t>32</a:t>
            </a:r>
          </a:p>
        </p:txBody>
      </p:sp>
      <p:sp>
        <p:nvSpPr>
          <p:cNvPr id="17" name="TextBox 16"/>
          <p:cNvSpPr txBox="1"/>
          <p:nvPr/>
        </p:nvSpPr>
        <p:spPr>
          <a:xfrm>
            <a:off x="8356600" y="2730500"/>
            <a:ext cx="3175000" cy="309880"/>
          </a:xfrm>
          <a:prstGeom prst="rect">
            <a:avLst/>
          </a:prstGeom>
          <a:noFill/>
        </p:spPr>
        <p:txBody>
          <a:bodyPr wrap="none" lIns="0" rIns="0" tIns="0" bIns="0">
            <a:spAutoFit/>
          </a:bodyPr>
          <a:lstStyle/>
          <a:p>
            <a:pPr>
              <a:lnSpc>
                <a:spcPts val="2039"/>
              </a:lnSpc>
              <a:spcAft>
                <a:spcPts val="0"/>
              </a:spcAft>
              <a:defRPr sz="1700" b="0">
                <a:solidFill>
                  <a:srgbClr val="596477"/>
                </a:solidFill>
                <a:latin typeface="Lato"/>
              </a:defRPr>
            </a:pPr>
            <a:r>
              <a:t>candidate target categories</a:t>
            </a:r>
          </a:p>
        </p:txBody>
      </p:sp>
      <p:sp>
        <p:nvSpPr>
          <p:cNvPr id="18" name="TextBox 17"/>
          <p:cNvSpPr txBox="1"/>
          <p:nvPr/>
        </p:nvSpPr>
        <p:spPr>
          <a:xfrm>
            <a:off x="457200" y="3657600"/>
            <a:ext cx="4953000" cy="355600"/>
          </a:xfrm>
          <a:prstGeom prst="rect">
            <a:avLst/>
          </a:prstGeom>
          <a:noFill/>
        </p:spPr>
        <p:txBody>
          <a:bodyPr wrap="none" lIns="0" rIns="0" tIns="0" bIns="0">
            <a:spAutoFit/>
          </a:bodyPr>
          <a:lstStyle/>
          <a:p>
            <a:pPr>
              <a:lnSpc>
                <a:spcPts val="2400"/>
              </a:lnSpc>
              <a:spcAft>
                <a:spcPts val="0"/>
              </a:spcAft>
              <a:defRPr sz="2000" b="1">
                <a:solidFill>
                  <a:srgbClr val="202D48"/>
                </a:solidFill>
                <a:latin typeface="Lato"/>
              </a:defRPr>
            </a:pPr>
            <a:r>
              <a:t>Bisaccate</a:t>
            </a:r>
          </a:p>
        </p:txBody>
      </p:sp>
      <p:sp>
        <p:nvSpPr>
          <p:cNvPr id="19" name="Rectangle 18"/>
          <p:cNvSpPr/>
          <p:nvPr/>
        </p:nvSpPr>
        <p:spPr>
          <a:xfrm>
            <a:off x="5410200" y="3771900"/>
            <a:ext cx="4889500" cy="2032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10200" y="3771900"/>
            <a:ext cx="4889500" cy="2032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706100" y="3632200"/>
            <a:ext cx="952500" cy="431800"/>
          </a:xfrm>
          <a:prstGeom prst="rect">
            <a:avLst/>
          </a:prstGeom>
          <a:noFill/>
        </p:spPr>
        <p:txBody>
          <a:bodyPr wrap="none" lIns="0" rIns="0" tIns="0" bIns="0">
            <a:spAutoFit/>
          </a:bodyPr>
          <a:lstStyle/>
          <a:p>
            <a:pPr>
              <a:lnSpc>
                <a:spcPts val="3000"/>
              </a:lnSpc>
              <a:spcAft>
                <a:spcPts val="0"/>
              </a:spcAft>
              <a:defRPr sz="2500" b="1">
                <a:solidFill>
                  <a:srgbClr val="93451F"/>
                </a:solidFill>
                <a:latin typeface="Lato"/>
              </a:defRPr>
            </a:pPr>
            <a:r>
              <a:t>316</a:t>
            </a:r>
          </a:p>
        </p:txBody>
      </p:sp>
      <p:sp>
        <p:nvSpPr>
          <p:cNvPr id="22" name="TextBox 21"/>
          <p:cNvSpPr txBox="1"/>
          <p:nvPr/>
        </p:nvSpPr>
        <p:spPr>
          <a:xfrm>
            <a:off x="457200" y="4470400"/>
            <a:ext cx="4953000" cy="355600"/>
          </a:xfrm>
          <a:prstGeom prst="rect">
            <a:avLst/>
          </a:prstGeom>
          <a:noFill/>
        </p:spPr>
        <p:txBody>
          <a:bodyPr wrap="none" lIns="0" rIns="0" tIns="0" bIns="0">
            <a:spAutoFit/>
          </a:bodyPr>
          <a:lstStyle/>
          <a:p>
            <a:pPr>
              <a:lnSpc>
                <a:spcPts val="2400"/>
              </a:lnSpc>
              <a:spcAft>
                <a:spcPts val="0"/>
              </a:spcAft>
              <a:defRPr sz="2000" b="1">
                <a:solidFill>
                  <a:srgbClr val="202D48"/>
                </a:solidFill>
                <a:latin typeface="Lato"/>
              </a:defRPr>
            </a:pPr>
            <a:r>
              <a:t>Cupuliferoipollenites sp.</a:t>
            </a:r>
          </a:p>
        </p:txBody>
      </p:sp>
      <p:sp>
        <p:nvSpPr>
          <p:cNvPr id="23" name="Rectangle 22"/>
          <p:cNvSpPr/>
          <p:nvPr/>
        </p:nvSpPr>
        <p:spPr>
          <a:xfrm>
            <a:off x="5410200" y="4584700"/>
            <a:ext cx="4889500" cy="2032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10200" y="4584700"/>
            <a:ext cx="417773" cy="2032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706100" y="4445000"/>
            <a:ext cx="952500" cy="431800"/>
          </a:xfrm>
          <a:prstGeom prst="rect">
            <a:avLst/>
          </a:prstGeom>
          <a:noFill/>
        </p:spPr>
        <p:txBody>
          <a:bodyPr wrap="none" lIns="0" rIns="0" tIns="0" bIns="0">
            <a:spAutoFit/>
          </a:bodyPr>
          <a:lstStyle/>
          <a:p>
            <a:pPr>
              <a:lnSpc>
                <a:spcPts val="3000"/>
              </a:lnSpc>
              <a:spcAft>
                <a:spcPts val="0"/>
              </a:spcAft>
              <a:defRPr sz="2500" b="1">
                <a:solidFill>
                  <a:srgbClr val="93451F"/>
                </a:solidFill>
                <a:latin typeface="Lato"/>
              </a:defRPr>
            </a:pPr>
            <a:r>
              <a:t>27</a:t>
            </a:r>
          </a:p>
        </p:txBody>
      </p:sp>
      <p:sp>
        <p:nvSpPr>
          <p:cNvPr id="26" name="Rectangle 25"/>
          <p:cNvSpPr/>
          <p:nvPr/>
        </p:nvSpPr>
        <p:spPr>
          <a:xfrm>
            <a:off x="457200" y="5638800"/>
            <a:ext cx="11277600" cy="5461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000" y="5765800"/>
            <a:ext cx="109220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Training options: undersampling, balanced batches, or weighted loss.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06 / SHARED PREPROCESSING</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202D48"/>
                </a:solidFill>
                <a:latin typeface="Lato"/>
              </a:defRPr>
            </a:pPr>
            <a:r>
              <a:t>Turn multifocal slides into traceable model inputs</a:t>
            </a:r>
          </a:p>
        </p:txBody>
      </p:sp>
      <p:sp>
        <p:nvSpPr>
          <p:cNvPr id="6" name="Rectangle 5"/>
          <p:cNvSpPr/>
          <p:nvPr/>
        </p:nvSpPr>
        <p:spPr>
          <a:xfrm>
            <a:off x="457200" y="6413500"/>
            <a:ext cx="11277600" cy="127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96477"/>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6</a:t>
            </a:r>
          </a:p>
        </p:txBody>
      </p:sp>
      <p:sp>
        <p:nvSpPr>
          <p:cNvPr id="9" name="Rectangle 8"/>
          <p:cNvSpPr/>
          <p:nvPr/>
        </p:nvSpPr>
        <p:spPr>
          <a:xfrm>
            <a:off x="457200" y="1943100"/>
            <a:ext cx="3606800" cy="309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146300"/>
            <a:ext cx="31242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01</a:t>
            </a:r>
          </a:p>
        </p:txBody>
      </p:sp>
      <p:sp>
        <p:nvSpPr>
          <p:cNvPr id="11" name="TextBox 10"/>
          <p:cNvSpPr txBox="1"/>
          <p:nvPr/>
        </p:nvSpPr>
        <p:spPr>
          <a:xfrm>
            <a:off x="685800" y="2679700"/>
            <a:ext cx="3124200" cy="416559"/>
          </a:xfrm>
          <a:prstGeom prst="rect">
            <a:avLst/>
          </a:prstGeom>
          <a:noFill/>
        </p:spPr>
        <p:txBody>
          <a:bodyPr wrap="none" lIns="0" rIns="0" tIns="0" bIns="0">
            <a:spAutoFit/>
          </a:bodyPr>
          <a:lstStyle/>
          <a:p>
            <a:pPr>
              <a:lnSpc>
                <a:spcPts val="2879"/>
              </a:lnSpc>
              <a:spcAft>
                <a:spcPts val="0"/>
              </a:spcAft>
              <a:defRPr sz="2400" b="1">
                <a:solidFill>
                  <a:srgbClr val="202D48"/>
                </a:solidFill>
                <a:latin typeface="Lato"/>
              </a:defRPr>
            </a:pPr>
            <a:r>
              <a:t>Define source groups</a:t>
            </a:r>
          </a:p>
        </p:txBody>
      </p:sp>
      <p:sp>
        <p:nvSpPr>
          <p:cNvPr id="12" name="TextBox 11"/>
          <p:cNvSpPr txBox="1"/>
          <p:nvPr/>
        </p:nvSpPr>
        <p:spPr>
          <a:xfrm>
            <a:off x="685800" y="3708400"/>
            <a:ext cx="3124200" cy="629920"/>
          </a:xfrm>
          <a:prstGeom prst="rect">
            <a:avLst/>
          </a:prstGeom>
          <a:noFill/>
        </p:spPr>
        <p:txBody>
          <a:bodyPr wrap="none" lIns="0" rIns="0" tIns="0" bIns="0">
            <a:spAutoFit/>
          </a:bodyPr>
          <a:lstStyle/>
          <a:p>
            <a:pPr>
              <a:lnSpc>
                <a:spcPts val="2280"/>
              </a:lnSpc>
              <a:spcAft>
                <a:spcPts val="0"/>
              </a:spcAft>
              <a:defRPr sz="1900" b="0">
                <a:solidFill>
                  <a:srgbClr val="596477"/>
                </a:solidFill>
                <a:latin typeface="Lato"/>
              </a:defRPr>
            </a:pPr>
            <a:r>
              <a:t>Separate slides and related</a:t>
            </a:r>
          </a:p>
          <a:p>
            <a:pPr>
              <a:lnSpc>
                <a:spcPts val="2280"/>
              </a:lnSpc>
              <a:spcAft>
                <a:spcPts val="0"/>
              </a:spcAft>
              <a:defRPr sz="1900" b="0">
                <a:solidFill>
                  <a:srgbClr val="596477"/>
                </a:solidFill>
                <a:latin typeface="Lato"/>
              </a:defRPr>
            </a:pPr>
            <a:r>
              <a:t>samples before training.</a:t>
            </a:r>
          </a:p>
        </p:txBody>
      </p:sp>
      <p:sp>
        <p:nvSpPr>
          <p:cNvPr id="13" name="Rectangle 12"/>
          <p:cNvSpPr/>
          <p:nvPr/>
        </p:nvSpPr>
        <p:spPr>
          <a:xfrm>
            <a:off x="4292600" y="1943100"/>
            <a:ext cx="3606800" cy="309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1200" y="2146300"/>
            <a:ext cx="31242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02</a:t>
            </a:r>
          </a:p>
        </p:txBody>
      </p:sp>
      <p:sp>
        <p:nvSpPr>
          <p:cNvPr id="15" name="TextBox 14"/>
          <p:cNvSpPr txBox="1"/>
          <p:nvPr/>
        </p:nvSpPr>
        <p:spPr>
          <a:xfrm>
            <a:off x="4521200" y="2679700"/>
            <a:ext cx="3124200" cy="416559"/>
          </a:xfrm>
          <a:prstGeom prst="rect">
            <a:avLst/>
          </a:prstGeom>
          <a:noFill/>
        </p:spPr>
        <p:txBody>
          <a:bodyPr wrap="none" lIns="0" rIns="0" tIns="0" bIns="0">
            <a:spAutoFit/>
          </a:bodyPr>
          <a:lstStyle/>
          <a:p>
            <a:pPr>
              <a:lnSpc>
                <a:spcPts val="2879"/>
              </a:lnSpc>
              <a:spcAft>
                <a:spcPts val="0"/>
              </a:spcAft>
              <a:defRPr sz="2400" b="1">
                <a:solidFill>
                  <a:srgbClr val="202D48"/>
                </a:solidFill>
                <a:latin typeface="Lato"/>
              </a:defRPr>
            </a:pPr>
            <a:r>
              <a:t>Prepare image tiles</a:t>
            </a:r>
          </a:p>
        </p:txBody>
      </p:sp>
      <p:sp>
        <p:nvSpPr>
          <p:cNvPr id="16" name="TextBox 15"/>
          <p:cNvSpPr txBox="1"/>
          <p:nvPr/>
        </p:nvSpPr>
        <p:spPr>
          <a:xfrm>
            <a:off x="4521200" y="3708400"/>
            <a:ext cx="3124200" cy="629920"/>
          </a:xfrm>
          <a:prstGeom prst="rect">
            <a:avLst/>
          </a:prstGeom>
          <a:noFill/>
        </p:spPr>
        <p:txBody>
          <a:bodyPr wrap="none" lIns="0" rIns="0" tIns="0" bIns="0">
            <a:spAutoFit/>
          </a:bodyPr>
          <a:lstStyle/>
          <a:p>
            <a:pPr>
              <a:lnSpc>
                <a:spcPts val="2280"/>
              </a:lnSpc>
              <a:spcAft>
                <a:spcPts val="0"/>
              </a:spcAft>
              <a:defRPr sz="1900" b="0">
                <a:solidFill>
                  <a:srgbClr val="596477"/>
                </a:solidFill>
                <a:latin typeface="Lato"/>
              </a:defRPr>
            </a:pPr>
            <a:r>
              <a:t>Combine focal information;</a:t>
            </a:r>
          </a:p>
          <a:p>
            <a:pPr>
              <a:lnSpc>
                <a:spcPts val="2280"/>
              </a:lnSpc>
              <a:spcAft>
                <a:spcPts val="0"/>
              </a:spcAft>
              <a:defRPr sz="1900" b="0">
                <a:solidFill>
                  <a:srgbClr val="596477"/>
                </a:solidFill>
                <a:latin typeface="Lato"/>
              </a:defRPr>
            </a:pPr>
            <a:r>
              <a:t>read overlapping regions.</a:t>
            </a:r>
          </a:p>
        </p:txBody>
      </p:sp>
      <p:sp>
        <p:nvSpPr>
          <p:cNvPr id="17" name="Rectangle 16"/>
          <p:cNvSpPr/>
          <p:nvPr/>
        </p:nvSpPr>
        <p:spPr>
          <a:xfrm>
            <a:off x="8128000" y="1943100"/>
            <a:ext cx="3606800" cy="309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56600" y="2146300"/>
            <a:ext cx="31242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03</a:t>
            </a:r>
          </a:p>
        </p:txBody>
      </p:sp>
      <p:sp>
        <p:nvSpPr>
          <p:cNvPr id="19" name="TextBox 18"/>
          <p:cNvSpPr txBox="1"/>
          <p:nvPr/>
        </p:nvSpPr>
        <p:spPr>
          <a:xfrm>
            <a:off x="8356600" y="2679700"/>
            <a:ext cx="3124200" cy="782319"/>
          </a:xfrm>
          <a:prstGeom prst="rect">
            <a:avLst/>
          </a:prstGeom>
          <a:noFill/>
        </p:spPr>
        <p:txBody>
          <a:bodyPr wrap="none" lIns="0" rIns="0" tIns="0" bIns="0">
            <a:spAutoFit/>
          </a:bodyPr>
          <a:lstStyle/>
          <a:p>
            <a:pPr>
              <a:lnSpc>
                <a:spcPts val="2879"/>
              </a:lnSpc>
              <a:spcAft>
                <a:spcPts val="0"/>
              </a:spcAft>
              <a:defRPr sz="2400" b="1">
                <a:solidFill>
                  <a:srgbClr val="202D48"/>
                </a:solidFill>
                <a:latin typeface="Lato"/>
              </a:defRPr>
            </a:pPr>
            <a:r>
              <a:t>Preserve specimen</a:t>
            </a:r>
          </a:p>
          <a:p>
            <a:pPr>
              <a:lnSpc>
                <a:spcPts val="2879"/>
              </a:lnSpc>
              <a:spcAft>
                <a:spcPts val="0"/>
              </a:spcAft>
              <a:defRPr sz="2400" b="1">
                <a:solidFill>
                  <a:srgbClr val="202D48"/>
                </a:solidFill>
                <a:latin typeface="Lato"/>
              </a:defRPr>
            </a:pPr>
            <a:r>
              <a:t>identity</a:t>
            </a:r>
          </a:p>
        </p:txBody>
      </p:sp>
      <p:sp>
        <p:nvSpPr>
          <p:cNvPr id="20" name="TextBox 19"/>
          <p:cNvSpPr txBox="1"/>
          <p:nvPr/>
        </p:nvSpPr>
        <p:spPr>
          <a:xfrm>
            <a:off x="8356600" y="3708400"/>
            <a:ext cx="3124200" cy="629920"/>
          </a:xfrm>
          <a:prstGeom prst="rect">
            <a:avLst/>
          </a:prstGeom>
          <a:noFill/>
        </p:spPr>
        <p:txBody>
          <a:bodyPr wrap="none" lIns="0" rIns="0" tIns="0" bIns="0">
            <a:spAutoFit/>
          </a:bodyPr>
          <a:lstStyle/>
          <a:p>
            <a:pPr>
              <a:lnSpc>
                <a:spcPts val="2280"/>
              </a:lnSpc>
              <a:spcAft>
                <a:spcPts val="0"/>
              </a:spcAft>
              <a:defRPr sz="1900" b="0">
                <a:solidFill>
                  <a:srgbClr val="596477"/>
                </a:solidFill>
                <a:latin typeface="Lato"/>
              </a:defRPr>
            </a:pPr>
            <a:r>
              <a:t>Retain coordinates, expert</a:t>
            </a:r>
          </a:p>
          <a:p>
            <a:pPr>
              <a:lnSpc>
                <a:spcPts val="2280"/>
              </a:lnSpc>
              <a:spcAft>
                <a:spcPts val="0"/>
              </a:spcAft>
              <a:defRPr sz="1900" b="0">
                <a:solidFill>
                  <a:srgbClr val="596477"/>
                </a:solidFill>
                <a:latin typeface="Lato"/>
              </a:defRPr>
            </a:pPr>
            <a:r>
              <a:t>labels, and crop settings.</a:t>
            </a:r>
          </a:p>
        </p:txBody>
      </p:sp>
      <p:sp>
        <p:nvSpPr>
          <p:cNvPr id="21" name="Rectangle 20"/>
          <p:cNvSpPr/>
          <p:nvPr/>
        </p:nvSpPr>
        <p:spPr>
          <a:xfrm>
            <a:off x="457200" y="5638800"/>
            <a:ext cx="11277600" cy="5461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000" y="5765800"/>
            <a:ext cx="109220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Same source groups, category mapping, and preprocessing for both models.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07 / APPROACH A</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202D48"/>
                </a:solidFill>
                <a:latin typeface="Lato"/>
              </a:defRPr>
            </a:pPr>
            <a:r>
              <a:t>Joint localization and category identification</a:t>
            </a:r>
          </a:p>
        </p:txBody>
      </p:sp>
      <p:sp>
        <p:nvSpPr>
          <p:cNvPr id="6" name="Rectangle 5"/>
          <p:cNvSpPr/>
          <p:nvPr/>
        </p:nvSpPr>
        <p:spPr>
          <a:xfrm>
            <a:off x="457200" y="6413500"/>
            <a:ext cx="11277600" cy="127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96477"/>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7</a:t>
            </a:r>
          </a:p>
        </p:txBody>
      </p:sp>
      <p:pic>
        <p:nvPicPr>
          <p:cNvPr id="9" name="Picture 8" descr="workflow_direct.png"/>
          <p:cNvPicPr>
            <a:picLocks noChangeAspect="1"/>
          </p:cNvPicPr>
          <p:nvPr/>
        </p:nvPicPr>
        <p:blipFill>
          <a:blip r:embed="rId2"/>
          <a:stretch>
            <a:fillRect/>
          </a:stretch>
        </p:blipFill>
        <p:spPr>
          <a:xfrm>
            <a:off x="457200" y="1501245"/>
            <a:ext cx="11277600" cy="4033308"/>
          </a:xfrm>
          <a:prstGeom prst="rect">
            <a:avLst/>
          </a:prstGeom>
        </p:spPr>
      </p:pic>
      <p:sp>
        <p:nvSpPr>
          <p:cNvPr id="10" name="Rectangle 9"/>
          <p:cNvSpPr/>
          <p:nvPr/>
        </p:nvSpPr>
        <p:spPr>
          <a:xfrm>
            <a:off x="457200" y="5638800"/>
            <a:ext cx="11277600" cy="5461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5765800"/>
            <a:ext cx="109220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Advantage: one model. Challenge: rare or similar categories.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08 / APPROACH B</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202D48"/>
                </a:solidFill>
                <a:latin typeface="Lato"/>
              </a:defRPr>
            </a:pPr>
            <a:r>
              <a:t>Separate localization from category identification</a:t>
            </a:r>
          </a:p>
        </p:txBody>
      </p:sp>
      <p:sp>
        <p:nvSpPr>
          <p:cNvPr id="6" name="Rectangle 5"/>
          <p:cNvSpPr/>
          <p:nvPr/>
        </p:nvSpPr>
        <p:spPr>
          <a:xfrm>
            <a:off x="457200" y="6413500"/>
            <a:ext cx="11277600" cy="127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96477"/>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8</a:t>
            </a:r>
          </a:p>
        </p:txBody>
      </p:sp>
      <p:pic>
        <p:nvPicPr>
          <p:cNvPr id="9" name="Picture 8" descr="workflow_two_stage.png"/>
          <p:cNvPicPr>
            <a:picLocks noChangeAspect="1"/>
          </p:cNvPicPr>
          <p:nvPr/>
        </p:nvPicPr>
        <p:blipFill>
          <a:blip r:embed="rId2"/>
          <a:stretch>
            <a:fillRect/>
          </a:stretch>
        </p:blipFill>
        <p:spPr>
          <a:xfrm>
            <a:off x="457200" y="1501245"/>
            <a:ext cx="11277600" cy="4033308"/>
          </a:xfrm>
          <a:prstGeom prst="rect">
            <a:avLst/>
          </a:prstGeom>
        </p:spPr>
      </p:pic>
      <p:sp>
        <p:nvSpPr>
          <p:cNvPr id="10" name="Rectangle 9"/>
          <p:cNvSpPr/>
          <p:nvPr/>
        </p:nvSpPr>
        <p:spPr>
          <a:xfrm>
            <a:off x="457200" y="5638800"/>
            <a:ext cx="11277600" cy="5461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5765800"/>
            <a:ext cx="109220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Advantage: focused classification. Challenge: detection errors propagate.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09 / EVALUATION</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202D48"/>
                </a:solidFill>
                <a:latin typeface="Lato"/>
              </a:defRPr>
            </a:pPr>
            <a:r>
              <a:t>Test on separate source groups; report errors by category</a:t>
            </a:r>
          </a:p>
        </p:txBody>
      </p:sp>
      <p:sp>
        <p:nvSpPr>
          <p:cNvPr id="6" name="Rectangle 5"/>
          <p:cNvSpPr/>
          <p:nvPr/>
        </p:nvSpPr>
        <p:spPr>
          <a:xfrm>
            <a:off x="457200" y="6413500"/>
            <a:ext cx="11277600" cy="127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96477"/>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9</a:t>
            </a:r>
          </a:p>
        </p:txBody>
      </p:sp>
      <p:sp>
        <p:nvSpPr>
          <p:cNvPr id="9" name="Rectangle 8"/>
          <p:cNvSpPr/>
          <p:nvPr/>
        </p:nvSpPr>
        <p:spPr>
          <a:xfrm>
            <a:off x="457200" y="1816100"/>
            <a:ext cx="3606800" cy="2146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57400"/>
            <a:ext cx="3124200" cy="416559"/>
          </a:xfrm>
          <a:prstGeom prst="rect">
            <a:avLst/>
          </a:prstGeom>
          <a:noFill/>
        </p:spPr>
        <p:txBody>
          <a:bodyPr wrap="none" lIns="0" rIns="0" tIns="0" bIns="0">
            <a:spAutoFit/>
          </a:bodyPr>
          <a:lstStyle/>
          <a:p>
            <a:pPr>
              <a:lnSpc>
                <a:spcPts val="2879"/>
              </a:lnSpc>
              <a:spcAft>
                <a:spcPts val="0"/>
              </a:spcAft>
              <a:defRPr sz="2400" b="1">
                <a:solidFill>
                  <a:srgbClr val="202D48"/>
                </a:solidFill>
                <a:latin typeface="Lato"/>
              </a:defRPr>
            </a:pPr>
            <a:r>
              <a:t>Detection</a:t>
            </a:r>
          </a:p>
        </p:txBody>
      </p:sp>
      <p:sp>
        <p:nvSpPr>
          <p:cNvPr id="11" name="TextBox 10"/>
          <p:cNvSpPr txBox="1"/>
          <p:nvPr/>
        </p:nvSpPr>
        <p:spPr>
          <a:xfrm>
            <a:off x="685800" y="2781300"/>
            <a:ext cx="3124200" cy="629920"/>
          </a:xfrm>
          <a:prstGeom prst="rect">
            <a:avLst/>
          </a:prstGeom>
          <a:noFill/>
        </p:spPr>
        <p:txBody>
          <a:bodyPr wrap="none" lIns="0" rIns="0" tIns="0" bIns="0">
            <a:spAutoFit/>
          </a:bodyPr>
          <a:lstStyle/>
          <a:p>
            <a:pPr>
              <a:lnSpc>
                <a:spcPts val="2280"/>
              </a:lnSpc>
              <a:spcAft>
                <a:spcPts val="0"/>
              </a:spcAft>
              <a:defRPr sz="1900" b="0">
                <a:solidFill>
                  <a:srgbClr val="596477"/>
                </a:solidFill>
                <a:latin typeface="Lato"/>
              </a:defRPr>
            </a:pPr>
            <a:r>
              <a:t>Missed specimens</a:t>
            </a:r>
          </a:p>
          <a:p>
            <a:pPr>
              <a:lnSpc>
                <a:spcPts val="2280"/>
              </a:lnSpc>
              <a:spcAft>
                <a:spcPts val="0"/>
              </a:spcAft>
              <a:defRPr sz="1900" b="0">
                <a:solidFill>
                  <a:srgbClr val="596477"/>
                </a:solidFill>
                <a:latin typeface="Lato"/>
              </a:defRPr>
            </a:pPr>
            <a:r>
              <a:t>and false detections</a:t>
            </a:r>
          </a:p>
        </p:txBody>
      </p:sp>
      <p:sp>
        <p:nvSpPr>
          <p:cNvPr id="12" name="Rectangle 11"/>
          <p:cNvSpPr/>
          <p:nvPr/>
        </p:nvSpPr>
        <p:spPr>
          <a:xfrm>
            <a:off x="4292600" y="1816100"/>
            <a:ext cx="3606800" cy="2146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057400"/>
            <a:ext cx="3124200" cy="416559"/>
          </a:xfrm>
          <a:prstGeom prst="rect">
            <a:avLst/>
          </a:prstGeom>
          <a:noFill/>
        </p:spPr>
        <p:txBody>
          <a:bodyPr wrap="none" lIns="0" rIns="0" tIns="0" bIns="0">
            <a:spAutoFit/>
          </a:bodyPr>
          <a:lstStyle/>
          <a:p>
            <a:pPr>
              <a:lnSpc>
                <a:spcPts val="2879"/>
              </a:lnSpc>
              <a:spcAft>
                <a:spcPts val="0"/>
              </a:spcAft>
              <a:defRPr sz="2400" b="1">
                <a:solidFill>
                  <a:srgbClr val="202D48"/>
                </a:solidFill>
                <a:latin typeface="Lato"/>
              </a:defRPr>
            </a:pPr>
            <a:r>
              <a:t>Classification</a:t>
            </a:r>
          </a:p>
        </p:txBody>
      </p:sp>
      <p:sp>
        <p:nvSpPr>
          <p:cNvPr id="14" name="TextBox 13"/>
          <p:cNvSpPr txBox="1"/>
          <p:nvPr/>
        </p:nvSpPr>
        <p:spPr>
          <a:xfrm>
            <a:off x="4521200" y="2781300"/>
            <a:ext cx="3124200" cy="919479"/>
          </a:xfrm>
          <a:prstGeom prst="rect">
            <a:avLst/>
          </a:prstGeom>
          <a:noFill/>
        </p:spPr>
        <p:txBody>
          <a:bodyPr wrap="none" lIns="0" rIns="0" tIns="0" bIns="0">
            <a:spAutoFit/>
          </a:bodyPr>
          <a:lstStyle/>
          <a:p>
            <a:pPr>
              <a:lnSpc>
                <a:spcPts val="2280"/>
              </a:lnSpc>
              <a:spcAft>
                <a:spcPts val="0"/>
              </a:spcAft>
              <a:defRPr sz="1900" b="0">
                <a:solidFill>
                  <a:srgbClr val="596477"/>
                </a:solidFill>
                <a:latin typeface="Lato"/>
              </a:defRPr>
            </a:pPr>
            <a:r>
              <a:t>Macro-F1, balanced</a:t>
            </a:r>
          </a:p>
          <a:p>
            <a:pPr>
              <a:lnSpc>
                <a:spcPts val="2280"/>
              </a:lnSpc>
              <a:spcAft>
                <a:spcPts val="0"/>
              </a:spcAft>
              <a:defRPr sz="1900" b="0">
                <a:solidFill>
                  <a:srgbClr val="596477"/>
                </a:solidFill>
                <a:latin typeface="Lato"/>
              </a:defRPr>
            </a:pPr>
            <a:r>
              <a:t>accuracy,</a:t>
            </a:r>
          </a:p>
          <a:p>
            <a:pPr>
              <a:lnSpc>
                <a:spcPts val="2280"/>
              </a:lnSpc>
              <a:spcAft>
                <a:spcPts val="0"/>
              </a:spcAft>
              <a:defRPr sz="1900" b="0">
                <a:solidFill>
                  <a:srgbClr val="596477"/>
                </a:solidFill>
                <a:latin typeface="Lato"/>
              </a:defRPr>
            </a:pPr>
            <a:r>
              <a:t>and category-level errors</a:t>
            </a:r>
          </a:p>
        </p:txBody>
      </p:sp>
      <p:sp>
        <p:nvSpPr>
          <p:cNvPr id="15" name="Rectangle 14"/>
          <p:cNvSpPr/>
          <p:nvPr/>
        </p:nvSpPr>
        <p:spPr>
          <a:xfrm>
            <a:off x="8128000" y="1816100"/>
            <a:ext cx="3606800" cy="2146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057400"/>
            <a:ext cx="3124200" cy="416559"/>
          </a:xfrm>
          <a:prstGeom prst="rect">
            <a:avLst/>
          </a:prstGeom>
          <a:noFill/>
        </p:spPr>
        <p:txBody>
          <a:bodyPr wrap="none" lIns="0" rIns="0" tIns="0" bIns="0">
            <a:spAutoFit/>
          </a:bodyPr>
          <a:lstStyle/>
          <a:p>
            <a:pPr>
              <a:lnSpc>
                <a:spcPts val="2879"/>
              </a:lnSpc>
              <a:spcAft>
                <a:spcPts val="0"/>
              </a:spcAft>
              <a:defRPr sz="2400" b="1">
                <a:solidFill>
                  <a:srgbClr val="202D48"/>
                </a:solidFill>
                <a:latin typeface="Lato"/>
              </a:defRPr>
            </a:pPr>
            <a:r>
              <a:t>Combined workflow</a:t>
            </a:r>
          </a:p>
        </p:txBody>
      </p:sp>
      <p:sp>
        <p:nvSpPr>
          <p:cNvPr id="17" name="TextBox 16"/>
          <p:cNvSpPr txBox="1"/>
          <p:nvPr/>
        </p:nvSpPr>
        <p:spPr>
          <a:xfrm>
            <a:off x="8356600" y="2781300"/>
            <a:ext cx="3124200" cy="629920"/>
          </a:xfrm>
          <a:prstGeom prst="rect">
            <a:avLst/>
          </a:prstGeom>
          <a:noFill/>
        </p:spPr>
        <p:txBody>
          <a:bodyPr wrap="none" lIns="0" rIns="0" tIns="0" bIns="0">
            <a:spAutoFit/>
          </a:bodyPr>
          <a:lstStyle/>
          <a:p>
            <a:pPr>
              <a:lnSpc>
                <a:spcPts val="2280"/>
              </a:lnSpc>
              <a:spcAft>
                <a:spcPts val="0"/>
              </a:spcAft>
              <a:defRPr sz="1900" b="0">
                <a:solidFill>
                  <a:srgbClr val="596477"/>
                </a:solidFill>
                <a:latin typeface="Lato"/>
              </a:defRPr>
            </a:pPr>
            <a:r>
              <a:t>Specimens both found</a:t>
            </a:r>
          </a:p>
          <a:p>
            <a:pPr>
              <a:lnSpc>
                <a:spcPts val="2280"/>
              </a:lnSpc>
              <a:spcAft>
                <a:spcPts val="0"/>
              </a:spcAft>
              <a:defRPr sz="1900" b="0">
                <a:solidFill>
                  <a:srgbClr val="596477"/>
                </a:solidFill>
                <a:latin typeface="Lato"/>
              </a:defRPr>
            </a:pPr>
            <a:r>
              <a:t>and correctly identified</a:t>
            </a:r>
          </a:p>
        </p:txBody>
      </p:sp>
      <p:sp>
        <p:nvSpPr>
          <p:cNvPr id="18" name="Rectangle 17"/>
          <p:cNvSpPr/>
          <p:nvPr/>
        </p:nvSpPr>
        <p:spPr>
          <a:xfrm>
            <a:off x="457200" y="4394200"/>
            <a:ext cx="11277600" cy="12700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700" y="4546600"/>
            <a:ext cx="10896600" cy="386080"/>
          </a:xfrm>
          <a:prstGeom prst="rect">
            <a:avLst/>
          </a:prstGeom>
          <a:noFill/>
        </p:spPr>
        <p:txBody>
          <a:bodyPr wrap="none" lIns="0" rIns="0" tIns="0" bIns="0">
            <a:spAutoFit/>
          </a:bodyPr>
          <a:lstStyle/>
          <a:p>
            <a:pPr>
              <a:lnSpc>
                <a:spcPts val="2640"/>
              </a:lnSpc>
              <a:spcAft>
                <a:spcPts val="0"/>
              </a:spcAft>
              <a:defRPr sz="2200" b="1">
                <a:solidFill>
                  <a:srgbClr val="93451F"/>
                </a:solidFill>
                <a:latin typeface="Lato"/>
              </a:defRPr>
            </a:pPr>
            <a:r>
              <a:t>Initial YOLO check: 54/64 and 51/64 known targets recovered</a:t>
            </a:r>
          </a:p>
        </p:txBody>
      </p:sp>
      <p:sp>
        <p:nvSpPr>
          <p:cNvPr id="20" name="TextBox 19"/>
          <p:cNvSpPr txBox="1"/>
          <p:nvPr/>
        </p:nvSpPr>
        <p:spPr>
          <a:xfrm>
            <a:off x="647700" y="5105400"/>
            <a:ext cx="10896600" cy="325120"/>
          </a:xfrm>
          <a:prstGeom prst="rect">
            <a:avLst/>
          </a:prstGeom>
          <a:noFill/>
        </p:spPr>
        <p:txBody>
          <a:bodyPr wrap="none" lIns="0" rIns="0" tIns="0" bIns="0">
            <a:spAutoFit/>
          </a:bodyPr>
          <a:lstStyle/>
          <a:p>
            <a:pPr>
              <a:lnSpc>
                <a:spcPts val="2160"/>
              </a:lnSpc>
              <a:spcAft>
                <a:spcPts val="0"/>
              </a:spcAft>
              <a:defRPr sz="1800" b="0">
                <a:solidFill>
                  <a:srgbClr val="596477"/>
                </a:solidFill>
                <a:latin typeface="Lato"/>
              </a:defRPr>
            </a:pPr>
            <a:r>
              <a:t>Feasibility only: centered crops and possible prior training exposure.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5600"/>
            <a:ext cx="3175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7100" y="254000"/>
            <a:ext cx="107950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10 / NEXT STEPS</a:t>
            </a:r>
          </a:p>
        </p:txBody>
      </p:sp>
      <p:sp>
        <p:nvSpPr>
          <p:cNvPr id="5" name="TextBox 4"/>
          <p:cNvSpPr txBox="1"/>
          <p:nvPr/>
        </p:nvSpPr>
        <p:spPr>
          <a:xfrm>
            <a:off x="457200" y="723900"/>
            <a:ext cx="11277600" cy="538480"/>
          </a:xfrm>
          <a:prstGeom prst="rect">
            <a:avLst/>
          </a:prstGeom>
          <a:noFill/>
        </p:spPr>
        <p:txBody>
          <a:bodyPr wrap="none" lIns="0" rIns="0" tIns="0" bIns="0">
            <a:spAutoFit/>
          </a:bodyPr>
          <a:lstStyle/>
          <a:p>
            <a:pPr>
              <a:lnSpc>
                <a:spcPts val="3840"/>
              </a:lnSpc>
              <a:spcAft>
                <a:spcPts val="0"/>
              </a:spcAft>
              <a:defRPr sz="3200" b="1">
                <a:solidFill>
                  <a:srgbClr val="202D48"/>
                </a:solidFill>
                <a:latin typeface="Lato"/>
              </a:defRPr>
            </a:pPr>
            <a:r>
              <a:t>Compare the models, then make the results useful</a:t>
            </a:r>
          </a:p>
        </p:txBody>
      </p:sp>
      <p:sp>
        <p:nvSpPr>
          <p:cNvPr id="6" name="Rectangle 5"/>
          <p:cNvSpPr/>
          <p:nvPr/>
        </p:nvSpPr>
        <p:spPr>
          <a:xfrm>
            <a:off x="457200" y="6413500"/>
            <a:ext cx="11277600" cy="127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53200"/>
            <a:ext cx="10541000" cy="187960"/>
          </a:xfrm>
          <a:prstGeom prst="rect">
            <a:avLst/>
          </a:prstGeom>
          <a:noFill/>
        </p:spPr>
        <p:txBody>
          <a:bodyPr wrap="none" lIns="0" rIns="0" tIns="0" bIns="0">
            <a:spAutoFit/>
          </a:bodyPr>
          <a:lstStyle/>
          <a:p>
            <a:pPr>
              <a:lnSpc>
                <a:spcPts val="1080"/>
              </a:lnSpc>
              <a:spcAft>
                <a:spcPts val="0"/>
              </a:spcAft>
              <a:defRPr sz="900" b="0">
                <a:solidFill>
                  <a:srgbClr val="596477"/>
                </a:solidFill>
                <a:latin typeface="Lato"/>
              </a:defRPr>
            </a:pPr>
            <a:r>
              <a:t>SMITHSONIAN × RICE D2K / INITIAL PROJECT PRESENTATION</a:t>
            </a:r>
          </a:p>
        </p:txBody>
      </p:sp>
      <p:sp>
        <p:nvSpPr>
          <p:cNvPr id="8" name="TextBox 7"/>
          <p:cNvSpPr txBox="1"/>
          <p:nvPr/>
        </p:nvSpPr>
        <p:spPr>
          <a:xfrm>
            <a:off x="11430000" y="6527800"/>
            <a:ext cx="304800" cy="218440"/>
          </a:xfrm>
          <a:prstGeom prst="rect">
            <a:avLst/>
          </a:prstGeom>
          <a:noFill/>
        </p:spPr>
        <p:txBody>
          <a:bodyPr wrap="none" lIns="0" rIns="0" tIns="0" bIns="0">
            <a:spAutoFit/>
          </a:bodyPr>
          <a:lstStyle/>
          <a:p>
            <a:pPr>
              <a:lnSpc>
                <a:spcPts val="1320"/>
              </a:lnSpc>
              <a:spcAft>
                <a:spcPts val="0"/>
              </a:spcAft>
              <a:defRPr sz="1100" b="1">
                <a:solidFill>
                  <a:srgbClr val="93451F"/>
                </a:solidFill>
                <a:latin typeface="Lato"/>
              </a:defRPr>
            </a:pPr>
            <a:r>
              <a:t>10</a:t>
            </a:r>
          </a:p>
        </p:txBody>
      </p:sp>
      <p:sp>
        <p:nvSpPr>
          <p:cNvPr id="9" name="Rectangle 8"/>
          <p:cNvSpPr/>
          <p:nvPr/>
        </p:nvSpPr>
        <p:spPr>
          <a:xfrm>
            <a:off x="457200" y="1917700"/>
            <a:ext cx="3606800" cy="2819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146300"/>
            <a:ext cx="31242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01</a:t>
            </a:r>
          </a:p>
        </p:txBody>
      </p:sp>
      <p:sp>
        <p:nvSpPr>
          <p:cNvPr id="11" name="TextBox 10"/>
          <p:cNvSpPr txBox="1"/>
          <p:nvPr/>
        </p:nvSpPr>
        <p:spPr>
          <a:xfrm>
            <a:off x="685800" y="2844800"/>
            <a:ext cx="3124200" cy="1285240"/>
          </a:xfrm>
          <a:prstGeom prst="rect">
            <a:avLst/>
          </a:prstGeom>
          <a:noFill/>
        </p:spPr>
        <p:txBody>
          <a:bodyPr wrap="none" lIns="0" rIns="0" tIns="0" bIns="0">
            <a:spAutoFit/>
          </a:bodyPr>
          <a:lstStyle/>
          <a:p>
            <a:pPr>
              <a:lnSpc>
                <a:spcPts val="3240"/>
              </a:lnSpc>
              <a:spcAft>
                <a:spcPts val="0"/>
              </a:spcAft>
              <a:defRPr sz="2700" b="1">
                <a:solidFill>
                  <a:srgbClr val="202D48"/>
                </a:solidFill>
                <a:latin typeface="Lato"/>
              </a:defRPr>
            </a:pPr>
            <a:r>
              <a:t>Inspect crops</a:t>
            </a:r>
          </a:p>
          <a:p>
            <a:pPr>
              <a:lnSpc>
                <a:spcPts val="3240"/>
              </a:lnSpc>
              <a:spcAft>
                <a:spcPts val="0"/>
              </a:spcAft>
              <a:defRPr sz="2700" b="1">
                <a:solidFill>
                  <a:srgbClr val="202D48"/>
                </a:solidFill>
                <a:latin typeface="Lato"/>
              </a:defRPr>
            </a:pPr>
            <a:r>
              <a:t>and define</a:t>
            </a:r>
          </a:p>
          <a:p>
            <a:pPr>
              <a:lnSpc>
                <a:spcPts val="3240"/>
              </a:lnSpc>
              <a:spcAft>
                <a:spcPts val="0"/>
              </a:spcAft>
              <a:defRPr sz="2700" b="1">
                <a:solidFill>
                  <a:srgbClr val="202D48"/>
                </a:solidFill>
                <a:latin typeface="Lato"/>
              </a:defRPr>
            </a:pPr>
            <a:r>
              <a:t>categories</a:t>
            </a:r>
          </a:p>
        </p:txBody>
      </p:sp>
      <p:sp>
        <p:nvSpPr>
          <p:cNvPr id="12" name="Rectangle 11"/>
          <p:cNvSpPr/>
          <p:nvPr/>
        </p:nvSpPr>
        <p:spPr>
          <a:xfrm>
            <a:off x="4292600" y="1917700"/>
            <a:ext cx="3606800" cy="2819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146300"/>
            <a:ext cx="31242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02</a:t>
            </a:r>
          </a:p>
        </p:txBody>
      </p:sp>
      <p:sp>
        <p:nvSpPr>
          <p:cNvPr id="14" name="TextBox 13"/>
          <p:cNvSpPr txBox="1"/>
          <p:nvPr/>
        </p:nvSpPr>
        <p:spPr>
          <a:xfrm>
            <a:off x="4521200" y="2844800"/>
            <a:ext cx="3124200" cy="873760"/>
          </a:xfrm>
          <a:prstGeom prst="rect">
            <a:avLst/>
          </a:prstGeom>
          <a:noFill/>
        </p:spPr>
        <p:txBody>
          <a:bodyPr wrap="none" lIns="0" rIns="0" tIns="0" bIns="0">
            <a:spAutoFit/>
          </a:bodyPr>
          <a:lstStyle/>
          <a:p>
            <a:pPr>
              <a:lnSpc>
                <a:spcPts val="3240"/>
              </a:lnSpc>
              <a:spcAft>
                <a:spcPts val="0"/>
              </a:spcAft>
              <a:defRPr sz="2700" b="1">
                <a:solidFill>
                  <a:srgbClr val="202D48"/>
                </a:solidFill>
                <a:latin typeface="Lato"/>
              </a:defRPr>
            </a:pPr>
            <a:r>
              <a:t>Freeze evaluation</a:t>
            </a:r>
          </a:p>
          <a:p>
            <a:pPr>
              <a:lnSpc>
                <a:spcPts val="3240"/>
              </a:lnSpc>
              <a:spcAft>
                <a:spcPts val="0"/>
              </a:spcAft>
              <a:defRPr sz="2700" b="1">
                <a:solidFill>
                  <a:srgbClr val="202D48"/>
                </a:solidFill>
                <a:latin typeface="Lato"/>
              </a:defRPr>
            </a:pPr>
            <a:r>
              <a:t>and train baselines</a:t>
            </a:r>
          </a:p>
        </p:txBody>
      </p:sp>
      <p:sp>
        <p:nvSpPr>
          <p:cNvPr id="15" name="Rectangle 14"/>
          <p:cNvSpPr/>
          <p:nvPr/>
        </p:nvSpPr>
        <p:spPr>
          <a:xfrm>
            <a:off x="8128000" y="1917700"/>
            <a:ext cx="3606800" cy="2819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146300"/>
            <a:ext cx="31242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03</a:t>
            </a:r>
          </a:p>
        </p:txBody>
      </p:sp>
      <p:sp>
        <p:nvSpPr>
          <p:cNvPr id="17" name="TextBox 16"/>
          <p:cNvSpPr txBox="1"/>
          <p:nvPr/>
        </p:nvSpPr>
        <p:spPr>
          <a:xfrm>
            <a:off x="8356600" y="2844800"/>
            <a:ext cx="3124200" cy="873760"/>
          </a:xfrm>
          <a:prstGeom prst="rect">
            <a:avLst/>
          </a:prstGeom>
          <a:noFill/>
        </p:spPr>
        <p:txBody>
          <a:bodyPr wrap="none" lIns="0" rIns="0" tIns="0" bIns="0">
            <a:spAutoFit/>
          </a:bodyPr>
          <a:lstStyle/>
          <a:p>
            <a:pPr>
              <a:lnSpc>
                <a:spcPts val="3240"/>
              </a:lnSpc>
              <a:spcAft>
                <a:spcPts val="0"/>
              </a:spcAft>
              <a:defRPr sz="2700" b="1">
                <a:solidFill>
                  <a:srgbClr val="202D48"/>
                </a:solidFill>
                <a:latin typeface="Lato"/>
              </a:defRPr>
            </a:pPr>
            <a:r>
              <a:t>Build an expert</a:t>
            </a:r>
          </a:p>
          <a:p>
            <a:pPr>
              <a:lnSpc>
                <a:spcPts val="3240"/>
              </a:lnSpc>
              <a:spcAft>
                <a:spcPts val="0"/>
              </a:spcAft>
              <a:defRPr sz="2700" b="1">
                <a:solidFill>
                  <a:srgbClr val="202D48"/>
                </a:solidFill>
                <a:latin typeface="Lato"/>
              </a:defRPr>
            </a:pPr>
            <a:r>
              <a:t>review interface</a:t>
            </a:r>
          </a:p>
        </p:txBody>
      </p:sp>
      <p:sp>
        <p:nvSpPr>
          <p:cNvPr id="18" name="Rectangle 17"/>
          <p:cNvSpPr/>
          <p:nvPr/>
        </p:nvSpPr>
        <p:spPr>
          <a:xfrm>
            <a:off x="457200" y="5638800"/>
            <a:ext cx="11277600" cy="546100"/>
          </a:xfrm>
          <a:prstGeom prst="rect">
            <a:avLst/>
          </a:prstGeom>
          <a:solidFill>
            <a:srgbClr val="EEE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000" y="5765800"/>
            <a:ext cx="10922000" cy="325120"/>
          </a:xfrm>
          <a:prstGeom prst="rect">
            <a:avLst/>
          </a:prstGeom>
          <a:noFill/>
        </p:spPr>
        <p:txBody>
          <a:bodyPr wrap="none" lIns="0" rIns="0" tIns="0" bIns="0">
            <a:spAutoFit/>
          </a:bodyPr>
          <a:lstStyle/>
          <a:p>
            <a:pPr>
              <a:lnSpc>
                <a:spcPts val="2160"/>
              </a:lnSpc>
              <a:spcAft>
                <a:spcPts val="0"/>
              </a:spcAft>
              <a:defRPr sz="1800" b="1">
                <a:solidFill>
                  <a:srgbClr val="93451F"/>
                </a:solidFill>
                <a:latin typeface="Lato"/>
              </a:defRPr>
            </a:pPr>
            <a:r>
              <a:t>Deliver specimen images, locations, proposed labels, and uncertainty.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