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seconds</a:t>
            </a:r>
          </a:p>
          <a:p/>
          <a:p>
            <a:r>
              <a:t>SAY:</a:t>
            </a:r>
          </a:p>
          <a:p>
            <a:r>
              <a:t>Fossil pollen helps researchers understand which plants grew in ancient environments. Our Smithsonian project focuses on North American vegetation around fifty million years ago. The difficulty is scale: a microscope slide can contain many specimens mixed with debris, and identifying them requires expert attention. We want to support that work by connecting two tasks: finding a specimen and identifying its category. These are real examples from our dataset. The intended result is a tool that lets researchers inspect the image and review the proposed identification.</a:t>
            </a:r>
          </a:p>
          <a:p/>
          <a:p>
            <a:r>
              <a:t>SOURCE / PRESENTER CONTEXT (not spoken):</a:t>
            </a:r>
          </a:p>
          <a:p>
            <a:r>
              <a:t>Uploaded report, Introduction and specimen figure. Images are focus-stacked crops, shown at different field widths; category names come from expert annotations.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seconds</a:t>
            </a:r>
          </a:p>
          <a:p/>
          <a:p>
            <a:r>
              <a:t>SAY:</a:t>
            </a:r>
          </a:p>
          <a:p>
            <a:r>
              <a:t>We have eighty-three annotated slides. The complete inventory contains eleven thousand two hundred seventy-five named annotations, and the initial classification task draws on two thousand two hundred ninety annotations across thirty-two candidate categories. The final grouping still needs to be fixed. Each slide contains multiple focal depths, so we process small regions on the cluster rather than loading an entire slide into memory. Coverage is uneven: Bisaccate has three hundred sixteen annotations, while the smallest target category has twenty-seven. We also need to consider how many independent slides each category spans.</a:t>
            </a:r>
          </a:p>
          <a:p/>
          <a:p>
            <a:r>
              <a:t>SOURCE / PRESENTER CONTEXT (not spoken):</a:t>
            </a:r>
          </a:p>
          <a:p>
            <a:r>
              <a:t>Uploaded report, Data and Initial Exploration; verified category_summary.csv. Counts precede quality review and sampling. Bars share a common scale; the two displayed categories illustrate the range, not the full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60 seconds</a:t>
            </a:r>
          </a:p>
          <a:p/>
          <a:p>
            <a:r>
              <a:t>SAY:</a:t>
            </a:r>
          </a:p>
          <a:p>
            <a:r>
              <a:t>Our central question is whether finding and identifying specimens should be learned together or separately. In approach A, multiclass RF-DETR predicts both a specimen’s location and its category. In approach B, RF-DETR first locates specimens, and a separate Swin-Tiny image classifier examines each crop to identify its type. The first approach offers a unified model. The second lets us study classification independently, but detection errors can carry into the classifier. Both are transformer-based approaches. We will compare them using the same categories, slide split, and preprocessing. We will also test the separate classifier on expert-defined crops to distinguish classification problems from detection problems.</a:t>
            </a:r>
          </a:p>
          <a:p/>
          <a:p>
            <a:r>
              <a:t>SOURCE / PRESENTER CONTEXT (not spoken):</a:t>
            </a:r>
          </a:p>
          <a:p>
            <a:r>
              <a:t>Uploaded report, Proposed Models. Simplified diagrams omit mapping and duplicate merging; both pipelines require them. Neither proposed classification approach has been trained in the reported work. RF-DETR = Roboflow Detection Transformer; Swin is a hierarchical shifted-window vision transformer.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seconds</a:t>
            </a:r>
          </a:p>
          <a:p/>
          <a:p>
            <a:r>
              <a:t>SAY:</a:t>
            </a:r>
          </a:p>
          <a:p>
            <a:r>
              <a:t>We have already run a small diagnostic with two existing YOLO detector checkpoints. Across sixty-four known targets from twenty-nine slides, the best-plane model recovered fifty-four targets and the focus-stacked model recovered fifty-one under the same matching rule. This establishes that the existing detection software works on sampled regions from our images. It is not classification accuracy or an independent test: the crops were centered on known specimens, and many slides appear in historical training records. The RF-DETR and Swin comparison remains proposed work.</a:t>
            </a:r>
          </a:p>
          <a:p/>
          <a:p>
            <a:r>
              <a:t>SOURCE / PRESENTER CONTEXT (not spoken):</a:t>
            </a:r>
          </a:p>
          <a:p>
            <a:r>
              <a:t>Uploaded report, Preliminary Detector Assessment. Recovery requires confidence &gt;=0.5 and IoU &gt;=0.5. Historical membership: 50 train, 9 test, 5 unresolved; checkpoint exposure not fully verified. Different weights mean the result does not isolate preprocessing.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seconds</a:t>
            </a:r>
          </a:p>
          <a:p/>
          <a:p>
            <a:r>
              <a:t>SAY:</a:t>
            </a:r>
          </a:p>
          <a:p>
            <a:r>
              <a:t>A reliable comparison must test biological recognition rather than familiarity with a slide’s appearance. We will keep specimens and all their views together, separate source slides, and investigate related samples that may need additional grouping. We will measure performance for each category instead of relying on overall accuracy. Candidate imbalance strategies include undersampling abundant categories, balanced sampling, and weighted losses, applied only to training. Finally, we will evaluate the full workflow, including missed specimens. Detection precision requires reviewed regions with complete labels; an unmarked object is not automatically a false detection.</a:t>
            </a:r>
          </a:p>
          <a:p/>
          <a:p>
            <a:r>
              <a:t>SOURCE / PRESENTER CONTEXT (not spoken):</a:t>
            </a:r>
          </a:p>
          <a:p>
            <a:r>
              <a:t>Uploaded report, Partitioning and Model Evaluation. Macro-F1 gives categories equal weight in averaging precision-recall summaries; balanced accuracy averages category recall. Related slides and checkpoint training exposure require review.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30 seconds</a:t>
            </a:r>
          </a:p>
          <a:p/>
          <a:p>
            <a:r>
              <a:t>SAY:</a:t>
            </a:r>
          </a:p>
          <a:p>
            <a:r>
              <a:t>Our next steps are to inspect the specimen crops, agree on category groups, and freeze the evaluation split. We will then run the two baselines and use their errors to decide which approach to develop further. The final output should connect a specimen’s image and location to a proposed category and uncertainty information. Success means giving scientists a useful way to review more material, while making the model’s limitations visible.</a:t>
            </a:r>
          </a:p>
          <a:p/>
          <a:p>
            <a:r>
              <a:t>SOURCE / PRESENTER CONTEXT (not spoken):</a:t>
            </a:r>
          </a:p>
          <a:p>
            <a:r>
              <a:t>Uploaded report, Objectives and Next Steps. This is an initial project proposal, not a claim that a trained classifier or viewer is complete.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01 / THE QUESTION</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143842"/>
                </a:solidFill>
                <a:latin typeface="Lato"/>
              </a:defRPr>
            </a:pPr>
            <a:r>
              <a:t>From fossil pollen to past vegetation</a:t>
            </a:r>
          </a:p>
        </p:txBody>
      </p:sp>
      <p:sp>
        <p:nvSpPr>
          <p:cNvPr id="6" name="Rectangle 5"/>
          <p:cNvSpPr/>
          <p:nvPr/>
        </p:nvSpPr>
        <p:spPr>
          <a:xfrm>
            <a:off x="457200" y="6413500"/>
            <a:ext cx="11277600" cy="127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76C73"/>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1</a:t>
            </a:r>
          </a:p>
        </p:txBody>
      </p:sp>
      <p:sp>
        <p:nvSpPr>
          <p:cNvPr id="9" name="TextBox 8"/>
          <p:cNvSpPr txBox="1"/>
          <p:nvPr/>
        </p:nvSpPr>
        <p:spPr>
          <a:xfrm>
            <a:off x="457200" y="1765300"/>
            <a:ext cx="5334000" cy="1468120"/>
          </a:xfrm>
          <a:prstGeom prst="rect">
            <a:avLst/>
          </a:prstGeom>
          <a:noFill/>
        </p:spPr>
        <p:txBody>
          <a:bodyPr wrap="none" lIns="0" rIns="0" tIns="0" bIns="0">
            <a:spAutoFit/>
          </a:bodyPr>
          <a:lstStyle/>
          <a:p>
            <a:pPr>
              <a:lnSpc>
                <a:spcPts val="3719"/>
              </a:lnSpc>
              <a:spcAft>
                <a:spcPts val="0"/>
              </a:spcAft>
              <a:defRPr sz="3100" b="1">
                <a:solidFill>
                  <a:srgbClr val="143842"/>
                </a:solidFill>
                <a:latin typeface="Lato"/>
              </a:defRPr>
            </a:pPr>
            <a:r>
              <a:t>Can we help identify</a:t>
            </a:r>
          </a:p>
          <a:p>
            <a:pPr>
              <a:lnSpc>
                <a:spcPts val="3719"/>
              </a:lnSpc>
              <a:spcAft>
                <a:spcPts val="0"/>
              </a:spcAft>
              <a:defRPr sz="3100" b="1">
                <a:solidFill>
                  <a:srgbClr val="143842"/>
                </a:solidFill>
                <a:latin typeface="Lato"/>
              </a:defRPr>
            </a:pPr>
            <a:r>
              <a:t>microscopic fossils</a:t>
            </a:r>
          </a:p>
          <a:p>
            <a:pPr>
              <a:lnSpc>
                <a:spcPts val="3719"/>
              </a:lnSpc>
              <a:spcAft>
                <a:spcPts val="0"/>
              </a:spcAft>
              <a:defRPr sz="3100" b="1">
                <a:solidFill>
                  <a:srgbClr val="143842"/>
                </a:solidFill>
                <a:latin typeface="Lato"/>
              </a:defRPr>
            </a:pPr>
            <a:r>
              <a:t>at collection scale?</a:t>
            </a:r>
          </a:p>
        </p:txBody>
      </p:sp>
      <p:sp>
        <p:nvSpPr>
          <p:cNvPr id="10" name="TextBox 9"/>
          <p:cNvSpPr txBox="1"/>
          <p:nvPr/>
        </p:nvSpPr>
        <p:spPr>
          <a:xfrm>
            <a:off x="457200" y="3492500"/>
            <a:ext cx="5334000" cy="721360"/>
          </a:xfrm>
          <a:prstGeom prst="rect">
            <a:avLst/>
          </a:prstGeom>
          <a:noFill/>
        </p:spPr>
        <p:txBody>
          <a:bodyPr wrap="none" lIns="0" rIns="0" tIns="0" bIns="0">
            <a:spAutoFit/>
          </a:bodyPr>
          <a:lstStyle/>
          <a:p>
            <a:pPr>
              <a:lnSpc>
                <a:spcPts val="2640"/>
              </a:lnSpc>
              <a:spcAft>
                <a:spcPts val="0"/>
              </a:spcAft>
              <a:defRPr sz="2200" b="0">
                <a:solidFill>
                  <a:srgbClr val="576C73"/>
                </a:solidFill>
                <a:latin typeface="Lato"/>
              </a:defRPr>
            </a:pPr>
            <a:r>
              <a:t>North American vegetation</a:t>
            </a:r>
          </a:p>
          <a:p>
            <a:pPr>
              <a:lnSpc>
                <a:spcPts val="2640"/>
              </a:lnSpc>
              <a:spcAft>
                <a:spcPts val="0"/>
              </a:spcAft>
              <a:defRPr sz="2200" b="0">
                <a:solidFill>
                  <a:srgbClr val="576C73"/>
                </a:solidFill>
                <a:latin typeface="Lato"/>
              </a:defRPr>
            </a:pPr>
            <a:r>
              <a:t>~50 million years ago</a:t>
            </a:r>
          </a:p>
        </p:txBody>
      </p:sp>
      <p:pic>
        <p:nvPicPr>
          <p:cNvPr id="11" name="Picture 10" descr="shard_0_target_016_crop.png"/>
          <p:cNvPicPr>
            <a:picLocks noChangeAspect="1"/>
          </p:cNvPicPr>
          <p:nvPr/>
        </p:nvPicPr>
        <p:blipFill>
          <a:blip r:embed="rId2"/>
          <a:stretch>
            <a:fillRect/>
          </a:stretch>
        </p:blipFill>
        <p:spPr>
          <a:xfrm>
            <a:off x="6286500" y="1765300"/>
            <a:ext cx="2540000" cy="2540000"/>
          </a:xfrm>
          <a:prstGeom prst="rect">
            <a:avLst/>
          </a:prstGeom>
        </p:spPr>
      </p:pic>
      <p:sp>
        <p:nvSpPr>
          <p:cNvPr id="12" name="TextBox 11"/>
          <p:cNvSpPr txBox="1"/>
          <p:nvPr/>
        </p:nvSpPr>
        <p:spPr>
          <a:xfrm>
            <a:off x="6286500" y="4457700"/>
            <a:ext cx="2667000" cy="309880"/>
          </a:xfrm>
          <a:prstGeom prst="rect">
            <a:avLst/>
          </a:prstGeom>
          <a:noFill/>
        </p:spPr>
        <p:txBody>
          <a:bodyPr wrap="none" lIns="0" rIns="0" tIns="0" bIns="0">
            <a:spAutoFit/>
          </a:bodyPr>
          <a:lstStyle/>
          <a:p>
            <a:pPr>
              <a:lnSpc>
                <a:spcPts val="2039"/>
              </a:lnSpc>
              <a:spcAft>
                <a:spcPts val="0"/>
              </a:spcAft>
              <a:defRPr sz="1700" b="1">
                <a:solidFill>
                  <a:srgbClr val="087F83"/>
                </a:solidFill>
                <a:latin typeface="Lato"/>
              </a:defRPr>
            </a:pPr>
            <a:r>
              <a:t>Arecipites</a:t>
            </a:r>
          </a:p>
        </p:txBody>
      </p:sp>
      <p:pic>
        <p:nvPicPr>
          <p:cNvPr id="13" name="Picture 12" descr="shard_0_target_027_crop.png"/>
          <p:cNvPicPr>
            <a:picLocks noChangeAspect="1"/>
          </p:cNvPicPr>
          <p:nvPr/>
        </p:nvPicPr>
        <p:blipFill>
          <a:blip r:embed="rId3"/>
          <a:stretch>
            <a:fillRect/>
          </a:stretch>
        </p:blipFill>
        <p:spPr>
          <a:xfrm>
            <a:off x="9029700" y="1765300"/>
            <a:ext cx="2539999" cy="2539999"/>
          </a:xfrm>
          <a:prstGeom prst="rect">
            <a:avLst/>
          </a:prstGeom>
        </p:spPr>
      </p:pic>
      <p:sp>
        <p:nvSpPr>
          <p:cNvPr id="14" name="TextBox 13"/>
          <p:cNvSpPr txBox="1"/>
          <p:nvPr/>
        </p:nvSpPr>
        <p:spPr>
          <a:xfrm>
            <a:off x="9029700" y="4457700"/>
            <a:ext cx="2667000" cy="309880"/>
          </a:xfrm>
          <a:prstGeom prst="rect">
            <a:avLst/>
          </a:prstGeom>
          <a:noFill/>
        </p:spPr>
        <p:txBody>
          <a:bodyPr wrap="none" lIns="0" rIns="0" tIns="0" bIns="0">
            <a:spAutoFit/>
          </a:bodyPr>
          <a:lstStyle/>
          <a:p>
            <a:pPr>
              <a:lnSpc>
                <a:spcPts val="2039"/>
              </a:lnSpc>
              <a:spcAft>
                <a:spcPts val="0"/>
              </a:spcAft>
              <a:defRPr sz="1700" b="1">
                <a:solidFill>
                  <a:srgbClr val="087F83"/>
                </a:solidFill>
                <a:latin typeface="Lato"/>
              </a:defRPr>
            </a:pPr>
            <a:r>
              <a:t>Bombacacidites</a:t>
            </a:r>
          </a:p>
        </p:txBody>
      </p:sp>
      <p:sp>
        <p:nvSpPr>
          <p:cNvPr id="15" name="TextBox 14"/>
          <p:cNvSpPr txBox="1"/>
          <p:nvPr/>
        </p:nvSpPr>
        <p:spPr>
          <a:xfrm>
            <a:off x="6286500" y="4902200"/>
            <a:ext cx="5397500" cy="248920"/>
          </a:xfrm>
          <a:prstGeom prst="rect">
            <a:avLst/>
          </a:prstGeom>
          <a:noFill/>
        </p:spPr>
        <p:txBody>
          <a:bodyPr wrap="none" lIns="0" rIns="0" tIns="0" bIns="0">
            <a:spAutoFit/>
          </a:bodyPr>
          <a:lstStyle/>
          <a:p>
            <a:pPr>
              <a:lnSpc>
                <a:spcPts val="1560"/>
              </a:lnSpc>
              <a:spcAft>
                <a:spcPts val="0"/>
              </a:spcAft>
              <a:defRPr sz="1300" b="0">
                <a:solidFill>
                  <a:srgbClr val="576C73"/>
                </a:solidFill>
                <a:latin typeface="Lato"/>
              </a:defRPr>
            </a:pPr>
            <a:r>
              <a:t>Real specimens • expert annotation labels</a:t>
            </a:r>
          </a:p>
        </p:txBody>
      </p:sp>
      <p:sp>
        <p:nvSpPr>
          <p:cNvPr id="16" name="Rectangle 15"/>
          <p:cNvSpPr/>
          <p:nvPr/>
        </p:nvSpPr>
        <p:spPr>
          <a:xfrm>
            <a:off x="457200" y="5638800"/>
            <a:ext cx="11277600" cy="5461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087F83"/>
                </a:solidFill>
                <a:latin typeface="Lato"/>
              </a:defRPr>
            </a:pPr>
            <a:r>
              <a:t>Our task: find specimens, identify their category, support expert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02 / THE DATA</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143842"/>
                </a:solidFill>
                <a:latin typeface="Lato"/>
              </a:defRPr>
            </a:pPr>
            <a:r>
              <a:t>Rich images. Uneven category coverage.</a:t>
            </a:r>
          </a:p>
        </p:txBody>
      </p:sp>
      <p:sp>
        <p:nvSpPr>
          <p:cNvPr id="6" name="Rectangle 5"/>
          <p:cNvSpPr/>
          <p:nvPr/>
        </p:nvSpPr>
        <p:spPr>
          <a:xfrm>
            <a:off x="457200" y="6413500"/>
            <a:ext cx="11277600" cy="127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76C73"/>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2</a:t>
            </a:r>
          </a:p>
        </p:txBody>
      </p:sp>
      <p:sp>
        <p:nvSpPr>
          <p:cNvPr id="9" name="Rectangle 8"/>
          <p:cNvSpPr/>
          <p:nvPr/>
        </p:nvSpPr>
        <p:spPr>
          <a:xfrm>
            <a:off x="457200" y="1676400"/>
            <a:ext cx="3606800" cy="146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90700"/>
            <a:ext cx="3175000" cy="690880"/>
          </a:xfrm>
          <a:prstGeom prst="rect">
            <a:avLst/>
          </a:prstGeom>
          <a:noFill/>
        </p:spPr>
        <p:txBody>
          <a:bodyPr wrap="none" lIns="0" rIns="0" tIns="0" bIns="0">
            <a:spAutoFit/>
          </a:bodyPr>
          <a:lstStyle/>
          <a:p>
            <a:pPr>
              <a:lnSpc>
                <a:spcPts val="5040"/>
              </a:lnSpc>
              <a:spcAft>
                <a:spcPts val="0"/>
              </a:spcAft>
              <a:defRPr sz="4200" b="1">
                <a:solidFill>
                  <a:srgbClr val="087F83"/>
                </a:solidFill>
                <a:latin typeface="Lato"/>
              </a:defRPr>
            </a:pPr>
            <a:r>
              <a:t>83</a:t>
            </a:r>
          </a:p>
        </p:txBody>
      </p:sp>
      <p:sp>
        <p:nvSpPr>
          <p:cNvPr id="11" name="TextBox 10"/>
          <p:cNvSpPr txBox="1"/>
          <p:nvPr/>
        </p:nvSpPr>
        <p:spPr>
          <a:xfrm>
            <a:off x="685800" y="2590800"/>
            <a:ext cx="3175000" cy="309880"/>
          </a:xfrm>
          <a:prstGeom prst="rect">
            <a:avLst/>
          </a:prstGeom>
          <a:noFill/>
        </p:spPr>
        <p:txBody>
          <a:bodyPr wrap="none" lIns="0" rIns="0" tIns="0" bIns="0">
            <a:spAutoFit/>
          </a:bodyPr>
          <a:lstStyle/>
          <a:p>
            <a:pPr>
              <a:lnSpc>
                <a:spcPts val="2039"/>
              </a:lnSpc>
              <a:spcAft>
                <a:spcPts val="0"/>
              </a:spcAft>
              <a:defRPr sz="1700" b="0">
                <a:solidFill>
                  <a:srgbClr val="576C73"/>
                </a:solidFill>
                <a:latin typeface="Lato"/>
              </a:defRPr>
            </a:pPr>
            <a:r>
              <a:t>annotated slides</a:t>
            </a:r>
          </a:p>
        </p:txBody>
      </p:sp>
      <p:sp>
        <p:nvSpPr>
          <p:cNvPr id="12" name="Rectangle 11"/>
          <p:cNvSpPr/>
          <p:nvPr/>
        </p:nvSpPr>
        <p:spPr>
          <a:xfrm>
            <a:off x="4292600" y="1676400"/>
            <a:ext cx="3606800" cy="146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1790700"/>
            <a:ext cx="3175000" cy="690880"/>
          </a:xfrm>
          <a:prstGeom prst="rect">
            <a:avLst/>
          </a:prstGeom>
          <a:noFill/>
        </p:spPr>
        <p:txBody>
          <a:bodyPr wrap="none" lIns="0" rIns="0" tIns="0" bIns="0">
            <a:spAutoFit/>
          </a:bodyPr>
          <a:lstStyle/>
          <a:p>
            <a:pPr>
              <a:lnSpc>
                <a:spcPts val="5040"/>
              </a:lnSpc>
              <a:spcAft>
                <a:spcPts val="0"/>
              </a:spcAft>
              <a:defRPr sz="4200" b="1">
                <a:solidFill>
                  <a:srgbClr val="087F83"/>
                </a:solidFill>
                <a:latin typeface="Lato"/>
              </a:defRPr>
            </a:pPr>
            <a:r>
              <a:t>2,290</a:t>
            </a:r>
          </a:p>
        </p:txBody>
      </p:sp>
      <p:sp>
        <p:nvSpPr>
          <p:cNvPr id="14" name="TextBox 13"/>
          <p:cNvSpPr txBox="1"/>
          <p:nvPr/>
        </p:nvSpPr>
        <p:spPr>
          <a:xfrm>
            <a:off x="4521200" y="2590800"/>
            <a:ext cx="3175000" cy="309880"/>
          </a:xfrm>
          <a:prstGeom prst="rect">
            <a:avLst/>
          </a:prstGeom>
          <a:noFill/>
        </p:spPr>
        <p:txBody>
          <a:bodyPr wrap="none" lIns="0" rIns="0" tIns="0" bIns="0">
            <a:spAutoFit/>
          </a:bodyPr>
          <a:lstStyle/>
          <a:p>
            <a:pPr>
              <a:lnSpc>
                <a:spcPts val="2039"/>
              </a:lnSpc>
              <a:spcAft>
                <a:spcPts val="0"/>
              </a:spcAft>
              <a:defRPr sz="1700" b="0">
                <a:solidFill>
                  <a:srgbClr val="576C73"/>
                </a:solidFill>
                <a:latin typeface="Lato"/>
              </a:defRPr>
            </a:pPr>
            <a:r>
              <a:t>target annotations</a:t>
            </a:r>
          </a:p>
        </p:txBody>
      </p:sp>
      <p:sp>
        <p:nvSpPr>
          <p:cNvPr id="15" name="Rectangle 14"/>
          <p:cNvSpPr/>
          <p:nvPr/>
        </p:nvSpPr>
        <p:spPr>
          <a:xfrm>
            <a:off x="8128000" y="1676400"/>
            <a:ext cx="3606800" cy="146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1790700"/>
            <a:ext cx="3175000" cy="690880"/>
          </a:xfrm>
          <a:prstGeom prst="rect">
            <a:avLst/>
          </a:prstGeom>
          <a:noFill/>
        </p:spPr>
        <p:txBody>
          <a:bodyPr wrap="none" lIns="0" rIns="0" tIns="0" bIns="0">
            <a:spAutoFit/>
          </a:bodyPr>
          <a:lstStyle/>
          <a:p>
            <a:pPr>
              <a:lnSpc>
                <a:spcPts val="5040"/>
              </a:lnSpc>
              <a:spcAft>
                <a:spcPts val="0"/>
              </a:spcAft>
              <a:defRPr sz="4200" b="1">
                <a:solidFill>
                  <a:srgbClr val="087F83"/>
                </a:solidFill>
                <a:latin typeface="Lato"/>
              </a:defRPr>
            </a:pPr>
            <a:r>
              <a:t>32</a:t>
            </a:r>
          </a:p>
        </p:txBody>
      </p:sp>
      <p:sp>
        <p:nvSpPr>
          <p:cNvPr id="17" name="TextBox 16"/>
          <p:cNvSpPr txBox="1"/>
          <p:nvPr/>
        </p:nvSpPr>
        <p:spPr>
          <a:xfrm>
            <a:off x="8356600" y="2590800"/>
            <a:ext cx="3175000" cy="309880"/>
          </a:xfrm>
          <a:prstGeom prst="rect">
            <a:avLst/>
          </a:prstGeom>
          <a:noFill/>
        </p:spPr>
        <p:txBody>
          <a:bodyPr wrap="none" lIns="0" rIns="0" tIns="0" bIns="0">
            <a:spAutoFit/>
          </a:bodyPr>
          <a:lstStyle/>
          <a:p>
            <a:pPr>
              <a:lnSpc>
                <a:spcPts val="2039"/>
              </a:lnSpc>
              <a:spcAft>
                <a:spcPts val="0"/>
              </a:spcAft>
              <a:defRPr sz="1700" b="0">
                <a:solidFill>
                  <a:srgbClr val="576C73"/>
                </a:solidFill>
                <a:latin typeface="Lato"/>
              </a:defRPr>
            </a:pPr>
            <a:r>
              <a:t>candidate target categories</a:t>
            </a:r>
          </a:p>
        </p:txBody>
      </p:sp>
      <p:sp>
        <p:nvSpPr>
          <p:cNvPr id="18" name="TextBox 17"/>
          <p:cNvSpPr txBox="1"/>
          <p:nvPr/>
        </p:nvSpPr>
        <p:spPr>
          <a:xfrm>
            <a:off x="457200" y="3505200"/>
            <a:ext cx="5461000" cy="401320"/>
          </a:xfrm>
          <a:prstGeom prst="rect">
            <a:avLst/>
          </a:prstGeom>
          <a:noFill/>
        </p:spPr>
        <p:txBody>
          <a:bodyPr wrap="none" lIns="0" rIns="0" tIns="0" bIns="0">
            <a:spAutoFit/>
          </a:bodyPr>
          <a:lstStyle/>
          <a:p>
            <a:pPr>
              <a:lnSpc>
                <a:spcPts val="2760"/>
              </a:lnSpc>
              <a:spcAft>
                <a:spcPts val="0"/>
              </a:spcAft>
              <a:defRPr sz="2300" b="1">
                <a:solidFill>
                  <a:srgbClr val="143842"/>
                </a:solidFill>
                <a:latin typeface="Lato"/>
              </a:defRPr>
            </a:pPr>
            <a:r>
              <a:t>Multiple focal depths per slide</a:t>
            </a:r>
          </a:p>
        </p:txBody>
      </p:sp>
      <p:sp>
        <p:nvSpPr>
          <p:cNvPr id="19" name="TextBox 18"/>
          <p:cNvSpPr txBox="1"/>
          <p:nvPr/>
        </p:nvSpPr>
        <p:spPr>
          <a:xfrm>
            <a:off x="457200" y="4013200"/>
            <a:ext cx="5334000" cy="660400"/>
          </a:xfrm>
          <a:prstGeom prst="rect">
            <a:avLst/>
          </a:prstGeom>
          <a:noFill/>
        </p:spPr>
        <p:txBody>
          <a:bodyPr wrap="none" lIns="0" rIns="0" tIns="0" bIns="0">
            <a:spAutoFit/>
          </a:bodyPr>
          <a:lstStyle/>
          <a:p>
            <a:pPr>
              <a:lnSpc>
                <a:spcPts val="2400"/>
              </a:lnSpc>
              <a:spcAft>
                <a:spcPts val="0"/>
              </a:spcAft>
              <a:defRPr sz="2000" b="0">
                <a:solidFill>
                  <a:srgbClr val="576C73"/>
                </a:solidFill>
                <a:latin typeface="Lato"/>
              </a:defRPr>
            </a:pPr>
            <a:r>
              <a:t>Read small image regions on Rice’s cluster;</a:t>
            </a:r>
          </a:p>
          <a:p>
            <a:pPr>
              <a:lnSpc>
                <a:spcPts val="2400"/>
              </a:lnSpc>
              <a:spcAft>
                <a:spcPts val="0"/>
              </a:spcAft>
              <a:defRPr sz="2000" b="0">
                <a:solidFill>
                  <a:srgbClr val="576C73"/>
                </a:solidFill>
                <a:latin typeface="Lato"/>
              </a:defRPr>
            </a:pPr>
            <a:r>
              <a:t>preserve the original labels and locations.</a:t>
            </a:r>
          </a:p>
        </p:txBody>
      </p:sp>
      <p:sp>
        <p:nvSpPr>
          <p:cNvPr id="20" name="TextBox 19"/>
          <p:cNvSpPr txBox="1"/>
          <p:nvPr/>
        </p:nvSpPr>
        <p:spPr>
          <a:xfrm>
            <a:off x="6451600" y="3530600"/>
            <a:ext cx="4508500" cy="309880"/>
          </a:xfrm>
          <a:prstGeom prst="rect">
            <a:avLst/>
          </a:prstGeom>
          <a:noFill/>
        </p:spPr>
        <p:txBody>
          <a:bodyPr wrap="none" lIns="0" rIns="0" tIns="0" bIns="0">
            <a:spAutoFit/>
          </a:bodyPr>
          <a:lstStyle/>
          <a:p>
            <a:pPr>
              <a:lnSpc>
                <a:spcPts val="2039"/>
              </a:lnSpc>
              <a:spcAft>
                <a:spcPts val="0"/>
              </a:spcAft>
              <a:defRPr sz="1700" b="1">
                <a:solidFill>
                  <a:srgbClr val="143842"/>
                </a:solidFill>
                <a:latin typeface="Lato"/>
              </a:defRPr>
            </a:pPr>
            <a:r>
              <a:t>Bisaccate</a:t>
            </a:r>
          </a:p>
        </p:txBody>
      </p:sp>
      <p:sp>
        <p:nvSpPr>
          <p:cNvPr id="21" name="Rectangle 20"/>
          <p:cNvSpPr/>
          <p:nvPr/>
        </p:nvSpPr>
        <p:spPr>
          <a:xfrm>
            <a:off x="6451600" y="3886200"/>
            <a:ext cx="4381500" cy="1524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51600" y="3886200"/>
            <a:ext cx="4381500" cy="1524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023600" y="3746500"/>
            <a:ext cx="762000" cy="355600"/>
          </a:xfrm>
          <a:prstGeom prst="rect">
            <a:avLst/>
          </a:prstGeom>
          <a:noFill/>
        </p:spPr>
        <p:txBody>
          <a:bodyPr wrap="none" lIns="0" rIns="0" tIns="0" bIns="0">
            <a:spAutoFit/>
          </a:bodyPr>
          <a:lstStyle/>
          <a:p>
            <a:pPr>
              <a:lnSpc>
                <a:spcPts val="2400"/>
              </a:lnSpc>
              <a:spcAft>
                <a:spcPts val="0"/>
              </a:spcAft>
              <a:defRPr sz="2000" b="1">
                <a:solidFill>
                  <a:srgbClr val="087F83"/>
                </a:solidFill>
                <a:latin typeface="Lato"/>
              </a:defRPr>
            </a:pPr>
            <a:r>
              <a:t>316</a:t>
            </a:r>
          </a:p>
        </p:txBody>
      </p:sp>
      <p:sp>
        <p:nvSpPr>
          <p:cNvPr id="24" name="TextBox 23"/>
          <p:cNvSpPr txBox="1"/>
          <p:nvPr/>
        </p:nvSpPr>
        <p:spPr>
          <a:xfrm>
            <a:off x="6451600" y="4305300"/>
            <a:ext cx="4508500" cy="309880"/>
          </a:xfrm>
          <a:prstGeom prst="rect">
            <a:avLst/>
          </a:prstGeom>
          <a:noFill/>
        </p:spPr>
        <p:txBody>
          <a:bodyPr wrap="none" lIns="0" rIns="0" tIns="0" bIns="0">
            <a:spAutoFit/>
          </a:bodyPr>
          <a:lstStyle/>
          <a:p>
            <a:pPr>
              <a:lnSpc>
                <a:spcPts val="2039"/>
              </a:lnSpc>
              <a:spcAft>
                <a:spcPts val="0"/>
              </a:spcAft>
              <a:defRPr sz="1700" b="1">
                <a:solidFill>
                  <a:srgbClr val="143842"/>
                </a:solidFill>
                <a:latin typeface="Lato"/>
              </a:defRPr>
            </a:pPr>
            <a:r>
              <a:t>Cupuliferoipollenites sp.</a:t>
            </a:r>
          </a:p>
        </p:txBody>
      </p:sp>
      <p:sp>
        <p:nvSpPr>
          <p:cNvPr id="25" name="Rectangle 24"/>
          <p:cNvSpPr/>
          <p:nvPr/>
        </p:nvSpPr>
        <p:spPr>
          <a:xfrm>
            <a:off x="6451600" y="4660900"/>
            <a:ext cx="4381500" cy="1524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51600" y="4660900"/>
            <a:ext cx="374368" cy="1524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023600" y="4521200"/>
            <a:ext cx="762000" cy="355600"/>
          </a:xfrm>
          <a:prstGeom prst="rect">
            <a:avLst/>
          </a:prstGeom>
          <a:noFill/>
        </p:spPr>
        <p:txBody>
          <a:bodyPr wrap="none" lIns="0" rIns="0" tIns="0" bIns="0">
            <a:spAutoFit/>
          </a:bodyPr>
          <a:lstStyle/>
          <a:p>
            <a:pPr>
              <a:lnSpc>
                <a:spcPts val="2400"/>
              </a:lnSpc>
              <a:spcAft>
                <a:spcPts val="0"/>
              </a:spcAft>
              <a:defRPr sz="2000" b="1">
                <a:solidFill>
                  <a:srgbClr val="087F83"/>
                </a:solidFill>
                <a:latin typeface="Lato"/>
              </a:defRPr>
            </a:pPr>
            <a:r>
              <a:t>27</a:t>
            </a:r>
          </a:p>
        </p:txBody>
      </p:sp>
      <p:sp>
        <p:nvSpPr>
          <p:cNvPr id="28" name="Rectangle 27"/>
          <p:cNvSpPr/>
          <p:nvPr/>
        </p:nvSpPr>
        <p:spPr>
          <a:xfrm>
            <a:off x="457200" y="5638800"/>
            <a:ext cx="11277600" cy="5461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087F83"/>
                </a:solidFill>
                <a:latin typeface="Lato"/>
              </a:defRPr>
            </a:pPr>
            <a:r>
              <a:t>11,275 named annotations overall; 2,290 are in the initial target groups.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03 / THE COMPARISON</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143842"/>
                </a:solidFill>
                <a:latin typeface="Lato"/>
              </a:defRPr>
            </a:pPr>
            <a:r>
              <a:t>One joint model—or two specialized stages?</a:t>
            </a:r>
          </a:p>
        </p:txBody>
      </p:sp>
      <p:sp>
        <p:nvSpPr>
          <p:cNvPr id="6" name="Rectangle 5"/>
          <p:cNvSpPr/>
          <p:nvPr/>
        </p:nvSpPr>
        <p:spPr>
          <a:xfrm>
            <a:off x="457200" y="6413500"/>
            <a:ext cx="11277600" cy="127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76C73"/>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3</a:t>
            </a:r>
          </a:p>
        </p:txBody>
      </p:sp>
      <p:sp>
        <p:nvSpPr>
          <p:cNvPr id="9" name="TextBox 8"/>
          <p:cNvSpPr txBox="1"/>
          <p:nvPr/>
        </p:nvSpPr>
        <p:spPr>
          <a:xfrm>
            <a:off x="457200" y="1638300"/>
            <a:ext cx="11049000" cy="264160"/>
          </a:xfrm>
          <a:prstGeom prst="rect">
            <a:avLst/>
          </a:prstGeom>
          <a:noFill/>
        </p:spPr>
        <p:txBody>
          <a:bodyPr wrap="none" lIns="0" rIns="0" tIns="0" bIns="0">
            <a:spAutoFit/>
          </a:bodyPr>
          <a:lstStyle/>
          <a:p>
            <a:pPr>
              <a:lnSpc>
                <a:spcPts val="1680"/>
              </a:lnSpc>
              <a:spcAft>
                <a:spcPts val="0"/>
              </a:spcAft>
              <a:defRPr sz="1400" b="1">
                <a:solidFill>
                  <a:srgbClr val="087F83"/>
                </a:solidFill>
                <a:latin typeface="Lato"/>
              </a:defRPr>
            </a:pPr>
            <a:r>
              <a:t>A / JOINT DETECTION + IDENTIFICATION</a:t>
            </a:r>
          </a:p>
        </p:txBody>
      </p:sp>
      <p:sp>
        <p:nvSpPr>
          <p:cNvPr id="10" name="Rectangle 9"/>
          <p:cNvSpPr/>
          <p:nvPr/>
        </p:nvSpPr>
        <p:spPr>
          <a:xfrm>
            <a:off x="457200" y="1993900"/>
            <a:ext cx="2413000" cy="11049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260600"/>
            <a:ext cx="2057400" cy="690880"/>
          </a:xfrm>
          <a:prstGeom prst="rect">
            <a:avLst/>
          </a:prstGeom>
          <a:noFill/>
        </p:spPr>
        <p:txBody>
          <a:bodyPr wrap="none" lIns="0" rIns="0" tIns="0" bIns="0">
            <a:spAutoFit/>
          </a:bodyPr>
          <a:lstStyle/>
          <a:p>
            <a:pPr>
              <a:lnSpc>
                <a:spcPts val="2520"/>
              </a:lnSpc>
              <a:spcAft>
                <a:spcPts val="0"/>
              </a:spcAft>
              <a:defRPr sz="2100" b="1">
                <a:solidFill>
                  <a:srgbClr val="143842"/>
                </a:solidFill>
                <a:latin typeface="Lato"/>
              </a:defRPr>
            </a:pPr>
            <a:r>
              <a:t>Focus-stacked</a:t>
            </a:r>
          </a:p>
          <a:p>
            <a:pPr>
              <a:lnSpc>
                <a:spcPts val="2520"/>
              </a:lnSpc>
              <a:spcAft>
                <a:spcPts val="0"/>
              </a:spcAft>
              <a:defRPr sz="2100" b="1">
                <a:solidFill>
                  <a:srgbClr val="143842"/>
                </a:solidFill>
                <a:latin typeface="Lato"/>
              </a:defRPr>
            </a:pPr>
            <a:r>
              <a:t>image tiles</a:t>
            </a:r>
          </a:p>
        </p:txBody>
      </p:sp>
      <p:sp>
        <p:nvSpPr>
          <p:cNvPr id="12" name="Rectangle 11"/>
          <p:cNvSpPr/>
          <p:nvPr/>
        </p:nvSpPr>
        <p:spPr>
          <a:xfrm>
            <a:off x="3467100" y="1993900"/>
            <a:ext cx="3898900" cy="11049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44900" y="2260600"/>
            <a:ext cx="3543300" cy="690880"/>
          </a:xfrm>
          <a:prstGeom prst="rect">
            <a:avLst/>
          </a:prstGeom>
          <a:noFill/>
        </p:spPr>
        <p:txBody>
          <a:bodyPr wrap="none" lIns="0" rIns="0" tIns="0" bIns="0">
            <a:spAutoFit/>
          </a:bodyPr>
          <a:lstStyle/>
          <a:p>
            <a:pPr>
              <a:lnSpc>
                <a:spcPts val="2520"/>
              </a:lnSpc>
              <a:spcAft>
                <a:spcPts val="0"/>
              </a:spcAft>
              <a:defRPr sz="2100" b="1">
                <a:solidFill>
                  <a:srgbClr val="FFFFFF"/>
                </a:solidFill>
                <a:latin typeface="Lato"/>
              </a:defRPr>
            </a:pPr>
            <a:r>
              <a:t>Multiclass RF-DETR</a:t>
            </a:r>
          </a:p>
          <a:p>
            <a:pPr>
              <a:lnSpc>
                <a:spcPts val="2520"/>
              </a:lnSpc>
              <a:spcAft>
                <a:spcPts val="0"/>
              </a:spcAft>
              <a:defRPr sz="2100" b="1">
                <a:solidFill>
                  <a:srgbClr val="FFFFFF"/>
                </a:solidFill>
                <a:latin typeface="Lato"/>
              </a:defRPr>
            </a:pPr>
            <a:r>
              <a:t>Find + identify</a:t>
            </a:r>
          </a:p>
        </p:txBody>
      </p:sp>
      <p:sp>
        <p:nvSpPr>
          <p:cNvPr id="14" name="Rectangle 13"/>
          <p:cNvSpPr/>
          <p:nvPr/>
        </p:nvSpPr>
        <p:spPr>
          <a:xfrm>
            <a:off x="7962900" y="1993900"/>
            <a:ext cx="3771900" cy="11049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40700" y="2260600"/>
            <a:ext cx="3416300" cy="690880"/>
          </a:xfrm>
          <a:prstGeom prst="rect">
            <a:avLst/>
          </a:prstGeom>
          <a:noFill/>
        </p:spPr>
        <p:txBody>
          <a:bodyPr wrap="none" lIns="0" rIns="0" tIns="0" bIns="0">
            <a:spAutoFit/>
          </a:bodyPr>
          <a:lstStyle/>
          <a:p>
            <a:pPr>
              <a:lnSpc>
                <a:spcPts val="2520"/>
              </a:lnSpc>
              <a:spcAft>
                <a:spcPts val="0"/>
              </a:spcAft>
              <a:defRPr sz="2100" b="1">
                <a:solidFill>
                  <a:srgbClr val="143842"/>
                </a:solidFill>
                <a:latin typeface="Lato"/>
              </a:defRPr>
            </a:pPr>
            <a:r>
              <a:t>Locations + categories</a:t>
            </a:r>
          </a:p>
          <a:p>
            <a:pPr>
              <a:lnSpc>
                <a:spcPts val="2520"/>
              </a:lnSpc>
              <a:spcAft>
                <a:spcPts val="0"/>
              </a:spcAft>
              <a:defRPr sz="2100" b="1">
                <a:solidFill>
                  <a:srgbClr val="143842"/>
                </a:solidFill>
                <a:latin typeface="Lato"/>
              </a:defRPr>
            </a:pPr>
            <a:r>
              <a:t>+ scores</a:t>
            </a:r>
          </a:p>
        </p:txBody>
      </p:sp>
      <p:sp>
        <p:nvSpPr>
          <p:cNvPr id="16" name="TextBox 15"/>
          <p:cNvSpPr txBox="1"/>
          <p:nvPr/>
        </p:nvSpPr>
        <p:spPr>
          <a:xfrm>
            <a:off x="2984500" y="2286000"/>
            <a:ext cx="419100" cy="462280"/>
          </a:xfrm>
          <a:prstGeom prst="rect">
            <a:avLst/>
          </a:prstGeom>
          <a:noFill/>
        </p:spPr>
        <p:txBody>
          <a:bodyPr wrap="none" lIns="0" rIns="0" tIns="0" bIns="0">
            <a:spAutoFit/>
          </a:bodyPr>
          <a:lstStyle/>
          <a:p>
            <a:pPr>
              <a:lnSpc>
                <a:spcPts val="3240"/>
              </a:lnSpc>
              <a:spcAft>
                <a:spcPts val="0"/>
              </a:spcAft>
              <a:defRPr sz="2700" b="1">
                <a:solidFill>
                  <a:srgbClr val="087F83"/>
                </a:solidFill>
                <a:latin typeface="Lato"/>
              </a:defRPr>
            </a:pPr>
            <a:r>
              <a:t>→</a:t>
            </a:r>
          </a:p>
        </p:txBody>
      </p:sp>
      <p:sp>
        <p:nvSpPr>
          <p:cNvPr id="17" name="TextBox 16"/>
          <p:cNvSpPr txBox="1"/>
          <p:nvPr/>
        </p:nvSpPr>
        <p:spPr>
          <a:xfrm>
            <a:off x="7493000" y="2286000"/>
            <a:ext cx="419100" cy="462280"/>
          </a:xfrm>
          <a:prstGeom prst="rect">
            <a:avLst/>
          </a:prstGeom>
          <a:noFill/>
        </p:spPr>
        <p:txBody>
          <a:bodyPr wrap="none" lIns="0" rIns="0" tIns="0" bIns="0">
            <a:spAutoFit/>
          </a:bodyPr>
          <a:lstStyle/>
          <a:p>
            <a:pPr>
              <a:lnSpc>
                <a:spcPts val="3240"/>
              </a:lnSpc>
              <a:spcAft>
                <a:spcPts val="0"/>
              </a:spcAft>
              <a:defRPr sz="2700" b="1">
                <a:solidFill>
                  <a:srgbClr val="087F83"/>
                </a:solidFill>
                <a:latin typeface="Lato"/>
              </a:defRPr>
            </a:pPr>
            <a:r>
              <a:t>→</a:t>
            </a:r>
          </a:p>
        </p:txBody>
      </p:sp>
      <p:sp>
        <p:nvSpPr>
          <p:cNvPr id="18" name="TextBox 17"/>
          <p:cNvSpPr txBox="1"/>
          <p:nvPr/>
        </p:nvSpPr>
        <p:spPr>
          <a:xfrm>
            <a:off x="457200" y="3530600"/>
            <a:ext cx="11049000" cy="264160"/>
          </a:xfrm>
          <a:prstGeom prst="rect">
            <a:avLst/>
          </a:prstGeom>
          <a:noFill/>
        </p:spPr>
        <p:txBody>
          <a:bodyPr wrap="none" lIns="0" rIns="0" tIns="0" bIns="0">
            <a:spAutoFit/>
          </a:bodyPr>
          <a:lstStyle/>
          <a:p>
            <a:pPr>
              <a:lnSpc>
                <a:spcPts val="1680"/>
              </a:lnSpc>
              <a:spcAft>
                <a:spcPts val="0"/>
              </a:spcAft>
              <a:defRPr sz="1400" b="1">
                <a:solidFill>
                  <a:srgbClr val="087F83"/>
                </a:solidFill>
                <a:latin typeface="Lato"/>
              </a:defRPr>
            </a:pPr>
            <a:r>
              <a:t>B / DETECTION FOLLOWED BY CLASSIFICATION</a:t>
            </a:r>
          </a:p>
        </p:txBody>
      </p:sp>
      <p:sp>
        <p:nvSpPr>
          <p:cNvPr id="19" name="Rectangle 18"/>
          <p:cNvSpPr/>
          <p:nvPr/>
        </p:nvSpPr>
        <p:spPr>
          <a:xfrm>
            <a:off x="457200" y="3924300"/>
            <a:ext cx="1955800" cy="11049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4178300"/>
            <a:ext cx="1701800" cy="599440"/>
          </a:xfrm>
          <a:prstGeom prst="rect">
            <a:avLst/>
          </a:prstGeom>
          <a:noFill/>
        </p:spPr>
        <p:txBody>
          <a:bodyPr wrap="none" lIns="0" rIns="0" tIns="0" bIns="0">
            <a:spAutoFit/>
          </a:bodyPr>
          <a:lstStyle/>
          <a:p>
            <a:pPr>
              <a:lnSpc>
                <a:spcPts val="2160"/>
              </a:lnSpc>
              <a:spcAft>
                <a:spcPts val="0"/>
              </a:spcAft>
              <a:defRPr sz="1800" b="1">
                <a:solidFill>
                  <a:srgbClr val="143842"/>
                </a:solidFill>
                <a:latin typeface="Lato"/>
              </a:defRPr>
            </a:pPr>
            <a:r>
              <a:t>Image</a:t>
            </a:r>
          </a:p>
          <a:p>
            <a:pPr>
              <a:lnSpc>
                <a:spcPts val="2160"/>
              </a:lnSpc>
              <a:spcAft>
                <a:spcPts val="0"/>
              </a:spcAft>
              <a:defRPr sz="1800" b="1">
                <a:solidFill>
                  <a:srgbClr val="143842"/>
                </a:solidFill>
                <a:latin typeface="Lato"/>
              </a:defRPr>
            </a:pPr>
            <a:r>
              <a:t>tiles</a:t>
            </a:r>
          </a:p>
        </p:txBody>
      </p:sp>
      <p:sp>
        <p:nvSpPr>
          <p:cNvPr id="21" name="Rectangle 20"/>
          <p:cNvSpPr/>
          <p:nvPr/>
        </p:nvSpPr>
        <p:spPr>
          <a:xfrm>
            <a:off x="2806700" y="3924300"/>
            <a:ext cx="2438400" cy="11049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33700" y="4178300"/>
            <a:ext cx="2184400" cy="599440"/>
          </a:xfrm>
          <a:prstGeom prst="rect">
            <a:avLst/>
          </a:prstGeom>
          <a:noFill/>
        </p:spPr>
        <p:txBody>
          <a:bodyPr wrap="none" lIns="0" rIns="0" tIns="0" bIns="0">
            <a:spAutoFit/>
          </a:bodyPr>
          <a:lstStyle/>
          <a:p>
            <a:pPr>
              <a:lnSpc>
                <a:spcPts val="2160"/>
              </a:lnSpc>
              <a:spcAft>
                <a:spcPts val="0"/>
              </a:spcAft>
              <a:defRPr sz="1800" b="1">
                <a:solidFill>
                  <a:srgbClr val="FFFFFF"/>
                </a:solidFill>
                <a:latin typeface="Lato"/>
              </a:defRPr>
            </a:pPr>
            <a:r>
              <a:t>RF-DETR</a:t>
            </a:r>
          </a:p>
          <a:p>
            <a:pPr>
              <a:lnSpc>
                <a:spcPts val="2160"/>
              </a:lnSpc>
              <a:spcAft>
                <a:spcPts val="0"/>
              </a:spcAft>
              <a:defRPr sz="1800" b="1">
                <a:solidFill>
                  <a:srgbClr val="FFFFFF"/>
                </a:solidFill>
                <a:latin typeface="Lato"/>
              </a:defRPr>
            </a:pPr>
            <a:r>
              <a:t>Find specimens</a:t>
            </a:r>
          </a:p>
        </p:txBody>
      </p:sp>
      <p:sp>
        <p:nvSpPr>
          <p:cNvPr id="23" name="Rectangle 22"/>
          <p:cNvSpPr/>
          <p:nvPr/>
        </p:nvSpPr>
        <p:spPr>
          <a:xfrm>
            <a:off x="5638800" y="3924300"/>
            <a:ext cx="1587500" cy="11049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5800" y="4178300"/>
            <a:ext cx="1333500" cy="599440"/>
          </a:xfrm>
          <a:prstGeom prst="rect">
            <a:avLst/>
          </a:prstGeom>
          <a:noFill/>
        </p:spPr>
        <p:txBody>
          <a:bodyPr wrap="none" lIns="0" rIns="0" tIns="0" bIns="0">
            <a:spAutoFit/>
          </a:bodyPr>
          <a:lstStyle/>
          <a:p>
            <a:pPr>
              <a:lnSpc>
                <a:spcPts val="2160"/>
              </a:lnSpc>
              <a:spcAft>
                <a:spcPts val="0"/>
              </a:spcAft>
              <a:defRPr sz="1800" b="1">
                <a:solidFill>
                  <a:srgbClr val="143842"/>
                </a:solidFill>
                <a:latin typeface="Lato"/>
              </a:defRPr>
            </a:pPr>
            <a:r>
              <a:t>Specimen</a:t>
            </a:r>
          </a:p>
          <a:p>
            <a:pPr>
              <a:lnSpc>
                <a:spcPts val="2160"/>
              </a:lnSpc>
              <a:spcAft>
                <a:spcPts val="0"/>
              </a:spcAft>
              <a:defRPr sz="1800" b="1">
                <a:solidFill>
                  <a:srgbClr val="143842"/>
                </a:solidFill>
                <a:latin typeface="Lato"/>
              </a:defRPr>
            </a:pPr>
            <a:r>
              <a:t>crops</a:t>
            </a:r>
          </a:p>
        </p:txBody>
      </p:sp>
      <p:sp>
        <p:nvSpPr>
          <p:cNvPr id="25" name="Rectangle 24"/>
          <p:cNvSpPr/>
          <p:nvPr/>
        </p:nvSpPr>
        <p:spPr>
          <a:xfrm>
            <a:off x="7620000" y="3924300"/>
            <a:ext cx="2374900" cy="11049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47000" y="4178300"/>
            <a:ext cx="2120900" cy="599440"/>
          </a:xfrm>
          <a:prstGeom prst="rect">
            <a:avLst/>
          </a:prstGeom>
          <a:noFill/>
        </p:spPr>
        <p:txBody>
          <a:bodyPr wrap="none" lIns="0" rIns="0" tIns="0" bIns="0">
            <a:spAutoFit/>
          </a:bodyPr>
          <a:lstStyle/>
          <a:p>
            <a:pPr>
              <a:lnSpc>
                <a:spcPts val="2160"/>
              </a:lnSpc>
              <a:spcAft>
                <a:spcPts val="0"/>
              </a:spcAft>
              <a:defRPr sz="1800" b="1">
                <a:solidFill>
                  <a:srgbClr val="FFFFFF"/>
                </a:solidFill>
                <a:latin typeface="Lato"/>
              </a:defRPr>
            </a:pPr>
            <a:r>
              <a:t>Swin-Tiny</a:t>
            </a:r>
          </a:p>
          <a:p>
            <a:pPr>
              <a:lnSpc>
                <a:spcPts val="2160"/>
              </a:lnSpc>
              <a:spcAft>
                <a:spcPts val="0"/>
              </a:spcAft>
              <a:defRPr sz="1800" b="1">
                <a:solidFill>
                  <a:srgbClr val="FFFFFF"/>
                </a:solidFill>
                <a:latin typeface="Lato"/>
              </a:defRPr>
            </a:pPr>
            <a:r>
              <a:t>Identify type</a:t>
            </a:r>
          </a:p>
        </p:txBody>
      </p:sp>
      <p:sp>
        <p:nvSpPr>
          <p:cNvPr id="27" name="Rectangle 26"/>
          <p:cNvSpPr/>
          <p:nvPr/>
        </p:nvSpPr>
        <p:spPr>
          <a:xfrm>
            <a:off x="10388600" y="3924300"/>
            <a:ext cx="1346200" cy="11049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0" y="4178300"/>
            <a:ext cx="1092200" cy="599440"/>
          </a:xfrm>
          <a:prstGeom prst="rect">
            <a:avLst/>
          </a:prstGeom>
          <a:noFill/>
        </p:spPr>
        <p:txBody>
          <a:bodyPr wrap="none" lIns="0" rIns="0" tIns="0" bIns="0">
            <a:spAutoFit/>
          </a:bodyPr>
          <a:lstStyle/>
          <a:p>
            <a:pPr>
              <a:lnSpc>
                <a:spcPts val="2160"/>
              </a:lnSpc>
              <a:spcAft>
                <a:spcPts val="0"/>
              </a:spcAft>
              <a:defRPr sz="1800" b="1">
                <a:solidFill>
                  <a:srgbClr val="143842"/>
                </a:solidFill>
                <a:latin typeface="Lato"/>
              </a:defRPr>
            </a:pPr>
            <a:r>
              <a:t>Labeled</a:t>
            </a:r>
          </a:p>
          <a:p>
            <a:pPr>
              <a:lnSpc>
                <a:spcPts val="2160"/>
              </a:lnSpc>
              <a:spcAft>
                <a:spcPts val="0"/>
              </a:spcAft>
              <a:defRPr sz="1800" b="1">
                <a:solidFill>
                  <a:srgbClr val="143842"/>
                </a:solidFill>
                <a:latin typeface="Lato"/>
              </a:defRPr>
            </a:pPr>
            <a:r>
              <a:t>results</a:t>
            </a:r>
          </a:p>
        </p:txBody>
      </p:sp>
      <p:sp>
        <p:nvSpPr>
          <p:cNvPr id="29" name="TextBox 28"/>
          <p:cNvSpPr txBox="1"/>
          <p:nvPr/>
        </p:nvSpPr>
        <p:spPr>
          <a:xfrm>
            <a:off x="2438400" y="4254500"/>
            <a:ext cx="342900" cy="386080"/>
          </a:xfrm>
          <a:prstGeom prst="rect">
            <a:avLst/>
          </a:prstGeom>
          <a:noFill/>
        </p:spPr>
        <p:txBody>
          <a:bodyPr wrap="none" lIns="0" rIns="0" tIns="0" bIns="0">
            <a:spAutoFit/>
          </a:bodyPr>
          <a:lstStyle/>
          <a:p>
            <a:pPr>
              <a:lnSpc>
                <a:spcPts val="2640"/>
              </a:lnSpc>
              <a:spcAft>
                <a:spcPts val="0"/>
              </a:spcAft>
              <a:defRPr sz="2200" b="1">
                <a:solidFill>
                  <a:srgbClr val="087F83"/>
                </a:solidFill>
                <a:latin typeface="Lato"/>
              </a:defRPr>
            </a:pPr>
            <a:r>
              <a:t>→</a:t>
            </a:r>
          </a:p>
        </p:txBody>
      </p:sp>
      <p:sp>
        <p:nvSpPr>
          <p:cNvPr id="30" name="TextBox 29"/>
          <p:cNvSpPr txBox="1"/>
          <p:nvPr/>
        </p:nvSpPr>
        <p:spPr>
          <a:xfrm>
            <a:off x="5270500" y="4254500"/>
            <a:ext cx="342900" cy="386080"/>
          </a:xfrm>
          <a:prstGeom prst="rect">
            <a:avLst/>
          </a:prstGeom>
          <a:noFill/>
        </p:spPr>
        <p:txBody>
          <a:bodyPr wrap="none" lIns="0" rIns="0" tIns="0" bIns="0">
            <a:spAutoFit/>
          </a:bodyPr>
          <a:lstStyle/>
          <a:p>
            <a:pPr>
              <a:lnSpc>
                <a:spcPts val="2640"/>
              </a:lnSpc>
              <a:spcAft>
                <a:spcPts val="0"/>
              </a:spcAft>
              <a:defRPr sz="2200" b="1">
                <a:solidFill>
                  <a:srgbClr val="087F83"/>
                </a:solidFill>
                <a:latin typeface="Lato"/>
              </a:defRPr>
            </a:pPr>
            <a:r>
              <a:t>→</a:t>
            </a:r>
          </a:p>
        </p:txBody>
      </p:sp>
      <p:sp>
        <p:nvSpPr>
          <p:cNvPr id="31" name="TextBox 30"/>
          <p:cNvSpPr txBox="1"/>
          <p:nvPr/>
        </p:nvSpPr>
        <p:spPr>
          <a:xfrm>
            <a:off x="7251700" y="4254500"/>
            <a:ext cx="342900" cy="386080"/>
          </a:xfrm>
          <a:prstGeom prst="rect">
            <a:avLst/>
          </a:prstGeom>
          <a:noFill/>
        </p:spPr>
        <p:txBody>
          <a:bodyPr wrap="none" lIns="0" rIns="0" tIns="0" bIns="0">
            <a:spAutoFit/>
          </a:bodyPr>
          <a:lstStyle/>
          <a:p>
            <a:pPr>
              <a:lnSpc>
                <a:spcPts val="2640"/>
              </a:lnSpc>
              <a:spcAft>
                <a:spcPts val="0"/>
              </a:spcAft>
              <a:defRPr sz="2200" b="1">
                <a:solidFill>
                  <a:srgbClr val="087F83"/>
                </a:solidFill>
                <a:latin typeface="Lato"/>
              </a:defRPr>
            </a:pPr>
            <a:r>
              <a:t>→</a:t>
            </a:r>
          </a:p>
        </p:txBody>
      </p:sp>
      <p:sp>
        <p:nvSpPr>
          <p:cNvPr id="32" name="TextBox 31"/>
          <p:cNvSpPr txBox="1"/>
          <p:nvPr/>
        </p:nvSpPr>
        <p:spPr>
          <a:xfrm>
            <a:off x="10020300" y="4254500"/>
            <a:ext cx="342900" cy="386080"/>
          </a:xfrm>
          <a:prstGeom prst="rect">
            <a:avLst/>
          </a:prstGeom>
          <a:noFill/>
        </p:spPr>
        <p:txBody>
          <a:bodyPr wrap="none" lIns="0" rIns="0" tIns="0" bIns="0">
            <a:spAutoFit/>
          </a:bodyPr>
          <a:lstStyle/>
          <a:p>
            <a:pPr>
              <a:lnSpc>
                <a:spcPts val="2640"/>
              </a:lnSpc>
              <a:spcAft>
                <a:spcPts val="0"/>
              </a:spcAft>
              <a:defRPr sz="2200" b="1">
                <a:solidFill>
                  <a:srgbClr val="087F83"/>
                </a:solidFill>
                <a:latin typeface="Lato"/>
              </a:defRPr>
            </a:pPr>
            <a:r>
              <a:t>→</a:t>
            </a:r>
          </a:p>
        </p:txBody>
      </p:sp>
      <p:sp>
        <p:nvSpPr>
          <p:cNvPr id="33" name="Rectangle 32"/>
          <p:cNvSpPr/>
          <p:nvPr/>
        </p:nvSpPr>
        <p:spPr>
          <a:xfrm>
            <a:off x="457200" y="5638800"/>
            <a:ext cx="11277600" cy="5461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087F83"/>
                </a:solidFill>
                <a:latin typeface="Lato"/>
              </a:defRPr>
            </a:pPr>
            <a:r>
              <a:t>Same categories, slide split, preprocessing, and evaluation rules.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04 / STARTING EVIDENCE</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143842"/>
                </a:solidFill>
                <a:latin typeface="Lato"/>
              </a:defRPr>
            </a:pPr>
            <a:r>
              <a:t>Existing detection models run on our images</a:t>
            </a:r>
          </a:p>
        </p:txBody>
      </p:sp>
      <p:sp>
        <p:nvSpPr>
          <p:cNvPr id="6" name="Rectangle 5"/>
          <p:cNvSpPr/>
          <p:nvPr/>
        </p:nvSpPr>
        <p:spPr>
          <a:xfrm>
            <a:off x="457200" y="6413500"/>
            <a:ext cx="11277600" cy="127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76C73"/>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4</a:t>
            </a:r>
          </a:p>
        </p:txBody>
      </p:sp>
      <p:sp>
        <p:nvSpPr>
          <p:cNvPr id="9" name="TextBox 8"/>
          <p:cNvSpPr txBox="1"/>
          <p:nvPr/>
        </p:nvSpPr>
        <p:spPr>
          <a:xfrm>
            <a:off x="457200" y="1511300"/>
            <a:ext cx="11277600" cy="355600"/>
          </a:xfrm>
          <a:prstGeom prst="rect">
            <a:avLst/>
          </a:prstGeom>
          <a:noFill/>
        </p:spPr>
        <p:txBody>
          <a:bodyPr wrap="none" lIns="0" rIns="0" tIns="0" bIns="0">
            <a:spAutoFit/>
          </a:bodyPr>
          <a:lstStyle/>
          <a:p>
            <a:pPr>
              <a:lnSpc>
                <a:spcPts val="2400"/>
              </a:lnSpc>
              <a:spcAft>
                <a:spcPts val="0"/>
              </a:spcAft>
              <a:defRPr sz="2000" b="0">
                <a:solidFill>
                  <a:srgbClr val="576C73"/>
                </a:solidFill>
                <a:latin typeface="Lato"/>
              </a:defRPr>
            </a:pPr>
            <a:r>
              <a:t>64 known targets • 29 slides • two frozen YOLO checkpoints</a:t>
            </a:r>
          </a:p>
        </p:txBody>
      </p:sp>
      <p:sp>
        <p:nvSpPr>
          <p:cNvPr id="10" name="Rectangle 9"/>
          <p:cNvSpPr/>
          <p:nvPr/>
        </p:nvSpPr>
        <p:spPr>
          <a:xfrm>
            <a:off x="457200" y="2336800"/>
            <a:ext cx="5524500" cy="2108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300" y="2565400"/>
            <a:ext cx="4953000" cy="904240"/>
          </a:xfrm>
          <a:prstGeom prst="rect">
            <a:avLst/>
          </a:prstGeom>
          <a:noFill/>
        </p:spPr>
        <p:txBody>
          <a:bodyPr wrap="none" lIns="0" rIns="0" tIns="0" bIns="0">
            <a:spAutoFit/>
          </a:bodyPr>
          <a:lstStyle/>
          <a:p>
            <a:pPr>
              <a:lnSpc>
                <a:spcPts val="6720"/>
              </a:lnSpc>
              <a:spcAft>
                <a:spcPts val="0"/>
              </a:spcAft>
              <a:defRPr sz="5600" b="1">
                <a:solidFill>
                  <a:srgbClr val="087F83"/>
                </a:solidFill>
                <a:latin typeface="Lato"/>
              </a:defRPr>
            </a:pPr>
            <a:r>
              <a:t>54 / 64</a:t>
            </a:r>
          </a:p>
        </p:txBody>
      </p:sp>
      <p:sp>
        <p:nvSpPr>
          <p:cNvPr id="12" name="TextBox 11"/>
          <p:cNvSpPr txBox="1"/>
          <p:nvPr/>
        </p:nvSpPr>
        <p:spPr>
          <a:xfrm>
            <a:off x="749300" y="3556000"/>
            <a:ext cx="4953000" cy="401320"/>
          </a:xfrm>
          <a:prstGeom prst="rect">
            <a:avLst/>
          </a:prstGeom>
          <a:noFill/>
        </p:spPr>
        <p:txBody>
          <a:bodyPr wrap="none" lIns="0" rIns="0" tIns="0" bIns="0">
            <a:spAutoFit/>
          </a:bodyPr>
          <a:lstStyle/>
          <a:p>
            <a:pPr>
              <a:lnSpc>
                <a:spcPts val="2760"/>
              </a:lnSpc>
              <a:spcAft>
                <a:spcPts val="0"/>
              </a:spcAft>
              <a:defRPr sz="2300" b="1">
                <a:solidFill>
                  <a:srgbClr val="143842"/>
                </a:solidFill>
                <a:latin typeface="Lato"/>
              </a:defRPr>
            </a:pPr>
            <a:r>
              <a:t>Best focal plane</a:t>
            </a:r>
          </a:p>
        </p:txBody>
      </p:sp>
      <p:sp>
        <p:nvSpPr>
          <p:cNvPr id="13" name="Rectangle 12"/>
          <p:cNvSpPr/>
          <p:nvPr/>
        </p:nvSpPr>
        <p:spPr>
          <a:xfrm>
            <a:off x="6210300" y="2336800"/>
            <a:ext cx="5524500" cy="2108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2400" y="2565400"/>
            <a:ext cx="4953000" cy="904240"/>
          </a:xfrm>
          <a:prstGeom prst="rect">
            <a:avLst/>
          </a:prstGeom>
          <a:noFill/>
        </p:spPr>
        <p:txBody>
          <a:bodyPr wrap="none" lIns="0" rIns="0" tIns="0" bIns="0">
            <a:spAutoFit/>
          </a:bodyPr>
          <a:lstStyle/>
          <a:p>
            <a:pPr>
              <a:lnSpc>
                <a:spcPts val="6720"/>
              </a:lnSpc>
              <a:spcAft>
                <a:spcPts val="0"/>
              </a:spcAft>
              <a:defRPr sz="5600" b="1">
                <a:solidFill>
                  <a:srgbClr val="087F83"/>
                </a:solidFill>
                <a:latin typeface="Lato"/>
              </a:defRPr>
            </a:pPr>
            <a:r>
              <a:t>51 / 64</a:t>
            </a:r>
          </a:p>
        </p:txBody>
      </p:sp>
      <p:sp>
        <p:nvSpPr>
          <p:cNvPr id="15" name="TextBox 14"/>
          <p:cNvSpPr txBox="1"/>
          <p:nvPr/>
        </p:nvSpPr>
        <p:spPr>
          <a:xfrm>
            <a:off x="6502400" y="3556000"/>
            <a:ext cx="4953000" cy="401320"/>
          </a:xfrm>
          <a:prstGeom prst="rect">
            <a:avLst/>
          </a:prstGeom>
          <a:noFill/>
        </p:spPr>
        <p:txBody>
          <a:bodyPr wrap="none" lIns="0" rIns="0" tIns="0" bIns="0">
            <a:spAutoFit/>
          </a:bodyPr>
          <a:lstStyle/>
          <a:p>
            <a:pPr>
              <a:lnSpc>
                <a:spcPts val="2760"/>
              </a:lnSpc>
              <a:spcAft>
                <a:spcPts val="0"/>
              </a:spcAft>
              <a:defRPr sz="2300" b="1">
                <a:solidFill>
                  <a:srgbClr val="143842"/>
                </a:solidFill>
                <a:latin typeface="Lato"/>
              </a:defRPr>
            </a:pPr>
            <a:r>
              <a:t>Focus stack</a:t>
            </a:r>
          </a:p>
        </p:txBody>
      </p:sp>
      <p:sp>
        <p:nvSpPr>
          <p:cNvPr id="16" name="TextBox 15"/>
          <p:cNvSpPr txBox="1"/>
          <p:nvPr/>
        </p:nvSpPr>
        <p:spPr>
          <a:xfrm>
            <a:off x="457200" y="4711700"/>
            <a:ext cx="11277600" cy="309880"/>
          </a:xfrm>
          <a:prstGeom prst="rect">
            <a:avLst/>
          </a:prstGeom>
          <a:noFill/>
        </p:spPr>
        <p:txBody>
          <a:bodyPr wrap="none" lIns="0" rIns="0" tIns="0" bIns="0">
            <a:spAutoFit/>
          </a:bodyPr>
          <a:lstStyle/>
          <a:p>
            <a:pPr>
              <a:lnSpc>
                <a:spcPts val="2039"/>
              </a:lnSpc>
              <a:spcAft>
                <a:spcPts val="0"/>
              </a:spcAft>
              <a:defRPr sz="1700" b="0">
                <a:solidFill>
                  <a:srgbClr val="576C73"/>
                </a:solidFill>
                <a:latin typeface="Lato"/>
              </a:defRPr>
            </a:pPr>
            <a:r>
              <a:t>Target recovery at confidence ≥ 0.50 and box overlap (IoU) ≥ 0.50</a:t>
            </a:r>
          </a:p>
        </p:txBody>
      </p:sp>
      <p:sp>
        <p:nvSpPr>
          <p:cNvPr id="17" name="Rectangle 16"/>
          <p:cNvSpPr/>
          <p:nvPr/>
        </p:nvSpPr>
        <p:spPr>
          <a:xfrm>
            <a:off x="457200" y="5638800"/>
            <a:ext cx="11277600" cy="5461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087F83"/>
                </a:solidFill>
                <a:latin typeface="Lato"/>
              </a:defRPr>
            </a:pPr>
            <a:r>
              <a:t>Feasibility evidence—not classification accuracy or an independent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05 / A FAIR TEST</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143842"/>
                </a:solidFill>
                <a:latin typeface="Lato"/>
              </a:defRPr>
            </a:pPr>
            <a:r>
              <a:t>Measure biological recognition—not slide familiarity</a:t>
            </a:r>
          </a:p>
        </p:txBody>
      </p:sp>
      <p:sp>
        <p:nvSpPr>
          <p:cNvPr id="6" name="Rectangle 5"/>
          <p:cNvSpPr/>
          <p:nvPr/>
        </p:nvSpPr>
        <p:spPr>
          <a:xfrm>
            <a:off x="457200" y="6413500"/>
            <a:ext cx="11277600" cy="127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76C73"/>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5</a:t>
            </a:r>
          </a:p>
        </p:txBody>
      </p:sp>
      <p:sp>
        <p:nvSpPr>
          <p:cNvPr id="9" name="Rectangle 8"/>
          <p:cNvSpPr/>
          <p:nvPr/>
        </p:nvSpPr>
        <p:spPr>
          <a:xfrm>
            <a:off x="457200" y="1854200"/>
            <a:ext cx="3606800" cy="328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82800"/>
            <a:ext cx="3111500" cy="309880"/>
          </a:xfrm>
          <a:prstGeom prst="rect">
            <a:avLst/>
          </a:prstGeom>
          <a:noFill/>
        </p:spPr>
        <p:txBody>
          <a:bodyPr wrap="none" lIns="0" rIns="0" tIns="0" bIns="0">
            <a:spAutoFit/>
          </a:bodyPr>
          <a:lstStyle/>
          <a:p>
            <a:pPr>
              <a:lnSpc>
                <a:spcPts val="2039"/>
              </a:lnSpc>
              <a:spcAft>
                <a:spcPts val="0"/>
              </a:spcAft>
              <a:defRPr sz="1700" b="1">
                <a:solidFill>
                  <a:srgbClr val="087F83"/>
                </a:solidFill>
                <a:latin typeface="Lato"/>
              </a:defRPr>
            </a:pPr>
            <a:r>
              <a:t>01</a:t>
            </a:r>
          </a:p>
        </p:txBody>
      </p:sp>
      <p:sp>
        <p:nvSpPr>
          <p:cNvPr id="11" name="TextBox 10"/>
          <p:cNvSpPr txBox="1"/>
          <p:nvPr/>
        </p:nvSpPr>
        <p:spPr>
          <a:xfrm>
            <a:off x="685800" y="2578100"/>
            <a:ext cx="3111500" cy="416559"/>
          </a:xfrm>
          <a:prstGeom prst="rect">
            <a:avLst/>
          </a:prstGeom>
          <a:noFill/>
        </p:spPr>
        <p:txBody>
          <a:bodyPr wrap="none" lIns="0" rIns="0" tIns="0" bIns="0">
            <a:spAutoFit/>
          </a:bodyPr>
          <a:lstStyle/>
          <a:p>
            <a:pPr>
              <a:lnSpc>
                <a:spcPts val="2879"/>
              </a:lnSpc>
              <a:spcAft>
                <a:spcPts val="0"/>
              </a:spcAft>
              <a:defRPr sz="2400" b="1">
                <a:solidFill>
                  <a:srgbClr val="143842"/>
                </a:solidFill>
                <a:latin typeface="Lato"/>
              </a:defRPr>
            </a:pPr>
            <a:r>
              <a:t>Separate source slides</a:t>
            </a:r>
          </a:p>
        </p:txBody>
      </p:sp>
      <p:sp>
        <p:nvSpPr>
          <p:cNvPr id="12" name="TextBox 11"/>
          <p:cNvSpPr txBox="1"/>
          <p:nvPr/>
        </p:nvSpPr>
        <p:spPr>
          <a:xfrm>
            <a:off x="685800" y="3543300"/>
            <a:ext cx="3111500" cy="919479"/>
          </a:xfrm>
          <a:prstGeom prst="rect">
            <a:avLst/>
          </a:prstGeom>
          <a:noFill/>
        </p:spPr>
        <p:txBody>
          <a:bodyPr wrap="none" lIns="0" rIns="0" tIns="0" bIns="0">
            <a:spAutoFit/>
          </a:bodyPr>
          <a:lstStyle/>
          <a:p>
            <a:pPr>
              <a:lnSpc>
                <a:spcPts val="2280"/>
              </a:lnSpc>
              <a:spcAft>
                <a:spcPts val="0"/>
              </a:spcAft>
              <a:defRPr sz="1900" b="0">
                <a:solidFill>
                  <a:srgbClr val="576C73"/>
                </a:solidFill>
                <a:latin typeface="Lato"/>
              </a:defRPr>
            </a:pPr>
            <a:r>
              <a:t>Keep each specimen and all</a:t>
            </a:r>
          </a:p>
          <a:p>
            <a:pPr>
              <a:lnSpc>
                <a:spcPts val="2280"/>
              </a:lnSpc>
              <a:spcAft>
                <a:spcPts val="0"/>
              </a:spcAft>
              <a:defRPr sz="1900" b="0">
                <a:solidFill>
                  <a:srgbClr val="576C73"/>
                </a:solidFill>
                <a:latin typeface="Lato"/>
              </a:defRPr>
            </a:pPr>
            <a:r>
              <a:t>its focal views in one data</a:t>
            </a:r>
          </a:p>
          <a:p>
            <a:pPr>
              <a:lnSpc>
                <a:spcPts val="2280"/>
              </a:lnSpc>
              <a:spcAft>
                <a:spcPts val="0"/>
              </a:spcAft>
              <a:defRPr sz="1900" b="0">
                <a:solidFill>
                  <a:srgbClr val="576C73"/>
                </a:solidFill>
                <a:latin typeface="Lato"/>
              </a:defRPr>
            </a:pPr>
            <a:r>
              <a:t>partition.</a:t>
            </a:r>
          </a:p>
        </p:txBody>
      </p:sp>
      <p:sp>
        <p:nvSpPr>
          <p:cNvPr id="13" name="Rectangle 12"/>
          <p:cNvSpPr/>
          <p:nvPr/>
        </p:nvSpPr>
        <p:spPr>
          <a:xfrm>
            <a:off x="4292600" y="1854200"/>
            <a:ext cx="3606800" cy="328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200" y="2082800"/>
            <a:ext cx="3111500" cy="309880"/>
          </a:xfrm>
          <a:prstGeom prst="rect">
            <a:avLst/>
          </a:prstGeom>
          <a:noFill/>
        </p:spPr>
        <p:txBody>
          <a:bodyPr wrap="none" lIns="0" rIns="0" tIns="0" bIns="0">
            <a:spAutoFit/>
          </a:bodyPr>
          <a:lstStyle/>
          <a:p>
            <a:pPr>
              <a:lnSpc>
                <a:spcPts val="2039"/>
              </a:lnSpc>
              <a:spcAft>
                <a:spcPts val="0"/>
              </a:spcAft>
              <a:defRPr sz="1700" b="1">
                <a:solidFill>
                  <a:srgbClr val="087F83"/>
                </a:solidFill>
                <a:latin typeface="Lato"/>
              </a:defRPr>
            </a:pPr>
            <a:r>
              <a:t>02</a:t>
            </a:r>
          </a:p>
        </p:txBody>
      </p:sp>
      <p:sp>
        <p:nvSpPr>
          <p:cNvPr id="15" name="TextBox 14"/>
          <p:cNvSpPr txBox="1"/>
          <p:nvPr/>
        </p:nvSpPr>
        <p:spPr>
          <a:xfrm>
            <a:off x="4521200" y="2578100"/>
            <a:ext cx="3111500" cy="782319"/>
          </a:xfrm>
          <a:prstGeom prst="rect">
            <a:avLst/>
          </a:prstGeom>
          <a:noFill/>
        </p:spPr>
        <p:txBody>
          <a:bodyPr wrap="none" lIns="0" rIns="0" tIns="0" bIns="0">
            <a:spAutoFit/>
          </a:bodyPr>
          <a:lstStyle/>
          <a:p>
            <a:pPr>
              <a:lnSpc>
                <a:spcPts val="2879"/>
              </a:lnSpc>
              <a:spcAft>
                <a:spcPts val="0"/>
              </a:spcAft>
              <a:defRPr sz="2400" b="1">
                <a:solidFill>
                  <a:srgbClr val="143842"/>
                </a:solidFill>
                <a:latin typeface="Lato"/>
              </a:defRPr>
            </a:pPr>
            <a:r>
              <a:t>Evaluate every</a:t>
            </a:r>
          </a:p>
          <a:p>
            <a:pPr>
              <a:lnSpc>
                <a:spcPts val="2879"/>
              </a:lnSpc>
              <a:spcAft>
                <a:spcPts val="0"/>
              </a:spcAft>
              <a:defRPr sz="2400" b="1">
                <a:solidFill>
                  <a:srgbClr val="143842"/>
                </a:solidFill>
                <a:latin typeface="Lato"/>
              </a:defRPr>
            </a:pPr>
            <a:r>
              <a:t>category</a:t>
            </a:r>
          </a:p>
        </p:txBody>
      </p:sp>
      <p:sp>
        <p:nvSpPr>
          <p:cNvPr id="16" name="TextBox 15"/>
          <p:cNvSpPr txBox="1"/>
          <p:nvPr/>
        </p:nvSpPr>
        <p:spPr>
          <a:xfrm>
            <a:off x="4521200" y="3543300"/>
            <a:ext cx="3111500" cy="919479"/>
          </a:xfrm>
          <a:prstGeom prst="rect">
            <a:avLst/>
          </a:prstGeom>
          <a:noFill/>
        </p:spPr>
        <p:txBody>
          <a:bodyPr wrap="none" lIns="0" rIns="0" tIns="0" bIns="0">
            <a:spAutoFit/>
          </a:bodyPr>
          <a:lstStyle/>
          <a:p>
            <a:pPr>
              <a:lnSpc>
                <a:spcPts val="2280"/>
              </a:lnSpc>
              <a:spcAft>
                <a:spcPts val="0"/>
              </a:spcAft>
              <a:defRPr sz="1900" b="0">
                <a:solidFill>
                  <a:srgbClr val="576C73"/>
                </a:solidFill>
                <a:latin typeface="Lato"/>
              </a:defRPr>
            </a:pPr>
            <a:r>
              <a:t>Use macro-F1, balanced</a:t>
            </a:r>
          </a:p>
          <a:p>
            <a:pPr>
              <a:lnSpc>
                <a:spcPts val="2280"/>
              </a:lnSpc>
              <a:spcAft>
                <a:spcPts val="0"/>
              </a:spcAft>
              <a:defRPr sz="1900" b="0">
                <a:solidFill>
                  <a:srgbClr val="576C73"/>
                </a:solidFill>
                <a:latin typeface="Lato"/>
              </a:defRPr>
            </a:pPr>
            <a:r>
              <a:t>accuracy, and per-category</a:t>
            </a:r>
          </a:p>
          <a:p>
            <a:pPr>
              <a:lnSpc>
                <a:spcPts val="2280"/>
              </a:lnSpc>
              <a:spcAft>
                <a:spcPts val="0"/>
              </a:spcAft>
              <a:defRPr sz="1900" b="0">
                <a:solidFill>
                  <a:srgbClr val="576C73"/>
                </a:solidFill>
                <a:latin typeface="Lato"/>
              </a:defRPr>
            </a:pPr>
            <a:r>
              <a:t>error analysis.</a:t>
            </a:r>
          </a:p>
        </p:txBody>
      </p:sp>
      <p:sp>
        <p:nvSpPr>
          <p:cNvPr id="17" name="Rectangle 16"/>
          <p:cNvSpPr/>
          <p:nvPr/>
        </p:nvSpPr>
        <p:spPr>
          <a:xfrm>
            <a:off x="8128000" y="1854200"/>
            <a:ext cx="3606800" cy="328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6600" y="2082800"/>
            <a:ext cx="3111500" cy="309880"/>
          </a:xfrm>
          <a:prstGeom prst="rect">
            <a:avLst/>
          </a:prstGeom>
          <a:noFill/>
        </p:spPr>
        <p:txBody>
          <a:bodyPr wrap="none" lIns="0" rIns="0" tIns="0" bIns="0">
            <a:spAutoFit/>
          </a:bodyPr>
          <a:lstStyle/>
          <a:p>
            <a:pPr>
              <a:lnSpc>
                <a:spcPts val="2039"/>
              </a:lnSpc>
              <a:spcAft>
                <a:spcPts val="0"/>
              </a:spcAft>
              <a:defRPr sz="1700" b="1">
                <a:solidFill>
                  <a:srgbClr val="087F83"/>
                </a:solidFill>
                <a:latin typeface="Lato"/>
              </a:defRPr>
            </a:pPr>
            <a:r>
              <a:t>03</a:t>
            </a:r>
          </a:p>
        </p:txBody>
      </p:sp>
      <p:sp>
        <p:nvSpPr>
          <p:cNvPr id="19" name="TextBox 18"/>
          <p:cNvSpPr txBox="1"/>
          <p:nvPr/>
        </p:nvSpPr>
        <p:spPr>
          <a:xfrm>
            <a:off x="8356600" y="2578100"/>
            <a:ext cx="3111500" cy="416559"/>
          </a:xfrm>
          <a:prstGeom prst="rect">
            <a:avLst/>
          </a:prstGeom>
          <a:noFill/>
        </p:spPr>
        <p:txBody>
          <a:bodyPr wrap="none" lIns="0" rIns="0" tIns="0" bIns="0">
            <a:spAutoFit/>
          </a:bodyPr>
          <a:lstStyle/>
          <a:p>
            <a:pPr>
              <a:lnSpc>
                <a:spcPts val="2879"/>
              </a:lnSpc>
              <a:spcAft>
                <a:spcPts val="0"/>
              </a:spcAft>
              <a:defRPr sz="2400" b="1">
                <a:solidFill>
                  <a:srgbClr val="143842"/>
                </a:solidFill>
                <a:latin typeface="Lato"/>
              </a:defRPr>
            </a:pPr>
            <a:r>
              <a:t>Test the full workflow</a:t>
            </a:r>
          </a:p>
        </p:txBody>
      </p:sp>
      <p:sp>
        <p:nvSpPr>
          <p:cNvPr id="20" name="TextBox 19"/>
          <p:cNvSpPr txBox="1"/>
          <p:nvPr/>
        </p:nvSpPr>
        <p:spPr>
          <a:xfrm>
            <a:off x="8356600" y="3543300"/>
            <a:ext cx="3111500" cy="919479"/>
          </a:xfrm>
          <a:prstGeom prst="rect">
            <a:avLst/>
          </a:prstGeom>
          <a:noFill/>
        </p:spPr>
        <p:txBody>
          <a:bodyPr wrap="none" lIns="0" rIns="0" tIns="0" bIns="0">
            <a:spAutoFit/>
          </a:bodyPr>
          <a:lstStyle/>
          <a:p>
            <a:pPr>
              <a:lnSpc>
                <a:spcPts val="2280"/>
              </a:lnSpc>
              <a:spcAft>
                <a:spcPts val="0"/>
              </a:spcAft>
              <a:defRPr sz="1900" b="0">
                <a:solidFill>
                  <a:srgbClr val="576C73"/>
                </a:solidFill>
                <a:latin typeface="Lato"/>
              </a:defRPr>
            </a:pPr>
            <a:r>
              <a:t>Count missed specimens as</a:t>
            </a:r>
          </a:p>
          <a:p>
            <a:pPr>
              <a:lnSpc>
                <a:spcPts val="2280"/>
              </a:lnSpc>
              <a:spcAft>
                <a:spcPts val="0"/>
              </a:spcAft>
              <a:defRPr sz="1900" b="0">
                <a:solidFill>
                  <a:srgbClr val="576C73"/>
                </a:solidFill>
                <a:latin typeface="Lato"/>
              </a:defRPr>
            </a:pPr>
            <a:r>
              <a:t>well as incorrect</a:t>
            </a:r>
          </a:p>
          <a:p>
            <a:pPr>
              <a:lnSpc>
                <a:spcPts val="2280"/>
              </a:lnSpc>
              <a:spcAft>
                <a:spcPts val="0"/>
              </a:spcAft>
              <a:defRPr sz="1900" b="0">
                <a:solidFill>
                  <a:srgbClr val="576C73"/>
                </a:solidFill>
                <a:latin typeface="Lato"/>
              </a:defRPr>
            </a:pPr>
            <a:r>
              <a:t>identifications.</a:t>
            </a:r>
          </a:p>
        </p:txBody>
      </p:sp>
      <p:sp>
        <p:nvSpPr>
          <p:cNvPr id="21" name="Rectangle 20"/>
          <p:cNvSpPr/>
          <p:nvPr/>
        </p:nvSpPr>
        <p:spPr>
          <a:xfrm>
            <a:off x="457200" y="5638800"/>
            <a:ext cx="11277600" cy="5461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087F83"/>
                </a:solidFill>
                <a:latin typeface="Lato"/>
              </a:defRPr>
            </a:pPr>
            <a:r>
              <a:t>Training-only balancing; fixed validation and test sets.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06 / THE NEXT STEP</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143842"/>
                </a:solidFill>
                <a:latin typeface="Lato"/>
              </a:defRPr>
            </a:pPr>
            <a:r>
              <a:t>Build a useful, inspectable classification pipeline</a:t>
            </a:r>
          </a:p>
        </p:txBody>
      </p:sp>
      <p:sp>
        <p:nvSpPr>
          <p:cNvPr id="6" name="Rectangle 5"/>
          <p:cNvSpPr/>
          <p:nvPr/>
        </p:nvSpPr>
        <p:spPr>
          <a:xfrm>
            <a:off x="457200" y="6413500"/>
            <a:ext cx="11277600" cy="127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76C73"/>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087F83"/>
                </a:solidFill>
                <a:latin typeface="Lato"/>
              </a:defRPr>
            </a:pPr>
            <a:r>
              <a:t>6</a:t>
            </a:r>
          </a:p>
        </p:txBody>
      </p:sp>
      <p:sp>
        <p:nvSpPr>
          <p:cNvPr id="9" name="Rectangle 8"/>
          <p:cNvSpPr/>
          <p:nvPr/>
        </p:nvSpPr>
        <p:spPr>
          <a:xfrm>
            <a:off x="457200" y="1790700"/>
            <a:ext cx="609600" cy="6096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400" y="1892300"/>
            <a:ext cx="317500" cy="431800"/>
          </a:xfrm>
          <a:prstGeom prst="rect">
            <a:avLst/>
          </a:prstGeom>
          <a:noFill/>
        </p:spPr>
        <p:txBody>
          <a:bodyPr wrap="none" lIns="0" rIns="0" tIns="0" bIns="0">
            <a:spAutoFit/>
          </a:bodyPr>
          <a:lstStyle/>
          <a:p>
            <a:pPr>
              <a:lnSpc>
                <a:spcPts val="3000"/>
              </a:lnSpc>
              <a:spcAft>
                <a:spcPts val="0"/>
              </a:spcAft>
              <a:defRPr sz="2500" b="1">
                <a:solidFill>
                  <a:srgbClr val="FFFFFF"/>
                </a:solidFill>
                <a:latin typeface="Lato"/>
              </a:defRPr>
            </a:pPr>
            <a:r>
              <a:t>1</a:t>
            </a:r>
          </a:p>
        </p:txBody>
      </p:sp>
      <p:sp>
        <p:nvSpPr>
          <p:cNvPr id="11" name="TextBox 10"/>
          <p:cNvSpPr txBox="1"/>
          <p:nvPr/>
        </p:nvSpPr>
        <p:spPr>
          <a:xfrm>
            <a:off x="1397000" y="1778000"/>
            <a:ext cx="2286000" cy="431800"/>
          </a:xfrm>
          <a:prstGeom prst="rect">
            <a:avLst/>
          </a:prstGeom>
          <a:noFill/>
        </p:spPr>
        <p:txBody>
          <a:bodyPr wrap="none" lIns="0" rIns="0" tIns="0" bIns="0">
            <a:spAutoFit/>
          </a:bodyPr>
          <a:lstStyle/>
          <a:p>
            <a:pPr>
              <a:lnSpc>
                <a:spcPts val="3000"/>
              </a:lnSpc>
              <a:spcAft>
                <a:spcPts val="0"/>
              </a:spcAft>
              <a:defRPr sz="2500" b="1">
                <a:solidFill>
                  <a:srgbClr val="143842"/>
                </a:solidFill>
                <a:latin typeface="Lato"/>
              </a:defRPr>
            </a:pPr>
            <a:r>
              <a:t>Prepare</a:t>
            </a:r>
          </a:p>
        </p:txBody>
      </p:sp>
      <p:sp>
        <p:nvSpPr>
          <p:cNvPr id="12" name="TextBox 11"/>
          <p:cNvSpPr txBox="1"/>
          <p:nvPr/>
        </p:nvSpPr>
        <p:spPr>
          <a:xfrm>
            <a:off x="3937000" y="1816100"/>
            <a:ext cx="7747000" cy="401320"/>
          </a:xfrm>
          <a:prstGeom prst="rect">
            <a:avLst/>
          </a:prstGeom>
          <a:noFill/>
        </p:spPr>
        <p:txBody>
          <a:bodyPr wrap="none" lIns="0" rIns="0" tIns="0" bIns="0">
            <a:spAutoFit/>
          </a:bodyPr>
          <a:lstStyle/>
          <a:p>
            <a:pPr>
              <a:lnSpc>
                <a:spcPts val="2760"/>
              </a:lnSpc>
              <a:spcAft>
                <a:spcPts val="0"/>
              </a:spcAft>
              <a:defRPr sz="2300" b="0">
                <a:solidFill>
                  <a:srgbClr val="576C73"/>
                </a:solidFill>
                <a:latin typeface="Lato"/>
              </a:defRPr>
            </a:pPr>
            <a:r>
              <a:t>Inspect crops and agree on category groups.</a:t>
            </a:r>
          </a:p>
        </p:txBody>
      </p:sp>
      <p:sp>
        <p:nvSpPr>
          <p:cNvPr id="13" name="Rectangle 12"/>
          <p:cNvSpPr/>
          <p:nvPr/>
        </p:nvSpPr>
        <p:spPr>
          <a:xfrm>
            <a:off x="457200" y="2946400"/>
            <a:ext cx="609600" cy="6096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400" y="3048000"/>
            <a:ext cx="317500" cy="431800"/>
          </a:xfrm>
          <a:prstGeom prst="rect">
            <a:avLst/>
          </a:prstGeom>
          <a:noFill/>
        </p:spPr>
        <p:txBody>
          <a:bodyPr wrap="none" lIns="0" rIns="0" tIns="0" bIns="0">
            <a:spAutoFit/>
          </a:bodyPr>
          <a:lstStyle/>
          <a:p>
            <a:pPr>
              <a:lnSpc>
                <a:spcPts val="3000"/>
              </a:lnSpc>
              <a:spcAft>
                <a:spcPts val="0"/>
              </a:spcAft>
              <a:defRPr sz="2500" b="1">
                <a:solidFill>
                  <a:srgbClr val="FFFFFF"/>
                </a:solidFill>
                <a:latin typeface="Lato"/>
              </a:defRPr>
            </a:pPr>
            <a:r>
              <a:t>2</a:t>
            </a:r>
          </a:p>
        </p:txBody>
      </p:sp>
      <p:sp>
        <p:nvSpPr>
          <p:cNvPr id="15" name="TextBox 14"/>
          <p:cNvSpPr txBox="1"/>
          <p:nvPr/>
        </p:nvSpPr>
        <p:spPr>
          <a:xfrm>
            <a:off x="1397000" y="2933700"/>
            <a:ext cx="2286000" cy="431800"/>
          </a:xfrm>
          <a:prstGeom prst="rect">
            <a:avLst/>
          </a:prstGeom>
          <a:noFill/>
        </p:spPr>
        <p:txBody>
          <a:bodyPr wrap="none" lIns="0" rIns="0" tIns="0" bIns="0">
            <a:spAutoFit/>
          </a:bodyPr>
          <a:lstStyle/>
          <a:p>
            <a:pPr>
              <a:lnSpc>
                <a:spcPts val="3000"/>
              </a:lnSpc>
              <a:spcAft>
                <a:spcPts val="0"/>
              </a:spcAft>
              <a:defRPr sz="2500" b="1">
                <a:solidFill>
                  <a:srgbClr val="143842"/>
                </a:solidFill>
                <a:latin typeface="Lato"/>
              </a:defRPr>
            </a:pPr>
            <a:r>
              <a:t>Compare</a:t>
            </a:r>
          </a:p>
        </p:txBody>
      </p:sp>
      <p:sp>
        <p:nvSpPr>
          <p:cNvPr id="16" name="TextBox 15"/>
          <p:cNvSpPr txBox="1"/>
          <p:nvPr/>
        </p:nvSpPr>
        <p:spPr>
          <a:xfrm>
            <a:off x="3937000" y="2971800"/>
            <a:ext cx="7747000" cy="401320"/>
          </a:xfrm>
          <a:prstGeom prst="rect">
            <a:avLst/>
          </a:prstGeom>
          <a:noFill/>
        </p:spPr>
        <p:txBody>
          <a:bodyPr wrap="none" lIns="0" rIns="0" tIns="0" bIns="0">
            <a:spAutoFit/>
          </a:bodyPr>
          <a:lstStyle/>
          <a:p>
            <a:pPr>
              <a:lnSpc>
                <a:spcPts val="2760"/>
              </a:lnSpc>
              <a:spcAft>
                <a:spcPts val="0"/>
              </a:spcAft>
              <a:defRPr sz="2300" b="0">
                <a:solidFill>
                  <a:srgbClr val="576C73"/>
                </a:solidFill>
                <a:latin typeface="Lato"/>
              </a:defRPr>
            </a:pPr>
            <a:r>
              <a:t>Freeze the split and run both baselines.</a:t>
            </a:r>
          </a:p>
        </p:txBody>
      </p:sp>
      <p:sp>
        <p:nvSpPr>
          <p:cNvPr id="17" name="Rectangle 16"/>
          <p:cNvSpPr/>
          <p:nvPr/>
        </p:nvSpPr>
        <p:spPr>
          <a:xfrm>
            <a:off x="457200" y="4102100"/>
            <a:ext cx="609600" cy="6096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400" y="4203700"/>
            <a:ext cx="317500" cy="431800"/>
          </a:xfrm>
          <a:prstGeom prst="rect">
            <a:avLst/>
          </a:prstGeom>
          <a:noFill/>
        </p:spPr>
        <p:txBody>
          <a:bodyPr wrap="none" lIns="0" rIns="0" tIns="0" bIns="0">
            <a:spAutoFit/>
          </a:bodyPr>
          <a:lstStyle/>
          <a:p>
            <a:pPr>
              <a:lnSpc>
                <a:spcPts val="3000"/>
              </a:lnSpc>
              <a:spcAft>
                <a:spcPts val="0"/>
              </a:spcAft>
              <a:defRPr sz="2500" b="1">
                <a:solidFill>
                  <a:srgbClr val="FFFFFF"/>
                </a:solidFill>
                <a:latin typeface="Lato"/>
              </a:defRPr>
            </a:pPr>
            <a:r>
              <a:t>3</a:t>
            </a:r>
          </a:p>
        </p:txBody>
      </p:sp>
      <p:sp>
        <p:nvSpPr>
          <p:cNvPr id="19" name="TextBox 18"/>
          <p:cNvSpPr txBox="1"/>
          <p:nvPr/>
        </p:nvSpPr>
        <p:spPr>
          <a:xfrm>
            <a:off x="1397000" y="4089400"/>
            <a:ext cx="2286000" cy="431800"/>
          </a:xfrm>
          <a:prstGeom prst="rect">
            <a:avLst/>
          </a:prstGeom>
          <a:noFill/>
        </p:spPr>
        <p:txBody>
          <a:bodyPr wrap="none" lIns="0" rIns="0" tIns="0" bIns="0">
            <a:spAutoFit/>
          </a:bodyPr>
          <a:lstStyle/>
          <a:p>
            <a:pPr>
              <a:lnSpc>
                <a:spcPts val="3000"/>
              </a:lnSpc>
              <a:spcAft>
                <a:spcPts val="0"/>
              </a:spcAft>
              <a:defRPr sz="2500" b="1">
                <a:solidFill>
                  <a:srgbClr val="143842"/>
                </a:solidFill>
                <a:latin typeface="Lato"/>
              </a:defRPr>
            </a:pPr>
            <a:r>
              <a:t>Deliver</a:t>
            </a:r>
          </a:p>
        </p:txBody>
      </p:sp>
      <p:sp>
        <p:nvSpPr>
          <p:cNvPr id="20" name="TextBox 19"/>
          <p:cNvSpPr txBox="1"/>
          <p:nvPr/>
        </p:nvSpPr>
        <p:spPr>
          <a:xfrm>
            <a:off x="3937000" y="4127500"/>
            <a:ext cx="7747000" cy="401320"/>
          </a:xfrm>
          <a:prstGeom prst="rect">
            <a:avLst/>
          </a:prstGeom>
          <a:noFill/>
        </p:spPr>
        <p:txBody>
          <a:bodyPr wrap="none" lIns="0" rIns="0" tIns="0" bIns="0">
            <a:spAutoFit/>
          </a:bodyPr>
          <a:lstStyle/>
          <a:p>
            <a:pPr>
              <a:lnSpc>
                <a:spcPts val="2760"/>
              </a:lnSpc>
              <a:spcAft>
                <a:spcPts val="0"/>
              </a:spcAft>
              <a:defRPr sz="2300" b="0">
                <a:solidFill>
                  <a:srgbClr val="576C73"/>
                </a:solidFill>
                <a:latin typeface="Lato"/>
              </a:defRPr>
            </a:pPr>
            <a:r>
              <a:t>Show the specimen, proposed label, and uncertainty.</a:t>
            </a:r>
          </a:p>
        </p:txBody>
      </p:sp>
      <p:sp>
        <p:nvSpPr>
          <p:cNvPr id="21" name="Rectangle 20"/>
          <p:cNvSpPr/>
          <p:nvPr/>
        </p:nvSpPr>
        <p:spPr>
          <a:xfrm>
            <a:off x="457200" y="5638800"/>
            <a:ext cx="11277600" cy="546100"/>
          </a:xfrm>
          <a:prstGeom prst="rect">
            <a:avLst/>
          </a:prstGeom>
          <a:solidFill>
            <a:srgbClr val="E5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087F83"/>
                </a:solidFill>
                <a:latin typeface="Lato"/>
              </a:defRPr>
            </a:pPr>
            <a:r>
              <a:t>Goal: faster scientific review, with evidence about where models fail.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