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20 seconds</a:t>
            </a:r>
          </a:p>
          <a:p/>
          <a:p>
            <a:r>
              <a:t>SAY:</a:t>
            </a:r>
          </a:p>
          <a:p>
            <a:r>
              <a:t>Our project uses machine learning to help identify fossil pollen in Smithsonian microscope images. These tiny fossils form a large scientific record, but examining them requires substantial expert time. We are developing a workflow that connects specimen detection with category identification.</a:t>
            </a:r>
          </a:p>
          <a:p/>
          <a:p>
            <a:r>
              <a:t>SOURCE / PRESENTER CONTEXT (not spoken):</a:t>
            </a:r>
          </a:p>
          <a:p>
            <a:r>
              <a:t>Uploaded report, Introduction. Real focus-stacked Bombacacidites crop; expert annotation category.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20 seconds</a:t>
            </a:r>
          </a:p>
          <a:p/>
          <a:p>
            <a:r>
              <a:t>SAY:</a:t>
            </a:r>
          </a:p>
          <a:p>
            <a:r>
              <a:t>Pollen can survive in sediments long after the plants that produced it disappear. Identifying those fossils helps researchers reconstruct vegetation. Here, the scientific motivation is understanding North American plant communities around fifty million years ago and their relationship to past warm climates.</a:t>
            </a:r>
          </a:p>
          <a:p/>
          <a:p>
            <a:r>
              <a:t>SOURCE / PRESENTER CONTEXT (not spoken):</a:t>
            </a:r>
          </a:p>
          <a:p>
            <a:r>
              <a:t>Uploaded report, Introduction. Image: expert-labeled Platycarya platycarioides; not a model prediction.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20 seconds</a:t>
            </a:r>
          </a:p>
          <a:p/>
          <a:p>
            <a:r>
              <a:t>SAY:</a:t>
            </a:r>
          </a:p>
          <a:p>
            <a:r>
              <a:t>There are two distinct tasks. Detection locates a specimen in an image. Classification identifies its category from its appearance. Previous project work provides a detection foundation. Our main question is whether identification works better inside the detector or in a separate classifier.</a:t>
            </a:r>
          </a:p>
          <a:p/>
          <a:p>
            <a:r>
              <a:t>SOURCE / PRESENTER CONTEXT (not spoken):</a:t>
            </a:r>
          </a:p>
          <a:p>
            <a:r>
              <a:t>Uploaded report, Objectives and Proposed Models.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The working dataset contains eighty-three annotated slides. Our initial target inventory has two thousand two hundred ninety annotations across thirty-two candidate categories, within a larger set of eleven thousand two hundred seventy-five named annotations. The final category grouping remains to be fixed. Images contain multiple focal depths, so we read small regions on Rice’s cluster.</a:t>
            </a:r>
          </a:p>
          <a:p/>
          <a:p>
            <a:r>
              <a:t>SOURCE / PRESENTER CONTEXT (not spoken):</a:t>
            </a:r>
          </a:p>
          <a:p>
            <a:r>
              <a:t>Uploaded report, Data. Counts precede quality review, duplicate checks, category regrouping and sampling.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Examples are unevenly distributed. Bisaccate has three hundred sixteen annotations, while the smallest target category has twenty-seven. Slide coverage matters too: many examples from one slide do not provide the same diversity as examples across several slides. We will consider training-only balancing strategies and evaluate performance separately for each category.</a:t>
            </a:r>
          </a:p>
          <a:p/>
          <a:p>
            <a:r>
              <a:t>SOURCE / PRESENTER CONTEXT (not spoken):</a:t>
            </a:r>
          </a:p>
          <a:p>
            <a:r>
              <a:t>Uploaded report, Class balance. Bars use a common linear scale. Candidate strategies: undersampling, balanced sampling and weighted loss.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SAY:</a:t>
            </a:r>
          </a:p>
          <a:p>
            <a:r>
              <a:t>The first approach uses multiclass RF-DETR, a transformer-based detector. It receives image tiles and predicts both specimen locations and categories. Predictions from overlapping tiles are then merged in slide coordinates. The attraction is a unified model, but learning rare or visually similar categories alongside localization may be difficult. This is a proposed experiment.</a:t>
            </a:r>
          </a:p>
          <a:p/>
          <a:p>
            <a:r>
              <a:t>SOURCE / PRESENTER CONTEXT (not spoken):</a:t>
            </a:r>
          </a:p>
          <a:p>
            <a:r>
              <a:t>Uploaded report, Model 1. Simplified diagram; focus stacking, coordinate mapping and duplicate merging remain part of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SAY:</a:t>
            </a:r>
          </a:p>
          <a:p>
            <a:r>
              <a:t>The second approach uses RF-DETR to find specimens, then passes individual crops to a Swin-Tiny image classifier. This lets us examine classification separately. However, missed specimens and poor crops can affect the final result. We will test the classifier on both expert-defined crops and detector-generated crops to identify where errors arise. This approach is also still proposed.</a:t>
            </a:r>
          </a:p>
          <a:p/>
          <a:p>
            <a:r>
              <a:t>SOURCE / PRESENTER CONTEXT (not spoken):</a:t>
            </a:r>
          </a:p>
          <a:p>
            <a:r>
              <a:t>Uploaded report, Model 2. Same input preprocessing and split as Model 1; detector boxes mapped and merged before crop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SAY:</a:t>
            </a:r>
          </a:p>
          <a:p>
            <a:r>
              <a:t>We tested two existing YOLO detector checkpoints on sixty-four known targets from twenty-nine slides. The best-plane model recovered fifty-four targets, and the focus-stacked model recovered fifty-one under the same confidence and box-overlap rule. These results demonstrate feasibility. They are not classification accuracy or independent generalization: crops were centered on known targets, and many slides appear in historical training records.</a:t>
            </a:r>
          </a:p>
          <a:p/>
          <a:p>
            <a:r>
              <a:t>SOURCE / PRESENTER CONTEXT (not spoken):</a:t>
            </a:r>
          </a:p>
          <a:p>
            <a:r>
              <a:t>Uploaded report, Preliminary Detector Assessment. Confidence &gt;=0.50, IoU &gt;=0.50. Different checkpoint weights; cannot isolate preprocessing. No RF-DETR/Swin classification training reported.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SAY:</a:t>
            </a:r>
          </a:p>
          <a:p>
            <a:r>
              <a:t>Both approaches will use the same category definitions, preprocessing, and evaluation groups. We will separate slides and investigate related samples to reduce leakage. Category-level metrics will reveal weaknesses hidden by overall accuracy. End-to-end evaluation must count missed specimens as well as wrong labels. Measuring detection precision also requires reviewed regions with sufficiently complete annotations.</a:t>
            </a:r>
          </a:p>
          <a:p/>
          <a:p>
            <a:r>
              <a:t>SOURCE / PRESENTER CONTEXT (not spoken):</a:t>
            </a:r>
          </a:p>
          <a:p>
            <a:r>
              <a:t>Uploaded report, Partitioning and Evaluation. Metrics include macro-F1, balanced accuracy, per-class recall, and end-to-end detection measures where labels support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Next, we will inspect crops, define the category groups, and freeze the evaluation split. Then we can compare the two baselines and use their errors to guide development. Our intended deliverable is a simple interface linking each specimen image and location to proposed labels and uncertainty, so researchers can review results efficiently.</a:t>
            </a:r>
          </a:p>
          <a:p/>
          <a:p>
            <a:r>
              <a:t>SOURCE / PRESENTER CONTEXT (not spoken):</a:t>
            </a:r>
          </a:p>
          <a:p>
            <a:r>
              <a:t>Uploaded report, Next Steps and Objectives. No completed viewer or trained classifier is claimed.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01 / THE PROJECT</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Identifying fossil pollen at scale</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1</a:t>
            </a:r>
          </a:p>
        </p:txBody>
      </p:sp>
      <p:sp>
        <p:nvSpPr>
          <p:cNvPr id="9" name="TextBox 8"/>
          <p:cNvSpPr txBox="1"/>
          <p:nvPr/>
        </p:nvSpPr>
        <p:spPr>
          <a:xfrm>
            <a:off x="457200" y="1993900"/>
            <a:ext cx="5524500" cy="1148080"/>
          </a:xfrm>
          <a:prstGeom prst="rect">
            <a:avLst/>
          </a:prstGeom>
          <a:noFill/>
        </p:spPr>
        <p:txBody>
          <a:bodyPr wrap="none" lIns="0" rIns="0" tIns="0" bIns="0">
            <a:spAutoFit/>
          </a:bodyPr>
          <a:lstStyle/>
          <a:p>
            <a:pPr>
              <a:lnSpc>
                <a:spcPts val="4320"/>
              </a:lnSpc>
              <a:spcAft>
                <a:spcPts val="0"/>
              </a:spcAft>
              <a:defRPr sz="3600" b="1">
                <a:solidFill>
                  <a:srgbClr val="202D48"/>
                </a:solidFill>
                <a:latin typeface="Lato"/>
              </a:defRPr>
            </a:pPr>
            <a:r>
              <a:t>Small fossils.</a:t>
            </a:r>
          </a:p>
          <a:p>
            <a:pPr>
              <a:lnSpc>
                <a:spcPts val="4320"/>
              </a:lnSpc>
              <a:spcAft>
                <a:spcPts val="0"/>
              </a:spcAft>
              <a:defRPr sz="3600" b="1">
                <a:solidFill>
                  <a:srgbClr val="202D48"/>
                </a:solidFill>
                <a:latin typeface="Lato"/>
              </a:defRPr>
            </a:pPr>
            <a:r>
              <a:t>A large scientific record.</a:t>
            </a:r>
          </a:p>
        </p:txBody>
      </p:sp>
      <p:pic>
        <p:nvPicPr>
          <p:cNvPr id="10" name="Picture 9" descr="shard_0_target_027_crop.png"/>
          <p:cNvPicPr>
            <a:picLocks noChangeAspect="1"/>
          </p:cNvPicPr>
          <p:nvPr/>
        </p:nvPicPr>
        <p:blipFill>
          <a:blip r:embed="rId2"/>
          <a:stretch>
            <a:fillRect/>
          </a:stretch>
        </p:blipFill>
        <p:spPr>
          <a:xfrm>
            <a:off x="7315200" y="1638300"/>
            <a:ext cx="3683000" cy="3683000"/>
          </a:xfrm>
          <a:prstGeom prst="rect">
            <a:avLst/>
          </a:prstGeom>
        </p:spPr>
      </p:pic>
      <p:sp>
        <p:nvSpPr>
          <p:cNvPr id="11" name="TextBox 10"/>
          <p:cNvSpPr txBox="1"/>
          <p:nvPr/>
        </p:nvSpPr>
        <p:spPr>
          <a:xfrm>
            <a:off x="457200" y="3822700"/>
            <a:ext cx="5715000" cy="401320"/>
          </a:xfrm>
          <a:prstGeom prst="rect">
            <a:avLst/>
          </a:prstGeom>
          <a:noFill/>
        </p:spPr>
        <p:txBody>
          <a:bodyPr wrap="none" lIns="0" rIns="0" tIns="0" bIns="0">
            <a:spAutoFit/>
          </a:bodyPr>
          <a:lstStyle/>
          <a:p>
            <a:pPr>
              <a:lnSpc>
                <a:spcPts val="2760"/>
              </a:lnSpc>
              <a:spcAft>
                <a:spcPts val="0"/>
              </a:spcAft>
              <a:defRPr sz="2300" b="1">
                <a:solidFill>
                  <a:srgbClr val="93451F"/>
                </a:solidFill>
                <a:latin typeface="Lato"/>
              </a:defRPr>
            </a:pPr>
            <a:r>
              <a:t>Smithsonian × Rice D2K</a:t>
            </a:r>
          </a:p>
        </p:txBody>
      </p:sp>
      <p:sp>
        <p:nvSpPr>
          <p:cNvPr id="12" name="TextBox 11"/>
          <p:cNvSpPr txBox="1"/>
          <p:nvPr/>
        </p:nvSpPr>
        <p:spPr>
          <a:xfrm>
            <a:off x="457200" y="4470400"/>
            <a:ext cx="6070600" cy="538480"/>
          </a:xfrm>
          <a:prstGeom prst="rect">
            <a:avLst/>
          </a:prstGeom>
          <a:noFill/>
        </p:spPr>
        <p:txBody>
          <a:bodyPr wrap="none" lIns="0" rIns="0" tIns="0" bIns="0">
            <a:spAutoFit/>
          </a:bodyPr>
          <a:lstStyle/>
          <a:p>
            <a:pPr>
              <a:lnSpc>
                <a:spcPts val="1920"/>
              </a:lnSpc>
              <a:spcAft>
                <a:spcPts val="0"/>
              </a:spcAft>
              <a:defRPr sz="1600" b="0">
                <a:solidFill>
                  <a:srgbClr val="596477"/>
                </a:solidFill>
                <a:latin typeface="Lato"/>
              </a:defRPr>
            </a:pPr>
            <a:r>
              <a:t>Patrick Batsell • Yun Ying Tsai • Yeonju Kim</a:t>
            </a:r>
          </a:p>
          <a:p>
            <a:pPr>
              <a:lnSpc>
                <a:spcPts val="1920"/>
              </a:lnSpc>
              <a:spcAft>
                <a:spcPts val="0"/>
              </a:spcAft>
              <a:defRPr sz="1600" b="0">
                <a:solidFill>
                  <a:srgbClr val="596477"/>
                </a:solidFill>
                <a:latin typeface="Lato"/>
              </a:defRPr>
            </a:pPr>
            <a:r>
              <a:t>Yunfan Bao • Alan Yang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02 / WHY IT MATTERS</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Pollen reveals ancient vegetation</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2</a:t>
            </a:r>
          </a:p>
        </p:txBody>
      </p:sp>
      <p:sp>
        <p:nvSpPr>
          <p:cNvPr id="9" name="TextBox 8"/>
          <p:cNvSpPr txBox="1"/>
          <p:nvPr/>
        </p:nvSpPr>
        <p:spPr>
          <a:xfrm>
            <a:off x="457200" y="2006600"/>
            <a:ext cx="5626100" cy="1483360"/>
          </a:xfrm>
          <a:prstGeom prst="rect">
            <a:avLst/>
          </a:prstGeom>
          <a:noFill/>
        </p:spPr>
        <p:txBody>
          <a:bodyPr wrap="none" lIns="0" rIns="0" tIns="0" bIns="0">
            <a:spAutoFit/>
          </a:bodyPr>
          <a:lstStyle/>
          <a:p>
            <a:pPr>
              <a:lnSpc>
                <a:spcPts val="5640"/>
              </a:lnSpc>
              <a:spcAft>
                <a:spcPts val="0"/>
              </a:spcAft>
              <a:defRPr sz="4700" b="1">
                <a:solidFill>
                  <a:srgbClr val="93451F"/>
                </a:solidFill>
                <a:latin typeface="Lato"/>
              </a:defRPr>
            </a:pPr>
            <a:r>
              <a:t>~50 million</a:t>
            </a:r>
          </a:p>
          <a:p>
            <a:pPr>
              <a:lnSpc>
                <a:spcPts val="5640"/>
              </a:lnSpc>
              <a:spcAft>
                <a:spcPts val="0"/>
              </a:spcAft>
              <a:defRPr sz="4700" b="1">
                <a:solidFill>
                  <a:srgbClr val="93451F"/>
                </a:solidFill>
                <a:latin typeface="Lato"/>
              </a:defRPr>
            </a:pPr>
            <a:r>
              <a:t>years ago</a:t>
            </a:r>
          </a:p>
        </p:txBody>
      </p:sp>
      <p:sp>
        <p:nvSpPr>
          <p:cNvPr id="10" name="TextBox 9"/>
          <p:cNvSpPr txBox="1"/>
          <p:nvPr/>
        </p:nvSpPr>
        <p:spPr>
          <a:xfrm>
            <a:off x="457200" y="3975100"/>
            <a:ext cx="5842000" cy="782319"/>
          </a:xfrm>
          <a:prstGeom prst="rect">
            <a:avLst/>
          </a:prstGeom>
          <a:noFill/>
        </p:spPr>
        <p:txBody>
          <a:bodyPr wrap="none" lIns="0" rIns="0" tIns="0" bIns="0">
            <a:spAutoFit/>
          </a:bodyPr>
          <a:lstStyle/>
          <a:p>
            <a:pPr>
              <a:lnSpc>
                <a:spcPts val="2879"/>
              </a:lnSpc>
              <a:spcAft>
                <a:spcPts val="0"/>
              </a:spcAft>
              <a:defRPr sz="2400" b="0">
                <a:solidFill>
                  <a:srgbClr val="202D48"/>
                </a:solidFill>
                <a:latin typeface="Lato"/>
              </a:defRPr>
            </a:pPr>
            <a:r>
              <a:t>Identify past plant communities.</a:t>
            </a:r>
          </a:p>
          <a:p>
            <a:pPr>
              <a:lnSpc>
                <a:spcPts val="2879"/>
              </a:lnSpc>
              <a:spcAft>
                <a:spcPts val="0"/>
              </a:spcAft>
              <a:defRPr sz="2400" b="0">
                <a:solidFill>
                  <a:srgbClr val="202D48"/>
                </a:solidFill>
                <a:latin typeface="Lato"/>
              </a:defRPr>
            </a:pPr>
            <a:r>
              <a:t>Support research on warm climates.</a:t>
            </a:r>
          </a:p>
        </p:txBody>
      </p:sp>
      <p:pic>
        <p:nvPicPr>
          <p:cNvPr id="11" name="Picture 10" descr="shard_0_target_008_crop.png"/>
          <p:cNvPicPr>
            <a:picLocks noChangeAspect="1"/>
          </p:cNvPicPr>
          <p:nvPr/>
        </p:nvPicPr>
        <p:blipFill>
          <a:blip r:embed="rId2"/>
          <a:stretch>
            <a:fillRect/>
          </a:stretch>
        </p:blipFill>
        <p:spPr>
          <a:xfrm>
            <a:off x="7480300" y="1739900"/>
            <a:ext cx="3619500" cy="3619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03 / THE TASK</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Finding a specimen is not the same as naming it</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3</a:t>
            </a:r>
          </a:p>
        </p:txBody>
      </p:sp>
      <p:sp>
        <p:nvSpPr>
          <p:cNvPr id="9" name="Rectangle 8"/>
          <p:cNvSpPr/>
          <p:nvPr/>
        </p:nvSpPr>
        <p:spPr>
          <a:xfrm>
            <a:off x="457200" y="2159000"/>
            <a:ext cx="5334000" cy="2336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2438400"/>
            <a:ext cx="4724400" cy="294640"/>
          </a:xfrm>
          <a:prstGeom prst="rect">
            <a:avLst/>
          </a:prstGeom>
          <a:noFill/>
        </p:spPr>
        <p:txBody>
          <a:bodyPr wrap="none" lIns="0" rIns="0" tIns="0" bIns="0">
            <a:spAutoFit/>
          </a:bodyPr>
          <a:lstStyle/>
          <a:p>
            <a:pPr>
              <a:lnSpc>
                <a:spcPts val="1920"/>
              </a:lnSpc>
              <a:spcAft>
                <a:spcPts val="0"/>
              </a:spcAft>
              <a:defRPr sz="1600" b="1">
                <a:solidFill>
                  <a:srgbClr val="93451F"/>
                </a:solidFill>
                <a:latin typeface="Lato"/>
              </a:defRPr>
            </a:pPr>
            <a:r>
              <a:t>DETECTION</a:t>
            </a:r>
          </a:p>
        </p:txBody>
      </p:sp>
      <p:sp>
        <p:nvSpPr>
          <p:cNvPr id="11" name="TextBox 10"/>
          <p:cNvSpPr txBox="1"/>
          <p:nvPr/>
        </p:nvSpPr>
        <p:spPr>
          <a:xfrm>
            <a:off x="762000" y="3136900"/>
            <a:ext cx="4635500" cy="508000"/>
          </a:xfrm>
          <a:prstGeom prst="rect">
            <a:avLst/>
          </a:prstGeom>
          <a:noFill/>
        </p:spPr>
        <p:txBody>
          <a:bodyPr wrap="none" lIns="0" rIns="0" tIns="0" bIns="0">
            <a:spAutoFit/>
          </a:bodyPr>
          <a:lstStyle/>
          <a:p>
            <a:pPr>
              <a:lnSpc>
                <a:spcPts val="3600"/>
              </a:lnSpc>
              <a:spcAft>
                <a:spcPts val="0"/>
              </a:spcAft>
              <a:defRPr sz="3000" b="1">
                <a:solidFill>
                  <a:srgbClr val="202D48"/>
                </a:solidFill>
                <a:latin typeface="Lato"/>
              </a:defRPr>
            </a:pPr>
            <a:r>
              <a:t>Where is the specimen?</a:t>
            </a:r>
          </a:p>
        </p:txBody>
      </p:sp>
      <p:sp>
        <p:nvSpPr>
          <p:cNvPr id="12" name="Rectangle 11"/>
          <p:cNvSpPr/>
          <p:nvPr/>
        </p:nvSpPr>
        <p:spPr>
          <a:xfrm>
            <a:off x="6400800" y="2159000"/>
            <a:ext cx="5334000" cy="2336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05600" y="2438400"/>
            <a:ext cx="4724400" cy="294640"/>
          </a:xfrm>
          <a:prstGeom prst="rect">
            <a:avLst/>
          </a:prstGeom>
          <a:noFill/>
        </p:spPr>
        <p:txBody>
          <a:bodyPr wrap="none" lIns="0" rIns="0" tIns="0" bIns="0">
            <a:spAutoFit/>
          </a:bodyPr>
          <a:lstStyle/>
          <a:p>
            <a:pPr>
              <a:lnSpc>
                <a:spcPts val="1920"/>
              </a:lnSpc>
              <a:spcAft>
                <a:spcPts val="0"/>
              </a:spcAft>
              <a:defRPr sz="1600" b="1">
                <a:solidFill>
                  <a:srgbClr val="93451F"/>
                </a:solidFill>
                <a:latin typeface="Lato"/>
              </a:defRPr>
            </a:pPr>
            <a:r>
              <a:t>CLASSIFICATION</a:t>
            </a:r>
          </a:p>
        </p:txBody>
      </p:sp>
      <p:sp>
        <p:nvSpPr>
          <p:cNvPr id="14" name="TextBox 13"/>
          <p:cNvSpPr txBox="1"/>
          <p:nvPr/>
        </p:nvSpPr>
        <p:spPr>
          <a:xfrm>
            <a:off x="6705600" y="3136900"/>
            <a:ext cx="4635500" cy="508000"/>
          </a:xfrm>
          <a:prstGeom prst="rect">
            <a:avLst/>
          </a:prstGeom>
          <a:noFill/>
        </p:spPr>
        <p:txBody>
          <a:bodyPr wrap="none" lIns="0" rIns="0" tIns="0" bIns="0">
            <a:spAutoFit/>
          </a:bodyPr>
          <a:lstStyle/>
          <a:p>
            <a:pPr>
              <a:lnSpc>
                <a:spcPts val="3600"/>
              </a:lnSpc>
              <a:spcAft>
                <a:spcPts val="0"/>
              </a:spcAft>
              <a:defRPr sz="3000" b="1">
                <a:solidFill>
                  <a:srgbClr val="202D48"/>
                </a:solidFill>
                <a:latin typeface="Lato"/>
              </a:defRPr>
            </a:pPr>
            <a:r>
              <a:t>What category is it?</a:t>
            </a:r>
          </a:p>
        </p:txBody>
      </p:sp>
      <p:sp>
        <p:nvSpPr>
          <p:cNvPr id="15" name="Rectangle 14"/>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We will compare two ways of connecting these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04 / THE DATA</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83 slides. 2,290 target annotations.</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4</a:t>
            </a:r>
          </a:p>
        </p:txBody>
      </p:sp>
      <p:sp>
        <p:nvSpPr>
          <p:cNvPr id="9" name="Rectangle 8"/>
          <p:cNvSpPr/>
          <p:nvPr/>
        </p:nvSpPr>
        <p:spPr>
          <a:xfrm>
            <a:off x="457200" y="2133600"/>
            <a:ext cx="3606800" cy="2057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200" y="2400300"/>
            <a:ext cx="3111500" cy="782319"/>
          </a:xfrm>
          <a:prstGeom prst="rect">
            <a:avLst/>
          </a:prstGeom>
          <a:noFill/>
        </p:spPr>
        <p:txBody>
          <a:bodyPr wrap="none" lIns="0" rIns="0" tIns="0" bIns="0">
            <a:spAutoFit/>
          </a:bodyPr>
          <a:lstStyle/>
          <a:p>
            <a:pPr>
              <a:lnSpc>
                <a:spcPts val="5759"/>
              </a:lnSpc>
              <a:spcAft>
                <a:spcPts val="0"/>
              </a:spcAft>
              <a:defRPr sz="4800" b="1">
                <a:solidFill>
                  <a:srgbClr val="93451F"/>
                </a:solidFill>
                <a:latin typeface="Lato"/>
              </a:defRPr>
            </a:pPr>
            <a:r>
              <a:t>83</a:t>
            </a:r>
          </a:p>
        </p:txBody>
      </p:sp>
      <p:sp>
        <p:nvSpPr>
          <p:cNvPr id="11" name="TextBox 10"/>
          <p:cNvSpPr txBox="1"/>
          <p:nvPr/>
        </p:nvSpPr>
        <p:spPr>
          <a:xfrm>
            <a:off x="711200" y="3467100"/>
            <a:ext cx="3111500" cy="370840"/>
          </a:xfrm>
          <a:prstGeom prst="rect">
            <a:avLst/>
          </a:prstGeom>
          <a:noFill/>
        </p:spPr>
        <p:txBody>
          <a:bodyPr wrap="none" lIns="0" rIns="0" tIns="0" bIns="0">
            <a:spAutoFit/>
          </a:bodyPr>
          <a:lstStyle/>
          <a:p>
            <a:pPr>
              <a:lnSpc>
                <a:spcPts val="2520"/>
              </a:lnSpc>
              <a:spcAft>
                <a:spcPts val="0"/>
              </a:spcAft>
              <a:defRPr sz="2100" b="0">
                <a:solidFill>
                  <a:srgbClr val="596477"/>
                </a:solidFill>
                <a:latin typeface="Lato"/>
              </a:defRPr>
            </a:pPr>
            <a:r>
              <a:t>annotated slides</a:t>
            </a:r>
          </a:p>
        </p:txBody>
      </p:sp>
      <p:sp>
        <p:nvSpPr>
          <p:cNvPr id="12" name="Rectangle 11"/>
          <p:cNvSpPr/>
          <p:nvPr/>
        </p:nvSpPr>
        <p:spPr>
          <a:xfrm>
            <a:off x="4292600" y="2133600"/>
            <a:ext cx="3606800" cy="2057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6600" y="2400300"/>
            <a:ext cx="3111500" cy="782319"/>
          </a:xfrm>
          <a:prstGeom prst="rect">
            <a:avLst/>
          </a:prstGeom>
          <a:noFill/>
        </p:spPr>
        <p:txBody>
          <a:bodyPr wrap="none" lIns="0" rIns="0" tIns="0" bIns="0">
            <a:spAutoFit/>
          </a:bodyPr>
          <a:lstStyle/>
          <a:p>
            <a:pPr>
              <a:lnSpc>
                <a:spcPts val="5759"/>
              </a:lnSpc>
              <a:spcAft>
                <a:spcPts val="0"/>
              </a:spcAft>
              <a:defRPr sz="4800" b="1">
                <a:solidFill>
                  <a:srgbClr val="93451F"/>
                </a:solidFill>
                <a:latin typeface="Lato"/>
              </a:defRPr>
            </a:pPr>
            <a:r>
              <a:t>2,290</a:t>
            </a:r>
          </a:p>
        </p:txBody>
      </p:sp>
      <p:sp>
        <p:nvSpPr>
          <p:cNvPr id="14" name="TextBox 13"/>
          <p:cNvSpPr txBox="1"/>
          <p:nvPr/>
        </p:nvSpPr>
        <p:spPr>
          <a:xfrm>
            <a:off x="4546600" y="3467100"/>
            <a:ext cx="3111500" cy="370840"/>
          </a:xfrm>
          <a:prstGeom prst="rect">
            <a:avLst/>
          </a:prstGeom>
          <a:noFill/>
        </p:spPr>
        <p:txBody>
          <a:bodyPr wrap="none" lIns="0" rIns="0" tIns="0" bIns="0">
            <a:spAutoFit/>
          </a:bodyPr>
          <a:lstStyle/>
          <a:p>
            <a:pPr>
              <a:lnSpc>
                <a:spcPts val="2520"/>
              </a:lnSpc>
              <a:spcAft>
                <a:spcPts val="0"/>
              </a:spcAft>
              <a:defRPr sz="2100" b="0">
                <a:solidFill>
                  <a:srgbClr val="596477"/>
                </a:solidFill>
                <a:latin typeface="Lato"/>
              </a:defRPr>
            </a:pPr>
            <a:r>
              <a:t>target annotations</a:t>
            </a:r>
          </a:p>
        </p:txBody>
      </p:sp>
      <p:sp>
        <p:nvSpPr>
          <p:cNvPr id="15" name="Rectangle 14"/>
          <p:cNvSpPr/>
          <p:nvPr/>
        </p:nvSpPr>
        <p:spPr>
          <a:xfrm>
            <a:off x="8128000" y="2133600"/>
            <a:ext cx="3606800" cy="2057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0" y="2400300"/>
            <a:ext cx="3111500" cy="782319"/>
          </a:xfrm>
          <a:prstGeom prst="rect">
            <a:avLst/>
          </a:prstGeom>
          <a:noFill/>
        </p:spPr>
        <p:txBody>
          <a:bodyPr wrap="none" lIns="0" rIns="0" tIns="0" bIns="0">
            <a:spAutoFit/>
          </a:bodyPr>
          <a:lstStyle/>
          <a:p>
            <a:pPr>
              <a:lnSpc>
                <a:spcPts val="5759"/>
              </a:lnSpc>
              <a:spcAft>
                <a:spcPts val="0"/>
              </a:spcAft>
              <a:defRPr sz="4800" b="1">
                <a:solidFill>
                  <a:srgbClr val="93451F"/>
                </a:solidFill>
                <a:latin typeface="Lato"/>
              </a:defRPr>
            </a:pPr>
            <a:r>
              <a:t>32</a:t>
            </a:r>
          </a:p>
        </p:txBody>
      </p:sp>
      <p:sp>
        <p:nvSpPr>
          <p:cNvPr id="17" name="TextBox 16"/>
          <p:cNvSpPr txBox="1"/>
          <p:nvPr/>
        </p:nvSpPr>
        <p:spPr>
          <a:xfrm>
            <a:off x="8382000" y="3467100"/>
            <a:ext cx="3111500" cy="370840"/>
          </a:xfrm>
          <a:prstGeom prst="rect">
            <a:avLst/>
          </a:prstGeom>
          <a:noFill/>
        </p:spPr>
        <p:txBody>
          <a:bodyPr wrap="none" lIns="0" rIns="0" tIns="0" bIns="0">
            <a:spAutoFit/>
          </a:bodyPr>
          <a:lstStyle/>
          <a:p>
            <a:pPr>
              <a:lnSpc>
                <a:spcPts val="2520"/>
              </a:lnSpc>
              <a:spcAft>
                <a:spcPts val="0"/>
              </a:spcAft>
              <a:defRPr sz="2100" b="0">
                <a:solidFill>
                  <a:srgbClr val="596477"/>
                </a:solidFill>
                <a:latin typeface="Lato"/>
              </a:defRPr>
            </a:pPr>
            <a:r>
              <a:t>candidate categories</a:t>
            </a:r>
          </a:p>
        </p:txBody>
      </p:sp>
      <p:sp>
        <p:nvSpPr>
          <p:cNvPr id="18" name="TextBox 17"/>
          <p:cNvSpPr txBox="1"/>
          <p:nvPr/>
        </p:nvSpPr>
        <p:spPr>
          <a:xfrm>
            <a:off x="457200" y="4724400"/>
            <a:ext cx="11277600" cy="447040"/>
          </a:xfrm>
          <a:prstGeom prst="rect">
            <a:avLst/>
          </a:prstGeom>
          <a:noFill/>
        </p:spPr>
        <p:txBody>
          <a:bodyPr wrap="none" lIns="0" rIns="0" tIns="0" bIns="0">
            <a:spAutoFit/>
          </a:bodyPr>
          <a:lstStyle/>
          <a:p>
            <a:pPr>
              <a:lnSpc>
                <a:spcPts val="3120"/>
              </a:lnSpc>
              <a:spcAft>
                <a:spcPts val="0"/>
              </a:spcAft>
              <a:defRPr sz="2600" b="1">
                <a:solidFill>
                  <a:srgbClr val="202D48"/>
                </a:solidFill>
                <a:latin typeface="Lato"/>
              </a:defRPr>
            </a:pPr>
            <a:r>
              <a:t>Large images with multiple focal depths</a:t>
            </a:r>
          </a:p>
        </p:txBody>
      </p:sp>
      <p:sp>
        <p:nvSpPr>
          <p:cNvPr id="19" name="Rectangle 18"/>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Images stay on Rice’s cluster; we read small regions.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05 / THE CHALLENGE</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Some categories have far fewer examples</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5</a:t>
            </a:r>
          </a:p>
        </p:txBody>
      </p:sp>
      <p:sp>
        <p:nvSpPr>
          <p:cNvPr id="9" name="TextBox 8"/>
          <p:cNvSpPr txBox="1"/>
          <p:nvPr/>
        </p:nvSpPr>
        <p:spPr>
          <a:xfrm>
            <a:off x="457200" y="1905000"/>
            <a:ext cx="93980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Bisaccate</a:t>
            </a:r>
          </a:p>
        </p:txBody>
      </p:sp>
      <p:sp>
        <p:nvSpPr>
          <p:cNvPr id="10" name="Rectangle 9"/>
          <p:cNvSpPr/>
          <p:nvPr/>
        </p:nvSpPr>
        <p:spPr>
          <a:xfrm>
            <a:off x="457200" y="2514600"/>
            <a:ext cx="9575800" cy="3683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514600"/>
            <a:ext cx="9575800" cy="3683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50500" y="2362200"/>
            <a:ext cx="1270000" cy="614680"/>
          </a:xfrm>
          <a:prstGeom prst="rect">
            <a:avLst/>
          </a:prstGeom>
          <a:noFill/>
        </p:spPr>
        <p:txBody>
          <a:bodyPr wrap="none" lIns="0" rIns="0" tIns="0" bIns="0">
            <a:spAutoFit/>
          </a:bodyPr>
          <a:lstStyle/>
          <a:p>
            <a:pPr>
              <a:lnSpc>
                <a:spcPts val="4440"/>
              </a:lnSpc>
              <a:spcAft>
                <a:spcPts val="0"/>
              </a:spcAft>
              <a:defRPr sz="3700" b="1">
                <a:solidFill>
                  <a:srgbClr val="93451F"/>
                </a:solidFill>
                <a:latin typeface="Lato"/>
              </a:defRPr>
            </a:pPr>
            <a:r>
              <a:t>316</a:t>
            </a:r>
          </a:p>
        </p:txBody>
      </p:sp>
      <p:sp>
        <p:nvSpPr>
          <p:cNvPr id="13" name="TextBox 12"/>
          <p:cNvSpPr txBox="1"/>
          <p:nvPr/>
        </p:nvSpPr>
        <p:spPr>
          <a:xfrm>
            <a:off x="457200" y="3517900"/>
            <a:ext cx="93980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Cupuliferoipollenites sp.</a:t>
            </a:r>
          </a:p>
        </p:txBody>
      </p:sp>
      <p:sp>
        <p:nvSpPr>
          <p:cNvPr id="14" name="Rectangle 13"/>
          <p:cNvSpPr/>
          <p:nvPr/>
        </p:nvSpPr>
        <p:spPr>
          <a:xfrm>
            <a:off x="457200" y="4127500"/>
            <a:ext cx="9575800" cy="3683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127500"/>
            <a:ext cx="818185" cy="3683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50500" y="3975100"/>
            <a:ext cx="1270000" cy="614680"/>
          </a:xfrm>
          <a:prstGeom prst="rect">
            <a:avLst/>
          </a:prstGeom>
          <a:noFill/>
        </p:spPr>
        <p:txBody>
          <a:bodyPr wrap="none" lIns="0" rIns="0" tIns="0" bIns="0">
            <a:spAutoFit/>
          </a:bodyPr>
          <a:lstStyle/>
          <a:p>
            <a:pPr>
              <a:lnSpc>
                <a:spcPts val="4440"/>
              </a:lnSpc>
              <a:spcAft>
                <a:spcPts val="0"/>
              </a:spcAft>
              <a:defRPr sz="3700" b="1">
                <a:solidFill>
                  <a:srgbClr val="93451F"/>
                </a:solidFill>
                <a:latin typeface="Lato"/>
              </a:defRPr>
            </a:pPr>
            <a:r>
              <a:t>27</a:t>
            </a:r>
          </a:p>
        </p:txBody>
      </p:sp>
      <p:sp>
        <p:nvSpPr>
          <p:cNvPr id="17" name="Rectangle 16"/>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Evaluate each category—not just overall accuracy.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06 / APPROACH A</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One model finds and identifies</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6</a:t>
            </a:r>
          </a:p>
        </p:txBody>
      </p:sp>
      <p:sp>
        <p:nvSpPr>
          <p:cNvPr id="9" name="Rectangle 8"/>
          <p:cNvSpPr/>
          <p:nvPr/>
        </p:nvSpPr>
        <p:spPr>
          <a:xfrm>
            <a:off x="457200" y="2425700"/>
            <a:ext cx="2705100" cy="16764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200" y="2806700"/>
            <a:ext cx="2197100" cy="843280"/>
          </a:xfrm>
          <a:prstGeom prst="rect">
            <a:avLst/>
          </a:prstGeom>
          <a:noFill/>
        </p:spPr>
        <p:txBody>
          <a:bodyPr wrap="none" lIns="0" rIns="0" tIns="0" bIns="0">
            <a:spAutoFit/>
          </a:bodyPr>
          <a:lstStyle/>
          <a:p>
            <a:pPr>
              <a:lnSpc>
                <a:spcPts val="3120"/>
              </a:lnSpc>
              <a:spcAft>
                <a:spcPts val="0"/>
              </a:spcAft>
              <a:defRPr sz="2600" b="1">
                <a:solidFill>
                  <a:srgbClr val="202D48"/>
                </a:solidFill>
                <a:latin typeface="Lato"/>
              </a:defRPr>
            </a:pPr>
            <a:r>
              <a:t>Image</a:t>
            </a:r>
          </a:p>
          <a:p>
            <a:pPr>
              <a:lnSpc>
                <a:spcPts val="3120"/>
              </a:lnSpc>
              <a:spcAft>
                <a:spcPts val="0"/>
              </a:spcAft>
              <a:defRPr sz="2600" b="1">
                <a:solidFill>
                  <a:srgbClr val="202D48"/>
                </a:solidFill>
                <a:latin typeface="Lato"/>
              </a:defRPr>
            </a:pPr>
            <a:r>
              <a:t>tiles</a:t>
            </a:r>
          </a:p>
        </p:txBody>
      </p:sp>
      <p:sp>
        <p:nvSpPr>
          <p:cNvPr id="11" name="Rectangle 10"/>
          <p:cNvSpPr/>
          <p:nvPr/>
        </p:nvSpPr>
        <p:spPr>
          <a:xfrm>
            <a:off x="3759200" y="2425700"/>
            <a:ext cx="4470400" cy="16764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13200" y="2806700"/>
            <a:ext cx="3962400" cy="843280"/>
          </a:xfrm>
          <a:prstGeom prst="rect">
            <a:avLst/>
          </a:prstGeom>
          <a:noFill/>
        </p:spPr>
        <p:txBody>
          <a:bodyPr wrap="none" lIns="0" rIns="0" tIns="0" bIns="0">
            <a:spAutoFit/>
          </a:bodyPr>
          <a:lstStyle/>
          <a:p>
            <a:pPr>
              <a:lnSpc>
                <a:spcPts val="3120"/>
              </a:lnSpc>
              <a:spcAft>
                <a:spcPts val="0"/>
              </a:spcAft>
              <a:defRPr sz="2600" b="1">
                <a:solidFill>
                  <a:srgbClr val="FFFFFF"/>
                </a:solidFill>
                <a:latin typeface="Lato"/>
              </a:defRPr>
            </a:pPr>
            <a:r>
              <a:t>Multiclass RF-DETR</a:t>
            </a:r>
          </a:p>
          <a:p>
            <a:pPr>
              <a:lnSpc>
                <a:spcPts val="3120"/>
              </a:lnSpc>
              <a:spcAft>
                <a:spcPts val="0"/>
              </a:spcAft>
              <a:defRPr sz="2600" b="1">
                <a:solidFill>
                  <a:srgbClr val="FFFFFF"/>
                </a:solidFill>
                <a:latin typeface="Lato"/>
              </a:defRPr>
            </a:pPr>
            <a:r>
              <a:t>Location + category</a:t>
            </a:r>
          </a:p>
        </p:txBody>
      </p:sp>
      <p:sp>
        <p:nvSpPr>
          <p:cNvPr id="13" name="Rectangle 12"/>
          <p:cNvSpPr/>
          <p:nvPr/>
        </p:nvSpPr>
        <p:spPr>
          <a:xfrm>
            <a:off x="8826500" y="2425700"/>
            <a:ext cx="2908300" cy="16764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80500" y="2806700"/>
            <a:ext cx="2400300" cy="843280"/>
          </a:xfrm>
          <a:prstGeom prst="rect">
            <a:avLst/>
          </a:prstGeom>
          <a:noFill/>
        </p:spPr>
        <p:txBody>
          <a:bodyPr wrap="none" lIns="0" rIns="0" tIns="0" bIns="0">
            <a:spAutoFit/>
          </a:bodyPr>
          <a:lstStyle/>
          <a:p>
            <a:pPr>
              <a:lnSpc>
                <a:spcPts val="3120"/>
              </a:lnSpc>
              <a:spcAft>
                <a:spcPts val="0"/>
              </a:spcAft>
              <a:defRPr sz="2600" b="1">
                <a:solidFill>
                  <a:srgbClr val="202D48"/>
                </a:solidFill>
                <a:latin typeface="Lato"/>
              </a:defRPr>
            </a:pPr>
            <a:r>
              <a:t>Labeled</a:t>
            </a:r>
          </a:p>
          <a:p>
            <a:pPr>
              <a:lnSpc>
                <a:spcPts val="3120"/>
              </a:lnSpc>
              <a:spcAft>
                <a:spcPts val="0"/>
              </a:spcAft>
              <a:defRPr sz="2600" b="1">
                <a:solidFill>
                  <a:srgbClr val="202D48"/>
                </a:solidFill>
                <a:latin typeface="Lato"/>
              </a:defRPr>
            </a:pPr>
            <a:r>
              <a:t>specimens</a:t>
            </a:r>
          </a:p>
        </p:txBody>
      </p:sp>
      <p:sp>
        <p:nvSpPr>
          <p:cNvPr id="15" name="TextBox 14"/>
          <p:cNvSpPr txBox="1"/>
          <p:nvPr/>
        </p:nvSpPr>
        <p:spPr>
          <a:xfrm>
            <a:off x="3225800" y="2959100"/>
            <a:ext cx="482600" cy="523239"/>
          </a:xfrm>
          <a:prstGeom prst="rect">
            <a:avLst/>
          </a:prstGeom>
          <a:noFill/>
        </p:spPr>
        <p:txBody>
          <a:bodyPr wrap="none" lIns="0" rIns="0" tIns="0" bIns="0">
            <a:spAutoFit/>
          </a:bodyPr>
          <a:lstStyle/>
          <a:p>
            <a:pPr>
              <a:lnSpc>
                <a:spcPts val="3719"/>
              </a:lnSpc>
              <a:spcAft>
                <a:spcPts val="0"/>
              </a:spcAft>
              <a:defRPr sz="3100" b="1">
                <a:solidFill>
                  <a:srgbClr val="93451F"/>
                </a:solidFill>
                <a:latin typeface="Lato"/>
              </a:defRPr>
            </a:pPr>
            <a:r>
              <a:t>→</a:t>
            </a:r>
          </a:p>
        </p:txBody>
      </p:sp>
      <p:sp>
        <p:nvSpPr>
          <p:cNvPr id="16" name="TextBox 15"/>
          <p:cNvSpPr txBox="1"/>
          <p:nvPr/>
        </p:nvSpPr>
        <p:spPr>
          <a:xfrm>
            <a:off x="8293100" y="2959100"/>
            <a:ext cx="482600" cy="523239"/>
          </a:xfrm>
          <a:prstGeom prst="rect">
            <a:avLst/>
          </a:prstGeom>
          <a:noFill/>
        </p:spPr>
        <p:txBody>
          <a:bodyPr wrap="none" lIns="0" rIns="0" tIns="0" bIns="0">
            <a:spAutoFit/>
          </a:bodyPr>
          <a:lstStyle/>
          <a:p>
            <a:pPr>
              <a:lnSpc>
                <a:spcPts val="3719"/>
              </a:lnSpc>
              <a:spcAft>
                <a:spcPts val="0"/>
              </a:spcAft>
              <a:defRPr sz="3100" b="1">
                <a:solidFill>
                  <a:srgbClr val="93451F"/>
                </a:solidFill>
                <a:latin typeface="Lato"/>
              </a:defRPr>
            </a:pPr>
            <a:r>
              <a:t>→</a:t>
            </a:r>
          </a:p>
        </p:txBody>
      </p:sp>
      <p:sp>
        <p:nvSpPr>
          <p:cNvPr id="17" name="Rectangle 16"/>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A unified model learns both tasks together.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07 / APPROACH B</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Find first. Classify the crop.</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7</a:t>
            </a:r>
          </a:p>
        </p:txBody>
      </p:sp>
      <p:sp>
        <p:nvSpPr>
          <p:cNvPr id="9" name="Rectangle 8"/>
          <p:cNvSpPr/>
          <p:nvPr/>
        </p:nvSpPr>
        <p:spPr>
          <a:xfrm>
            <a:off x="457200" y="2425700"/>
            <a:ext cx="3175000" cy="16764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8500" y="2794000"/>
            <a:ext cx="2692400" cy="812800"/>
          </a:xfrm>
          <a:prstGeom prst="rect">
            <a:avLst/>
          </a:prstGeom>
          <a:noFill/>
        </p:spPr>
        <p:txBody>
          <a:bodyPr wrap="none" lIns="0" rIns="0" tIns="0" bIns="0">
            <a:spAutoFit/>
          </a:bodyPr>
          <a:lstStyle/>
          <a:p>
            <a:pPr>
              <a:lnSpc>
                <a:spcPts val="3000"/>
              </a:lnSpc>
              <a:spcAft>
                <a:spcPts val="0"/>
              </a:spcAft>
              <a:defRPr sz="2500" b="1">
                <a:solidFill>
                  <a:srgbClr val="FFFFFF"/>
                </a:solidFill>
                <a:latin typeface="Lato"/>
              </a:defRPr>
            </a:pPr>
            <a:r>
              <a:t>RF-DETR</a:t>
            </a:r>
          </a:p>
          <a:p>
            <a:pPr>
              <a:lnSpc>
                <a:spcPts val="3000"/>
              </a:lnSpc>
              <a:spcAft>
                <a:spcPts val="0"/>
              </a:spcAft>
              <a:defRPr sz="2500" b="1">
                <a:solidFill>
                  <a:srgbClr val="FFFFFF"/>
                </a:solidFill>
                <a:latin typeface="Lato"/>
              </a:defRPr>
            </a:pPr>
            <a:r>
              <a:t>Find specimens</a:t>
            </a:r>
          </a:p>
        </p:txBody>
      </p:sp>
      <p:sp>
        <p:nvSpPr>
          <p:cNvPr id="11" name="Rectangle 10"/>
          <p:cNvSpPr/>
          <p:nvPr/>
        </p:nvSpPr>
        <p:spPr>
          <a:xfrm>
            <a:off x="4330700" y="2425700"/>
            <a:ext cx="2857500" cy="16764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794000"/>
            <a:ext cx="2374900" cy="812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Specimen</a:t>
            </a:r>
          </a:p>
          <a:p>
            <a:pPr>
              <a:lnSpc>
                <a:spcPts val="3000"/>
              </a:lnSpc>
              <a:spcAft>
                <a:spcPts val="0"/>
              </a:spcAft>
              <a:defRPr sz="2500" b="1">
                <a:solidFill>
                  <a:srgbClr val="202D48"/>
                </a:solidFill>
                <a:latin typeface="Lato"/>
              </a:defRPr>
            </a:pPr>
            <a:r>
              <a:t>crops</a:t>
            </a:r>
          </a:p>
        </p:txBody>
      </p:sp>
      <p:sp>
        <p:nvSpPr>
          <p:cNvPr id="13" name="Rectangle 12"/>
          <p:cNvSpPr/>
          <p:nvPr/>
        </p:nvSpPr>
        <p:spPr>
          <a:xfrm>
            <a:off x="7886700" y="2425700"/>
            <a:ext cx="3848100" cy="16764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0" y="2794000"/>
            <a:ext cx="3365500" cy="812800"/>
          </a:xfrm>
          <a:prstGeom prst="rect">
            <a:avLst/>
          </a:prstGeom>
          <a:noFill/>
        </p:spPr>
        <p:txBody>
          <a:bodyPr wrap="none" lIns="0" rIns="0" tIns="0" bIns="0">
            <a:spAutoFit/>
          </a:bodyPr>
          <a:lstStyle/>
          <a:p>
            <a:pPr>
              <a:lnSpc>
                <a:spcPts val="3000"/>
              </a:lnSpc>
              <a:spcAft>
                <a:spcPts val="0"/>
              </a:spcAft>
              <a:defRPr sz="2500" b="1">
                <a:solidFill>
                  <a:srgbClr val="FFFFFF"/>
                </a:solidFill>
                <a:latin typeface="Lato"/>
              </a:defRPr>
            </a:pPr>
            <a:r>
              <a:t>Swin-Tiny</a:t>
            </a:r>
          </a:p>
          <a:p>
            <a:pPr>
              <a:lnSpc>
                <a:spcPts val="3000"/>
              </a:lnSpc>
              <a:spcAft>
                <a:spcPts val="0"/>
              </a:spcAft>
              <a:defRPr sz="2500" b="1">
                <a:solidFill>
                  <a:srgbClr val="FFFFFF"/>
                </a:solidFill>
                <a:latin typeface="Lato"/>
              </a:defRPr>
            </a:pPr>
            <a:r>
              <a:t>Identify the category</a:t>
            </a:r>
          </a:p>
        </p:txBody>
      </p:sp>
      <p:sp>
        <p:nvSpPr>
          <p:cNvPr id="15" name="TextBox 14"/>
          <p:cNvSpPr txBox="1"/>
          <p:nvPr/>
        </p:nvSpPr>
        <p:spPr>
          <a:xfrm>
            <a:off x="3771900" y="2971800"/>
            <a:ext cx="444500" cy="492759"/>
          </a:xfrm>
          <a:prstGeom prst="rect">
            <a:avLst/>
          </a:prstGeom>
          <a:noFill/>
        </p:spPr>
        <p:txBody>
          <a:bodyPr wrap="none" lIns="0" rIns="0" tIns="0" bIns="0">
            <a:spAutoFit/>
          </a:bodyPr>
          <a:lstStyle/>
          <a:p>
            <a:pPr>
              <a:lnSpc>
                <a:spcPts val="3479"/>
              </a:lnSpc>
              <a:spcAft>
                <a:spcPts val="0"/>
              </a:spcAft>
              <a:defRPr sz="2900" b="1">
                <a:solidFill>
                  <a:srgbClr val="93451F"/>
                </a:solidFill>
                <a:latin typeface="Lato"/>
              </a:defRPr>
            </a:pPr>
            <a:r>
              <a:t>→</a:t>
            </a:r>
          </a:p>
        </p:txBody>
      </p:sp>
      <p:sp>
        <p:nvSpPr>
          <p:cNvPr id="16" name="TextBox 15"/>
          <p:cNvSpPr txBox="1"/>
          <p:nvPr/>
        </p:nvSpPr>
        <p:spPr>
          <a:xfrm>
            <a:off x="7327900" y="2971800"/>
            <a:ext cx="444500" cy="492759"/>
          </a:xfrm>
          <a:prstGeom prst="rect">
            <a:avLst/>
          </a:prstGeom>
          <a:noFill/>
        </p:spPr>
        <p:txBody>
          <a:bodyPr wrap="none" lIns="0" rIns="0" tIns="0" bIns="0">
            <a:spAutoFit/>
          </a:bodyPr>
          <a:lstStyle/>
          <a:p>
            <a:pPr>
              <a:lnSpc>
                <a:spcPts val="3479"/>
              </a:lnSpc>
              <a:spcAft>
                <a:spcPts val="0"/>
              </a:spcAft>
              <a:defRPr sz="2900" b="1">
                <a:solidFill>
                  <a:srgbClr val="93451F"/>
                </a:solidFill>
                <a:latin typeface="Lato"/>
              </a:defRPr>
            </a:pPr>
            <a:r>
              <a:t>→</a:t>
            </a:r>
          </a:p>
        </p:txBody>
      </p:sp>
      <p:sp>
        <p:nvSpPr>
          <p:cNvPr id="17" name="Rectangle 16"/>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Separates identification quality from detection quality.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08 / PRELIMINARY EVIDENCE</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The existing detector can recover known targets</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8</a:t>
            </a:r>
          </a:p>
        </p:txBody>
      </p:sp>
      <p:sp>
        <p:nvSpPr>
          <p:cNvPr id="9" name="Rectangle 8"/>
          <p:cNvSpPr/>
          <p:nvPr/>
        </p:nvSpPr>
        <p:spPr>
          <a:xfrm>
            <a:off x="457200" y="1993900"/>
            <a:ext cx="5524500" cy="2298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300" y="2247900"/>
            <a:ext cx="4953000" cy="919479"/>
          </a:xfrm>
          <a:prstGeom prst="rect">
            <a:avLst/>
          </a:prstGeom>
          <a:noFill/>
        </p:spPr>
        <p:txBody>
          <a:bodyPr wrap="none" lIns="0" rIns="0" tIns="0" bIns="0">
            <a:spAutoFit/>
          </a:bodyPr>
          <a:lstStyle/>
          <a:p>
            <a:pPr>
              <a:lnSpc>
                <a:spcPts val="6839"/>
              </a:lnSpc>
              <a:spcAft>
                <a:spcPts val="0"/>
              </a:spcAft>
              <a:defRPr sz="5700" b="1">
                <a:solidFill>
                  <a:srgbClr val="93451F"/>
                </a:solidFill>
                <a:latin typeface="Lato"/>
              </a:defRPr>
            </a:pPr>
            <a:r>
              <a:t>54 / 64</a:t>
            </a:r>
          </a:p>
        </p:txBody>
      </p:sp>
      <p:sp>
        <p:nvSpPr>
          <p:cNvPr id="11" name="TextBox 10"/>
          <p:cNvSpPr txBox="1"/>
          <p:nvPr/>
        </p:nvSpPr>
        <p:spPr>
          <a:xfrm>
            <a:off x="749300" y="3340100"/>
            <a:ext cx="49530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Best focal plane</a:t>
            </a:r>
          </a:p>
        </p:txBody>
      </p:sp>
      <p:sp>
        <p:nvSpPr>
          <p:cNvPr id="12" name="Rectangle 11"/>
          <p:cNvSpPr/>
          <p:nvPr/>
        </p:nvSpPr>
        <p:spPr>
          <a:xfrm>
            <a:off x="6210300" y="1993900"/>
            <a:ext cx="5524500" cy="2298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2400" y="2247900"/>
            <a:ext cx="4953000" cy="919479"/>
          </a:xfrm>
          <a:prstGeom prst="rect">
            <a:avLst/>
          </a:prstGeom>
          <a:noFill/>
        </p:spPr>
        <p:txBody>
          <a:bodyPr wrap="none" lIns="0" rIns="0" tIns="0" bIns="0">
            <a:spAutoFit/>
          </a:bodyPr>
          <a:lstStyle/>
          <a:p>
            <a:pPr>
              <a:lnSpc>
                <a:spcPts val="6839"/>
              </a:lnSpc>
              <a:spcAft>
                <a:spcPts val="0"/>
              </a:spcAft>
              <a:defRPr sz="5700" b="1">
                <a:solidFill>
                  <a:srgbClr val="93451F"/>
                </a:solidFill>
                <a:latin typeface="Lato"/>
              </a:defRPr>
            </a:pPr>
            <a:r>
              <a:t>51 / 64</a:t>
            </a:r>
          </a:p>
        </p:txBody>
      </p:sp>
      <p:sp>
        <p:nvSpPr>
          <p:cNvPr id="14" name="TextBox 13"/>
          <p:cNvSpPr txBox="1"/>
          <p:nvPr/>
        </p:nvSpPr>
        <p:spPr>
          <a:xfrm>
            <a:off x="6502400" y="3340100"/>
            <a:ext cx="49530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Focus stack</a:t>
            </a:r>
          </a:p>
        </p:txBody>
      </p:sp>
      <p:sp>
        <p:nvSpPr>
          <p:cNvPr id="15" name="TextBox 14"/>
          <p:cNvSpPr txBox="1"/>
          <p:nvPr/>
        </p:nvSpPr>
        <p:spPr>
          <a:xfrm>
            <a:off x="457200" y="4673600"/>
            <a:ext cx="11277600" cy="386080"/>
          </a:xfrm>
          <a:prstGeom prst="rect">
            <a:avLst/>
          </a:prstGeom>
          <a:noFill/>
        </p:spPr>
        <p:txBody>
          <a:bodyPr wrap="none" lIns="0" rIns="0" tIns="0" bIns="0">
            <a:spAutoFit/>
          </a:bodyPr>
          <a:lstStyle/>
          <a:p>
            <a:pPr>
              <a:lnSpc>
                <a:spcPts val="2640"/>
              </a:lnSpc>
              <a:spcAft>
                <a:spcPts val="0"/>
              </a:spcAft>
              <a:defRPr sz="2200" b="0">
                <a:solidFill>
                  <a:srgbClr val="596477"/>
                </a:solidFill>
                <a:latin typeface="Lato"/>
              </a:defRPr>
            </a:pPr>
            <a:r>
              <a:t>YOLO checkpoints • 64 targets across 29 slides</a:t>
            </a:r>
          </a:p>
        </p:txBody>
      </p:sp>
      <p:sp>
        <p:nvSpPr>
          <p:cNvPr id="16" name="Rectangle 15"/>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A feasibility check—not independent classification performance.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09 / EVALUATION</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A fair comparison needs unseen source groups</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9</a:t>
            </a:r>
          </a:p>
        </p:txBody>
      </p:sp>
      <p:sp>
        <p:nvSpPr>
          <p:cNvPr id="9" name="TextBox 8"/>
          <p:cNvSpPr txBox="1"/>
          <p:nvPr/>
        </p:nvSpPr>
        <p:spPr>
          <a:xfrm>
            <a:off x="457200" y="1854200"/>
            <a:ext cx="762000" cy="477520"/>
          </a:xfrm>
          <a:prstGeom prst="rect">
            <a:avLst/>
          </a:prstGeom>
          <a:noFill/>
        </p:spPr>
        <p:txBody>
          <a:bodyPr wrap="none" lIns="0" rIns="0" tIns="0" bIns="0">
            <a:spAutoFit/>
          </a:bodyPr>
          <a:lstStyle/>
          <a:p>
            <a:pPr>
              <a:lnSpc>
                <a:spcPts val="3360"/>
              </a:lnSpc>
              <a:spcAft>
                <a:spcPts val="0"/>
              </a:spcAft>
              <a:defRPr sz="2800" b="1">
                <a:solidFill>
                  <a:srgbClr val="93451F"/>
                </a:solidFill>
                <a:latin typeface="Lato"/>
              </a:defRPr>
            </a:pPr>
            <a:r>
              <a:t>01</a:t>
            </a:r>
          </a:p>
        </p:txBody>
      </p:sp>
      <p:sp>
        <p:nvSpPr>
          <p:cNvPr id="10" name="TextBox 9"/>
          <p:cNvSpPr txBox="1"/>
          <p:nvPr/>
        </p:nvSpPr>
        <p:spPr>
          <a:xfrm>
            <a:off x="1422400" y="1854200"/>
            <a:ext cx="36195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Separate slides</a:t>
            </a:r>
          </a:p>
        </p:txBody>
      </p:sp>
      <p:sp>
        <p:nvSpPr>
          <p:cNvPr id="11" name="TextBox 10"/>
          <p:cNvSpPr txBox="1"/>
          <p:nvPr/>
        </p:nvSpPr>
        <p:spPr>
          <a:xfrm>
            <a:off x="5397500" y="1879600"/>
            <a:ext cx="6223000" cy="386080"/>
          </a:xfrm>
          <a:prstGeom prst="rect">
            <a:avLst/>
          </a:prstGeom>
          <a:noFill/>
        </p:spPr>
        <p:txBody>
          <a:bodyPr wrap="none" lIns="0" rIns="0" tIns="0" bIns="0">
            <a:spAutoFit/>
          </a:bodyPr>
          <a:lstStyle/>
          <a:p>
            <a:pPr>
              <a:lnSpc>
                <a:spcPts val="2640"/>
              </a:lnSpc>
              <a:spcAft>
                <a:spcPts val="0"/>
              </a:spcAft>
              <a:defRPr sz="2200" b="0">
                <a:solidFill>
                  <a:srgbClr val="596477"/>
                </a:solidFill>
                <a:latin typeface="Lato"/>
              </a:defRPr>
            </a:pPr>
            <a:r>
              <a:t>Keep each specimen and all its views together.</a:t>
            </a:r>
          </a:p>
        </p:txBody>
      </p:sp>
      <p:sp>
        <p:nvSpPr>
          <p:cNvPr id="12" name="TextBox 11"/>
          <p:cNvSpPr txBox="1"/>
          <p:nvPr/>
        </p:nvSpPr>
        <p:spPr>
          <a:xfrm>
            <a:off x="457200" y="2984500"/>
            <a:ext cx="762000" cy="477520"/>
          </a:xfrm>
          <a:prstGeom prst="rect">
            <a:avLst/>
          </a:prstGeom>
          <a:noFill/>
        </p:spPr>
        <p:txBody>
          <a:bodyPr wrap="none" lIns="0" rIns="0" tIns="0" bIns="0">
            <a:spAutoFit/>
          </a:bodyPr>
          <a:lstStyle/>
          <a:p>
            <a:pPr>
              <a:lnSpc>
                <a:spcPts val="3360"/>
              </a:lnSpc>
              <a:spcAft>
                <a:spcPts val="0"/>
              </a:spcAft>
              <a:defRPr sz="2800" b="1">
                <a:solidFill>
                  <a:srgbClr val="93451F"/>
                </a:solidFill>
                <a:latin typeface="Lato"/>
              </a:defRPr>
            </a:pPr>
            <a:r>
              <a:t>02</a:t>
            </a:r>
          </a:p>
        </p:txBody>
      </p:sp>
      <p:sp>
        <p:nvSpPr>
          <p:cNvPr id="13" name="TextBox 12"/>
          <p:cNvSpPr txBox="1"/>
          <p:nvPr/>
        </p:nvSpPr>
        <p:spPr>
          <a:xfrm>
            <a:off x="1422400" y="2984500"/>
            <a:ext cx="36195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Use one protocol</a:t>
            </a:r>
          </a:p>
        </p:txBody>
      </p:sp>
      <p:sp>
        <p:nvSpPr>
          <p:cNvPr id="14" name="TextBox 13"/>
          <p:cNvSpPr txBox="1"/>
          <p:nvPr/>
        </p:nvSpPr>
        <p:spPr>
          <a:xfrm>
            <a:off x="5397500" y="3009900"/>
            <a:ext cx="6223000" cy="721360"/>
          </a:xfrm>
          <a:prstGeom prst="rect">
            <a:avLst/>
          </a:prstGeom>
          <a:noFill/>
        </p:spPr>
        <p:txBody>
          <a:bodyPr wrap="none" lIns="0" rIns="0" tIns="0" bIns="0">
            <a:spAutoFit/>
          </a:bodyPr>
          <a:lstStyle/>
          <a:p>
            <a:pPr>
              <a:lnSpc>
                <a:spcPts val="2640"/>
              </a:lnSpc>
              <a:spcAft>
                <a:spcPts val="0"/>
              </a:spcAft>
              <a:defRPr sz="2200" b="0">
                <a:solidFill>
                  <a:srgbClr val="596477"/>
                </a:solidFill>
                <a:latin typeface="Lato"/>
              </a:defRPr>
            </a:pPr>
            <a:r>
              <a:t>Same categories, preprocessing, and evaluation</a:t>
            </a:r>
          </a:p>
          <a:p>
            <a:pPr>
              <a:lnSpc>
                <a:spcPts val="2640"/>
              </a:lnSpc>
              <a:spcAft>
                <a:spcPts val="0"/>
              </a:spcAft>
              <a:defRPr sz="2200" b="0">
                <a:solidFill>
                  <a:srgbClr val="596477"/>
                </a:solidFill>
                <a:latin typeface="Lato"/>
              </a:defRPr>
            </a:pPr>
            <a:r>
              <a:t>data.</a:t>
            </a:r>
          </a:p>
        </p:txBody>
      </p:sp>
      <p:sp>
        <p:nvSpPr>
          <p:cNvPr id="15" name="TextBox 14"/>
          <p:cNvSpPr txBox="1"/>
          <p:nvPr/>
        </p:nvSpPr>
        <p:spPr>
          <a:xfrm>
            <a:off x="457200" y="4114800"/>
            <a:ext cx="762000" cy="477520"/>
          </a:xfrm>
          <a:prstGeom prst="rect">
            <a:avLst/>
          </a:prstGeom>
          <a:noFill/>
        </p:spPr>
        <p:txBody>
          <a:bodyPr wrap="none" lIns="0" rIns="0" tIns="0" bIns="0">
            <a:spAutoFit/>
          </a:bodyPr>
          <a:lstStyle/>
          <a:p>
            <a:pPr>
              <a:lnSpc>
                <a:spcPts val="3360"/>
              </a:lnSpc>
              <a:spcAft>
                <a:spcPts val="0"/>
              </a:spcAft>
              <a:defRPr sz="2800" b="1">
                <a:solidFill>
                  <a:srgbClr val="93451F"/>
                </a:solidFill>
                <a:latin typeface="Lato"/>
              </a:defRPr>
            </a:pPr>
            <a:r>
              <a:t>03</a:t>
            </a:r>
          </a:p>
        </p:txBody>
      </p:sp>
      <p:sp>
        <p:nvSpPr>
          <p:cNvPr id="16" name="TextBox 15"/>
          <p:cNvSpPr txBox="1"/>
          <p:nvPr/>
        </p:nvSpPr>
        <p:spPr>
          <a:xfrm>
            <a:off x="1422400" y="4114800"/>
            <a:ext cx="36195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Count all errors</a:t>
            </a:r>
          </a:p>
        </p:txBody>
      </p:sp>
      <p:sp>
        <p:nvSpPr>
          <p:cNvPr id="17" name="TextBox 16"/>
          <p:cNvSpPr txBox="1"/>
          <p:nvPr/>
        </p:nvSpPr>
        <p:spPr>
          <a:xfrm>
            <a:off x="5397500" y="4140200"/>
            <a:ext cx="6223000" cy="386080"/>
          </a:xfrm>
          <a:prstGeom prst="rect">
            <a:avLst/>
          </a:prstGeom>
          <a:noFill/>
        </p:spPr>
        <p:txBody>
          <a:bodyPr wrap="none" lIns="0" rIns="0" tIns="0" bIns="0">
            <a:spAutoFit/>
          </a:bodyPr>
          <a:lstStyle/>
          <a:p>
            <a:pPr>
              <a:lnSpc>
                <a:spcPts val="2640"/>
              </a:lnSpc>
              <a:spcAft>
                <a:spcPts val="0"/>
              </a:spcAft>
              <a:defRPr sz="2200" b="0">
                <a:solidFill>
                  <a:srgbClr val="596477"/>
                </a:solidFill>
                <a:latin typeface="Lato"/>
              </a:defRPr>
            </a:pPr>
            <a:r>
              <a:t>Measure missed specimens and wrong categories.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10 / NEXT STEPS</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From annotated specimens to useful predictions</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10</a:t>
            </a:r>
          </a:p>
        </p:txBody>
      </p:sp>
      <p:sp>
        <p:nvSpPr>
          <p:cNvPr id="9" name="Rectangle 8"/>
          <p:cNvSpPr/>
          <p:nvPr/>
        </p:nvSpPr>
        <p:spPr>
          <a:xfrm>
            <a:off x="457200" y="2019300"/>
            <a:ext cx="3606800"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8500" y="2273300"/>
            <a:ext cx="31115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01</a:t>
            </a:r>
          </a:p>
        </p:txBody>
      </p:sp>
      <p:sp>
        <p:nvSpPr>
          <p:cNvPr id="11" name="TextBox 10"/>
          <p:cNvSpPr txBox="1"/>
          <p:nvPr/>
        </p:nvSpPr>
        <p:spPr>
          <a:xfrm>
            <a:off x="698500" y="2984500"/>
            <a:ext cx="3111500" cy="873760"/>
          </a:xfrm>
          <a:prstGeom prst="rect">
            <a:avLst/>
          </a:prstGeom>
          <a:noFill/>
        </p:spPr>
        <p:txBody>
          <a:bodyPr wrap="none" lIns="0" rIns="0" tIns="0" bIns="0">
            <a:spAutoFit/>
          </a:bodyPr>
          <a:lstStyle/>
          <a:p>
            <a:pPr>
              <a:lnSpc>
                <a:spcPts val="3240"/>
              </a:lnSpc>
              <a:spcAft>
                <a:spcPts val="0"/>
              </a:spcAft>
              <a:defRPr sz="2700" b="1">
                <a:solidFill>
                  <a:srgbClr val="202D48"/>
                </a:solidFill>
                <a:latin typeface="Lato"/>
              </a:defRPr>
            </a:pPr>
            <a:r>
              <a:t>Inspect crops</a:t>
            </a:r>
          </a:p>
          <a:p>
            <a:pPr>
              <a:lnSpc>
                <a:spcPts val="3240"/>
              </a:lnSpc>
              <a:spcAft>
                <a:spcPts val="0"/>
              </a:spcAft>
              <a:defRPr sz="2700" b="1">
                <a:solidFill>
                  <a:srgbClr val="202D48"/>
                </a:solidFill>
                <a:latin typeface="Lato"/>
              </a:defRPr>
            </a:pPr>
            <a:r>
              <a:t>and define groups</a:t>
            </a:r>
          </a:p>
        </p:txBody>
      </p:sp>
      <p:sp>
        <p:nvSpPr>
          <p:cNvPr id="12" name="Rectangle 11"/>
          <p:cNvSpPr/>
          <p:nvPr/>
        </p:nvSpPr>
        <p:spPr>
          <a:xfrm>
            <a:off x="4292600" y="2019300"/>
            <a:ext cx="3606800"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3900" y="2273300"/>
            <a:ext cx="31115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02</a:t>
            </a:r>
          </a:p>
        </p:txBody>
      </p:sp>
      <p:sp>
        <p:nvSpPr>
          <p:cNvPr id="14" name="TextBox 13"/>
          <p:cNvSpPr txBox="1"/>
          <p:nvPr/>
        </p:nvSpPr>
        <p:spPr>
          <a:xfrm>
            <a:off x="4533900" y="2984500"/>
            <a:ext cx="3111500" cy="1285240"/>
          </a:xfrm>
          <a:prstGeom prst="rect">
            <a:avLst/>
          </a:prstGeom>
          <a:noFill/>
        </p:spPr>
        <p:txBody>
          <a:bodyPr wrap="none" lIns="0" rIns="0" tIns="0" bIns="0">
            <a:spAutoFit/>
          </a:bodyPr>
          <a:lstStyle/>
          <a:p>
            <a:pPr>
              <a:lnSpc>
                <a:spcPts val="3240"/>
              </a:lnSpc>
              <a:spcAft>
                <a:spcPts val="0"/>
              </a:spcAft>
              <a:defRPr sz="2700" b="1">
                <a:solidFill>
                  <a:srgbClr val="202D48"/>
                </a:solidFill>
                <a:latin typeface="Lato"/>
              </a:defRPr>
            </a:pPr>
            <a:r>
              <a:t>Freeze the split</a:t>
            </a:r>
          </a:p>
          <a:p>
            <a:pPr>
              <a:lnSpc>
                <a:spcPts val="3240"/>
              </a:lnSpc>
              <a:spcAft>
                <a:spcPts val="0"/>
              </a:spcAft>
              <a:defRPr sz="2700" b="1">
                <a:solidFill>
                  <a:srgbClr val="202D48"/>
                </a:solidFill>
                <a:latin typeface="Lato"/>
              </a:defRPr>
            </a:pPr>
            <a:r>
              <a:t>and compare</a:t>
            </a:r>
          </a:p>
          <a:p>
            <a:pPr>
              <a:lnSpc>
                <a:spcPts val="3240"/>
              </a:lnSpc>
              <a:spcAft>
                <a:spcPts val="0"/>
              </a:spcAft>
              <a:defRPr sz="2700" b="1">
                <a:solidFill>
                  <a:srgbClr val="202D48"/>
                </a:solidFill>
                <a:latin typeface="Lato"/>
              </a:defRPr>
            </a:pPr>
            <a:r>
              <a:t>models</a:t>
            </a:r>
          </a:p>
        </p:txBody>
      </p:sp>
      <p:sp>
        <p:nvSpPr>
          <p:cNvPr id="15" name="Rectangle 14"/>
          <p:cNvSpPr/>
          <p:nvPr/>
        </p:nvSpPr>
        <p:spPr>
          <a:xfrm>
            <a:off x="8128000" y="2019300"/>
            <a:ext cx="3606800"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9300" y="2273300"/>
            <a:ext cx="31115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03</a:t>
            </a:r>
          </a:p>
        </p:txBody>
      </p:sp>
      <p:sp>
        <p:nvSpPr>
          <p:cNvPr id="17" name="TextBox 16"/>
          <p:cNvSpPr txBox="1"/>
          <p:nvPr/>
        </p:nvSpPr>
        <p:spPr>
          <a:xfrm>
            <a:off x="8369300" y="2984500"/>
            <a:ext cx="3111500" cy="873760"/>
          </a:xfrm>
          <a:prstGeom prst="rect">
            <a:avLst/>
          </a:prstGeom>
          <a:noFill/>
        </p:spPr>
        <p:txBody>
          <a:bodyPr wrap="none" lIns="0" rIns="0" tIns="0" bIns="0">
            <a:spAutoFit/>
          </a:bodyPr>
          <a:lstStyle/>
          <a:p>
            <a:pPr>
              <a:lnSpc>
                <a:spcPts val="3240"/>
              </a:lnSpc>
              <a:spcAft>
                <a:spcPts val="0"/>
              </a:spcAft>
              <a:defRPr sz="2700" b="1">
                <a:solidFill>
                  <a:srgbClr val="202D48"/>
                </a:solidFill>
                <a:latin typeface="Lato"/>
              </a:defRPr>
            </a:pPr>
            <a:r>
              <a:t>Build a simple</a:t>
            </a:r>
          </a:p>
          <a:p>
            <a:pPr>
              <a:lnSpc>
                <a:spcPts val="3240"/>
              </a:lnSpc>
              <a:spcAft>
                <a:spcPts val="0"/>
              </a:spcAft>
              <a:defRPr sz="2700" b="1">
                <a:solidFill>
                  <a:srgbClr val="202D48"/>
                </a:solidFill>
                <a:latin typeface="Lato"/>
              </a:defRPr>
            </a:pPr>
            <a:r>
              <a:t>review interface</a:t>
            </a:r>
          </a:p>
        </p:txBody>
      </p:sp>
      <p:sp>
        <p:nvSpPr>
          <p:cNvPr id="18" name="Rectangle 17"/>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Deliver images, proposed categories, and uncertainty for expert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