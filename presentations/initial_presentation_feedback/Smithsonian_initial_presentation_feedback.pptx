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64" r:id="rId18"/>
    <p:sldId id="256" r:id="rId6"/>
    <p:sldId id="257" r:id="rId7"/>
    <p:sldId id="258" r:id="rId8"/>
    <p:sldId id="259" r:id="rId9"/>
    <p:sldId id="260" r:id="rId10"/>
    <p:sldId id="261" r:id="rId11"/>
    <p:sldId id="262" r:id="rId12"/>
    <p:sldId id="263" r:id="rId13"/>
    <p:sldId id="265" r:id="rId19"/>
  </p:sldIdLst>
  <p:sldSz cy="5143500" cx="9144000"/>
  <p:notesSz cx="6858000" cy="9144000"/>
  <p:embeddedFontLst>
    <p:embeddedFont>
      <p:font typeface="Lato"/>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font" Target="fonts/Lato-regular.fntdata"/><Relationship Id="rId15" Type="http://schemas.openxmlformats.org/officeDocument/2006/relationships/font" Target="fonts/Lato-bold.fntdata"/><Relationship Id="rId16" Type="http://schemas.openxmlformats.org/officeDocument/2006/relationships/font" Target="fonts/Lato-italic.fntdata"/><Relationship Id="rId17" Type="http://schemas.openxmlformats.org/officeDocument/2006/relationships/font" Target="fonts/Lato-boldItalic.fntdata"/><Relationship Id="rId18" Type="http://schemas.openxmlformats.org/officeDocument/2006/relationships/slide" Target="slides/slide9.xml"/><Relationship Id="rId19"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h7d84c1533fb0bfa7_16_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 name="Google Shape;83;h7d84c1533fb0bfa7_16_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TARGET: 30 seconds | PRESENTER 1</a:t>
            </a:r>
          </a:p>
          <a:p/>
          <a:p>
            <a:r>
              <a:t>SAY:</a:t>
            </a:r>
          </a:p>
          <a:p>
            <a:r>
              <a:t>Our scientific question is: what grew in North America when the climate was warmer, about fifty million years ago? Fossil pollen gives researchers clues about the plants that lived there. But identifying thousands of tiny specimens by hand takes expert time. We want to help with that identification step so researchers can study more of the collection.</a:t>
            </a:r>
          </a:p>
        </p:txBody>
      </p:sp>
      <p:sp>
        <p:nvSpPr>
          <p:cNvPr id="84" name="Google Shape;84;h7d84c1533fb0bfa7_16_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h7d84c1533fb0bfa7_16_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h7d84c1533fb0bfa7_16_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TARGET: 25 seconds | PRESENTER 2</a:t>
            </a:r>
          </a:p>
          <a:p/>
          <a:p>
            <a:r>
              <a:t>SAY:</a:t>
            </a:r>
          </a:p>
          <a:p>
            <a:r>
              <a:t>This image shows the gap we’re addressing. The previous team developed a detector to find specimens, like the one inside this box. But a location alone doesn’t tell researchers what kind of pollen it is. Our goal is to add that category identification, using details of the specimen’s shape and surface.</a:t>
            </a:r>
          </a:p>
        </p:txBody>
      </p:sp>
      <p:sp>
        <p:nvSpPr>
          <p:cNvPr id="111" name="Google Shape;111;h7d84c1533fb0bfa7_16_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h5120ca0066a62b66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 name="Google Shape;123;h5120ca0066a62b66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TARGET: 25 seconds | PRESENTER 2</a:t>
            </a:r>
          </a:p>
          <a:p/>
          <a:p>
            <a:r>
              <a:t>SAY:</a:t>
            </a:r>
          </a:p>
          <a:p>
            <a:r>
              <a:t>These three studies give us our starting point. Punyasena and Martinsen locate specimens and then classify individual crops. Abbas Shaikh and colleagues developed a pipeline for detecting specimens across large, multifocal slides. We’ll build on whole-slide detection and compare two ways to add category identification.</a:t>
            </a:r>
          </a:p>
        </p:txBody>
      </p:sp>
      <p:sp>
        <p:nvSpPr>
          <p:cNvPr id="124" name="Google Shape;124;h5120ca0066a62b66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h7d84c1533fb0bfa7_6_7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h7d84c1533fb0bfa7_6_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TARGET: 20 seconds | PRESENTER 3</a:t>
            </a:r>
          </a:p>
          <a:p/>
          <a:p>
            <a:r>
              <a:t>SAY:</a:t>
            </a:r>
          </a:p>
          <a:p>
            <a:r>
              <a:t>Each scan captures different focal depths, so different details become clear in different views. This example has twenty-five focal planes, and the full scan is about thirty gigabytes. We’ll extract smaller regions so we can work with individual specimens.</a:t>
            </a:r>
          </a:p>
        </p:txBody>
      </p:sp>
      <p:sp>
        <p:nvSpPr>
          <p:cNvPr id="145" name="Google Shape;145;h7d84c1533fb0bfa7_6_7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h7d84c1533fb0bfa7_7_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h7d84c1533fb0bfa7_7_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TARGET: 25 seconds | PRESENTER 3</a:t>
            </a:r>
          </a:p>
          <a:p/>
          <a:p>
            <a:r>
              <a:t>SAY:</a:t>
            </a:r>
          </a:p>
          <a:p>
            <a:r>
              <a:t>We have eighty-three image and annotation pairs. Our starting selection includes thirty-two priority categories and two thousand two hundred ninety annotations. These four categories illustrate the imbalance: some have hundreds of examples, while others have only a few dozen. That can make the less common categories harder to learn.</a:t>
            </a:r>
          </a:p>
        </p:txBody>
      </p:sp>
      <p:sp>
        <p:nvSpPr>
          <p:cNvPr id="161" name="Google Shape;161;h7d84c1533fb0bfa7_7_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h7d84c1533fb0bfa7_7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4" name="Google Shape;174;h7d84c1533fb0bfa7_7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TARGET: 30 seconds | PRESENTER 4</a:t>
            </a:r>
          </a:p>
          <a:p/>
          <a:p>
            <a:r>
              <a:t>SAY:</a:t>
            </a:r>
          </a:p>
          <a:p>
            <a:r>
              <a:t>Here’s how we turn the annotations into learning examples. First, we locate the marked specimen in the image. We read its expert label and use the supplied mapping to connect it to a target category. Then we extract a small image around it and check that it’s clear and properly positioned. The result is a specimen image paired with its category.</a:t>
            </a:r>
          </a:p>
        </p:txBody>
      </p:sp>
      <p:sp>
        <p:nvSpPr>
          <p:cNvPr id="175" name="Google Shape;175;h7d84c1533fb0bfa7_7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h7d84c1533fb0bfa7_6_10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2" name="Google Shape;202;h7d84c1533fb0bfa7_6_10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TARGET: 30 seconds | PRESENTER 4</a:t>
            </a:r>
          </a:p>
          <a:p/>
          <a:p>
            <a:r>
              <a:t>SAY:</a:t>
            </a:r>
          </a:p>
          <a:p>
            <a:r>
              <a:t>Next, we mix up the microscope slides and divide them into training, validation, and testing groups. The model learns from training examples, validation helps us make adjustments, and testing checks how well it works on new slides. All examples from one slide stay together. We can also balance the training examples so the most common categories don’t dominate.</a:t>
            </a:r>
          </a:p>
        </p:txBody>
      </p:sp>
      <p:sp>
        <p:nvSpPr>
          <p:cNvPr id="203" name="Google Shape;203;h7d84c1533fb0bfa7_6_10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h7d84c1533fb0bfa7_14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0" name="Google Shape;230;h7d84c1533fb0bfa7_14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TARGET: 50 seconds | PRESENTER 5</a:t>
            </a:r>
          </a:p>
          <a:p/>
          <a:p>
            <a:r>
              <a:t>SAY:</a:t>
            </a:r>
          </a:p>
          <a:p>
            <a:r>
              <a:t>We’ll compare two ways to do the job. In the first, one model finds each specimen and identifies its category at the same time. In the second, a detector finds the specimens, and a separate classifier identifies each crop. The question is whether giving identification its own model improves the results. We don’t know yet which will work better. We’ll compare them on the same held-out slides, checking both the locations and the categories, including less common categories.</a:t>
            </a:r>
          </a:p>
        </p:txBody>
      </p:sp>
      <p:sp>
        <p:nvSpPr>
          <p:cNvPr id="231" name="Google Shape;231;h7d84c1533fb0bfa7_14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TARGET: 10 seconds | PRESENTER 1</a:t>
            </a:r>
          </a:p>
          <a:p/>
          <a:p>
            <a:r>
              <a:t>SAY:</a:t>
            </a:r>
          </a:p>
          <a:p>
            <a:r>
              <a:t>Hi everyone. We’re the Rice D2K Smithsonian team. We’re using machine learning to help researchers identify fossil pollen.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TARGET: 25 seconds | PRESENTER 5</a:t>
            </a:r>
          </a:p>
          <a:p/>
          <a:p>
            <a:r>
              <a:t>SAY:</a:t>
            </a:r>
          </a:p>
          <a:p>
            <a:r>
              <a:t>Our intended result is a set of located, labeled specimens that experts can review. The aim is to reduce repetitive identification work and help researchers study past vegetation. Next, we’ll prepare the crops, train both approaches, and compare their mistakes. Thank you.</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 name="Google Shape;13;p2"/>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 name="Google Shape;14;p2"/>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514350" y="1597819"/>
            <a:ext cx="5829300" cy="11025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7" name="Google Shape;17;p3"/>
          <p:cNvSpPr txBox="1"/>
          <p:nvPr>
            <p:ph idx="1" type="subTitle"/>
          </p:nvPr>
        </p:nvSpPr>
        <p:spPr>
          <a:xfrm>
            <a:off x="1028700" y="2914650"/>
            <a:ext cx="4800600" cy="1314600"/>
          </a:xfrm>
          <a:prstGeom prst="rect">
            <a:avLst/>
          </a:prstGeom>
          <a:noFill/>
          <a:ln>
            <a:noFill/>
          </a:ln>
        </p:spPr>
        <p:txBody>
          <a:bodyPr anchorCtr="0" anchor="t" bIns="34275" lIns="68575" spcFirstLastPara="1" rIns="68575" wrap="square" tIns="34275">
            <a:normAutofit/>
          </a:bodyPr>
          <a:lstStyle>
            <a:lvl1pPr lvl="0" algn="ctr">
              <a:spcBef>
                <a:spcPts val="50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1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sp>
        <p:nvSpPr>
          <p:cNvPr id="18" name="Google Shape;18;p3"/>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 name="Google Shape;19;p3"/>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 name="Google Shape;20;p3"/>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342900" y="205978"/>
            <a:ext cx="6172200" cy="8574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3" name="Google Shape;23;p4"/>
          <p:cNvSpPr txBox="1"/>
          <p:nvPr>
            <p:ph idx="1" type="body"/>
          </p:nvPr>
        </p:nvSpPr>
        <p:spPr>
          <a:xfrm>
            <a:off x="342900" y="1200150"/>
            <a:ext cx="6172200" cy="339450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24" name="Google Shape;24;p4"/>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5" name="Google Shape;25;p4"/>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6" name="Google Shape;26;p4"/>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541735" y="3305175"/>
            <a:ext cx="5829300" cy="1021500"/>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dk1"/>
              </a:buClr>
              <a:buSzPts val="3000"/>
              <a:buFont typeface="Calibri"/>
              <a:buNone/>
              <a:defRPr b="1" sz="30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9" name="Google Shape;29;p5"/>
          <p:cNvSpPr txBox="1"/>
          <p:nvPr>
            <p:ph idx="1" type="body"/>
          </p:nvPr>
        </p:nvSpPr>
        <p:spPr>
          <a:xfrm>
            <a:off x="541735" y="2180035"/>
            <a:ext cx="5829300" cy="1125000"/>
          </a:xfrm>
          <a:prstGeom prst="rect">
            <a:avLst/>
          </a:prstGeom>
          <a:noFill/>
          <a:ln>
            <a:noFill/>
          </a:ln>
        </p:spPr>
        <p:txBody>
          <a:bodyPr anchorCtr="0" anchor="b" bIns="34275" lIns="68575" spcFirstLastPara="1" rIns="68575" wrap="square" tIns="34275">
            <a:normAutofit/>
          </a:bodyPr>
          <a:lstStyle>
            <a:lvl1pPr indent="-228600" lvl="0" marL="457200" algn="l">
              <a:spcBef>
                <a:spcPts val="300"/>
              </a:spcBef>
              <a:spcAft>
                <a:spcPts val="0"/>
              </a:spcAft>
              <a:buClr>
                <a:srgbClr val="888888"/>
              </a:buClr>
              <a:buSzPts val="1500"/>
              <a:buNone/>
              <a:defRPr sz="1500">
                <a:solidFill>
                  <a:srgbClr val="888888"/>
                </a:solidFill>
              </a:defRPr>
            </a:lvl1pPr>
            <a:lvl2pPr indent="-228600" lvl="1" marL="914400" algn="l">
              <a:spcBef>
                <a:spcPts val="300"/>
              </a:spcBef>
              <a:spcAft>
                <a:spcPts val="0"/>
              </a:spcAft>
              <a:buClr>
                <a:srgbClr val="888888"/>
              </a:buClr>
              <a:buSzPts val="1400"/>
              <a:buNone/>
              <a:defRPr sz="1400">
                <a:solidFill>
                  <a:srgbClr val="888888"/>
                </a:solidFill>
              </a:defRPr>
            </a:lvl2pPr>
            <a:lvl3pPr indent="-228600" lvl="2" marL="1371600" algn="l">
              <a:spcBef>
                <a:spcPts val="200"/>
              </a:spcBef>
              <a:spcAft>
                <a:spcPts val="0"/>
              </a:spcAft>
              <a:buClr>
                <a:srgbClr val="888888"/>
              </a:buClr>
              <a:buSzPts val="1200"/>
              <a:buNone/>
              <a:defRPr sz="1200">
                <a:solidFill>
                  <a:srgbClr val="888888"/>
                </a:solidFill>
              </a:defRPr>
            </a:lvl3pPr>
            <a:lvl4pPr indent="-228600" lvl="3" marL="1828800" algn="l">
              <a:spcBef>
                <a:spcPts val="200"/>
              </a:spcBef>
              <a:spcAft>
                <a:spcPts val="0"/>
              </a:spcAft>
              <a:buClr>
                <a:srgbClr val="888888"/>
              </a:buClr>
              <a:buSzPts val="1100"/>
              <a:buNone/>
              <a:defRPr sz="1100">
                <a:solidFill>
                  <a:srgbClr val="888888"/>
                </a:solidFill>
              </a:defRPr>
            </a:lvl4pPr>
            <a:lvl5pPr indent="-228600" lvl="4" marL="2286000" algn="l">
              <a:spcBef>
                <a:spcPts val="200"/>
              </a:spcBef>
              <a:spcAft>
                <a:spcPts val="0"/>
              </a:spcAft>
              <a:buClr>
                <a:srgbClr val="888888"/>
              </a:buClr>
              <a:buSzPts val="1100"/>
              <a:buNone/>
              <a:defRPr sz="1100">
                <a:solidFill>
                  <a:srgbClr val="888888"/>
                </a:solidFill>
              </a:defRPr>
            </a:lvl5pPr>
            <a:lvl6pPr indent="-228600" lvl="5" marL="2743200" algn="l">
              <a:spcBef>
                <a:spcPts val="200"/>
              </a:spcBef>
              <a:spcAft>
                <a:spcPts val="0"/>
              </a:spcAft>
              <a:buClr>
                <a:srgbClr val="888888"/>
              </a:buClr>
              <a:buSzPts val="1100"/>
              <a:buNone/>
              <a:defRPr sz="1100">
                <a:solidFill>
                  <a:srgbClr val="888888"/>
                </a:solidFill>
              </a:defRPr>
            </a:lvl6pPr>
            <a:lvl7pPr indent="-228600" lvl="6" marL="3200400" algn="l">
              <a:spcBef>
                <a:spcPts val="200"/>
              </a:spcBef>
              <a:spcAft>
                <a:spcPts val="0"/>
              </a:spcAft>
              <a:buClr>
                <a:srgbClr val="888888"/>
              </a:buClr>
              <a:buSzPts val="1100"/>
              <a:buNone/>
              <a:defRPr sz="1100">
                <a:solidFill>
                  <a:srgbClr val="888888"/>
                </a:solidFill>
              </a:defRPr>
            </a:lvl7pPr>
            <a:lvl8pPr indent="-228600" lvl="7" marL="3657600" algn="l">
              <a:spcBef>
                <a:spcPts val="200"/>
              </a:spcBef>
              <a:spcAft>
                <a:spcPts val="0"/>
              </a:spcAft>
              <a:buClr>
                <a:srgbClr val="888888"/>
              </a:buClr>
              <a:buSzPts val="1100"/>
              <a:buNone/>
              <a:defRPr sz="1100">
                <a:solidFill>
                  <a:srgbClr val="888888"/>
                </a:solidFill>
              </a:defRPr>
            </a:lvl8pPr>
            <a:lvl9pPr indent="-228600" lvl="8" marL="4114800" algn="l">
              <a:spcBef>
                <a:spcPts val="200"/>
              </a:spcBef>
              <a:spcAft>
                <a:spcPts val="0"/>
              </a:spcAft>
              <a:buClr>
                <a:srgbClr val="888888"/>
              </a:buClr>
              <a:buSzPts val="1100"/>
              <a:buNone/>
              <a:defRPr sz="1100">
                <a:solidFill>
                  <a:srgbClr val="888888"/>
                </a:solidFill>
              </a:defRPr>
            </a:lvl9pPr>
          </a:lstStyle>
          <a:p/>
        </p:txBody>
      </p:sp>
      <p:sp>
        <p:nvSpPr>
          <p:cNvPr id="30" name="Google Shape;30;p5"/>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1" name="Google Shape;31;p5"/>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2" name="Google Shape;32;p5"/>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342900" y="205978"/>
            <a:ext cx="6172200" cy="8574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5" name="Google Shape;35;p6"/>
          <p:cNvSpPr txBox="1"/>
          <p:nvPr>
            <p:ph idx="1" type="body"/>
          </p:nvPr>
        </p:nvSpPr>
        <p:spPr>
          <a:xfrm>
            <a:off x="342900" y="1200150"/>
            <a:ext cx="3029100" cy="3394500"/>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36" name="Google Shape;36;p6"/>
          <p:cNvSpPr txBox="1"/>
          <p:nvPr>
            <p:ph idx="2" type="body"/>
          </p:nvPr>
        </p:nvSpPr>
        <p:spPr>
          <a:xfrm>
            <a:off x="3486150" y="1200150"/>
            <a:ext cx="3029100" cy="3394500"/>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37" name="Google Shape;37;p6"/>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8" name="Google Shape;38;p6"/>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9" name="Google Shape;39;p6"/>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342900" y="205978"/>
            <a:ext cx="6172200" cy="8574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3300"/>
              <a:buFont typeface="Calibri"/>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2" name="Google Shape;42;p7"/>
          <p:cNvSpPr txBox="1"/>
          <p:nvPr>
            <p:ph idx="1" type="body"/>
          </p:nvPr>
        </p:nvSpPr>
        <p:spPr>
          <a:xfrm>
            <a:off x="342900" y="1151335"/>
            <a:ext cx="3030000" cy="479700"/>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43" name="Google Shape;43;p7"/>
          <p:cNvSpPr txBox="1"/>
          <p:nvPr>
            <p:ph idx="2" type="body"/>
          </p:nvPr>
        </p:nvSpPr>
        <p:spPr>
          <a:xfrm>
            <a:off x="342900" y="1631156"/>
            <a:ext cx="3030000" cy="2963400"/>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44" name="Google Shape;44;p7"/>
          <p:cNvSpPr txBox="1"/>
          <p:nvPr>
            <p:ph idx="3" type="body"/>
          </p:nvPr>
        </p:nvSpPr>
        <p:spPr>
          <a:xfrm>
            <a:off x="3483769" y="1151335"/>
            <a:ext cx="3031200" cy="479700"/>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45" name="Google Shape;45;p7"/>
          <p:cNvSpPr txBox="1"/>
          <p:nvPr>
            <p:ph idx="4" type="body"/>
          </p:nvPr>
        </p:nvSpPr>
        <p:spPr>
          <a:xfrm>
            <a:off x="3483769" y="1631156"/>
            <a:ext cx="3031200" cy="2963400"/>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46" name="Google Shape;46;p7"/>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7" name="Google Shape;47;p7"/>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Google Shape;48;p7"/>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342900" y="205978"/>
            <a:ext cx="6172200" cy="8574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1" name="Google Shape;51;p8"/>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Google Shape;52;p8"/>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Google Shape;53;p8"/>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342900" y="204788"/>
            <a:ext cx="2256300" cy="871500"/>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Google Shape;56;p9"/>
          <p:cNvSpPr txBox="1"/>
          <p:nvPr>
            <p:ph idx="1" type="body"/>
          </p:nvPr>
        </p:nvSpPr>
        <p:spPr>
          <a:xfrm>
            <a:off x="2681288" y="204788"/>
            <a:ext cx="3833700" cy="4389900"/>
          </a:xfrm>
          <a:prstGeom prst="rect">
            <a:avLst/>
          </a:prstGeom>
          <a:noFill/>
          <a:ln>
            <a:noFill/>
          </a:ln>
        </p:spPr>
        <p:txBody>
          <a:bodyPr anchorCtr="0" anchor="t" bIns="34275" lIns="68575" spcFirstLastPara="1" rIns="68575" wrap="square" tIns="34275">
            <a:normAutofit/>
          </a:bodyPr>
          <a:lstStyle>
            <a:lvl1pPr indent="-381000" lvl="0" marL="457200" algn="l">
              <a:spcBef>
                <a:spcPts val="500"/>
              </a:spcBef>
              <a:spcAft>
                <a:spcPts val="0"/>
              </a:spcAft>
              <a:buClr>
                <a:schemeClr val="dk1"/>
              </a:buClr>
              <a:buSzPts val="2400"/>
              <a:buChar char="•"/>
              <a:defRPr sz="2400"/>
            </a:lvl1pPr>
            <a:lvl2pPr indent="-361950" lvl="1" marL="914400" algn="l">
              <a:spcBef>
                <a:spcPts val="400"/>
              </a:spcBef>
              <a:spcAft>
                <a:spcPts val="0"/>
              </a:spcAft>
              <a:buClr>
                <a:schemeClr val="dk1"/>
              </a:buClr>
              <a:buSzPts val="2100"/>
              <a:buChar char="–"/>
              <a:defRPr sz="2100"/>
            </a:lvl2pPr>
            <a:lvl3pPr indent="-342900" lvl="2" marL="1371600" algn="l">
              <a:spcBef>
                <a:spcPts val="400"/>
              </a:spcBef>
              <a:spcAft>
                <a:spcPts val="0"/>
              </a:spcAft>
              <a:buClr>
                <a:schemeClr val="dk1"/>
              </a:buClr>
              <a:buSzPts val="1800"/>
              <a:buChar char="•"/>
              <a:defRPr sz="18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57" name="Google Shape;57;p9"/>
          <p:cNvSpPr txBox="1"/>
          <p:nvPr>
            <p:ph idx="2" type="body"/>
          </p:nvPr>
        </p:nvSpPr>
        <p:spPr>
          <a:xfrm>
            <a:off x="342900" y="1076325"/>
            <a:ext cx="2256300" cy="3518400"/>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58" name="Google Shape;58;p9"/>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Google Shape;59;p9"/>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Google Shape;60;p9"/>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344216" y="3600450"/>
            <a:ext cx="4114800" cy="425100"/>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Google Shape;63;p10"/>
          <p:cNvSpPr/>
          <p:nvPr>
            <p:ph idx="2" type="pic"/>
          </p:nvPr>
        </p:nvSpPr>
        <p:spPr>
          <a:xfrm>
            <a:off x="1344216" y="459581"/>
            <a:ext cx="4114800" cy="3086100"/>
          </a:xfrm>
          <a:prstGeom prst="rect">
            <a:avLst/>
          </a:prstGeom>
          <a:noFill/>
          <a:ln>
            <a:noFill/>
          </a:ln>
        </p:spPr>
      </p:sp>
      <p:sp>
        <p:nvSpPr>
          <p:cNvPr id="64" name="Google Shape;64;p10"/>
          <p:cNvSpPr txBox="1"/>
          <p:nvPr>
            <p:ph idx="1" type="body"/>
          </p:nvPr>
        </p:nvSpPr>
        <p:spPr>
          <a:xfrm>
            <a:off x="1344216" y="4025504"/>
            <a:ext cx="4114800" cy="603600"/>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65" name="Google Shape;65;p10"/>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Google Shape;66;p10"/>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Google Shape;67;p10"/>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342900" y="205978"/>
            <a:ext cx="6172200" cy="8574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Google Shape;70;p11"/>
          <p:cNvSpPr txBox="1"/>
          <p:nvPr>
            <p:ph idx="1" type="body"/>
          </p:nvPr>
        </p:nvSpPr>
        <p:spPr>
          <a:xfrm rot="5400000">
            <a:off x="1731750" y="-188700"/>
            <a:ext cx="3394500" cy="617220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71" name="Google Shape;71;p11"/>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Google Shape;72;p11"/>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Google Shape;73;p11"/>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3549300" y="1628879"/>
            <a:ext cx="4388700" cy="15429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Google Shape;76;p12"/>
          <p:cNvSpPr txBox="1"/>
          <p:nvPr>
            <p:ph idx="1" type="body"/>
          </p:nvPr>
        </p:nvSpPr>
        <p:spPr>
          <a:xfrm rot="5400000">
            <a:off x="406050" y="142978"/>
            <a:ext cx="4388700" cy="451470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77" name="Google Shape;77;p12"/>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Google Shape;78;p12"/>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Google Shape;79;p12"/>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6ba06cb1d3e1abe9_9_0)">
  <p:cSld name="Generated (h6ba06cb1d3e1abe9_9_0)">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42900" y="205978"/>
            <a:ext cx="6172200" cy="857400"/>
          </a:xfrm>
          <a:prstGeom prst="rect">
            <a:avLst/>
          </a:prstGeom>
          <a:noFill/>
          <a:ln>
            <a:noFill/>
          </a:ln>
        </p:spPr>
        <p:txBody>
          <a:bodyPr anchorCtr="0" anchor="ctr" bIns="34275" lIns="68575" spcFirstLastPara="1" rIns="68575" wrap="square" tIns="34275">
            <a:normAutofit/>
          </a:bodyPr>
          <a:lstStyle>
            <a:lvl1pPr lvl="0" marR="0" rtl="0" algn="ctr">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Google Shape;7;p1"/>
          <p:cNvSpPr txBox="1"/>
          <p:nvPr>
            <p:ph idx="1" type="body"/>
          </p:nvPr>
        </p:nvSpPr>
        <p:spPr>
          <a:xfrm>
            <a:off x="342900" y="1200150"/>
            <a:ext cx="6172200" cy="3394500"/>
          </a:xfrm>
          <a:prstGeom prst="rect">
            <a:avLst/>
          </a:prstGeom>
          <a:noFill/>
          <a:ln>
            <a:noFill/>
          </a:ln>
        </p:spPr>
        <p:txBody>
          <a:bodyPr anchorCtr="0" anchor="t" bIns="34275" lIns="68575" spcFirstLastPara="1" rIns="68575" wrap="square" tIns="34275">
            <a:normAutofit/>
          </a:bodyPr>
          <a:lstStyle>
            <a:lvl1pPr indent="-381000" lvl="0" marL="457200" marR="0" rtl="0" algn="l">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7.png"/><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Rectangle 85"/>
          <p:cNvSpPr/>
          <p:nvPr/>
        </p:nvSpPr>
        <p:spPr>
          <a:xfrm>
            <a:off x="0" y="0"/>
            <a:ext cx="9144000" cy="51435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347472" y="265176"/>
            <a:ext cx="237744" cy="36576"/>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94944" y="182880"/>
            <a:ext cx="8092440" cy="182880"/>
          </a:xfrm>
          <a:prstGeom prst="rect">
            <a:avLst/>
          </a:prstGeom>
          <a:noFill/>
        </p:spPr>
        <p:txBody>
          <a:bodyPr wrap="square" lIns="0" rIns="0" tIns="0" bIns="0">
            <a:spAutoFit/>
          </a:bodyPr>
          <a:lstStyle/>
          <a:p>
            <a:pPr>
              <a:spcAft>
                <a:spcPts val="500"/>
              </a:spcAft>
              <a:defRPr sz="800" b="1">
                <a:solidFill>
                  <a:srgbClr val="93451F"/>
                </a:solidFill>
                <a:latin typeface="Lato"/>
              </a:defRPr>
            </a:pPr>
            <a:r>
              <a:t>02 / WHY IT MATTERS</a:t>
            </a:r>
          </a:p>
        </p:txBody>
      </p:sp>
      <p:sp>
        <p:nvSpPr>
          <p:cNvPr id="89" name="TextBox 88"/>
          <p:cNvSpPr txBox="1"/>
          <p:nvPr/>
        </p:nvSpPr>
        <p:spPr>
          <a:xfrm>
            <a:off x="347472" y="539496"/>
            <a:ext cx="8458200" cy="548640"/>
          </a:xfrm>
          <a:prstGeom prst="rect">
            <a:avLst/>
          </a:prstGeom>
          <a:noFill/>
        </p:spPr>
        <p:txBody>
          <a:bodyPr wrap="square" lIns="0" rIns="0" tIns="0" bIns="0">
            <a:spAutoFit/>
          </a:bodyPr>
          <a:lstStyle/>
          <a:p>
            <a:pPr>
              <a:spcAft>
                <a:spcPts val="500"/>
              </a:spcAft>
              <a:defRPr sz="2400" b="1">
                <a:solidFill>
                  <a:srgbClr val="202D48"/>
                </a:solidFill>
                <a:latin typeface="Lato"/>
              </a:defRPr>
            </a:pPr>
            <a:r>
              <a:t>What grew in North America during a warmer past?</a:t>
            </a:r>
          </a:p>
        </p:txBody>
      </p:sp>
      <p:sp>
        <p:nvSpPr>
          <p:cNvPr id="90" name="Rectangle 89"/>
          <p:cNvSpPr/>
          <p:nvPr/>
        </p:nvSpPr>
        <p:spPr>
          <a:xfrm>
            <a:off x="347472" y="4809744"/>
            <a:ext cx="8458200" cy="8229"/>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347472" y="4901184"/>
            <a:ext cx="7909560" cy="164592"/>
          </a:xfrm>
          <a:prstGeom prst="rect">
            <a:avLst/>
          </a:prstGeom>
          <a:noFill/>
        </p:spPr>
        <p:txBody>
          <a:bodyPr wrap="square" lIns="0" rIns="0" tIns="0" bIns="0">
            <a:spAutoFit/>
          </a:bodyPr>
          <a:lstStyle/>
          <a:p>
            <a:pPr>
              <a:spcAft>
                <a:spcPts val="500"/>
              </a:spcAft>
              <a:defRPr sz="700" b="0">
                <a:solidFill>
                  <a:srgbClr val="596477"/>
                </a:solidFill>
                <a:latin typeface="Lato"/>
              </a:defRPr>
            </a:pPr>
            <a:r>
              <a:t>SMITHSONIAN × RICE D2K</a:t>
            </a:r>
          </a:p>
        </p:txBody>
      </p:sp>
      <p:sp>
        <p:nvSpPr>
          <p:cNvPr id="92" name="TextBox 91"/>
          <p:cNvSpPr txBox="1"/>
          <p:nvPr/>
        </p:nvSpPr>
        <p:spPr>
          <a:xfrm>
            <a:off x="8549640" y="4882896"/>
            <a:ext cx="274320" cy="182880"/>
          </a:xfrm>
          <a:prstGeom prst="rect">
            <a:avLst/>
          </a:prstGeom>
          <a:noFill/>
        </p:spPr>
        <p:txBody>
          <a:bodyPr wrap="square" lIns="0" rIns="0" tIns="0" bIns="0">
            <a:spAutoFit/>
          </a:bodyPr>
          <a:lstStyle/>
          <a:p>
            <a:pPr>
              <a:spcAft>
                <a:spcPts val="500"/>
              </a:spcAft>
              <a:defRPr sz="800" b="0">
                <a:solidFill>
                  <a:srgbClr val="596477"/>
                </a:solidFill>
                <a:latin typeface="Lato"/>
              </a:defRPr>
            </a:pPr>
            <a:r>
              <a:t>2</a:t>
            </a:r>
          </a:p>
        </p:txBody>
      </p:sp>
      <p:sp>
        <p:nvSpPr>
          <p:cNvPr id="93" name="TextBox 92"/>
          <p:cNvSpPr txBox="1"/>
          <p:nvPr/>
        </p:nvSpPr>
        <p:spPr>
          <a:xfrm>
            <a:off x="365760" y="1088136"/>
            <a:ext cx="8321040" cy="347472"/>
          </a:xfrm>
          <a:prstGeom prst="rect">
            <a:avLst/>
          </a:prstGeom>
          <a:noFill/>
        </p:spPr>
        <p:txBody>
          <a:bodyPr wrap="square" lIns="0" rIns="0" tIns="0" bIns="0">
            <a:spAutoFit/>
          </a:bodyPr>
          <a:lstStyle/>
          <a:p>
            <a:pPr>
              <a:spcAft>
                <a:spcPts val="500"/>
              </a:spcAft>
              <a:defRPr sz="1700" b="0">
                <a:solidFill>
                  <a:srgbClr val="596477"/>
                </a:solidFill>
                <a:latin typeface="Lato"/>
              </a:defRPr>
            </a:pPr>
            <a:r>
              <a:t>Fossil pollen preserves clues from about 50 million years ago.</a:t>
            </a:r>
          </a:p>
        </p:txBody>
      </p:sp>
      <p:pic>
        <p:nvPicPr>
          <p:cNvPr id="94" name="Picture 93" descr="shard_0_target_027_crop.png"/>
          <p:cNvPicPr>
            <a:picLocks noChangeAspect="1"/>
          </p:cNvPicPr>
          <p:nvPr/>
        </p:nvPicPr>
        <p:blipFill>
          <a:blip r:embed="rId3"/>
          <a:stretch>
            <a:fillRect/>
          </a:stretch>
        </p:blipFill>
        <p:spPr>
          <a:xfrm>
            <a:off x="640080" y="1783080"/>
            <a:ext cx="1783080" cy="1783080"/>
          </a:xfrm>
          <a:prstGeom prst="rect">
            <a:avLst/>
          </a:prstGeom>
        </p:spPr>
      </p:pic>
      <p:sp>
        <p:nvSpPr>
          <p:cNvPr id="95" name="TextBox 94"/>
          <p:cNvSpPr txBox="1"/>
          <p:nvPr/>
        </p:nvSpPr>
        <p:spPr>
          <a:xfrm>
            <a:off x="2761488" y="2377440"/>
            <a:ext cx="411480" cy="365760"/>
          </a:xfrm>
          <a:prstGeom prst="rect">
            <a:avLst/>
          </a:prstGeom>
          <a:noFill/>
        </p:spPr>
        <p:txBody>
          <a:bodyPr wrap="square" lIns="0" rIns="0" tIns="0" bIns="0">
            <a:spAutoFit/>
          </a:bodyPr>
          <a:lstStyle/>
          <a:p>
            <a:pPr>
              <a:spcAft>
                <a:spcPts val="500"/>
              </a:spcAft>
              <a:defRPr sz="2400" b="1">
                <a:solidFill>
                  <a:srgbClr val="93451F"/>
                </a:solidFill>
                <a:latin typeface="Lato"/>
              </a:defRPr>
            </a:pPr>
            <a:r>
              <a:t>→</a:t>
            </a:r>
          </a:p>
        </p:txBody>
      </p:sp>
      <p:pic>
        <p:nvPicPr>
          <p:cNvPr id="96" name="Picture 95" descr="shard_0_target_008_crop.png"/>
          <p:cNvPicPr>
            <a:picLocks noChangeAspect="1"/>
          </p:cNvPicPr>
          <p:nvPr/>
        </p:nvPicPr>
        <p:blipFill>
          <a:blip r:embed="rId4"/>
          <a:stretch>
            <a:fillRect/>
          </a:stretch>
        </p:blipFill>
        <p:spPr>
          <a:xfrm>
            <a:off x="3520440" y="1965960"/>
            <a:ext cx="731520" cy="731520"/>
          </a:xfrm>
          <a:prstGeom prst="rect">
            <a:avLst/>
          </a:prstGeom>
        </p:spPr>
      </p:pic>
      <p:pic>
        <p:nvPicPr>
          <p:cNvPr id="97" name="Picture 96" descr="shard_0_target_016_crop.png"/>
          <p:cNvPicPr>
            <a:picLocks noChangeAspect="1"/>
          </p:cNvPicPr>
          <p:nvPr/>
        </p:nvPicPr>
        <p:blipFill>
          <a:blip r:embed="rId5"/>
          <a:stretch>
            <a:fillRect/>
          </a:stretch>
        </p:blipFill>
        <p:spPr>
          <a:xfrm>
            <a:off x="4325112" y="1965960"/>
            <a:ext cx="731520" cy="731520"/>
          </a:xfrm>
          <a:prstGeom prst="rect">
            <a:avLst/>
          </a:prstGeom>
        </p:spPr>
      </p:pic>
      <p:pic>
        <p:nvPicPr>
          <p:cNvPr id="98" name="Picture 97" descr="shard_0_target_027_crop.png"/>
          <p:cNvPicPr>
            <a:picLocks noChangeAspect="1"/>
          </p:cNvPicPr>
          <p:nvPr/>
        </p:nvPicPr>
        <p:blipFill>
          <a:blip r:embed="rId3"/>
          <a:stretch>
            <a:fillRect/>
          </a:stretch>
        </p:blipFill>
        <p:spPr>
          <a:xfrm>
            <a:off x="3922776" y="2752344"/>
            <a:ext cx="731520" cy="731520"/>
          </a:xfrm>
          <a:prstGeom prst="rect">
            <a:avLst/>
          </a:prstGeom>
        </p:spPr>
      </p:pic>
      <p:sp>
        <p:nvSpPr>
          <p:cNvPr id="99" name="TextBox 98"/>
          <p:cNvSpPr txBox="1"/>
          <p:nvPr/>
        </p:nvSpPr>
        <p:spPr>
          <a:xfrm>
            <a:off x="5486400" y="2377440"/>
            <a:ext cx="411480" cy="365760"/>
          </a:xfrm>
          <a:prstGeom prst="rect">
            <a:avLst/>
          </a:prstGeom>
          <a:noFill/>
        </p:spPr>
        <p:txBody>
          <a:bodyPr wrap="square" lIns="0" rIns="0" tIns="0" bIns="0">
            <a:spAutoFit/>
          </a:bodyPr>
          <a:lstStyle/>
          <a:p>
            <a:pPr>
              <a:spcAft>
                <a:spcPts val="500"/>
              </a:spcAft>
              <a:defRPr sz="2400" b="1">
                <a:solidFill>
                  <a:srgbClr val="93451F"/>
                </a:solidFill>
                <a:latin typeface="Lato"/>
              </a:defRPr>
            </a:pPr>
            <a:r>
              <a:t>→</a:t>
            </a:r>
          </a:p>
        </p:txBody>
      </p:sp>
      <p:sp>
        <p:nvSpPr>
          <p:cNvPr id="100" name="Rectangle 99"/>
          <p:cNvSpPr/>
          <p:nvPr/>
        </p:nvSpPr>
        <p:spPr>
          <a:xfrm>
            <a:off x="6782562" y="2814523"/>
            <a:ext cx="93268" cy="505206"/>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6510528" y="2441448"/>
            <a:ext cx="544068" cy="544068"/>
          </a:xfrm>
          <a:prstGeom prst="ellipse">
            <a:avLst/>
          </a:prstGeom>
          <a:solidFill>
            <a:srgbClr val="5964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6821424" y="2480310"/>
            <a:ext cx="505206" cy="505206"/>
          </a:xfrm>
          <a:prstGeom prst="ellipse">
            <a:avLst/>
          </a:prstGeom>
          <a:solidFill>
            <a:srgbClr val="5964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6665976" y="2286000"/>
            <a:ext cx="544068" cy="544068"/>
          </a:xfrm>
          <a:prstGeom prst="ellipse">
            <a:avLst/>
          </a:prstGeom>
          <a:solidFill>
            <a:srgbClr val="5964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7607808" y="2611526"/>
            <a:ext cx="131673" cy="713232"/>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7223760" y="2084832"/>
            <a:ext cx="768096" cy="768096"/>
          </a:xfrm>
          <a:prstGeom prst="ellipse">
            <a:avLst/>
          </a:prstGeom>
          <a:solidFill>
            <a:srgbClr val="5964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7662672" y="2139696"/>
            <a:ext cx="713232" cy="713232"/>
          </a:xfrm>
          <a:prstGeom prst="ellipse">
            <a:avLst/>
          </a:prstGeom>
          <a:solidFill>
            <a:srgbClr val="5964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7443216" y="1865376"/>
            <a:ext cx="768096" cy="768096"/>
          </a:xfrm>
          <a:prstGeom prst="ellipse">
            <a:avLst/>
          </a:prstGeom>
          <a:solidFill>
            <a:srgbClr val="5964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8305495" y="2871581"/>
            <a:ext cx="85587" cy="4636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8055864" y="2529230"/>
            <a:ext cx="499262" cy="499262"/>
          </a:xfrm>
          <a:prstGeom prst="ellipse">
            <a:avLst/>
          </a:prstGeom>
          <a:solidFill>
            <a:srgbClr val="5964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8341156" y="2564891"/>
            <a:ext cx="463600" cy="463600"/>
          </a:xfrm>
          <a:prstGeom prst="ellipse">
            <a:avLst/>
          </a:prstGeom>
          <a:solidFill>
            <a:srgbClr val="5964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8198510" y="2386584"/>
            <a:ext cx="499262" cy="499262"/>
          </a:xfrm>
          <a:prstGeom prst="ellipse">
            <a:avLst/>
          </a:prstGeom>
          <a:solidFill>
            <a:srgbClr val="5964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411480" y="3749039"/>
            <a:ext cx="2377440" cy="384048"/>
          </a:xfrm>
          <a:prstGeom prst="rect">
            <a:avLst/>
          </a:prstGeom>
          <a:noFill/>
        </p:spPr>
        <p:txBody>
          <a:bodyPr wrap="square" lIns="0" rIns="0" tIns="0" bIns="0">
            <a:spAutoFit/>
          </a:bodyPr>
          <a:lstStyle/>
          <a:p>
            <a:pPr>
              <a:spcAft>
                <a:spcPts val="500"/>
              </a:spcAft>
              <a:defRPr sz="1600" b="1">
                <a:solidFill>
                  <a:srgbClr val="202D48"/>
                </a:solidFill>
                <a:latin typeface="Lato"/>
              </a:defRPr>
            </a:pPr>
            <a:r>
              <a:t>Fossil pollen</a:t>
            </a:r>
          </a:p>
        </p:txBody>
      </p:sp>
      <p:sp>
        <p:nvSpPr>
          <p:cNvPr id="113" name="TextBox 112"/>
          <p:cNvSpPr txBox="1"/>
          <p:nvPr/>
        </p:nvSpPr>
        <p:spPr>
          <a:xfrm>
            <a:off x="3200400" y="3749039"/>
            <a:ext cx="2286000" cy="384048"/>
          </a:xfrm>
          <a:prstGeom prst="rect">
            <a:avLst/>
          </a:prstGeom>
          <a:noFill/>
        </p:spPr>
        <p:txBody>
          <a:bodyPr wrap="square" lIns="0" rIns="0" tIns="0" bIns="0">
            <a:spAutoFit/>
          </a:bodyPr>
          <a:lstStyle/>
          <a:p>
            <a:pPr>
              <a:spcAft>
                <a:spcPts val="500"/>
              </a:spcAft>
              <a:defRPr sz="1600" b="1">
                <a:solidFill>
                  <a:srgbClr val="202D48"/>
                </a:solidFill>
                <a:latin typeface="Lato"/>
              </a:defRPr>
            </a:pPr>
            <a:r>
              <a:t>Identify plant groups</a:t>
            </a:r>
          </a:p>
        </p:txBody>
      </p:sp>
      <p:sp>
        <p:nvSpPr>
          <p:cNvPr id="114" name="TextBox 113"/>
          <p:cNvSpPr txBox="1"/>
          <p:nvPr/>
        </p:nvSpPr>
        <p:spPr>
          <a:xfrm>
            <a:off x="6355080" y="3749039"/>
            <a:ext cx="2377440" cy="384048"/>
          </a:xfrm>
          <a:prstGeom prst="rect">
            <a:avLst/>
          </a:prstGeom>
          <a:noFill/>
        </p:spPr>
        <p:txBody>
          <a:bodyPr wrap="square" lIns="0" rIns="0" tIns="0" bIns="0">
            <a:spAutoFit/>
          </a:bodyPr>
          <a:lstStyle/>
          <a:p>
            <a:pPr>
              <a:spcAft>
                <a:spcPts val="500"/>
              </a:spcAft>
              <a:defRPr sz="1600" b="1">
                <a:solidFill>
                  <a:srgbClr val="202D48"/>
                </a:solidFill>
                <a:latin typeface="Lato"/>
              </a:defRPr>
            </a:pPr>
            <a:r>
              <a:t>Reconstruct vegetation</a:t>
            </a:r>
          </a:p>
        </p:txBody>
      </p:sp>
      <p:sp>
        <p:nvSpPr>
          <p:cNvPr id="115" name="TextBox 114"/>
          <p:cNvSpPr txBox="1"/>
          <p:nvPr/>
        </p:nvSpPr>
        <p:spPr>
          <a:xfrm>
            <a:off x="411480" y="4389120"/>
            <a:ext cx="8321040" cy="274320"/>
          </a:xfrm>
          <a:prstGeom prst="rect">
            <a:avLst/>
          </a:prstGeom>
          <a:noFill/>
        </p:spPr>
        <p:txBody>
          <a:bodyPr wrap="square" lIns="0" rIns="0" tIns="0" bIns="0">
            <a:spAutoFit/>
          </a:bodyPr>
          <a:lstStyle/>
          <a:p>
            <a:pPr>
              <a:spcAft>
                <a:spcPts val="500"/>
              </a:spcAft>
              <a:defRPr sz="1700" b="1">
                <a:solidFill>
                  <a:srgbClr val="93451F"/>
                </a:solidFill>
                <a:latin typeface="Lato"/>
              </a:defRPr>
            </a:pPr>
            <a:r>
              <a:t>The bottleneck: identifying thousands of specimens by hand.</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5"/>
          <p:cNvSpPr/>
          <p:nvPr/>
        </p:nvSpPr>
        <p:spPr>
          <a:xfrm>
            <a:off x="0" y="0"/>
            <a:ext cx="9144000" cy="5143500"/>
          </a:xfrm>
          <a:prstGeom prst="rect">
            <a:avLst/>
          </a:prstGeom>
          <a:solidFill>
            <a:srgbClr val="F8F5E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4" name="Google Shape;114;p15"/>
          <p:cNvSpPr/>
          <p:nvPr/>
        </p:nvSpPr>
        <p:spPr>
          <a:xfrm>
            <a:off x="342900" y="266700"/>
            <a:ext cx="238200" cy="38100"/>
          </a:xfrm>
          <a:prstGeom prst="rect">
            <a:avLst/>
          </a:prstGeom>
          <a:solidFill>
            <a:srgbClr val="9345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5" name="Google Shape;115;p15"/>
          <p:cNvSpPr txBox="1"/>
          <p:nvPr/>
        </p:nvSpPr>
        <p:spPr>
          <a:xfrm>
            <a:off x="695325" y="190500"/>
            <a:ext cx="8096400" cy="123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800" u="none" cap="none" strike="noStrike">
                <a:solidFill>
                  <a:srgbClr val="93451F"/>
                </a:solidFill>
                <a:latin typeface="Lato"/>
                <a:ea typeface="Lato"/>
                <a:cs typeface="Lato"/>
                <a:sym typeface="Lato"/>
              </a:rPr>
              <a:t>03 / THE PROBLEM</a:t>
            </a:r>
            <a:endParaRPr sz="1100"/>
          </a:p>
        </p:txBody>
      </p:sp>
      <p:sp>
        <p:nvSpPr>
          <p:cNvPr id="116" name="Google Shape;116;p15"/>
          <p:cNvSpPr/>
          <p:nvPr/>
        </p:nvSpPr>
        <p:spPr>
          <a:xfrm>
            <a:off x="342900" y="4810125"/>
            <a:ext cx="8458200" cy="9600"/>
          </a:xfrm>
          <a:prstGeom prst="rect">
            <a:avLst/>
          </a:prstGeom>
          <a:solidFill>
            <a:srgbClr val="EEE3D6"/>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7" name="Google Shape;117;p15"/>
          <p:cNvSpPr txBox="1"/>
          <p:nvPr/>
        </p:nvSpPr>
        <p:spPr>
          <a:xfrm>
            <a:off x="342900" y="4914900"/>
            <a:ext cx="7905900" cy="107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700" u="none" cap="none" strike="noStrike">
                <a:solidFill>
                  <a:srgbClr val="596477"/>
                </a:solidFill>
                <a:latin typeface="Lato"/>
                <a:ea typeface="Lato"/>
                <a:cs typeface="Lato"/>
                <a:sym typeface="Lato"/>
              </a:rPr>
              <a:t>SMITHSONIAN × RICE D2K</a:t>
            </a:r>
            <a:endParaRPr sz="1100"/>
          </a:p>
        </p:txBody>
      </p:sp>
      <p:sp>
        <p:nvSpPr>
          <p:cNvPr id="118" name="Google Shape;118;p15"/>
          <p:cNvSpPr txBox="1"/>
          <p:nvPr/>
        </p:nvSpPr>
        <p:spPr>
          <a:xfrm>
            <a:off x="8572500" y="4895850"/>
            <a:ext cx="228600" cy="123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800" u="none" cap="none" strike="noStrike">
                <a:solidFill>
                  <a:srgbClr val="93451F"/>
                </a:solidFill>
                <a:latin typeface="Lato"/>
                <a:ea typeface="Lato"/>
                <a:cs typeface="Lato"/>
                <a:sym typeface="Lato"/>
              </a:rPr>
              <a:t>3</a:t>
            </a:r>
            <a:endParaRPr sz="1100"/>
          </a:p>
        </p:txBody>
      </p:sp>
      <p:sp>
        <p:nvSpPr>
          <p:cNvPr id="119" name="Google Shape;119;p15"/>
          <p:cNvSpPr txBox="1"/>
          <p:nvPr/>
        </p:nvSpPr>
        <p:spPr>
          <a:xfrm>
            <a:off x="342900" y="542925"/>
            <a:ext cx="8458200" cy="369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2400">
                <a:solidFill>
                  <a:srgbClr val="202D48"/>
                </a:solidFill>
                <a:latin typeface="Lato"/>
                <a:ea typeface="Lato"/>
                <a:cs typeface="Lato"/>
                <a:sym typeface="Lato"/>
              </a:rPr>
              <a:t>Finding pollen is only the first step</a:t>
            </a:r>
            <a:endParaRPr sz="1100"/>
          </a:p>
        </p:txBody>
      </p:sp>
      <p:pic>
        <p:nvPicPr>
          <p:cNvPr id="120" name="Google Shape;120;p15"/>
          <p:cNvPicPr preferRelativeResize="0"/>
          <p:nvPr/>
        </p:nvPicPr>
        <p:blipFill>
          <a:blip r:embed="rId3">
            <a:alphaModFix/>
          </a:blip>
          <a:stretch>
            <a:fillRect/>
          </a:stretch>
        </p:blipFill>
        <p:spPr>
          <a:xfrm>
            <a:off x="1370650" y="1095076"/>
            <a:ext cx="6402700" cy="3440999"/>
          </a:xfrm>
          <a:prstGeom prst="rect">
            <a:avLst/>
          </a:prstGeom>
          <a:noFill/>
          <a:ln>
            <a:noFill/>
          </a:ln>
        </p:spPr>
      </p:pic>
      <p:sp>
        <p:nvSpPr>
          <p:cNvPr id="121" name="TextBox 120"/>
          <p:cNvSpPr txBox="1"/>
          <p:nvPr/>
        </p:nvSpPr>
        <p:spPr>
          <a:xfrm>
            <a:off x="384048" y="4562856"/>
            <a:ext cx="8229600" cy="219456"/>
          </a:xfrm>
          <a:prstGeom prst="rect">
            <a:avLst/>
          </a:prstGeom>
          <a:noFill/>
        </p:spPr>
        <p:txBody>
          <a:bodyPr wrap="square" lIns="0" rIns="0" tIns="0" bIns="0">
            <a:spAutoFit/>
          </a:bodyPr>
          <a:lstStyle/>
          <a:p>
            <a:pPr>
              <a:spcAft>
                <a:spcPts val="500"/>
              </a:spcAft>
              <a:defRPr sz="1400" b="1">
                <a:solidFill>
                  <a:srgbClr val="93451F"/>
                </a:solidFill>
                <a:latin typeface="Lato"/>
              </a:defRPr>
            </a:pPr>
            <a:r>
              <a:t>Our goal: assign a category to each detected specimen.</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Rectangle 125"/>
          <p:cNvSpPr/>
          <p:nvPr/>
        </p:nvSpPr>
        <p:spPr>
          <a:xfrm>
            <a:off x="0" y="0"/>
            <a:ext cx="9144000" cy="51435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347472" y="265176"/>
            <a:ext cx="237744" cy="36576"/>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694944" y="182880"/>
            <a:ext cx="8092440" cy="182880"/>
          </a:xfrm>
          <a:prstGeom prst="rect">
            <a:avLst/>
          </a:prstGeom>
          <a:noFill/>
        </p:spPr>
        <p:txBody>
          <a:bodyPr wrap="square" lIns="0" rIns="0" tIns="0" bIns="0">
            <a:spAutoFit/>
          </a:bodyPr>
          <a:lstStyle/>
          <a:p>
            <a:pPr>
              <a:spcAft>
                <a:spcPts val="500"/>
              </a:spcAft>
              <a:defRPr sz="800" b="1">
                <a:solidFill>
                  <a:srgbClr val="93451F"/>
                </a:solidFill>
                <a:latin typeface="Lato"/>
              </a:defRPr>
            </a:pPr>
            <a:r>
              <a:t>04 / PRIOR WORK</a:t>
            </a:r>
          </a:p>
        </p:txBody>
      </p:sp>
      <p:sp>
        <p:nvSpPr>
          <p:cNvPr id="129" name="TextBox 128"/>
          <p:cNvSpPr txBox="1"/>
          <p:nvPr/>
        </p:nvSpPr>
        <p:spPr>
          <a:xfrm>
            <a:off x="347472" y="539496"/>
            <a:ext cx="8458200" cy="548640"/>
          </a:xfrm>
          <a:prstGeom prst="rect">
            <a:avLst/>
          </a:prstGeom>
          <a:noFill/>
        </p:spPr>
        <p:txBody>
          <a:bodyPr wrap="square" lIns="0" rIns="0" tIns="0" bIns="0">
            <a:spAutoFit/>
          </a:bodyPr>
          <a:lstStyle/>
          <a:p>
            <a:pPr>
              <a:spcAft>
                <a:spcPts val="500"/>
              </a:spcAft>
              <a:defRPr sz="2400" b="1">
                <a:solidFill>
                  <a:srgbClr val="202D48"/>
                </a:solidFill>
                <a:latin typeface="Lato"/>
              </a:defRPr>
            </a:pPr>
            <a:r>
              <a:t>What earlier studies suggest</a:t>
            </a:r>
          </a:p>
        </p:txBody>
      </p:sp>
      <p:sp>
        <p:nvSpPr>
          <p:cNvPr id="130" name="Rectangle 129"/>
          <p:cNvSpPr/>
          <p:nvPr/>
        </p:nvSpPr>
        <p:spPr>
          <a:xfrm>
            <a:off x="347472" y="4809744"/>
            <a:ext cx="8458200" cy="8229"/>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347472" y="4901184"/>
            <a:ext cx="7909560" cy="164592"/>
          </a:xfrm>
          <a:prstGeom prst="rect">
            <a:avLst/>
          </a:prstGeom>
          <a:noFill/>
        </p:spPr>
        <p:txBody>
          <a:bodyPr wrap="square" lIns="0" rIns="0" tIns="0" bIns="0">
            <a:spAutoFit/>
          </a:bodyPr>
          <a:lstStyle/>
          <a:p>
            <a:pPr>
              <a:spcAft>
                <a:spcPts val="500"/>
              </a:spcAft>
              <a:defRPr sz="700" b="0">
                <a:solidFill>
                  <a:srgbClr val="596477"/>
                </a:solidFill>
                <a:latin typeface="Lato"/>
              </a:defRPr>
            </a:pPr>
            <a:r>
              <a:t>SMITHSONIAN × RICE D2K</a:t>
            </a:r>
          </a:p>
        </p:txBody>
      </p:sp>
      <p:sp>
        <p:nvSpPr>
          <p:cNvPr id="132" name="TextBox 131"/>
          <p:cNvSpPr txBox="1"/>
          <p:nvPr/>
        </p:nvSpPr>
        <p:spPr>
          <a:xfrm>
            <a:off x="8549640" y="4882896"/>
            <a:ext cx="274320" cy="182880"/>
          </a:xfrm>
          <a:prstGeom prst="rect">
            <a:avLst/>
          </a:prstGeom>
          <a:noFill/>
        </p:spPr>
        <p:txBody>
          <a:bodyPr wrap="square" lIns="0" rIns="0" tIns="0" bIns="0">
            <a:spAutoFit/>
          </a:bodyPr>
          <a:lstStyle/>
          <a:p>
            <a:pPr>
              <a:spcAft>
                <a:spcPts val="500"/>
              </a:spcAft>
              <a:defRPr sz="800" b="0">
                <a:solidFill>
                  <a:srgbClr val="596477"/>
                </a:solidFill>
                <a:latin typeface="Lato"/>
              </a:defRPr>
            </a:pPr>
            <a:r>
              <a:t>4</a:t>
            </a:r>
          </a:p>
        </p:txBody>
      </p:sp>
      <p:sp>
        <p:nvSpPr>
          <p:cNvPr id="133" name="Rectangle 132"/>
          <p:cNvSpPr/>
          <p:nvPr/>
        </p:nvSpPr>
        <p:spPr>
          <a:xfrm>
            <a:off x="365760" y="1298448"/>
            <a:ext cx="2651760" cy="2724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530352" y="1499616"/>
            <a:ext cx="2322576" cy="228600"/>
          </a:xfrm>
          <a:prstGeom prst="rect">
            <a:avLst/>
          </a:prstGeom>
          <a:noFill/>
        </p:spPr>
        <p:txBody>
          <a:bodyPr wrap="square" lIns="0" rIns="0" tIns="0" bIns="0">
            <a:spAutoFit/>
          </a:bodyPr>
          <a:lstStyle/>
          <a:p>
            <a:pPr>
              <a:spcAft>
                <a:spcPts val="500"/>
              </a:spcAft>
              <a:defRPr sz="1200" b="1">
                <a:solidFill>
                  <a:srgbClr val="93451F"/>
                </a:solidFill>
                <a:latin typeface="Lato"/>
              </a:defRPr>
            </a:pPr>
            <a:r>
              <a:t>01</a:t>
            </a:r>
          </a:p>
        </p:txBody>
      </p:sp>
      <p:sp>
        <p:nvSpPr>
          <p:cNvPr id="135" name="TextBox 134"/>
          <p:cNvSpPr txBox="1"/>
          <p:nvPr/>
        </p:nvSpPr>
        <p:spPr>
          <a:xfrm>
            <a:off x="530352" y="1856231"/>
            <a:ext cx="2322576" cy="338328"/>
          </a:xfrm>
          <a:prstGeom prst="rect">
            <a:avLst/>
          </a:prstGeom>
          <a:noFill/>
        </p:spPr>
        <p:txBody>
          <a:bodyPr wrap="square" lIns="0" rIns="0" tIns="0" bIns="0">
            <a:spAutoFit/>
          </a:bodyPr>
          <a:lstStyle/>
          <a:p>
            <a:pPr>
              <a:spcAft>
                <a:spcPts val="500"/>
              </a:spcAft>
              <a:defRPr sz="1700" b="1">
                <a:solidFill>
                  <a:srgbClr val="202D48"/>
                </a:solidFill>
                <a:latin typeface="Lato"/>
              </a:defRPr>
            </a:pPr>
            <a:r>
              <a:t>Punyasena et al.</a:t>
            </a:r>
          </a:p>
        </p:txBody>
      </p:sp>
      <p:sp>
        <p:nvSpPr>
          <p:cNvPr id="136" name="TextBox 135"/>
          <p:cNvSpPr txBox="1"/>
          <p:nvPr/>
        </p:nvSpPr>
        <p:spPr>
          <a:xfrm>
            <a:off x="530352" y="2414016"/>
            <a:ext cx="2322576" cy="1508760"/>
          </a:xfrm>
          <a:prstGeom prst="rect">
            <a:avLst/>
          </a:prstGeom>
          <a:noFill/>
        </p:spPr>
        <p:txBody>
          <a:bodyPr wrap="square" lIns="0" rIns="0" tIns="0" bIns="0">
            <a:spAutoFit/>
          </a:bodyPr>
          <a:lstStyle/>
          <a:p>
            <a:pPr algn="ctr">
              <a:spcAft>
                <a:spcPts val="100"/>
              </a:spcAft>
              <a:defRPr sz="1500" b="0">
                <a:solidFill>
                  <a:srgbClr val="596477"/>
                </a:solidFill>
                <a:latin typeface="Lato"/>
              </a:defRPr>
            </a:pPr>
            <a:r>
              <a:t>Locate pollen</a:t>
            </a:r>
          </a:p>
          <a:p>
            <a:pPr algn="ctr">
              <a:spcAft>
                <a:spcPts val="100"/>
              </a:spcAft>
              <a:defRPr sz="1500" b="0">
                <a:solidFill>
                  <a:srgbClr val="596477"/>
                </a:solidFill>
                <a:latin typeface="Lato"/>
              </a:defRPr>
            </a:pPr>
            <a:r>
              <a:t>↓</a:t>
            </a:r>
          </a:p>
          <a:p>
            <a:pPr algn="ctr">
              <a:spcAft>
                <a:spcPts val="100"/>
              </a:spcAft>
              <a:defRPr sz="1500" b="0">
                <a:solidFill>
                  <a:srgbClr val="596477"/>
                </a:solidFill>
                <a:latin typeface="Lato"/>
              </a:defRPr>
            </a:pPr>
            <a:r>
              <a:t>Crop specimens</a:t>
            </a:r>
          </a:p>
          <a:p>
            <a:pPr algn="ctr">
              <a:spcAft>
                <a:spcPts val="100"/>
              </a:spcAft>
              <a:defRPr sz="1500" b="0">
                <a:solidFill>
                  <a:srgbClr val="596477"/>
                </a:solidFill>
                <a:latin typeface="Lato"/>
              </a:defRPr>
            </a:pPr>
            <a:r>
              <a:t>↓</a:t>
            </a:r>
          </a:p>
          <a:p>
            <a:pPr algn="ctr">
              <a:spcAft>
                <a:spcPts val="100"/>
              </a:spcAft>
              <a:defRPr sz="1500" b="0">
                <a:solidFill>
                  <a:srgbClr val="596477"/>
                </a:solidFill>
                <a:latin typeface="Lato"/>
              </a:defRPr>
            </a:pPr>
            <a:r>
              <a:t>Identify categories</a:t>
            </a:r>
          </a:p>
        </p:txBody>
      </p:sp>
      <p:sp>
        <p:nvSpPr>
          <p:cNvPr id="137" name="Rectangle 136"/>
          <p:cNvSpPr/>
          <p:nvPr/>
        </p:nvSpPr>
        <p:spPr>
          <a:xfrm>
            <a:off x="3246120" y="1298448"/>
            <a:ext cx="2651760" cy="2724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410712" y="1499616"/>
            <a:ext cx="2322576" cy="228600"/>
          </a:xfrm>
          <a:prstGeom prst="rect">
            <a:avLst/>
          </a:prstGeom>
          <a:noFill/>
        </p:spPr>
        <p:txBody>
          <a:bodyPr wrap="square" lIns="0" rIns="0" tIns="0" bIns="0">
            <a:spAutoFit/>
          </a:bodyPr>
          <a:lstStyle/>
          <a:p>
            <a:pPr>
              <a:spcAft>
                <a:spcPts val="500"/>
              </a:spcAft>
              <a:defRPr sz="1200" b="1">
                <a:solidFill>
                  <a:srgbClr val="93451F"/>
                </a:solidFill>
                <a:latin typeface="Lato"/>
              </a:defRPr>
            </a:pPr>
            <a:r>
              <a:t>02</a:t>
            </a:r>
          </a:p>
        </p:txBody>
      </p:sp>
      <p:sp>
        <p:nvSpPr>
          <p:cNvPr id="139" name="TextBox 138"/>
          <p:cNvSpPr txBox="1"/>
          <p:nvPr/>
        </p:nvSpPr>
        <p:spPr>
          <a:xfrm>
            <a:off x="3410712" y="1856231"/>
            <a:ext cx="2322576" cy="338328"/>
          </a:xfrm>
          <a:prstGeom prst="rect">
            <a:avLst/>
          </a:prstGeom>
          <a:noFill/>
        </p:spPr>
        <p:txBody>
          <a:bodyPr wrap="square" lIns="0" rIns="0" tIns="0" bIns="0">
            <a:spAutoFit/>
          </a:bodyPr>
          <a:lstStyle/>
          <a:p>
            <a:pPr>
              <a:spcAft>
                <a:spcPts val="500"/>
              </a:spcAft>
              <a:defRPr sz="1700" b="1">
                <a:solidFill>
                  <a:srgbClr val="202D48"/>
                </a:solidFill>
                <a:latin typeface="Lato"/>
              </a:defRPr>
            </a:pPr>
            <a:r>
              <a:t>Martinsen et al.</a:t>
            </a:r>
          </a:p>
        </p:txBody>
      </p:sp>
      <p:sp>
        <p:nvSpPr>
          <p:cNvPr id="140" name="TextBox 139"/>
          <p:cNvSpPr txBox="1"/>
          <p:nvPr/>
        </p:nvSpPr>
        <p:spPr>
          <a:xfrm>
            <a:off x="3410712" y="2414016"/>
            <a:ext cx="2322576" cy="1508760"/>
          </a:xfrm>
          <a:prstGeom prst="rect">
            <a:avLst/>
          </a:prstGeom>
          <a:noFill/>
        </p:spPr>
        <p:txBody>
          <a:bodyPr wrap="square" lIns="0" rIns="0" tIns="0" bIns="0">
            <a:spAutoFit/>
          </a:bodyPr>
          <a:lstStyle/>
          <a:p>
            <a:pPr algn="ctr">
              <a:spcAft>
                <a:spcPts val="100"/>
              </a:spcAft>
              <a:defRPr sz="1500" b="0">
                <a:solidFill>
                  <a:srgbClr val="596477"/>
                </a:solidFill>
                <a:latin typeface="Lato"/>
              </a:defRPr>
            </a:pPr>
            <a:r>
              <a:t>Locate specimens</a:t>
            </a:r>
          </a:p>
          <a:p>
            <a:pPr algn="ctr">
              <a:spcAft>
                <a:spcPts val="100"/>
              </a:spcAft>
              <a:defRPr sz="1500" b="0">
                <a:solidFill>
                  <a:srgbClr val="596477"/>
                </a:solidFill>
                <a:latin typeface="Lato"/>
              </a:defRPr>
            </a:pPr>
            <a:r>
              <a:t>↓</a:t>
            </a:r>
          </a:p>
          <a:p>
            <a:pPr algn="ctr">
              <a:spcAft>
                <a:spcPts val="100"/>
              </a:spcAft>
              <a:defRPr sz="1500" b="0">
                <a:solidFill>
                  <a:srgbClr val="596477"/>
                </a:solidFill>
                <a:latin typeface="Lato"/>
              </a:defRPr>
            </a:pPr>
            <a:r>
              <a:t>Crop specimens</a:t>
            </a:r>
          </a:p>
          <a:p>
            <a:pPr algn="ctr">
              <a:spcAft>
                <a:spcPts val="100"/>
              </a:spcAft>
              <a:defRPr sz="1500" b="0">
                <a:solidFill>
                  <a:srgbClr val="596477"/>
                </a:solidFill>
                <a:latin typeface="Lato"/>
              </a:defRPr>
            </a:pPr>
            <a:r>
              <a:t>↓</a:t>
            </a:r>
          </a:p>
          <a:p>
            <a:pPr algn="ctr">
              <a:spcAft>
                <a:spcPts val="100"/>
              </a:spcAft>
              <a:defRPr sz="1500" b="0">
                <a:solidFill>
                  <a:srgbClr val="596477"/>
                </a:solidFill>
                <a:latin typeface="Lato"/>
              </a:defRPr>
            </a:pPr>
            <a:r>
              <a:t>Identify categories</a:t>
            </a:r>
          </a:p>
        </p:txBody>
      </p:sp>
      <p:sp>
        <p:nvSpPr>
          <p:cNvPr id="141" name="Rectangle 140"/>
          <p:cNvSpPr/>
          <p:nvPr/>
        </p:nvSpPr>
        <p:spPr>
          <a:xfrm>
            <a:off x="6126480" y="1298448"/>
            <a:ext cx="2651760" cy="2724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6291072" y="1499616"/>
            <a:ext cx="2322576" cy="228600"/>
          </a:xfrm>
          <a:prstGeom prst="rect">
            <a:avLst/>
          </a:prstGeom>
          <a:noFill/>
        </p:spPr>
        <p:txBody>
          <a:bodyPr wrap="square" lIns="0" rIns="0" tIns="0" bIns="0">
            <a:spAutoFit/>
          </a:bodyPr>
          <a:lstStyle/>
          <a:p>
            <a:pPr>
              <a:spcAft>
                <a:spcPts val="500"/>
              </a:spcAft>
              <a:defRPr sz="1200" b="1">
                <a:solidFill>
                  <a:srgbClr val="93451F"/>
                </a:solidFill>
                <a:latin typeface="Lato"/>
              </a:defRPr>
            </a:pPr>
            <a:r>
              <a:t>03</a:t>
            </a:r>
          </a:p>
        </p:txBody>
      </p:sp>
      <p:sp>
        <p:nvSpPr>
          <p:cNvPr id="143" name="TextBox 142"/>
          <p:cNvSpPr txBox="1"/>
          <p:nvPr/>
        </p:nvSpPr>
        <p:spPr>
          <a:xfrm>
            <a:off x="6291072" y="1856231"/>
            <a:ext cx="2322576" cy="338328"/>
          </a:xfrm>
          <a:prstGeom prst="rect">
            <a:avLst/>
          </a:prstGeom>
          <a:noFill/>
        </p:spPr>
        <p:txBody>
          <a:bodyPr wrap="square" lIns="0" rIns="0" tIns="0" bIns="0">
            <a:spAutoFit/>
          </a:bodyPr>
          <a:lstStyle/>
          <a:p>
            <a:pPr>
              <a:spcAft>
                <a:spcPts val="500"/>
              </a:spcAft>
              <a:defRPr sz="1700" b="1">
                <a:solidFill>
                  <a:srgbClr val="202D48"/>
                </a:solidFill>
                <a:latin typeface="Lato"/>
              </a:defRPr>
            </a:pPr>
            <a:r>
              <a:t>Abbas Shaikh et al.</a:t>
            </a:r>
          </a:p>
        </p:txBody>
      </p:sp>
      <p:sp>
        <p:nvSpPr>
          <p:cNvPr id="144" name="TextBox 143"/>
          <p:cNvSpPr txBox="1"/>
          <p:nvPr/>
        </p:nvSpPr>
        <p:spPr>
          <a:xfrm>
            <a:off x="6291072" y="2414016"/>
            <a:ext cx="2322576" cy="1508760"/>
          </a:xfrm>
          <a:prstGeom prst="rect">
            <a:avLst/>
          </a:prstGeom>
          <a:noFill/>
        </p:spPr>
        <p:txBody>
          <a:bodyPr wrap="square" lIns="0" rIns="0" tIns="0" bIns="0">
            <a:spAutoFit/>
          </a:bodyPr>
          <a:lstStyle/>
          <a:p>
            <a:pPr algn="ctr">
              <a:spcAft>
                <a:spcPts val="100"/>
              </a:spcAft>
              <a:defRPr sz="1500" b="0">
                <a:solidFill>
                  <a:srgbClr val="596477"/>
                </a:solidFill>
                <a:latin typeface="Lato"/>
              </a:defRPr>
            </a:pPr>
            <a:r>
              <a:t>Multifocal slides</a:t>
            </a:r>
          </a:p>
          <a:p>
            <a:pPr algn="ctr">
              <a:spcAft>
                <a:spcPts val="100"/>
              </a:spcAft>
              <a:defRPr sz="1500" b="0">
                <a:solidFill>
                  <a:srgbClr val="596477"/>
                </a:solidFill>
                <a:latin typeface="Lato"/>
              </a:defRPr>
            </a:pPr>
            <a:r>
              <a:t>↓</a:t>
            </a:r>
          </a:p>
          <a:p>
            <a:pPr algn="ctr">
              <a:spcAft>
                <a:spcPts val="100"/>
              </a:spcAft>
              <a:defRPr sz="1500" b="0">
                <a:solidFill>
                  <a:srgbClr val="596477"/>
                </a:solidFill>
                <a:latin typeface="Lato"/>
              </a:defRPr>
            </a:pPr>
            <a:r>
              <a:t>Image tiles</a:t>
            </a:r>
          </a:p>
          <a:p>
            <a:pPr algn="ctr">
              <a:spcAft>
                <a:spcPts val="100"/>
              </a:spcAft>
              <a:defRPr sz="1500" b="0">
                <a:solidFill>
                  <a:srgbClr val="596477"/>
                </a:solidFill>
                <a:latin typeface="Lato"/>
              </a:defRPr>
            </a:pPr>
            <a:r>
              <a:t>↓</a:t>
            </a:r>
          </a:p>
          <a:p>
            <a:pPr algn="ctr">
              <a:spcAft>
                <a:spcPts val="100"/>
              </a:spcAft>
              <a:defRPr sz="1500" b="0">
                <a:solidFill>
                  <a:srgbClr val="596477"/>
                </a:solidFill>
                <a:latin typeface="Lato"/>
              </a:defRPr>
            </a:pPr>
            <a:r>
              <a:t>Detect specimens</a:t>
            </a:r>
          </a:p>
        </p:txBody>
      </p:sp>
      <p:sp>
        <p:nvSpPr>
          <p:cNvPr id="145" name="TextBox 144"/>
          <p:cNvSpPr txBox="1"/>
          <p:nvPr/>
        </p:nvSpPr>
        <p:spPr>
          <a:xfrm>
            <a:off x="365760" y="4343400"/>
            <a:ext cx="8412480" cy="292608"/>
          </a:xfrm>
          <a:prstGeom prst="rect">
            <a:avLst/>
          </a:prstGeom>
          <a:noFill/>
        </p:spPr>
        <p:txBody>
          <a:bodyPr wrap="square" lIns="0" rIns="0" tIns="0" bIns="0">
            <a:spAutoFit/>
          </a:bodyPr>
          <a:lstStyle/>
          <a:p>
            <a:pPr>
              <a:spcAft>
                <a:spcPts val="500"/>
              </a:spcAft>
              <a:defRPr sz="1600" b="1">
                <a:solidFill>
                  <a:srgbClr val="93451F"/>
                </a:solidFill>
                <a:latin typeface="Lato"/>
              </a:defRPr>
            </a:pPr>
            <a:r>
              <a:t>Build on whole-slide detection; add category identification.</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7"/>
          <p:cNvSpPr/>
          <p:nvPr/>
        </p:nvSpPr>
        <p:spPr>
          <a:xfrm>
            <a:off x="0" y="0"/>
            <a:ext cx="9144000" cy="5143500"/>
          </a:xfrm>
          <a:prstGeom prst="rect">
            <a:avLst/>
          </a:prstGeom>
          <a:solidFill>
            <a:srgbClr val="F8F5EF"/>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48" name="Google Shape;148;p17"/>
          <p:cNvSpPr/>
          <p:nvPr/>
        </p:nvSpPr>
        <p:spPr>
          <a:xfrm>
            <a:off x="342900" y="266700"/>
            <a:ext cx="238125" cy="38100"/>
          </a:xfrm>
          <a:prstGeom prst="rect">
            <a:avLst/>
          </a:prstGeom>
          <a:solidFill>
            <a:srgbClr val="93451F"/>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49" name="Google Shape;149;p17"/>
          <p:cNvSpPr txBox="1"/>
          <p:nvPr/>
        </p:nvSpPr>
        <p:spPr>
          <a:xfrm>
            <a:off x="695325" y="190500"/>
            <a:ext cx="8096400" cy="123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800" u="none" cap="none" strike="noStrike">
                <a:solidFill>
                  <a:srgbClr val="93451F"/>
                </a:solidFill>
                <a:latin typeface="Lato"/>
                <a:ea typeface="Lato"/>
                <a:cs typeface="Lato"/>
                <a:sym typeface="Lato"/>
              </a:rPr>
              <a:t>05 / MICROSCOPY DATA</a:t>
            </a:r>
            <a:endParaRPr sz="1100"/>
          </a:p>
        </p:txBody>
      </p:sp>
      <p:sp>
        <p:nvSpPr>
          <p:cNvPr id="150" name="Google Shape;150;p17"/>
          <p:cNvSpPr/>
          <p:nvPr/>
        </p:nvSpPr>
        <p:spPr>
          <a:xfrm>
            <a:off x="342900" y="4810125"/>
            <a:ext cx="8458200" cy="9525"/>
          </a:xfrm>
          <a:prstGeom prst="rect">
            <a:avLst/>
          </a:prstGeom>
          <a:solidFill>
            <a:srgbClr val="EEE3D6"/>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1" name="Google Shape;151;p17"/>
          <p:cNvSpPr txBox="1"/>
          <p:nvPr/>
        </p:nvSpPr>
        <p:spPr>
          <a:xfrm>
            <a:off x="342900" y="4914900"/>
            <a:ext cx="7905900" cy="107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700" u="none" cap="none" strike="noStrike">
                <a:solidFill>
                  <a:srgbClr val="596477"/>
                </a:solidFill>
                <a:latin typeface="Lato"/>
                <a:ea typeface="Lato"/>
                <a:cs typeface="Lato"/>
                <a:sym typeface="Lato"/>
              </a:rPr>
              <a:t>SMITHSONIAN × RICE D2K</a:t>
            </a:r>
            <a:endParaRPr sz="1100"/>
          </a:p>
        </p:txBody>
      </p:sp>
      <p:sp>
        <p:nvSpPr>
          <p:cNvPr id="152" name="Google Shape;152;p17"/>
          <p:cNvSpPr txBox="1"/>
          <p:nvPr/>
        </p:nvSpPr>
        <p:spPr>
          <a:xfrm>
            <a:off x="8572500" y="4895850"/>
            <a:ext cx="228600" cy="16383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800" u="none" cap="none" strike="noStrike">
                <a:solidFill>
                  <a:srgbClr val="93451F"/>
                </a:solidFill>
                <a:latin typeface="Lato"/>
                <a:ea typeface="Lato"/>
                <a:cs typeface="Lato"/>
                <a:sym typeface="Lato"/>
              </a:rPr>
              <a:t>5</a:t>
            </a:r>
            <a:endParaRPr sz="1100"/>
          </a:p>
        </p:txBody>
      </p:sp>
      <p:pic>
        <p:nvPicPr>
          <p:cNvPr id="153" name="Google Shape;153;p17"/>
          <p:cNvPicPr preferRelativeResize="0"/>
          <p:nvPr/>
        </p:nvPicPr>
        <p:blipFill>
          <a:blip r:embed="rId3">
            <a:alphaModFix/>
          </a:blip>
          <a:stretch>
            <a:fillRect/>
          </a:stretch>
        </p:blipFill>
        <p:spPr>
          <a:xfrm>
            <a:off x="695325" y="1887913"/>
            <a:ext cx="4459001" cy="2477225"/>
          </a:xfrm>
          <a:prstGeom prst="rect">
            <a:avLst/>
          </a:prstGeom>
          <a:solidFill>
            <a:srgbClr val="F8F5EF"/>
          </a:solidFill>
          <a:ln>
            <a:noFill/>
          </a:ln>
          <a:effectLst>
            <a:outerShdw blurRad="40000" rotWithShape="0" dir="5400000" dist="23000">
              <a:srgbClr val="000000">
                <a:alpha val="34900"/>
              </a:srgbClr>
            </a:outerShdw>
          </a:effectLst>
        </p:spPr>
      </p:pic>
      <p:sp>
        <p:nvSpPr>
          <p:cNvPr id="154" name="Google Shape;154;p17"/>
          <p:cNvSpPr txBox="1"/>
          <p:nvPr/>
        </p:nvSpPr>
        <p:spPr>
          <a:xfrm>
            <a:off x="342900" y="542925"/>
            <a:ext cx="8458200" cy="369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2400">
                <a:solidFill>
                  <a:srgbClr val="202D48"/>
                </a:solidFill>
                <a:latin typeface="Lato"/>
                <a:ea typeface="Lato"/>
                <a:cs typeface="Lato"/>
                <a:sym typeface="Lato"/>
              </a:rPr>
              <a:t>One specimen, multiple focal views</a:t>
            </a:r>
            <a:endParaRPr sz="1100"/>
          </a:p>
        </p:txBody>
      </p:sp>
      <p:pic>
        <p:nvPicPr>
          <p:cNvPr id="155" name="Google Shape;155;p17"/>
          <p:cNvPicPr preferRelativeResize="0"/>
          <p:nvPr/>
        </p:nvPicPr>
        <p:blipFill>
          <a:blip r:embed="rId4">
            <a:alphaModFix/>
          </a:blip>
          <a:stretch>
            <a:fillRect/>
          </a:stretch>
        </p:blipFill>
        <p:spPr>
          <a:xfrm>
            <a:off x="5825250" y="1914825"/>
            <a:ext cx="2423401" cy="2423401"/>
          </a:xfrm>
          <a:prstGeom prst="rect">
            <a:avLst/>
          </a:prstGeom>
          <a:solidFill>
            <a:srgbClr val="F8F5EF"/>
          </a:solidFill>
          <a:ln>
            <a:noFill/>
          </a:ln>
          <a:effectLst>
            <a:outerShdw blurRad="40000" rotWithShape="0" dir="5400000" dist="23000">
              <a:srgbClr val="000000">
                <a:alpha val="34900"/>
              </a:srgbClr>
            </a:outerShdw>
          </a:effectLst>
        </p:spPr>
      </p:pic>
      <p:sp>
        <p:nvSpPr>
          <p:cNvPr id="156" name="Google Shape;156;p17"/>
          <p:cNvSpPr txBox="1"/>
          <p:nvPr/>
        </p:nvSpPr>
        <p:spPr>
          <a:xfrm>
            <a:off x="695325" y="1429725"/>
            <a:ext cx="3098700" cy="215400"/>
          </a:xfrm>
          <a:prstGeom prst="rect">
            <a:avLst/>
          </a:prstGeom>
          <a:noFill/>
          <a:ln>
            <a:noFill/>
          </a:ln>
        </p:spPr>
        <p:txBody>
          <a:bodyPr anchorCtr="0" anchor="t" bIns="0" lIns="0" spcFirstLastPara="1" rIns="0" wrap="square" tIns="0">
            <a:spAutoFit/>
          </a:bodyPr>
          <a:lstStyle/>
          <a:p>
            <a:pPr indent="-298450" lvl="0" marL="457200" rtl="0" algn="l">
              <a:lnSpc>
                <a:spcPct val="115000"/>
              </a:lnSpc>
              <a:spcBef>
                <a:spcPts val="1200"/>
              </a:spcBef>
              <a:spcAft>
                <a:spcPts val="0"/>
              </a:spcAft>
              <a:buClr>
                <a:schemeClr val="dk1"/>
              </a:buClr>
              <a:buSzPts val="1100"/>
              <a:buChar char="●"/>
            </a:pPr>
            <a:r>
              <a:rPr lang="en">
                <a:solidFill>
                  <a:srgbClr val="596477"/>
                </a:solidFill>
                <a:latin typeface="Lato"/>
                <a:ea typeface="Lato"/>
                <a:cs typeface="Lato"/>
                <a:sym typeface="Lato"/>
              </a:rPr>
              <a:t>An expert-annotated pollen grain</a:t>
            </a:r>
            <a:endParaRPr>
              <a:solidFill>
                <a:srgbClr val="596477"/>
              </a:solidFill>
              <a:latin typeface="Lato"/>
              <a:ea typeface="Lato"/>
              <a:cs typeface="Lato"/>
              <a:sym typeface="Lato"/>
            </a:endParaRPr>
          </a:p>
        </p:txBody>
      </p:sp>
      <p:sp>
        <p:nvSpPr>
          <p:cNvPr id="157" name="TextBox 156"/>
          <p:cNvSpPr txBox="1"/>
          <p:nvPr/>
        </p:nvSpPr>
        <p:spPr>
          <a:xfrm>
            <a:off x="5824728" y="1179576"/>
            <a:ext cx="2606040" cy="594360"/>
          </a:xfrm>
          <a:prstGeom prst="rect">
            <a:avLst/>
          </a:prstGeom>
          <a:noFill/>
        </p:spPr>
        <p:txBody>
          <a:bodyPr wrap="square" lIns="0" rIns="0" tIns="0" bIns="0">
            <a:spAutoFit/>
          </a:bodyPr>
          <a:lstStyle/>
          <a:p>
            <a:pPr>
              <a:spcAft>
                <a:spcPts val="500"/>
              </a:spcAft>
              <a:defRPr sz="1200" b="0">
                <a:solidFill>
                  <a:srgbClr val="596477"/>
                </a:solidFill>
                <a:latin typeface="Lato"/>
              </a:defRPr>
            </a:pPr>
            <a:r>
              <a:t>This example: 25 focal planes</a:t>
            </a:r>
          </a:p>
          <a:p>
            <a:pPr>
              <a:spcAft>
                <a:spcPts val="500"/>
              </a:spcAft>
              <a:defRPr sz="1200" b="0">
                <a:solidFill>
                  <a:srgbClr val="596477"/>
                </a:solidFill>
                <a:latin typeface="Lato"/>
              </a:defRPr>
            </a:pPr>
            <a:r>
              <a:t>About 30 GB for the full scan</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Rectangle 162"/>
          <p:cNvSpPr/>
          <p:nvPr/>
        </p:nvSpPr>
        <p:spPr>
          <a:xfrm>
            <a:off x="0" y="0"/>
            <a:ext cx="9144000" cy="51435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347472" y="265176"/>
            <a:ext cx="237744" cy="36576"/>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694944" y="182880"/>
            <a:ext cx="8092440" cy="182880"/>
          </a:xfrm>
          <a:prstGeom prst="rect">
            <a:avLst/>
          </a:prstGeom>
          <a:noFill/>
        </p:spPr>
        <p:txBody>
          <a:bodyPr wrap="square" lIns="0" rIns="0" tIns="0" bIns="0">
            <a:spAutoFit/>
          </a:bodyPr>
          <a:lstStyle/>
          <a:p>
            <a:pPr>
              <a:spcAft>
                <a:spcPts val="500"/>
              </a:spcAft>
              <a:defRPr sz="800" b="1">
                <a:solidFill>
                  <a:srgbClr val="93451F"/>
                </a:solidFill>
                <a:latin typeface="Lato"/>
              </a:defRPr>
            </a:pPr>
            <a:r>
              <a:t>06 / OUR DATA</a:t>
            </a:r>
          </a:p>
        </p:txBody>
      </p:sp>
      <p:sp>
        <p:nvSpPr>
          <p:cNvPr id="166" name="TextBox 165"/>
          <p:cNvSpPr txBox="1"/>
          <p:nvPr/>
        </p:nvSpPr>
        <p:spPr>
          <a:xfrm>
            <a:off x="347472" y="539496"/>
            <a:ext cx="8458200" cy="548640"/>
          </a:xfrm>
          <a:prstGeom prst="rect">
            <a:avLst/>
          </a:prstGeom>
          <a:noFill/>
        </p:spPr>
        <p:txBody>
          <a:bodyPr wrap="square" lIns="0" rIns="0" tIns="0" bIns="0">
            <a:spAutoFit/>
          </a:bodyPr>
          <a:lstStyle/>
          <a:p>
            <a:pPr>
              <a:spcAft>
                <a:spcPts val="500"/>
              </a:spcAft>
              <a:defRPr sz="2400" b="1">
                <a:solidFill>
                  <a:srgbClr val="202D48"/>
                </a:solidFill>
                <a:latin typeface="Lato"/>
              </a:defRPr>
            </a:pPr>
            <a:r>
              <a:t>Some categories have far fewer examples</a:t>
            </a:r>
          </a:p>
        </p:txBody>
      </p:sp>
      <p:sp>
        <p:nvSpPr>
          <p:cNvPr id="167" name="Rectangle 166"/>
          <p:cNvSpPr/>
          <p:nvPr/>
        </p:nvSpPr>
        <p:spPr>
          <a:xfrm>
            <a:off x="347472" y="4809744"/>
            <a:ext cx="8458200" cy="8229"/>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347472" y="4901184"/>
            <a:ext cx="7909560" cy="164592"/>
          </a:xfrm>
          <a:prstGeom prst="rect">
            <a:avLst/>
          </a:prstGeom>
          <a:noFill/>
        </p:spPr>
        <p:txBody>
          <a:bodyPr wrap="square" lIns="0" rIns="0" tIns="0" bIns="0">
            <a:spAutoFit/>
          </a:bodyPr>
          <a:lstStyle/>
          <a:p>
            <a:pPr>
              <a:spcAft>
                <a:spcPts val="500"/>
              </a:spcAft>
              <a:defRPr sz="700" b="0">
                <a:solidFill>
                  <a:srgbClr val="596477"/>
                </a:solidFill>
                <a:latin typeface="Lato"/>
              </a:defRPr>
            </a:pPr>
            <a:r>
              <a:t>SMITHSONIAN × RICE D2K</a:t>
            </a:r>
          </a:p>
        </p:txBody>
      </p:sp>
      <p:sp>
        <p:nvSpPr>
          <p:cNvPr id="169" name="TextBox 168"/>
          <p:cNvSpPr txBox="1"/>
          <p:nvPr/>
        </p:nvSpPr>
        <p:spPr>
          <a:xfrm>
            <a:off x="8549640" y="4882896"/>
            <a:ext cx="274320" cy="182880"/>
          </a:xfrm>
          <a:prstGeom prst="rect">
            <a:avLst/>
          </a:prstGeom>
          <a:noFill/>
        </p:spPr>
        <p:txBody>
          <a:bodyPr wrap="square" lIns="0" rIns="0" tIns="0" bIns="0">
            <a:spAutoFit/>
          </a:bodyPr>
          <a:lstStyle/>
          <a:p>
            <a:pPr>
              <a:spcAft>
                <a:spcPts val="500"/>
              </a:spcAft>
              <a:defRPr sz="800" b="0">
                <a:solidFill>
                  <a:srgbClr val="596477"/>
                </a:solidFill>
                <a:latin typeface="Lato"/>
              </a:defRPr>
            </a:pPr>
            <a:r>
              <a:t>6</a:t>
            </a:r>
          </a:p>
        </p:txBody>
      </p:sp>
      <p:sp>
        <p:nvSpPr>
          <p:cNvPr id="170" name="TextBox 169"/>
          <p:cNvSpPr txBox="1"/>
          <p:nvPr/>
        </p:nvSpPr>
        <p:spPr>
          <a:xfrm>
            <a:off x="411480" y="1207008"/>
            <a:ext cx="2560320" cy="457200"/>
          </a:xfrm>
          <a:prstGeom prst="rect">
            <a:avLst/>
          </a:prstGeom>
          <a:noFill/>
        </p:spPr>
        <p:txBody>
          <a:bodyPr wrap="square" lIns="0" rIns="0" tIns="0" bIns="0">
            <a:spAutoFit/>
          </a:bodyPr>
          <a:lstStyle/>
          <a:p>
            <a:pPr>
              <a:spcAft>
                <a:spcPts val="500"/>
              </a:spcAft>
              <a:defRPr sz="3000" b="1">
                <a:solidFill>
                  <a:srgbClr val="202D48"/>
                </a:solidFill>
                <a:latin typeface="Lato"/>
              </a:defRPr>
            </a:pPr>
            <a:r>
              <a:t>83</a:t>
            </a:r>
          </a:p>
        </p:txBody>
      </p:sp>
      <p:sp>
        <p:nvSpPr>
          <p:cNvPr id="171" name="TextBox 170"/>
          <p:cNvSpPr txBox="1"/>
          <p:nvPr/>
        </p:nvSpPr>
        <p:spPr>
          <a:xfrm>
            <a:off x="411480" y="1709928"/>
            <a:ext cx="2560320" cy="292608"/>
          </a:xfrm>
          <a:prstGeom prst="rect">
            <a:avLst/>
          </a:prstGeom>
          <a:noFill/>
        </p:spPr>
        <p:txBody>
          <a:bodyPr wrap="square" lIns="0" rIns="0" tIns="0" bIns="0">
            <a:spAutoFit/>
          </a:bodyPr>
          <a:lstStyle/>
          <a:p>
            <a:pPr>
              <a:spcAft>
                <a:spcPts val="500"/>
              </a:spcAft>
              <a:defRPr sz="1300" b="0">
                <a:solidFill>
                  <a:srgbClr val="596477"/>
                </a:solidFill>
                <a:latin typeface="Lato"/>
              </a:defRPr>
            </a:pPr>
            <a:r>
              <a:t>image–annotation pairs</a:t>
            </a:r>
          </a:p>
        </p:txBody>
      </p:sp>
      <p:sp>
        <p:nvSpPr>
          <p:cNvPr id="172" name="TextBox 171"/>
          <p:cNvSpPr txBox="1"/>
          <p:nvPr/>
        </p:nvSpPr>
        <p:spPr>
          <a:xfrm>
            <a:off x="3291840" y="1207008"/>
            <a:ext cx="2560320" cy="457200"/>
          </a:xfrm>
          <a:prstGeom prst="rect">
            <a:avLst/>
          </a:prstGeom>
          <a:noFill/>
        </p:spPr>
        <p:txBody>
          <a:bodyPr wrap="square" lIns="0" rIns="0" tIns="0" bIns="0">
            <a:spAutoFit/>
          </a:bodyPr>
          <a:lstStyle/>
          <a:p>
            <a:pPr>
              <a:spcAft>
                <a:spcPts val="500"/>
              </a:spcAft>
              <a:defRPr sz="3000" b="1">
                <a:solidFill>
                  <a:srgbClr val="202D48"/>
                </a:solidFill>
                <a:latin typeface="Lato"/>
              </a:defRPr>
            </a:pPr>
            <a:r>
              <a:t>32</a:t>
            </a:r>
          </a:p>
        </p:txBody>
      </p:sp>
      <p:sp>
        <p:nvSpPr>
          <p:cNvPr id="173" name="TextBox 172"/>
          <p:cNvSpPr txBox="1"/>
          <p:nvPr/>
        </p:nvSpPr>
        <p:spPr>
          <a:xfrm>
            <a:off x="3291840" y="1709928"/>
            <a:ext cx="2560320" cy="292608"/>
          </a:xfrm>
          <a:prstGeom prst="rect">
            <a:avLst/>
          </a:prstGeom>
          <a:noFill/>
        </p:spPr>
        <p:txBody>
          <a:bodyPr wrap="square" lIns="0" rIns="0" tIns="0" bIns="0">
            <a:spAutoFit/>
          </a:bodyPr>
          <a:lstStyle/>
          <a:p>
            <a:pPr>
              <a:spcAft>
                <a:spcPts val="500"/>
              </a:spcAft>
              <a:defRPr sz="1300" b="0">
                <a:solidFill>
                  <a:srgbClr val="596477"/>
                </a:solidFill>
                <a:latin typeface="Lato"/>
              </a:defRPr>
            </a:pPr>
            <a:r>
              <a:t>priority categories</a:t>
            </a:r>
          </a:p>
        </p:txBody>
      </p:sp>
      <p:sp>
        <p:nvSpPr>
          <p:cNvPr id="174" name="TextBox 173"/>
          <p:cNvSpPr txBox="1"/>
          <p:nvPr/>
        </p:nvSpPr>
        <p:spPr>
          <a:xfrm>
            <a:off x="6172200" y="1207008"/>
            <a:ext cx="2560320" cy="457200"/>
          </a:xfrm>
          <a:prstGeom prst="rect">
            <a:avLst/>
          </a:prstGeom>
          <a:noFill/>
        </p:spPr>
        <p:txBody>
          <a:bodyPr wrap="square" lIns="0" rIns="0" tIns="0" bIns="0">
            <a:spAutoFit/>
          </a:bodyPr>
          <a:lstStyle/>
          <a:p>
            <a:pPr>
              <a:spcAft>
                <a:spcPts val="500"/>
              </a:spcAft>
              <a:defRPr sz="3000" b="1">
                <a:solidFill>
                  <a:srgbClr val="202D48"/>
                </a:solidFill>
                <a:latin typeface="Lato"/>
              </a:defRPr>
            </a:pPr>
            <a:r>
              <a:t>2,290</a:t>
            </a:r>
          </a:p>
        </p:txBody>
      </p:sp>
      <p:sp>
        <p:nvSpPr>
          <p:cNvPr id="175" name="TextBox 174"/>
          <p:cNvSpPr txBox="1"/>
          <p:nvPr/>
        </p:nvSpPr>
        <p:spPr>
          <a:xfrm>
            <a:off x="6172200" y="1709928"/>
            <a:ext cx="2560320" cy="292608"/>
          </a:xfrm>
          <a:prstGeom prst="rect">
            <a:avLst/>
          </a:prstGeom>
          <a:noFill/>
        </p:spPr>
        <p:txBody>
          <a:bodyPr wrap="square" lIns="0" rIns="0" tIns="0" bIns="0">
            <a:spAutoFit/>
          </a:bodyPr>
          <a:lstStyle/>
          <a:p>
            <a:pPr>
              <a:spcAft>
                <a:spcPts val="500"/>
              </a:spcAft>
              <a:defRPr sz="1300" b="0">
                <a:solidFill>
                  <a:srgbClr val="596477"/>
                </a:solidFill>
                <a:latin typeface="Lato"/>
              </a:defRPr>
            </a:pPr>
            <a:r>
              <a:t>priority annotations</a:t>
            </a:r>
          </a:p>
        </p:txBody>
      </p:sp>
      <p:sp>
        <p:nvSpPr>
          <p:cNvPr id="176" name="TextBox 175"/>
          <p:cNvSpPr txBox="1"/>
          <p:nvPr/>
        </p:nvSpPr>
        <p:spPr>
          <a:xfrm>
            <a:off x="411480" y="2221992"/>
            <a:ext cx="7315200" cy="228600"/>
          </a:xfrm>
          <a:prstGeom prst="rect">
            <a:avLst/>
          </a:prstGeom>
          <a:noFill/>
        </p:spPr>
        <p:txBody>
          <a:bodyPr wrap="square" lIns="0" rIns="0" tIns="0" bIns="0">
            <a:spAutoFit/>
          </a:bodyPr>
          <a:lstStyle/>
          <a:p>
            <a:pPr>
              <a:spcAft>
                <a:spcPts val="500"/>
              </a:spcAft>
              <a:defRPr sz="1000" b="1">
                <a:solidFill>
                  <a:srgbClr val="596477"/>
                </a:solidFill>
                <a:latin typeface="Lato"/>
              </a:defRPr>
            </a:pPr>
            <a:r>
              <a:t>LABELED EXAMPLES · FOUR SELECTED CATEGORIES</a:t>
            </a:r>
          </a:p>
        </p:txBody>
      </p:sp>
      <p:sp>
        <p:nvSpPr>
          <p:cNvPr id="177" name="TextBox 176"/>
          <p:cNvSpPr txBox="1"/>
          <p:nvPr/>
        </p:nvSpPr>
        <p:spPr>
          <a:xfrm>
            <a:off x="411480" y="2670048"/>
            <a:ext cx="2743200" cy="292608"/>
          </a:xfrm>
          <a:prstGeom prst="rect">
            <a:avLst/>
          </a:prstGeom>
          <a:noFill/>
        </p:spPr>
        <p:txBody>
          <a:bodyPr wrap="square" lIns="0" rIns="0" tIns="0" bIns="0">
            <a:spAutoFit/>
          </a:bodyPr>
          <a:lstStyle/>
          <a:p>
            <a:pPr>
              <a:spcAft>
                <a:spcPts val="500"/>
              </a:spcAft>
              <a:defRPr sz="1400" b="0">
                <a:solidFill>
                  <a:srgbClr val="202D48"/>
                </a:solidFill>
                <a:latin typeface="Lato"/>
              </a:defRPr>
            </a:pPr>
            <a:r>
              <a:t>Bisaccate</a:t>
            </a:r>
          </a:p>
        </p:txBody>
      </p:sp>
      <p:sp>
        <p:nvSpPr>
          <p:cNvPr id="178" name="Rectangle 177"/>
          <p:cNvSpPr/>
          <p:nvPr/>
        </p:nvSpPr>
        <p:spPr>
          <a:xfrm>
            <a:off x="3337560" y="2692908"/>
            <a:ext cx="4389120" cy="210312"/>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7863840" y="2660904"/>
            <a:ext cx="731520" cy="301752"/>
          </a:xfrm>
          <a:prstGeom prst="rect">
            <a:avLst/>
          </a:prstGeom>
          <a:noFill/>
        </p:spPr>
        <p:txBody>
          <a:bodyPr wrap="square" lIns="0" rIns="0" tIns="0" bIns="0">
            <a:spAutoFit/>
          </a:bodyPr>
          <a:lstStyle/>
          <a:p>
            <a:pPr>
              <a:spcAft>
                <a:spcPts val="500"/>
              </a:spcAft>
              <a:defRPr sz="1400" b="1">
                <a:solidFill>
                  <a:srgbClr val="202D48"/>
                </a:solidFill>
                <a:latin typeface="Lato"/>
              </a:defRPr>
            </a:pPr>
            <a:r>
              <a:t>316</a:t>
            </a:r>
          </a:p>
        </p:txBody>
      </p:sp>
      <p:sp>
        <p:nvSpPr>
          <p:cNvPr id="180" name="TextBox 179"/>
          <p:cNvSpPr txBox="1"/>
          <p:nvPr/>
        </p:nvSpPr>
        <p:spPr>
          <a:xfrm>
            <a:off x="411480" y="3054096"/>
            <a:ext cx="2743200" cy="292608"/>
          </a:xfrm>
          <a:prstGeom prst="rect">
            <a:avLst/>
          </a:prstGeom>
          <a:noFill/>
        </p:spPr>
        <p:txBody>
          <a:bodyPr wrap="square" lIns="0" rIns="0" tIns="0" bIns="0">
            <a:spAutoFit/>
          </a:bodyPr>
          <a:lstStyle/>
          <a:p>
            <a:pPr>
              <a:spcAft>
                <a:spcPts val="500"/>
              </a:spcAft>
              <a:defRPr sz="1400" b="0">
                <a:solidFill>
                  <a:srgbClr val="202D48"/>
                </a:solidFill>
                <a:latin typeface="Lato"/>
              </a:defRPr>
            </a:pPr>
            <a:r>
              <a:t>Arecipites sp.</a:t>
            </a:r>
          </a:p>
        </p:txBody>
      </p:sp>
      <p:sp>
        <p:nvSpPr>
          <p:cNvPr id="181" name="Rectangle 180"/>
          <p:cNvSpPr/>
          <p:nvPr/>
        </p:nvSpPr>
        <p:spPr>
          <a:xfrm>
            <a:off x="3337560" y="3076956"/>
            <a:ext cx="1125059" cy="210312"/>
          </a:xfrm>
          <a:prstGeom prst="rect">
            <a:avLst/>
          </a:prstGeom>
          <a:solidFill>
            <a:srgbClr val="5964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4599779" y="3044952"/>
            <a:ext cx="731520" cy="301752"/>
          </a:xfrm>
          <a:prstGeom prst="rect">
            <a:avLst/>
          </a:prstGeom>
          <a:noFill/>
        </p:spPr>
        <p:txBody>
          <a:bodyPr wrap="square" lIns="0" rIns="0" tIns="0" bIns="0">
            <a:spAutoFit/>
          </a:bodyPr>
          <a:lstStyle/>
          <a:p>
            <a:pPr>
              <a:spcAft>
                <a:spcPts val="500"/>
              </a:spcAft>
              <a:defRPr sz="1400" b="1">
                <a:solidFill>
                  <a:srgbClr val="202D48"/>
                </a:solidFill>
                <a:latin typeface="Lato"/>
              </a:defRPr>
            </a:pPr>
            <a:r>
              <a:t>81</a:t>
            </a:r>
          </a:p>
        </p:txBody>
      </p:sp>
      <p:sp>
        <p:nvSpPr>
          <p:cNvPr id="183" name="TextBox 182"/>
          <p:cNvSpPr txBox="1"/>
          <p:nvPr/>
        </p:nvSpPr>
        <p:spPr>
          <a:xfrm>
            <a:off x="411480" y="3438144"/>
            <a:ext cx="2743200" cy="292608"/>
          </a:xfrm>
          <a:prstGeom prst="rect">
            <a:avLst/>
          </a:prstGeom>
          <a:noFill/>
        </p:spPr>
        <p:txBody>
          <a:bodyPr wrap="square" lIns="0" rIns="0" tIns="0" bIns="0">
            <a:spAutoFit/>
          </a:bodyPr>
          <a:lstStyle/>
          <a:p>
            <a:pPr>
              <a:spcAft>
                <a:spcPts val="500"/>
              </a:spcAft>
              <a:defRPr sz="1400" b="0">
                <a:solidFill>
                  <a:srgbClr val="202D48"/>
                </a:solidFill>
                <a:latin typeface="Lato"/>
              </a:defRPr>
            </a:pPr>
            <a:r>
              <a:t>Bombacacidites sp.</a:t>
            </a:r>
          </a:p>
        </p:txBody>
      </p:sp>
      <p:sp>
        <p:nvSpPr>
          <p:cNvPr id="184" name="Rectangle 183"/>
          <p:cNvSpPr/>
          <p:nvPr/>
        </p:nvSpPr>
        <p:spPr>
          <a:xfrm>
            <a:off x="3337560" y="3461003"/>
            <a:ext cx="555584" cy="210312"/>
          </a:xfrm>
          <a:prstGeom prst="rect">
            <a:avLst/>
          </a:prstGeom>
          <a:solidFill>
            <a:srgbClr val="5964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4030304" y="3429000"/>
            <a:ext cx="731520" cy="301752"/>
          </a:xfrm>
          <a:prstGeom prst="rect">
            <a:avLst/>
          </a:prstGeom>
          <a:noFill/>
        </p:spPr>
        <p:txBody>
          <a:bodyPr wrap="square" lIns="0" rIns="0" tIns="0" bIns="0">
            <a:spAutoFit/>
          </a:bodyPr>
          <a:lstStyle/>
          <a:p>
            <a:pPr>
              <a:spcAft>
                <a:spcPts val="500"/>
              </a:spcAft>
              <a:defRPr sz="1400" b="1">
                <a:solidFill>
                  <a:srgbClr val="202D48"/>
                </a:solidFill>
                <a:latin typeface="Lato"/>
              </a:defRPr>
            </a:pPr>
            <a:r>
              <a:t>40</a:t>
            </a:r>
          </a:p>
        </p:txBody>
      </p:sp>
      <p:sp>
        <p:nvSpPr>
          <p:cNvPr id="186" name="TextBox 185"/>
          <p:cNvSpPr txBox="1"/>
          <p:nvPr/>
        </p:nvSpPr>
        <p:spPr>
          <a:xfrm>
            <a:off x="411480" y="3822191"/>
            <a:ext cx="2743200" cy="292608"/>
          </a:xfrm>
          <a:prstGeom prst="rect">
            <a:avLst/>
          </a:prstGeom>
          <a:noFill/>
        </p:spPr>
        <p:txBody>
          <a:bodyPr wrap="square" lIns="0" rIns="0" tIns="0" bIns="0">
            <a:spAutoFit/>
          </a:bodyPr>
          <a:lstStyle/>
          <a:p>
            <a:pPr>
              <a:spcAft>
                <a:spcPts val="500"/>
              </a:spcAft>
              <a:defRPr sz="1400" b="0">
                <a:solidFill>
                  <a:srgbClr val="202D48"/>
                </a:solidFill>
                <a:latin typeface="Lato"/>
              </a:defRPr>
            </a:pPr>
            <a:r>
              <a:t>Cupuliferoipollenites sp.</a:t>
            </a:r>
          </a:p>
        </p:txBody>
      </p:sp>
      <p:sp>
        <p:nvSpPr>
          <p:cNvPr id="187" name="Rectangle 186"/>
          <p:cNvSpPr/>
          <p:nvPr/>
        </p:nvSpPr>
        <p:spPr>
          <a:xfrm>
            <a:off x="3337560" y="3845052"/>
            <a:ext cx="375019" cy="210312"/>
          </a:xfrm>
          <a:prstGeom prst="rect">
            <a:avLst/>
          </a:prstGeom>
          <a:solidFill>
            <a:srgbClr val="5964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3849739" y="3813048"/>
            <a:ext cx="731520" cy="301752"/>
          </a:xfrm>
          <a:prstGeom prst="rect">
            <a:avLst/>
          </a:prstGeom>
          <a:noFill/>
        </p:spPr>
        <p:txBody>
          <a:bodyPr wrap="square" lIns="0" rIns="0" tIns="0" bIns="0">
            <a:spAutoFit/>
          </a:bodyPr>
          <a:lstStyle/>
          <a:p>
            <a:pPr>
              <a:spcAft>
                <a:spcPts val="500"/>
              </a:spcAft>
              <a:defRPr sz="1400" b="1">
                <a:solidFill>
                  <a:srgbClr val="202D48"/>
                </a:solidFill>
                <a:latin typeface="Lato"/>
              </a:defRPr>
            </a:pPr>
            <a:r>
              <a:t>27</a:t>
            </a:r>
          </a:p>
        </p:txBody>
      </p:sp>
      <p:sp>
        <p:nvSpPr>
          <p:cNvPr id="189" name="TextBox 188"/>
          <p:cNvSpPr txBox="1"/>
          <p:nvPr/>
        </p:nvSpPr>
        <p:spPr>
          <a:xfrm>
            <a:off x="411480" y="4416552"/>
            <a:ext cx="8321040" cy="292608"/>
          </a:xfrm>
          <a:prstGeom prst="rect">
            <a:avLst/>
          </a:prstGeom>
          <a:noFill/>
        </p:spPr>
        <p:txBody>
          <a:bodyPr wrap="square" lIns="0" rIns="0" tIns="0" bIns="0">
            <a:spAutoFit/>
          </a:bodyPr>
          <a:lstStyle/>
          <a:p>
            <a:pPr>
              <a:spcAft>
                <a:spcPts val="500"/>
              </a:spcAft>
              <a:defRPr sz="1700" b="1">
                <a:solidFill>
                  <a:srgbClr val="93451F"/>
                </a:solidFill>
                <a:latin typeface="Lato"/>
              </a:defRPr>
            </a:pPr>
            <a:r>
              <a:t>Fewer examples can make a category harder to learn.</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Rectangle 176"/>
          <p:cNvSpPr/>
          <p:nvPr/>
        </p:nvSpPr>
        <p:spPr>
          <a:xfrm>
            <a:off x="0" y="0"/>
            <a:ext cx="9144000" cy="51435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347472" y="265176"/>
            <a:ext cx="237744" cy="36576"/>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694944" y="182880"/>
            <a:ext cx="8092440" cy="182880"/>
          </a:xfrm>
          <a:prstGeom prst="rect">
            <a:avLst/>
          </a:prstGeom>
          <a:noFill/>
        </p:spPr>
        <p:txBody>
          <a:bodyPr wrap="square" lIns="0" rIns="0" tIns="0" bIns="0">
            <a:spAutoFit/>
          </a:bodyPr>
          <a:lstStyle/>
          <a:p>
            <a:pPr>
              <a:spcAft>
                <a:spcPts val="500"/>
              </a:spcAft>
              <a:defRPr sz="800" b="1">
                <a:solidFill>
                  <a:srgbClr val="93451F"/>
                </a:solidFill>
                <a:latin typeface="Lato"/>
              </a:defRPr>
            </a:pPr>
            <a:r>
              <a:t>07 / PREPARE LABELED EXAMPLES</a:t>
            </a:r>
          </a:p>
        </p:txBody>
      </p:sp>
      <p:sp>
        <p:nvSpPr>
          <p:cNvPr id="180" name="TextBox 179"/>
          <p:cNvSpPr txBox="1"/>
          <p:nvPr/>
        </p:nvSpPr>
        <p:spPr>
          <a:xfrm>
            <a:off x="347472" y="539496"/>
            <a:ext cx="8458200" cy="548640"/>
          </a:xfrm>
          <a:prstGeom prst="rect">
            <a:avLst/>
          </a:prstGeom>
          <a:noFill/>
        </p:spPr>
        <p:txBody>
          <a:bodyPr wrap="square" lIns="0" rIns="0" tIns="0" bIns="0">
            <a:spAutoFit/>
          </a:bodyPr>
          <a:lstStyle/>
          <a:p>
            <a:pPr>
              <a:spcAft>
                <a:spcPts val="500"/>
              </a:spcAft>
              <a:defRPr sz="2400" b="1">
                <a:solidFill>
                  <a:srgbClr val="202D48"/>
                </a:solidFill>
                <a:latin typeface="Lato"/>
              </a:defRPr>
            </a:pPr>
            <a:r>
              <a:t>Turn expert annotations into learning examples</a:t>
            </a:r>
          </a:p>
        </p:txBody>
      </p:sp>
      <p:sp>
        <p:nvSpPr>
          <p:cNvPr id="181" name="Rectangle 180"/>
          <p:cNvSpPr/>
          <p:nvPr/>
        </p:nvSpPr>
        <p:spPr>
          <a:xfrm>
            <a:off x="347472" y="4809744"/>
            <a:ext cx="8458200" cy="8229"/>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347472" y="4901184"/>
            <a:ext cx="7909560" cy="164592"/>
          </a:xfrm>
          <a:prstGeom prst="rect">
            <a:avLst/>
          </a:prstGeom>
          <a:noFill/>
        </p:spPr>
        <p:txBody>
          <a:bodyPr wrap="square" lIns="0" rIns="0" tIns="0" bIns="0">
            <a:spAutoFit/>
          </a:bodyPr>
          <a:lstStyle/>
          <a:p>
            <a:pPr>
              <a:spcAft>
                <a:spcPts val="500"/>
              </a:spcAft>
              <a:defRPr sz="700" b="0">
                <a:solidFill>
                  <a:srgbClr val="596477"/>
                </a:solidFill>
                <a:latin typeface="Lato"/>
              </a:defRPr>
            </a:pPr>
            <a:r>
              <a:t>SMITHSONIAN × RICE D2K</a:t>
            </a:r>
          </a:p>
        </p:txBody>
      </p:sp>
      <p:sp>
        <p:nvSpPr>
          <p:cNvPr id="183" name="TextBox 182"/>
          <p:cNvSpPr txBox="1"/>
          <p:nvPr/>
        </p:nvSpPr>
        <p:spPr>
          <a:xfrm>
            <a:off x="8549640" y="4882896"/>
            <a:ext cx="274320" cy="182880"/>
          </a:xfrm>
          <a:prstGeom prst="rect">
            <a:avLst/>
          </a:prstGeom>
          <a:noFill/>
        </p:spPr>
        <p:txBody>
          <a:bodyPr wrap="square" lIns="0" rIns="0" tIns="0" bIns="0">
            <a:spAutoFit/>
          </a:bodyPr>
          <a:lstStyle/>
          <a:p>
            <a:pPr>
              <a:spcAft>
                <a:spcPts val="500"/>
              </a:spcAft>
              <a:defRPr sz="800" b="0">
                <a:solidFill>
                  <a:srgbClr val="596477"/>
                </a:solidFill>
                <a:latin typeface="Lato"/>
              </a:defRPr>
            </a:pPr>
            <a:r>
              <a:t>7</a:t>
            </a:r>
          </a:p>
        </p:txBody>
      </p:sp>
      <p:sp>
        <p:nvSpPr>
          <p:cNvPr id="184" name="TextBox 183"/>
          <p:cNvSpPr txBox="1"/>
          <p:nvPr/>
        </p:nvSpPr>
        <p:spPr>
          <a:xfrm>
            <a:off x="411480" y="1170432"/>
            <a:ext cx="2514600" cy="365760"/>
          </a:xfrm>
          <a:prstGeom prst="rect">
            <a:avLst/>
          </a:prstGeom>
          <a:noFill/>
        </p:spPr>
        <p:txBody>
          <a:bodyPr wrap="square" lIns="0" rIns="0" tIns="0" bIns="0">
            <a:spAutoFit/>
          </a:bodyPr>
          <a:lstStyle/>
          <a:p>
            <a:pPr>
              <a:spcAft>
                <a:spcPts val="500"/>
              </a:spcAft>
              <a:defRPr sz="1600" b="1">
                <a:solidFill>
                  <a:srgbClr val="202D48"/>
                </a:solidFill>
                <a:latin typeface="Lato"/>
              </a:defRPr>
            </a:pPr>
            <a:r>
              <a:t>1  Locate the specimen</a:t>
            </a:r>
          </a:p>
        </p:txBody>
      </p:sp>
      <p:sp>
        <p:nvSpPr>
          <p:cNvPr id="185" name="TextBox 184"/>
          <p:cNvSpPr txBox="1"/>
          <p:nvPr/>
        </p:nvSpPr>
        <p:spPr>
          <a:xfrm>
            <a:off x="3383280" y="1170432"/>
            <a:ext cx="2331720" cy="365760"/>
          </a:xfrm>
          <a:prstGeom prst="rect">
            <a:avLst/>
          </a:prstGeom>
          <a:noFill/>
        </p:spPr>
        <p:txBody>
          <a:bodyPr wrap="square" lIns="0" rIns="0" tIns="0" bIns="0">
            <a:spAutoFit/>
          </a:bodyPr>
          <a:lstStyle/>
          <a:p>
            <a:pPr>
              <a:spcAft>
                <a:spcPts val="500"/>
              </a:spcAft>
              <a:defRPr sz="1600" b="1">
                <a:solidFill>
                  <a:srgbClr val="202D48"/>
                </a:solidFill>
                <a:latin typeface="Lato"/>
              </a:defRPr>
            </a:pPr>
            <a:r>
              <a:t>2  Read its expert label</a:t>
            </a:r>
          </a:p>
        </p:txBody>
      </p:sp>
      <p:sp>
        <p:nvSpPr>
          <p:cNvPr id="186" name="TextBox 185"/>
          <p:cNvSpPr txBox="1"/>
          <p:nvPr/>
        </p:nvSpPr>
        <p:spPr>
          <a:xfrm>
            <a:off x="6355080" y="1170432"/>
            <a:ext cx="2423160" cy="365760"/>
          </a:xfrm>
          <a:prstGeom prst="rect">
            <a:avLst/>
          </a:prstGeom>
          <a:noFill/>
        </p:spPr>
        <p:txBody>
          <a:bodyPr wrap="square" lIns="0" rIns="0" tIns="0" bIns="0">
            <a:spAutoFit/>
          </a:bodyPr>
          <a:lstStyle/>
          <a:p>
            <a:pPr>
              <a:spcAft>
                <a:spcPts val="500"/>
              </a:spcAft>
              <a:defRPr sz="1600" b="1">
                <a:solidFill>
                  <a:srgbClr val="202D48"/>
                </a:solidFill>
                <a:latin typeface="Lato"/>
              </a:defRPr>
            </a:pPr>
            <a:r>
              <a:t>3  Extract a labeled crop</a:t>
            </a:r>
          </a:p>
        </p:txBody>
      </p:sp>
      <p:pic>
        <p:nvPicPr>
          <p:cNvPr id="187" name="Picture 186" descr="shard_0_target_027.png"/>
          <p:cNvPicPr>
            <a:picLocks noChangeAspect="1"/>
          </p:cNvPicPr>
          <p:nvPr/>
        </p:nvPicPr>
        <p:blipFill>
          <a:blip r:embed="rId3"/>
          <a:stretch>
            <a:fillRect/>
          </a:stretch>
        </p:blipFill>
        <p:spPr>
          <a:xfrm>
            <a:off x="548640" y="1801368"/>
            <a:ext cx="2331720" cy="2331720"/>
          </a:xfrm>
          <a:prstGeom prst="rect">
            <a:avLst/>
          </a:prstGeom>
        </p:spPr>
      </p:pic>
      <p:sp>
        <p:nvSpPr>
          <p:cNvPr id="188" name="Rectangle 187"/>
          <p:cNvSpPr/>
          <p:nvPr/>
        </p:nvSpPr>
        <p:spPr>
          <a:xfrm>
            <a:off x="1573946" y="2827268"/>
            <a:ext cx="281654" cy="281648"/>
          </a:xfrm>
          <a:prstGeom prst="rect">
            <a:avLst/>
          </a:prstGeom>
          <a:noFill/>
          <a:ln w="25400">
            <a:solidFill>
              <a:srgbClr val="9345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2944368" y="2560320"/>
            <a:ext cx="411480" cy="365760"/>
          </a:xfrm>
          <a:prstGeom prst="rect">
            <a:avLst/>
          </a:prstGeom>
          <a:noFill/>
        </p:spPr>
        <p:txBody>
          <a:bodyPr wrap="square" lIns="0" rIns="0" tIns="0" bIns="0">
            <a:spAutoFit/>
          </a:bodyPr>
          <a:lstStyle/>
          <a:p>
            <a:pPr>
              <a:spcAft>
                <a:spcPts val="500"/>
              </a:spcAft>
              <a:defRPr sz="2400" b="1">
                <a:solidFill>
                  <a:srgbClr val="93451F"/>
                </a:solidFill>
                <a:latin typeface="Lato"/>
              </a:defRPr>
            </a:pPr>
            <a:r>
              <a:t>→</a:t>
            </a:r>
          </a:p>
        </p:txBody>
      </p:sp>
      <p:sp>
        <p:nvSpPr>
          <p:cNvPr id="190" name="Rectangle 189"/>
          <p:cNvSpPr/>
          <p:nvPr/>
        </p:nvSpPr>
        <p:spPr>
          <a:xfrm>
            <a:off x="3474720" y="1911095"/>
            <a:ext cx="2194560" cy="20208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3621024" y="2103120"/>
            <a:ext cx="1874519" cy="265176"/>
          </a:xfrm>
          <a:prstGeom prst="rect">
            <a:avLst/>
          </a:prstGeom>
          <a:noFill/>
        </p:spPr>
        <p:txBody>
          <a:bodyPr wrap="square" lIns="0" rIns="0" tIns="0" bIns="0">
            <a:spAutoFit/>
          </a:bodyPr>
          <a:lstStyle/>
          <a:p>
            <a:pPr>
              <a:spcAft>
                <a:spcPts val="500"/>
              </a:spcAft>
              <a:defRPr sz="1000" b="1">
                <a:solidFill>
                  <a:srgbClr val="596477"/>
                </a:solidFill>
                <a:latin typeface="Lato"/>
              </a:defRPr>
            </a:pPr>
            <a:r>
              <a:t>ANNOTATION TITLE</a:t>
            </a:r>
          </a:p>
        </p:txBody>
      </p:sp>
      <p:sp>
        <p:nvSpPr>
          <p:cNvPr id="192" name="TextBox 191"/>
          <p:cNvSpPr txBox="1"/>
          <p:nvPr/>
        </p:nvSpPr>
        <p:spPr>
          <a:xfrm>
            <a:off x="3621024" y="2478024"/>
            <a:ext cx="1874519" cy="621792"/>
          </a:xfrm>
          <a:prstGeom prst="rect">
            <a:avLst/>
          </a:prstGeom>
          <a:noFill/>
        </p:spPr>
        <p:txBody>
          <a:bodyPr wrap="square" lIns="0" rIns="0" tIns="0" bIns="0">
            <a:spAutoFit/>
          </a:bodyPr>
          <a:lstStyle/>
          <a:p>
            <a:pPr>
              <a:spcAft>
                <a:spcPts val="500"/>
              </a:spcAft>
              <a:defRPr sz="1700" b="1">
                <a:solidFill>
                  <a:srgbClr val="202D48"/>
                </a:solidFill>
                <a:latin typeface="Lato"/>
              </a:defRPr>
            </a:pPr>
            <a:r>
              <a:t>Tiliapollenites sp.</a:t>
            </a:r>
          </a:p>
        </p:txBody>
      </p:sp>
      <p:sp>
        <p:nvSpPr>
          <p:cNvPr id="193" name="TextBox 192"/>
          <p:cNvSpPr txBox="1"/>
          <p:nvPr/>
        </p:nvSpPr>
        <p:spPr>
          <a:xfrm>
            <a:off x="3621024" y="3291840"/>
            <a:ext cx="1874519" cy="411480"/>
          </a:xfrm>
          <a:prstGeom prst="rect">
            <a:avLst/>
          </a:prstGeom>
          <a:noFill/>
        </p:spPr>
        <p:txBody>
          <a:bodyPr wrap="square" lIns="0" rIns="0" tIns="0" bIns="0">
            <a:spAutoFit/>
          </a:bodyPr>
          <a:lstStyle/>
          <a:p>
            <a:pPr>
              <a:spcAft>
                <a:spcPts val="500"/>
              </a:spcAft>
              <a:defRPr sz="1200" b="0">
                <a:solidFill>
                  <a:srgbClr val="596477"/>
                </a:solidFill>
                <a:latin typeface="Lato"/>
              </a:defRPr>
            </a:pPr>
            <a:r>
              <a:t>Expert category map</a:t>
            </a:r>
          </a:p>
        </p:txBody>
      </p:sp>
      <p:sp>
        <p:nvSpPr>
          <p:cNvPr id="194" name="TextBox 193"/>
          <p:cNvSpPr txBox="1"/>
          <p:nvPr/>
        </p:nvSpPr>
        <p:spPr>
          <a:xfrm>
            <a:off x="5897880" y="2560320"/>
            <a:ext cx="411480" cy="365760"/>
          </a:xfrm>
          <a:prstGeom prst="rect">
            <a:avLst/>
          </a:prstGeom>
          <a:noFill/>
        </p:spPr>
        <p:txBody>
          <a:bodyPr wrap="square" lIns="0" rIns="0" tIns="0" bIns="0">
            <a:spAutoFit/>
          </a:bodyPr>
          <a:lstStyle/>
          <a:p>
            <a:pPr>
              <a:spcAft>
                <a:spcPts val="500"/>
              </a:spcAft>
              <a:defRPr sz="2400" b="1">
                <a:solidFill>
                  <a:srgbClr val="93451F"/>
                </a:solidFill>
                <a:latin typeface="Lato"/>
              </a:defRPr>
            </a:pPr>
            <a:r>
              <a:t>→</a:t>
            </a:r>
          </a:p>
        </p:txBody>
      </p:sp>
      <p:pic>
        <p:nvPicPr>
          <p:cNvPr id="195" name="Picture 194" descr="shard_0_target_027_crop.png"/>
          <p:cNvPicPr>
            <a:picLocks noChangeAspect="1"/>
          </p:cNvPicPr>
          <p:nvPr/>
        </p:nvPicPr>
        <p:blipFill>
          <a:blip r:embed="rId4"/>
          <a:stretch>
            <a:fillRect/>
          </a:stretch>
        </p:blipFill>
        <p:spPr>
          <a:xfrm>
            <a:off x="6583680" y="1801368"/>
            <a:ext cx="1965960" cy="1965960"/>
          </a:xfrm>
          <a:prstGeom prst="rect">
            <a:avLst/>
          </a:prstGeom>
        </p:spPr>
      </p:pic>
      <p:sp>
        <p:nvSpPr>
          <p:cNvPr id="196" name="TextBox 195"/>
          <p:cNvSpPr txBox="1"/>
          <p:nvPr/>
        </p:nvSpPr>
        <p:spPr>
          <a:xfrm>
            <a:off x="6391656" y="3895344"/>
            <a:ext cx="2468880" cy="365760"/>
          </a:xfrm>
          <a:prstGeom prst="rect">
            <a:avLst/>
          </a:prstGeom>
          <a:noFill/>
        </p:spPr>
        <p:txBody>
          <a:bodyPr wrap="square" lIns="0" rIns="0" tIns="0" bIns="0">
            <a:spAutoFit/>
          </a:bodyPr>
          <a:lstStyle/>
          <a:p>
            <a:pPr>
              <a:spcAft>
                <a:spcPts val="500"/>
              </a:spcAft>
              <a:defRPr sz="1500" b="1">
                <a:solidFill>
                  <a:srgbClr val="202D48"/>
                </a:solidFill>
                <a:latin typeface="Lato"/>
              </a:defRPr>
            </a:pPr>
            <a:r>
              <a:t>Bombacacidites sp.</a:t>
            </a:r>
          </a:p>
        </p:txBody>
      </p:sp>
      <p:sp>
        <p:nvSpPr>
          <p:cNvPr id="197" name="TextBox 196"/>
          <p:cNvSpPr txBox="1"/>
          <p:nvPr/>
        </p:nvSpPr>
        <p:spPr>
          <a:xfrm>
            <a:off x="411480" y="4471416"/>
            <a:ext cx="8321040" cy="256032"/>
          </a:xfrm>
          <a:prstGeom prst="rect">
            <a:avLst/>
          </a:prstGeom>
          <a:noFill/>
        </p:spPr>
        <p:txBody>
          <a:bodyPr wrap="square" lIns="0" rIns="0" tIns="0" bIns="0">
            <a:spAutoFit/>
          </a:bodyPr>
          <a:lstStyle/>
          <a:p>
            <a:pPr>
              <a:spcAft>
                <a:spcPts val="500"/>
              </a:spcAft>
              <a:defRPr sz="1500" b="1">
                <a:solidFill>
                  <a:srgbClr val="93451F"/>
                </a:solidFill>
                <a:latin typeface="Lato"/>
              </a:defRPr>
            </a:pPr>
            <a:r>
              <a:t>Check that the crop is clear and contains the marked specimen.</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Rectangle 204"/>
          <p:cNvSpPr/>
          <p:nvPr/>
        </p:nvSpPr>
        <p:spPr>
          <a:xfrm>
            <a:off x="0" y="0"/>
            <a:ext cx="9144000" cy="51435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Rectangle 205"/>
          <p:cNvSpPr/>
          <p:nvPr/>
        </p:nvSpPr>
        <p:spPr>
          <a:xfrm>
            <a:off x="347472" y="265176"/>
            <a:ext cx="237744" cy="36576"/>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694944" y="182880"/>
            <a:ext cx="8092440" cy="182880"/>
          </a:xfrm>
          <a:prstGeom prst="rect">
            <a:avLst/>
          </a:prstGeom>
          <a:noFill/>
        </p:spPr>
        <p:txBody>
          <a:bodyPr wrap="square" lIns="0" rIns="0" tIns="0" bIns="0">
            <a:spAutoFit/>
          </a:bodyPr>
          <a:lstStyle/>
          <a:p>
            <a:pPr>
              <a:spcAft>
                <a:spcPts val="500"/>
              </a:spcAft>
              <a:defRPr sz="800" b="1">
                <a:solidFill>
                  <a:srgbClr val="93451F"/>
                </a:solidFill>
                <a:latin typeface="Lato"/>
              </a:defRPr>
            </a:pPr>
            <a:r>
              <a:t>08 / TRAINING AND TESTING</a:t>
            </a:r>
          </a:p>
        </p:txBody>
      </p:sp>
      <p:sp>
        <p:nvSpPr>
          <p:cNvPr id="208" name="TextBox 207"/>
          <p:cNvSpPr txBox="1"/>
          <p:nvPr/>
        </p:nvSpPr>
        <p:spPr>
          <a:xfrm>
            <a:off x="347472" y="539496"/>
            <a:ext cx="8458200" cy="548640"/>
          </a:xfrm>
          <a:prstGeom prst="rect">
            <a:avLst/>
          </a:prstGeom>
          <a:noFill/>
        </p:spPr>
        <p:txBody>
          <a:bodyPr wrap="square" lIns="0" rIns="0" tIns="0" bIns="0">
            <a:spAutoFit/>
          </a:bodyPr>
          <a:lstStyle/>
          <a:p>
            <a:pPr>
              <a:spcAft>
                <a:spcPts val="500"/>
              </a:spcAft>
              <a:defRPr sz="2400" b="1">
                <a:solidFill>
                  <a:srgbClr val="202D48"/>
                </a:solidFill>
                <a:latin typeface="Lato"/>
              </a:defRPr>
            </a:pPr>
            <a:r>
              <a:t>Learn from some slides; test on unseen slides</a:t>
            </a:r>
          </a:p>
        </p:txBody>
      </p:sp>
      <p:sp>
        <p:nvSpPr>
          <p:cNvPr id="209" name="Rectangle 208"/>
          <p:cNvSpPr/>
          <p:nvPr/>
        </p:nvSpPr>
        <p:spPr>
          <a:xfrm>
            <a:off x="347472" y="4809744"/>
            <a:ext cx="8458200" cy="8229"/>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347472" y="4901184"/>
            <a:ext cx="7909560" cy="164592"/>
          </a:xfrm>
          <a:prstGeom prst="rect">
            <a:avLst/>
          </a:prstGeom>
          <a:noFill/>
        </p:spPr>
        <p:txBody>
          <a:bodyPr wrap="square" lIns="0" rIns="0" tIns="0" bIns="0">
            <a:spAutoFit/>
          </a:bodyPr>
          <a:lstStyle/>
          <a:p>
            <a:pPr>
              <a:spcAft>
                <a:spcPts val="500"/>
              </a:spcAft>
              <a:defRPr sz="700" b="0">
                <a:solidFill>
                  <a:srgbClr val="596477"/>
                </a:solidFill>
                <a:latin typeface="Lato"/>
              </a:defRPr>
            </a:pPr>
            <a:r>
              <a:t>SMITHSONIAN × RICE D2K</a:t>
            </a:r>
          </a:p>
        </p:txBody>
      </p:sp>
      <p:sp>
        <p:nvSpPr>
          <p:cNvPr id="211" name="TextBox 210"/>
          <p:cNvSpPr txBox="1"/>
          <p:nvPr/>
        </p:nvSpPr>
        <p:spPr>
          <a:xfrm>
            <a:off x="8549640" y="4882896"/>
            <a:ext cx="274320" cy="182880"/>
          </a:xfrm>
          <a:prstGeom prst="rect">
            <a:avLst/>
          </a:prstGeom>
          <a:noFill/>
        </p:spPr>
        <p:txBody>
          <a:bodyPr wrap="square" lIns="0" rIns="0" tIns="0" bIns="0">
            <a:spAutoFit/>
          </a:bodyPr>
          <a:lstStyle/>
          <a:p>
            <a:pPr>
              <a:spcAft>
                <a:spcPts val="500"/>
              </a:spcAft>
              <a:defRPr sz="800" b="0">
                <a:solidFill>
                  <a:srgbClr val="596477"/>
                </a:solidFill>
                <a:latin typeface="Lato"/>
              </a:defRPr>
            </a:pPr>
            <a:r>
              <a:t>8</a:t>
            </a:r>
          </a:p>
        </p:txBody>
      </p:sp>
      <p:sp>
        <p:nvSpPr>
          <p:cNvPr id="212" name="TextBox 211"/>
          <p:cNvSpPr txBox="1"/>
          <p:nvPr/>
        </p:nvSpPr>
        <p:spPr>
          <a:xfrm>
            <a:off x="411480" y="1152144"/>
            <a:ext cx="8229600" cy="310896"/>
          </a:xfrm>
          <a:prstGeom prst="rect">
            <a:avLst/>
          </a:prstGeom>
          <a:noFill/>
        </p:spPr>
        <p:txBody>
          <a:bodyPr wrap="square" lIns="0" rIns="0" tIns="0" bIns="0">
            <a:spAutoFit/>
          </a:bodyPr>
          <a:lstStyle/>
          <a:p>
            <a:pPr>
              <a:spcAft>
                <a:spcPts val="500"/>
              </a:spcAft>
              <a:defRPr sz="1600" b="0">
                <a:solidFill>
                  <a:srgbClr val="596477"/>
                </a:solidFill>
                <a:latin typeface="Lato"/>
              </a:defRPr>
            </a:pPr>
            <a:r>
              <a:t>Mix up the microscope slides, then separate them into three groups.</a:t>
            </a:r>
          </a:p>
        </p:txBody>
      </p:sp>
      <p:sp>
        <p:nvSpPr>
          <p:cNvPr id="213" name="Rectangle 212"/>
          <p:cNvSpPr/>
          <p:nvPr/>
        </p:nvSpPr>
        <p:spPr>
          <a:xfrm>
            <a:off x="411480" y="1773936"/>
            <a:ext cx="2560320" cy="22128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TextBox 213"/>
          <p:cNvSpPr txBox="1"/>
          <p:nvPr/>
        </p:nvSpPr>
        <p:spPr>
          <a:xfrm>
            <a:off x="566928" y="1938528"/>
            <a:ext cx="2249424" cy="329184"/>
          </a:xfrm>
          <a:prstGeom prst="rect">
            <a:avLst/>
          </a:prstGeom>
          <a:noFill/>
        </p:spPr>
        <p:txBody>
          <a:bodyPr wrap="square" lIns="0" rIns="0" tIns="0" bIns="0">
            <a:spAutoFit/>
          </a:bodyPr>
          <a:lstStyle/>
          <a:p>
            <a:pPr>
              <a:spcAft>
                <a:spcPts val="500"/>
              </a:spcAft>
              <a:defRPr sz="2000" b="1">
                <a:solidFill>
                  <a:srgbClr val="202D48"/>
                </a:solidFill>
                <a:latin typeface="Lato"/>
              </a:defRPr>
            </a:pPr>
            <a:r>
              <a:t>Training</a:t>
            </a:r>
          </a:p>
        </p:txBody>
      </p:sp>
      <p:pic>
        <p:nvPicPr>
          <p:cNvPr id="215" name="Picture 214" descr="shard_0_target_008_crop.png"/>
          <p:cNvPicPr>
            <a:picLocks noChangeAspect="1"/>
          </p:cNvPicPr>
          <p:nvPr/>
        </p:nvPicPr>
        <p:blipFill>
          <a:blip r:embed="rId3"/>
          <a:stretch>
            <a:fillRect/>
          </a:stretch>
        </p:blipFill>
        <p:spPr>
          <a:xfrm>
            <a:off x="621792" y="2578608"/>
            <a:ext cx="630936" cy="630936"/>
          </a:xfrm>
          <a:prstGeom prst="rect">
            <a:avLst/>
          </a:prstGeom>
        </p:spPr>
      </p:pic>
      <p:sp>
        <p:nvSpPr>
          <p:cNvPr id="216" name="Rectangle 215"/>
          <p:cNvSpPr/>
          <p:nvPr/>
        </p:nvSpPr>
        <p:spPr>
          <a:xfrm>
            <a:off x="685800" y="3282696"/>
            <a:ext cx="502920" cy="50292"/>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7" name="Picture 216" descr="shard_0_target_016_crop.png"/>
          <p:cNvPicPr>
            <a:picLocks noChangeAspect="1"/>
          </p:cNvPicPr>
          <p:nvPr/>
        </p:nvPicPr>
        <p:blipFill>
          <a:blip r:embed="rId4"/>
          <a:stretch>
            <a:fillRect/>
          </a:stretch>
        </p:blipFill>
        <p:spPr>
          <a:xfrm>
            <a:off x="1353312" y="2578608"/>
            <a:ext cx="630936" cy="630936"/>
          </a:xfrm>
          <a:prstGeom prst="rect">
            <a:avLst/>
          </a:prstGeom>
        </p:spPr>
      </p:pic>
      <p:sp>
        <p:nvSpPr>
          <p:cNvPr id="218" name="Rectangle 217"/>
          <p:cNvSpPr/>
          <p:nvPr/>
        </p:nvSpPr>
        <p:spPr>
          <a:xfrm>
            <a:off x="1417320" y="3282696"/>
            <a:ext cx="502920" cy="50292"/>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9" name="Picture 218" descr="shard_0_target_027_crop.png"/>
          <p:cNvPicPr>
            <a:picLocks noChangeAspect="1"/>
          </p:cNvPicPr>
          <p:nvPr/>
        </p:nvPicPr>
        <p:blipFill>
          <a:blip r:embed="rId5"/>
          <a:stretch>
            <a:fillRect/>
          </a:stretch>
        </p:blipFill>
        <p:spPr>
          <a:xfrm>
            <a:off x="2084832" y="2578608"/>
            <a:ext cx="630936" cy="630936"/>
          </a:xfrm>
          <a:prstGeom prst="rect">
            <a:avLst/>
          </a:prstGeom>
        </p:spPr>
      </p:pic>
      <p:sp>
        <p:nvSpPr>
          <p:cNvPr id="220" name="Rectangle 219"/>
          <p:cNvSpPr/>
          <p:nvPr/>
        </p:nvSpPr>
        <p:spPr>
          <a:xfrm>
            <a:off x="2148840" y="3282696"/>
            <a:ext cx="502920" cy="50292"/>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TextBox 220"/>
          <p:cNvSpPr txBox="1"/>
          <p:nvPr/>
        </p:nvSpPr>
        <p:spPr>
          <a:xfrm>
            <a:off x="566928" y="3511296"/>
            <a:ext cx="2267712" cy="310896"/>
          </a:xfrm>
          <a:prstGeom prst="rect">
            <a:avLst/>
          </a:prstGeom>
          <a:noFill/>
        </p:spPr>
        <p:txBody>
          <a:bodyPr wrap="square" lIns="0" rIns="0" tIns="0" bIns="0">
            <a:spAutoFit/>
          </a:bodyPr>
          <a:lstStyle/>
          <a:p>
            <a:pPr>
              <a:spcAft>
                <a:spcPts val="500"/>
              </a:spcAft>
              <a:defRPr sz="1500" b="0">
                <a:solidFill>
                  <a:srgbClr val="596477"/>
                </a:solidFill>
                <a:latin typeface="Lato"/>
              </a:defRPr>
            </a:pPr>
            <a:r>
              <a:t>Learn from examples</a:t>
            </a:r>
          </a:p>
        </p:txBody>
      </p:sp>
      <p:sp>
        <p:nvSpPr>
          <p:cNvPr id="222" name="Rectangle 221"/>
          <p:cNvSpPr/>
          <p:nvPr/>
        </p:nvSpPr>
        <p:spPr>
          <a:xfrm>
            <a:off x="3291840" y="1773936"/>
            <a:ext cx="2560320" cy="22128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TextBox 222"/>
          <p:cNvSpPr txBox="1"/>
          <p:nvPr/>
        </p:nvSpPr>
        <p:spPr>
          <a:xfrm>
            <a:off x="3447288" y="1938528"/>
            <a:ext cx="2249424" cy="329184"/>
          </a:xfrm>
          <a:prstGeom prst="rect">
            <a:avLst/>
          </a:prstGeom>
          <a:noFill/>
        </p:spPr>
        <p:txBody>
          <a:bodyPr wrap="square" lIns="0" rIns="0" tIns="0" bIns="0">
            <a:spAutoFit/>
          </a:bodyPr>
          <a:lstStyle/>
          <a:p>
            <a:pPr>
              <a:spcAft>
                <a:spcPts val="500"/>
              </a:spcAft>
              <a:defRPr sz="2000" b="1">
                <a:solidFill>
                  <a:srgbClr val="202D48"/>
                </a:solidFill>
                <a:latin typeface="Lato"/>
              </a:defRPr>
            </a:pPr>
            <a:r>
              <a:t>Validation</a:t>
            </a:r>
          </a:p>
        </p:txBody>
      </p:sp>
      <p:sp>
        <p:nvSpPr>
          <p:cNvPr id="224" name="Rectangle 223"/>
          <p:cNvSpPr/>
          <p:nvPr/>
        </p:nvSpPr>
        <p:spPr>
          <a:xfrm>
            <a:off x="3611880" y="2615184"/>
            <a:ext cx="1920240" cy="41148"/>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Rectangle 224"/>
          <p:cNvSpPr/>
          <p:nvPr/>
        </p:nvSpPr>
        <p:spPr>
          <a:xfrm>
            <a:off x="3611880" y="2615184"/>
            <a:ext cx="182880" cy="41148"/>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Oval 225"/>
          <p:cNvSpPr/>
          <p:nvPr/>
        </p:nvSpPr>
        <p:spPr>
          <a:xfrm>
            <a:off x="3698748" y="2539288"/>
            <a:ext cx="192024" cy="192024"/>
          </a:xfrm>
          <a:prstGeom prst="ellipse">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ectangle 226"/>
          <p:cNvSpPr/>
          <p:nvPr/>
        </p:nvSpPr>
        <p:spPr>
          <a:xfrm>
            <a:off x="3611880" y="2907791"/>
            <a:ext cx="1920240" cy="41148"/>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angle 227"/>
          <p:cNvSpPr/>
          <p:nvPr/>
        </p:nvSpPr>
        <p:spPr>
          <a:xfrm>
            <a:off x="3611880" y="2907791"/>
            <a:ext cx="1088136" cy="41148"/>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Oval 228"/>
          <p:cNvSpPr/>
          <p:nvPr/>
        </p:nvSpPr>
        <p:spPr>
          <a:xfrm>
            <a:off x="4604004" y="2831896"/>
            <a:ext cx="192024" cy="192024"/>
          </a:xfrm>
          <a:prstGeom prst="ellipse">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3611880" y="3200400"/>
            <a:ext cx="1920240" cy="41148"/>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3611880" y="3200400"/>
            <a:ext cx="585216" cy="41148"/>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Oval 231"/>
          <p:cNvSpPr/>
          <p:nvPr/>
        </p:nvSpPr>
        <p:spPr>
          <a:xfrm>
            <a:off x="4101083" y="3124504"/>
            <a:ext cx="192024" cy="192024"/>
          </a:xfrm>
          <a:prstGeom prst="ellipse">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TextBox 232"/>
          <p:cNvSpPr txBox="1"/>
          <p:nvPr/>
        </p:nvSpPr>
        <p:spPr>
          <a:xfrm>
            <a:off x="3447288" y="3511296"/>
            <a:ext cx="2267712" cy="310896"/>
          </a:xfrm>
          <a:prstGeom prst="rect">
            <a:avLst/>
          </a:prstGeom>
          <a:noFill/>
        </p:spPr>
        <p:txBody>
          <a:bodyPr wrap="square" lIns="0" rIns="0" tIns="0" bIns="0">
            <a:spAutoFit/>
          </a:bodyPr>
          <a:lstStyle/>
          <a:p>
            <a:pPr>
              <a:spcAft>
                <a:spcPts val="500"/>
              </a:spcAft>
              <a:defRPr sz="1500" b="0">
                <a:solidFill>
                  <a:srgbClr val="596477"/>
                </a:solidFill>
                <a:latin typeface="Lato"/>
              </a:defRPr>
            </a:pPr>
            <a:r>
              <a:t>Make adjustments</a:t>
            </a:r>
          </a:p>
        </p:txBody>
      </p:sp>
      <p:sp>
        <p:nvSpPr>
          <p:cNvPr id="234" name="Rectangle 233"/>
          <p:cNvSpPr/>
          <p:nvPr/>
        </p:nvSpPr>
        <p:spPr>
          <a:xfrm>
            <a:off x="6172200" y="1773936"/>
            <a:ext cx="2560320" cy="22128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6327648" y="1938528"/>
            <a:ext cx="2249424" cy="329184"/>
          </a:xfrm>
          <a:prstGeom prst="rect">
            <a:avLst/>
          </a:prstGeom>
          <a:noFill/>
        </p:spPr>
        <p:txBody>
          <a:bodyPr wrap="square" lIns="0" rIns="0" tIns="0" bIns="0">
            <a:spAutoFit/>
          </a:bodyPr>
          <a:lstStyle/>
          <a:p>
            <a:pPr>
              <a:spcAft>
                <a:spcPts val="500"/>
              </a:spcAft>
              <a:defRPr sz="2000" b="1">
                <a:solidFill>
                  <a:srgbClr val="202D48"/>
                </a:solidFill>
                <a:latin typeface="Lato"/>
              </a:defRPr>
            </a:pPr>
            <a:r>
              <a:t>Testing</a:t>
            </a:r>
          </a:p>
        </p:txBody>
      </p:sp>
      <p:sp>
        <p:nvSpPr>
          <p:cNvPr id="236" name="Rectangle 235"/>
          <p:cNvSpPr/>
          <p:nvPr/>
        </p:nvSpPr>
        <p:spPr>
          <a:xfrm>
            <a:off x="6803136" y="2432304"/>
            <a:ext cx="1271016" cy="9144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Rectangle 236"/>
          <p:cNvSpPr/>
          <p:nvPr/>
        </p:nvSpPr>
        <p:spPr>
          <a:xfrm>
            <a:off x="6803136" y="2432304"/>
            <a:ext cx="1271016" cy="914400"/>
          </a:xfrm>
          <a:prstGeom prst="rect">
            <a:avLst/>
          </a:prstGeom>
          <a:noFill/>
          <a:ln w="25400">
            <a:solidFill>
              <a:srgbClr val="9345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TextBox 237"/>
          <p:cNvSpPr txBox="1"/>
          <p:nvPr/>
        </p:nvSpPr>
        <p:spPr>
          <a:xfrm>
            <a:off x="6912864" y="2523744"/>
            <a:ext cx="256032" cy="246888"/>
          </a:xfrm>
          <a:prstGeom prst="rect">
            <a:avLst/>
          </a:prstGeom>
          <a:noFill/>
        </p:spPr>
        <p:txBody>
          <a:bodyPr wrap="square" lIns="0" rIns="0" tIns="0" bIns="0">
            <a:spAutoFit/>
          </a:bodyPr>
          <a:lstStyle/>
          <a:p>
            <a:pPr>
              <a:spcAft>
                <a:spcPts val="500"/>
              </a:spcAft>
              <a:defRPr sz="1700" b="1">
                <a:solidFill>
                  <a:srgbClr val="93451F"/>
                </a:solidFill>
                <a:latin typeface="Lato"/>
              </a:defRPr>
            </a:pPr>
            <a:r>
              <a:t>✓</a:t>
            </a:r>
          </a:p>
        </p:txBody>
      </p:sp>
      <p:sp>
        <p:nvSpPr>
          <p:cNvPr id="239" name="Rectangle 238"/>
          <p:cNvSpPr/>
          <p:nvPr/>
        </p:nvSpPr>
        <p:spPr>
          <a:xfrm>
            <a:off x="7223760" y="2628900"/>
            <a:ext cx="640080" cy="41148"/>
          </a:xfrm>
          <a:prstGeom prst="rect">
            <a:avLst/>
          </a:prstGeom>
          <a:solidFill>
            <a:srgbClr val="5964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TextBox 239"/>
          <p:cNvSpPr txBox="1"/>
          <p:nvPr/>
        </p:nvSpPr>
        <p:spPr>
          <a:xfrm>
            <a:off x="6912864" y="2752344"/>
            <a:ext cx="256032" cy="246888"/>
          </a:xfrm>
          <a:prstGeom prst="rect">
            <a:avLst/>
          </a:prstGeom>
          <a:noFill/>
        </p:spPr>
        <p:txBody>
          <a:bodyPr wrap="square" lIns="0" rIns="0" tIns="0" bIns="0">
            <a:spAutoFit/>
          </a:bodyPr>
          <a:lstStyle/>
          <a:p>
            <a:pPr>
              <a:spcAft>
                <a:spcPts val="500"/>
              </a:spcAft>
              <a:defRPr sz="1700" b="1">
                <a:solidFill>
                  <a:srgbClr val="93451F"/>
                </a:solidFill>
                <a:latin typeface="Lato"/>
              </a:defRPr>
            </a:pPr>
            <a:r>
              <a:t>✓</a:t>
            </a:r>
          </a:p>
        </p:txBody>
      </p:sp>
      <p:sp>
        <p:nvSpPr>
          <p:cNvPr id="241" name="Rectangle 240"/>
          <p:cNvSpPr/>
          <p:nvPr/>
        </p:nvSpPr>
        <p:spPr>
          <a:xfrm>
            <a:off x="7223760" y="2857500"/>
            <a:ext cx="640080" cy="41148"/>
          </a:xfrm>
          <a:prstGeom prst="rect">
            <a:avLst/>
          </a:prstGeom>
          <a:solidFill>
            <a:srgbClr val="5964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TextBox 241"/>
          <p:cNvSpPr txBox="1"/>
          <p:nvPr/>
        </p:nvSpPr>
        <p:spPr>
          <a:xfrm>
            <a:off x="6912864" y="2980944"/>
            <a:ext cx="256032" cy="246888"/>
          </a:xfrm>
          <a:prstGeom prst="rect">
            <a:avLst/>
          </a:prstGeom>
          <a:noFill/>
        </p:spPr>
        <p:txBody>
          <a:bodyPr wrap="square" lIns="0" rIns="0" tIns="0" bIns="0">
            <a:spAutoFit/>
          </a:bodyPr>
          <a:lstStyle/>
          <a:p>
            <a:pPr>
              <a:spcAft>
                <a:spcPts val="500"/>
              </a:spcAft>
              <a:defRPr sz="1700" b="1">
                <a:solidFill>
                  <a:srgbClr val="93451F"/>
                </a:solidFill>
                <a:latin typeface="Lato"/>
              </a:defRPr>
            </a:pPr>
            <a:r>
              <a:t>✓</a:t>
            </a:r>
          </a:p>
        </p:txBody>
      </p:sp>
      <p:sp>
        <p:nvSpPr>
          <p:cNvPr id="243" name="Rectangle 242"/>
          <p:cNvSpPr/>
          <p:nvPr/>
        </p:nvSpPr>
        <p:spPr>
          <a:xfrm>
            <a:off x="7223760" y="3086100"/>
            <a:ext cx="640080" cy="41148"/>
          </a:xfrm>
          <a:prstGeom prst="rect">
            <a:avLst/>
          </a:prstGeom>
          <a:solidFill>
            <a:srgbClr val="5964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TextBox 243"/>
          <p:cNvSpPr txBox="1"/>
          <p:nvPr/>
        </p:nvSpPr>
        <p:spPr>
          <a:xfrm>
            <a:off x="6327648" y="3511296"/>
            <a:ext cx="2267712" cy="310896"/>
          </a:xfrm>
          <a:prstGeom prst="rect">
            <a:avLst/>
          </a:prstGeom>
          <a:noFill/>
        </p:spPr>
        <p:txBody>
          <a:bodyPr wrap="square" lIns="0" rIns="0" tIns="0" bIns="0">
            <a:spAutoFit/>
          </a:bodyPr>
          <a:lstStyle/>
          <a:p>
            <a:pPr>
              <a:spcAft>
                <a:spcPts val="500"/>
              </a:spcAft>
              <a:defRPr sz="1500" b="0">
                <a:solidFill>
                  <a:srgbClr val="596477"/>
                </a:solidFill>
                <a:latin typeface="Lato"/>
              </a:defRPr>
            </a:pPr>
            <a:r>
              <a:t>Check new slides</a:t>
            </a:r>
          </a:p>
        </p:txBody>
      </p:sp>
      <p:sp>
        <p:nvSpPr>
          <p:cNvPr id="245" name="TextBox 244"/>
          <p:cNvSpPr txBox="1"/>
          <p:nvPr/>
        </p:nvSpPr>
        <p:spPr>
          <a:xfrm>
            <a:off x="411480" y="4370832"/>
            <a:ext cx="8321040" cy="310896"/>
          </a:xfrm>
          <a:prstGeom prst="rect">
            <a:avLst/>
          </a:prstGeom>
          <a:noFill/>
        </p:spPr>
        <p:txBody>
          <a:bodyPr wrap="square" lIns="0" rIns="0" tIns="0" bIns="0">
            <a:spAutoFit/>
          </a:bodyPr>
          <a:lstStyle/>
          <a:p>
            <a:pPr>
              <a:spcAft>
                <a:spcPts val="500"/>
              </a:spcAft>
              <a:defRPr sz="1600" b="1">
                <a:solidFill>
                  <a:srgbClr val="93451F"/>
                </a:solidFill>
                <a:latin typeface="Lato"/>
              </a:defRPr>
            </a:pPr>
            <a:r>
              <a:t>All examples from one microscope slide stay in the same group.</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Rectangle 232"/>
          <p:cNvSpPr/>
          <p:nvPr/>
        </p:nvSpPr>
        <p:spPr>
          <a:xfrm>
            <a:off x="0" y="0"/>
            <a:ext cx="9144000" cy="51435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347472" y="265176"/>
            <a:ext cx="237744" cy="36576"/>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694944" y="182880"/>
            <a:ext cx="8092440" cy="182880"/>
          </a:xfrm>
          <a:prstGeom prst="rect">
            <a:avLst/>
          </a:prstGeom>
          <a:noFill/>
        </p:spPr>
        <p:txBody>
          <a:bodyPr wrap="square" lIns="0" rIns="0" tIns="0" bIns="0">
            <a:spAutoFit/>
          </a:bodyPr>
          <a:lstStyle/>
          <a:p>
            <a:pPr>
              <a:spcAft>
                <a:spcPts val="500"/>
              </a:spcAft>
              <a:defRPr sz="800" b="1">
                <a:solidFill>
                  <a:srgbClr val="93451F"/>
                </a:solidFill>
                <a:latin typeface="Lato"/>
              </a:defRPr>
            </a:pPr>
            <a:r>
              <a:t>09 / OUR COMPARISON</a:t>
            </a:r>
          </a:p>
        </p:txBody>
      </p:sp>
      <p:sp>
        <p:nvSpPr>
          <p:cNvPr id="236" name="TextBox 235"/>
          <p:cNvSpPr txBox="1"/>
          <p:nvPr/>
        </p:nvSpPr>
        <p:spPr>
          <a:xfrm>
            <a:off x="347472" y="539496"/>
            <a:ext cx="8458200" cy="548640"/>
          </a:xfrm>
          <a:prstGeom prst="rect">
            <a:avLst/>
          </a:prstGeom>
          <a:noFill/>
        </p:spPr>
        <p:txBody>
          <a:bodyPr wrap="square" lIns="0" rIns="0" tIns="0" bIns="0">
            <a:spAutoFit/>
          </a:bodyPr>
          <a:lstStyle/>
          <a:p>
            <a:pPr>
              <a:spcAft>
                <a:spcPts val="500"/>
              </a:spcAft>
              <a:defRPr sz="2400" b="1">
                <a:solidFill>
                  <a:srgbClr val="202D48"/>
                </a:solidFill>
                <a:latin typeface="Lato"/>
              </a:defRPr>
            </a:pPr>
            <a:r>
              <a:t>Does a dedicated classifier improve identification?</a:t>
            </a:r>
          </a:p>
        </p:txBody>
      </p:sp>
      <p:sp>
        <p:nvSpPr>
          <p:cNvPr id="237" name="Rectangle 236"/>
          <p:cNvSpPr/>
          <p:nvPr/>
        </p:nvSpPr>
        <p:spPr>
          <a:xfrm>
            <a:off x="347472" y="4809744"/>
            <a:ext cx="8458200" cy="8229"/>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TextBox 237"/>
          <p:cNvSpPr txBox="1"/>
          <p:nvPr/>
        </p:nvSpPr>
        <p:spPr>
          <a:xfrm>
            <a:off x="347472" y="4901184"/>
            <a:ext cx="7909560" cy="164592"/>
          </a:xfrm>
          <a:prstGeom prst="rect">
            <a:avLst/>
          </a:prstGeom>
          <a:noFill/>
        </p:spPr>
        <p:txBody>
          <a:bodyPr wrap="square" lIns="0" rIns="0" tIns="0" bIns="0">
            <a:spAutoFit/>
          </a:bodyPr>
          <a:lstStyle/>
          <a:p>
            <a:pPr>
              <a:spcAft>
                <a:spcPts val="500"/>
              </a:spcAft>
              <a:defRPr sz="700" b="0">
                <a:solidFill>
                  <a:srgbClr val="596477"/>
                </a:solidFill>
                <a:latin typeface="Lato"/>
              </a:defRPr>
            </a:pPr>
            <a:r>
              <a:t>SMITHSONIAN × RICE D2K</a:t>
            </a:r>
          </a:p>
        </p:txBody>
      </p:sp>
      <p:sp>
        <p:nvSpPr>
          <p:cNvPr id="239" name="TextBox 238"/>
          <p:cNvSpPr txBox="1"/>
          <p:nvPr/>
        </p:nvSpPr>
        <p:spPr>
          <a:xfrm>
            <a:off x="8549640" y="4882896"/>
            <a:ext cx="274320" cy="182880"/>
          </a:xfrm>
          <a:prstGeom prst="rect">
            <a:avLst/>
          </a:prstGeom>
          <a:noFill/>
        </p:spPr>
        <p:txBody>
          <a:bodyPr wrap="square" lIns="0" rIns="0" tIns="0" bIns="0">
            <a:spAutoFit/>
          </a:bodyPr>
          <a:lstStyle/>
          <a:p>
            <a:pPr>
              <a:spcAft>
                <a:spcPts val="500"/>
              </a:spcAft>
              <a:defRPr sz="800" b="0">
                <a:solidFill>
                  <a:srgbClr val="596477"/>
                </a:solidFill>
                <a:latin typeface="Lato"/>
              </a:defRPr>
            </a:pPr>
            <a:r>
              <a:t>9</a:t>
            </a:r>
          </a:p>
        </p:txBody>
      </p:sp>
      <p:sp>
        <p:nvSpPr>
          <p:cNvPr id="240" name="TextBox 239"/>
          <p:cNvSpPr txBox="1"/>
          <p:nvPr/>
        </p:nvSpPr>
        <p:spPr>
          <a:xfrm>
            <a:off x="411480" y="1179576"/>
            <a:ext cx="8229600" cy="274320"/>
          </a:xfrm>
          <a:prstGeom prst="rect">
            <a:avLst/>
          </a:prstGeom>
          <a:noFill/>
        </p:spPr>
        <p:txBody>
          <a:bodyPr wrap="square" lIns="0" rIns="0" tIns="0" bIns="0">
            <a:spAutoFit/>
          </a:bodyPr>
          <a:lstStyle/>
          <a:p>
            <a:pPr>
              <a:spcAft>
                <a:spcPts val="500"/>
              </a:spcAft>
              <a:defRPr sz="1200" b="1">
                <a:solidFill>
                  <a:srgbClr val="93451F"/>
                </a:solidFill>
                <a:latin typeface="Lato"/>
              </a:defRPr>
            </a:pPr>
            <a:r>
              <a:t>A  ONE MODEL DOES BOTH JOBS</a:t>
            </a:r>
          </a:p>
        </p:txBody>
      </p:sp>
      <p:sp>
        <p:nvSpPr>
          <p:cNvPr id="241" name="Rectangle 240"/>
          <p:cNvSpPr/>
          <p:nvPr/>
        </p:nvSpPr>
        <p:spPr>
          <a:xfrm>
            <a:off x="411480" y="1664208"/>
            <a:ext cx="2889504" cy="8321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TextBox 241"/>
          <p:cNvSpPr txBox="1"/>
          <p:nvPr/>
        </p:nvSpPr>
        <p:spPr>
          <a:xfrm>
            <a:off x="585216" y="1783080"/>
            <a:ext cx="2560320" cy="320040"/>
          </a:xfrm>
          <a:prstGeom prst="rect">
            <a:avLst/>
          </a:prstGeom>
          <a:noFill/>
        </p:spPr>
        <p:txBody>
          <a:bodyPr wrap="square" lIns="0" rIns="0" tIns="0" bIns="0">
            <a:spAutoFit/>
          </a:bodyPr>
          <a:lstStyle/>
          <a:p>
            <a:pPr>
              <a:spcAft>
                <a:spcPts val="500"/>
              </a:spcAft>
              <a:defRPr sz="2000" b="1">
                <a:solidFill>
                  <a:srgbClr val="202D48"/>
                </a:solidFill>
                <a:latin typeface="Lato"/>
              </a:defRPr>
            </a:pPr>
            <a:r>
              <a:t>Find + identify</a:t>
            </a:r>
          </a:p>
        </p:txBody>
      </p:sp>
      <p:sp>
        <p:nvSpPr>
          <p:cNvPr id="243" name="TextBox 242"/>
          <p:cNvSpPr txBox="1"/>
          <p:nvPr/>
        </p:nvSpPr>
        <p:spPr>
          <a:xfrm>
            <a:off x="585216" y="2185416"/>
            <a:ext cx="2560320" cy="201168"/>
          </a:xfrm>
          <a:prstGeom prst="rect">
            <a:avLst/>
          </a:prstGeom>
          <a:noFill/>
        </p:spPr>
        <p:txBody>
          <a:bodyPr wrap="square" lIns="0" rIns="0" tIns="0" bIns="0">
            <a:spAutoFit/>
          </a:bodyPr>
          <a:lstStyle/>
          <a:p>
            <a:pPr>
              <a:spcAft>
                <a:spcPts val="500"/>
              </a:spcAft>
              <a:defRPr sz="1000" b="0">
                <a:solidFill>
                  <a:srgbClr val="596477"/>
                </a:solidFill>
                <a:latin typeface="Lato"/>
              </a:defRPr>
            </a:pPr>
            <a:r>
              <a:t>RF-DETR</a:t>
            </a:r>
          </a:p>
        </p:txBody>
      </p:sp>
      <p:sp>
        <p:nvSpPr>
          <p:cNvPr id="244" name="TextBox 243"/>
          <p:cNvSpPr txBox="1"/>
          <p:nvPr/>
        </p:nvSpPr>
        <p:spPr>
          <a:xfrm>
            <a:off x="3493008" y="1901952"/>
            <a:ext cx="411480" cy="365760"/>
          </a:xfrm>
          <a:prstGeom prst="rect">
            <a:avLst/>
          </a:prstGeom>
          <a:noFill/>
        </p:spPr>
        <p:txBody>
          <a:bodyPr wrap="square" lIns="0" rIns="0" tIns="0" bIns="0">
            <a:spAutoFit/>
          </a:bodyPr>
          <a:lstStyle/>
          <a:p>
            <a:pPr>
              <a:spcAft>
                <a:spcPts val="500"/>
              </a:spcAft>
              <a:defRPr sz="2400" b="1">
                <a:solidFill>
                  <a:srgbClr val="93451F"/>
                </a:solidFill>
                <a:latin typeface="Lato"/>
              </a:defRPr>
            </a:pPr>
            <a:r>
              <a:t>→</a:t>
            </a:r>
          </a:p>
        </p:txBody>
      </p:sp>
      <p:sp>
        <p:nvSpPr>
          <p:cNvPr id="245" name="TextBox 244"/>
          <p:cNvSpPr txBox="1"/>
          <p:nvPr/>
        </p:nvSpPr>
        <p:spPr>
          <a:xfrm>
            <a:off x="4087368" y="1901952"/>
            <a:ext cx="4389120" cy="411480"/>
          </a:xfrm>
          <a:prstGeom prst="rect">
            <a:avLst/>
          </a:prstGeom>
          <a:noFill/>
        </p:spPr>
        <p:txBody>
          <a:bodyPr wrap="square" lIns="0" rIns="0" tIns="0" bIns="0">
            <a:spAutoFit/>
          </a:bodyPr>
          <a:lstStyle/>
          <a:p>
            <a:pPr>
              <a:spcAft>
                <a:spcPts val="500"/>
              </a:spcAft>
              <a:defRPr sz="1800" b="1">
                <a:solidFill>
                  <a:srgbClr val="202D48"/>
                </a:solidFill>
                <a:latin typeface="Lato"/>
              </a:defRPr>
            </a:pPr>
            <a:r>
              <a:t>Specimen locations + categories</a:t>
            </a:r>
          </a:p>
        </p:txBody>
      </p:sp>
      <p:sp>
        <p:nvSpPr>
          <p:cNvPr id="246" name="TextBox 245"/>
          <p:cNvSpPr txBox="1"/>
          <p:nvPr/>
        </p:nvSpPr>
        <p:spPr>
          <a:xfrm>
            <a:off x="411480" y="2779776"/>
            <a:ext cx="8229600" cy="274320"/>
          </a:xfrm>
          <a:prstGeom prst="rect">
            <a:avLst/>
          </a:prstGeom>
          <a:noFill/>
        </p:spPr>
        <p:txBody>
          <a:bodyPr wrap="square" lIns="0" rIns="0" tIns="0" bIns="0">
            <a:spAutoFit/>
          </a:bodyPr>
          <a:lstStyle/>
          <a:p>
            <a:pPr>
              <a:spcAft>
                <a:spcPts val="500"/>
              </a:spcAft>
              <a:defRPr sz="1200" b="1">
                <a:solidFill>
                  <a:srgbClr val="93451F"/>
                </a:solidFill>
                <a:latin typeface="Lato"/>
              </a:defRPr>
            </a:pPr>
            <a:r>
              <a:t>B  TWO MODELS SHARE THE WORK</a:t>
            </a:r>
          </a:p>
        </p:txBody>
      </p:sp>
      <p:sp>
        <p:nvSpPr>
          <p:cNvPr id="247" name="Rectangle 246"/>
          <p:cNvSpPr/>
          <p:nvPr/>
        </p:nvSpPr>
        <p:spPr>
          <a:xfrm>
            <a:off x="411480" y="3236976"/>
            <a:ext cx="24231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TextBox 247"/>
          <p:cNvSpPr txBox="1"/>
          <p:nvPr/>
        </p:nvSpPr>
        <p:spPr>
          <a:xfrm>
            <a:off x="585216" y="3374136"/>
            <a:ext cx="2103120" cy="292608"/>
          </a:xfrm>
          <a:prstGeom prst="rect">
            <a:avLst/>
          </a:prstGeom>
          <a:noFill/>
        </p:spPr>
        <p:txBody>
          <a:bodyPr wrap="square" lIns="0" rIns="0" tIns="0" bIns="0">
            <a:spAutoFit/>
          </a:bodyPr>
          <a:lstStyle/>
          <a:p>
            <a:pPr>
              <a:spcAft>
                <a:spcPts val="500"/>
              </a:spcAft>
              <a:defRPr sz="1900" b="1">
                <a:solidFill>
                  <a:srgbClr val="202D48"/>
                </a:solidFill>
                <a:latin typeface="Lato"/>
              </a:defRPr>
            </a:pPr>
            <a:r>
              <a:t>Find specimens</a:t>
            </a:r>
          </a:p>
        </p:txBody>
      </p:sp>
      <p:sp>
        <p:nvSpPr>
          <p:cNvPr id="249" name="TextBox 248"/>
          <p:cNvSpPr txBox="1"/>
          <p:nvPr/>
        </p:nvSpPr>
        <p:spPr>
          <a:xfrm>
            <a:off x="585216" y="3776472"/>
            <a:ext cx="2103120" cy="201168"/>
          </a:xfrm>
          <a:prstGeom prst="rect">
            <a:avLst/>
          </a:prstGeom>
          <a:noFill/>
        </p:spPr>
        <p:txBody>
          <a:bodyPr wrap="square" lIns="0" rIns="0" tIns="0" bIns="0">
            <a:spAutoFit/>
          </a:bodyPr>
          <a:lstStyle/>
          <a:p>
            <a:pPr>
              <a:spcAft>
                <a:spcPts val="500"/>
              </a:spcAft>
              <a:defRPr sz="1000" b="0">
                <a:solidFill>
                  <a:srgbClr val="596477"/>
                </a:solidFill>
                <a:latin typeface="Lato"/>
              </a:defRPr>
            </a:pPr>
            <a:r>
              <a:t>Detector · RF-DETR</a:t>
            </a:r>
          </a:p>
        </p:txBody>
      </p:sp>
      <p:sp>
        <p:nvSpPr>
          <p:cNvPr id="250" name="TextBox 249"/>
          <p:cNvSpPr txBox="1"/>
          <p:nvPr/>
        </p:nvSpPr>
        <p:spPr>
          <a:xfrm>
            <a:off x="2999232" y="3465576"/>
            <a:ext cx="411480" cy="365760"/>
          </a:xfrm>
          <a:prstGeom prst="rect">
            <a:avLst/>
          </a:prstGeom>
          <a:noFill/>
        </p:spPr>
        <p:txBody>
          <a:bodyPr wrap="square" lIns="0" rIns="0" tIns="0" bIns="0">
            <a:spAutoFit/>
          </a:bodyPr>
          <a:lstStyle/>
          <a:p>
            <a:pPr>
              <a:spcAft>
                <a:spcPts val="500"/>
              </a:spcAft>
              <a:defRPr sz="2400" b="1">
                <a:solidFill>
                  <a:srgbClr val="93451F"/>
                </a:solidFill>
                <a:latin typeface="Lato"/>
              </a:defRPr>
            </a:pPr>
            <a:r>
              <a:t>→</a:t>
            </a:r>
          </a:p>
        </p:txBody>
      </p:sp>
      <p:pic>
        <p:nvPicPr>
          <p:cNvPr id="251" name="Picture 250" descr="shard_0_target_027_crop.png"/>
          <p:cNvPicPr>
            <a:picLocks noChangeAspect="1"/>
          </p:cNvPicPr>
          <p:nvPr/>
        </p:nvPicPr>
        <p:blipFill>
          <a:blip r:embed="rId5"/>
          <a:stretch>
            <a:fillRect/>
          </a:stretch>
        </p:blipFill>
        <p:spPr>
          <a:xfrm>
            <a:off x="3803904" y="3172968"/>
            <a:ext cx="941832" cy="941832"/>
          </a:xfrm>
          <a:prstGeom prst="rect">
            <a:avLst/>
          </a:prstGeom>
        </p:spPr>
      </p:pic>
      <p:sp>
        <p:nvSpPr>
          <p:cNvPr id="252" name="TextBox 251"/>
          <p:cNvSpPr txBox="1"/>
          <p:nvPr/>
        </p:nvSpPr>
        <p:spPr>
          <a:xfrm>
            <a:off x="5184648" y="3465576"/>
            <a:ext cx="411480" cy="365760"/>
          </a:xfrm>
          <a:prstGeom prst="rect">
            <a:avLst/>
          </a:prstGeom>
          <a:noFill/>
        </p:spPr>
        <p:txBody>
          <a:bodyPr wrap="square" lIns="0" rIns="0" tIns="0" bIns="0">
            <a:spAutoFit/>
          </a:bodyPr>
          <a:lstStyle/>
          <a:p>
            <a:pPr>
              <a:spcAft>
                <a:spcPts val="500"/>
              </a:spcAft>
              <a:defRPr sz="2400" b="1">
                <a:solidFill>
                  <a:srgbClr val="93451F"/>
                </a:solidFill>
                <a:latin typeface="Lato"/>
              </a:defRPr>
            </a:pPr>
            <a:r>
              <a:t>→</a:t>
            </a:r>
          </a:p>
        </p:txBody>
      </p:sp>
      <p:sp>
        <p:nvSpPr>
          <p:cNvPr id="253" name="Rectangle 252"/>
          <p:cNvSpPr/>
          <p:nvPr/>
        </p:nvSpPr>
        <p:spPr>
          <a:xfrm>
            <a:off x="5806440" y="3236976"/>
            <a:ext cx="292608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TextBox 253"/>
          <p:cNvSpPr txBox="1"/>
          <p:nvPr/>
        </p:nvSpPr>
        <p:spPr>
          <a:xfrm>
            <a:off x="5980176" y="3374136"/>
            <a:ext cx="2578608" cy="292608"/>
          </a:xfrm>
          <a:prstGeom prst="rect">
            <a:avLst/>
          </a:prstGeom>
          <a:noFill/>
        </p:spPr>
        <p:txBody>
          <a:bodyPr wrap="square" lIns="0" rIns="0" tIns="0" bIns="0">
            <a:spAutoFit/>
          </a:bodyPr>
          <a:lstStyle/>
          <a:p>
            <a:pPr>
              <a:spcAft>
                <a:spcPts val="500"/>
              </a:spcAft>
              <a:defRPr sz="1900" b="1">
                <a:solidFill>
                  <a:srgbClr val="202D48"/>
                </a:solidFill>
                <a:latin typeface="Lato"/>
              </a:defRPr>
            </a:pPr>
            <a:r>
              <a:t>Identify each crop</a:t>
            </a:r>
          </a:p>
        </p:txBody>
      </p:sp>
      <p:sp>
        <p:nvSpPr>
          <p:cNvPr id="255" name="TextBox 254"/>
          <p:cNvSpPr txBox="1"/>
          <p:nvPr/>
        </p:nvSpPr>
        <p:spPr>
          <a:xfrm>
            <a:off x="5980176" y="3776472"/>
            <a:ext cx="2578608" cy="201168"/>
          </a:xfrm>
          <a:prstGeom prst="rect">
            <a:avLst/>
          </a:prstGeom>
          <a:noFill/>
        </p:spPr>
        <p:txBody>
          <a:bodyPr wrap="square" lIns="0" rIns="0" tIns="0" bIns="0">
            <a:spAutoFit/>
          </a:bodyPr>
          <a:lstStyle/>
          <a:p>
            <a:pPr>
              <a:spcAft>
                <a:spcPts val="500"/>
              </a:spcAft>
              <a:defRPr sz="1000" b="0">
                <a:solidFill>
                  <a:srgbClr val="596477"/>
                </a:solidFill>
                <a:latin typeface="Lato"/>
              </a:defRPr>
            </a:pPr>
            <a:r>
              <a:t>Classifier · Swin-Tiny</a:t>
            </a:r>
          </a:p>
        </p:txBody>
      </p:sp>
      <p:sp>
        <p:nvSpPr>
          <p:cNvPr id="256" name="TextBox 255"/>
          <p:cNvSpPr txBox="1"/>
          <p:nvPr/>
        </p:nvSpPr>
        <p:spPr>
          <a:xfrm>
            <a:off x="411480" y="4453128"/>
            <a:ext cx="8321040" cy="237744"/>
          </a:xfrm>
          <a:prstGeom prst="rect">
            <a:avLst/>
          </a:prstGeom>
          <a:noFill/>
        </p:spPr>
        <p:txBody>
          <a:bodyPr wrap="square" lIns="0" rIns="0" tIns="0" bIns="0">
            <a:spAutoFit/>
          </a:bodyPr>
          <a:lstStyle/>
          <a:p>
            <a:pPr>
              <a:spcAft>
                <a:spcPts val="500"/>
              </a:spcAft>
              <a:defRPr sz="1500" b="1">
                <a:solidFill>
                  <a:srgbClr val="93451F"/>
                </a:solidFill>
                <a:latin typeface="Lato"/>
              </a:defRPr>
            </a:pPr>
            <a:r>
              <a:t>Compare correct locations and labels on the same held-out slides.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9144000" cy="51435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47472" y="265176"/>
            <a:ext cx="237744" cy="36576"/>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4944" y="182880"/>
            <a:ext cx="8092440" cy="182880"/>
          </a:xfrm>
          <a:prstGeom prst="rect">
            <a:avLst/>
          </a:prstGeom>
          <a:noFill/>
        </p:spPr>
        <p:txBody>
          <a:bodyPr wrap="square" lIns="0" rIns="0" tIns="0" bIns="0">
            <a:spAutoFit/>
          </a:bodyPr>
          <a:lstStyle/>
          <a:p>
            <a:pPr>
              <a:spcAft>
                <a:spcPts val="500"/>
              </a:spcAft>
              <a:defRPr sz="800" b="1">
                <a:solidFill>
                  <a:srgbClr val="93451F"/>
                </a:solidFill>
                <a:latin typeface="Lato"/>
              </a:defRPr>
            </a:pPr>
            <a:r>
              <a:t>01 / WELCOME</a:t>
            </a:r>
          </a:p>
        </p:txBody>
      </p:sp>
      <p:sp>
        <p:nvSpPr>
          <p:cNvPr id="6" name="Rectangle 5"/>
          <p:cNvSpPr/>
          <p:nvPr/>
        </p:nvSpPr>
        <p:spPr>
          <a:xfrm>
            <a:off x="347472" y="4809744"/>
            <a:ext cx="8458200" cy="8229"/>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7472" y="4901184"/>
            <a:ext cx="7909560" cy="164592"/>
          </a:xfrm>
          <a:prstGeom prst="rect">
            <a:avLst/>
          </a:prstGeom>
          <a:noFill/>
        </p:spPr>
        <p:txBody>
          <a:bodyPr wrap="square" lIns="0" rIns="0" tIns="0" bIns="0">
            <a:spAutoFit/>
          </a:bodyPr>
          <a:lstStyle/>
          <a:p>
            <a:pPr>
              <a:spcAft>
                <a:spcPts val="500"/>
              </a:spcAft>
              <a:defRPr sz="700" b="0">
                <a:solidFill>
                  <a:srgbClr val="596477"/>
                </a:solidFill>
                <a:latin typeface="Lato"/>
              </a:defRPr>
            </a:pPr>
            <a:r>
              <a:t>SMITHSONIAN × RICE D2K</a:t>
            </a:r>
          </a:p>
        </p:txBody>
      </p:sp>
      <p:sp>
        <p:nvSpPr>
          <p:cNvPr id="8" name="TextBox 7"/>
          <p:cNvSpPr txBox="1"/>
          <p:nvPr/>
        </p:nvSpPr>
        <p:spPr>
          <a:xfrm>
            <a:off x="8549640" y="4882896"/>
            <a:ext cx="274320" cy="182880"/>
          </a:xfrm>
          <a:prstGeom prst="rect">
            <a:avLst/>
          </a:prstGeom>
          <a:noFill/>
        </p:spPr>
        <p:txBody>
          <a:bodyPr wrap="square" lIns="0" rIns="0" tIns="0" bIns="0">
            <a:spAutoFit/>
          </a:bodyPr>
          <a:lstStyle/>
          <a:p>
            <a:pPr>
              <a:spcAft>
                <a:spcPts val="500"/>
              </a:spcAft>
              <a:defRPr sz="800" b="0">
                <a:solidFill>
                  <a:srgbClr val="596477"/>
                </a:solidFill>
                <a:latin typeface="Lato"/>
              </a:defRPr>
            </a:pPr>
            <a:r>
              <a:t>1</a:t>
            </a:r>
          </a:p>
        </p:txBody>
      </p:sp>
      <p:sp>
        <p:nvSpPr>
          <p:cNvPr id="9" name="Rectangle 8"/>
          <p:cNvSpPr/>
          <p:nvPr/>
        </p:nvSpPr>
        <p:spPr>
          <a:xfrm>
            <a:off x="365760" y="1234440"/>
            <a:ext cx="50292" cy="210312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252728"/>
            <a:ext cx="5669280" cy="1508760"/>
          </a:xfrm>
          <a:prstGeom prst="rect">
            <a:avLst/>
          </a:prstGeom>
          <a:noFill/>
        </p:spPr>
        <p:txBody>
          <a:bodyPr wrap="square" lIns="0" rIns="0" tIns="0" bIns="0">
            <a:spAutoFit/>
          </a:bodyPr>
          <a:lstStyle/>
          <a:p>
            <a:pPr>
              <a:spcAft>
                <a:spcPts val="500"/>
              </a:spcAft>
              <a:defRPr sz="3000" b="1">
                <a:solidFill>
                  <a:srgbClr val="202D48"/>
                </a:solidFill>
                <a:latin typeface="Lato"/>
              </a:defRPr>
            </a:pPr>
            <a:r>
              <a:t>Identifying Fossil Pollen</a:t>
            </a:r>
          </a:p>
          <a:p>
            <a:pPr>
              <a:spcAft>
                <a:spcPts val="500"/>
              </a:spcAft>
              <a:defRPr sz="3000" b="1">
                <a:solidFill>
                  <a:srgbClr val="202D48"/>
                </a:solidFill>
                <a:latin typeface="Lato"/>
              </a:defRPr>
            </a:pPr>
            <a:r>
              <a:t>with Machine Learning</a:t>
            </a:r>
          </a:p>
        </p:txBody>
      </p:sp>
      <p:sp>
        <p:nvSpPr>
          <p:cNvPr id="11" name="TextBox 10"/>
          <p:cNvSpPr txBox="1"/>
          <p:nvPr/>
        </p:nvSpPr>
        <p:spPr>
          <a:xfrm>
            <a:off x="640080" y="2880360"/>
            <a:ext cx="5212080" cy="594360"/>
          </a:xfrm>
          <a:prstGeom prst="rect">
            <a:avLst/>
          </a:prstGeom>
          <a:noFill/>
        </p:spPr>
        <p:txBody>
          <a:bodyPr wrap="square" lIns="0" rIns="0" tIns="0" bIns="0">
            <a:spAutoFit/>
          </a:bodyPr>
          <a:lstStyle/>
          <a:p>
            <a:pPr>
              <a:spcAft>
                <a:spcPts val="500"/>
              </a:spcAft>
              <a:defRPr sz="1700" b="0">
                <a:solidFill>
                  <a:srgbClr val="596477"/>
                </a:solidFill>
                <a:latin typeface="Lato"/>
              </a:defRPr>
            </a:pPr>
            <a:r>
              <a:t>Help researchers identify fossil pollen</a:t>
            </a:r>
          </a:p>
          <a:p>
            <a:pPr>
              <a:spcAft>
                <a:spcPts val="500"/>
              </a:spcAft>
              <a:defRPr sz="1700" b="0">
                <a:solidFill>
                  <a:srgbClr val="596477"/>
                </a:solidFill>
                <a:latin typeface="Lato"/>
              </a:defRPr>
            </a:pPr>
            <a:r>
              <a:t>categories more efficiently.</a:t>
            </a:r>
          </a:p>
        </p:txBody>
      </p:sp>
      <p:pic>
        <p:nvPicPr>
          <p:cNvPr id="12" name="Picture 11" descr="shard_0_target_027_crop.png"/>
          <p:cNvPicPr>
            <a:picLocks noChangeAspect="1"/>
          </p:cNvPicPr>
          <p:nvPr/>
        </p:nvPicPr>
        <p:blipFill>
          <a:blip r:embed="rId2"/>
          <a:stretch>
            <a:fillRect/>
          </a:stretch>
        </p:blipFill>
        <p:spPr>
          <a:xfrm>
            <a:off x="6446520" y="1399032"/>
            <a:ext cx="2240280" cy="2240280"/>
          </a:xfrm>
          <a:prstGeom prst="rect">
            <a:avLst/>
          </a:prstGeom>
        </p:spPr>
      </p:pic>
      <p:sp>
        <p:nvSpPr>
          <p:cNvPr id="13" name="TextBox 12"/>
          <p:cNvSpPr txBox="1"/>
          <p:nvPr/>
        </p:nvSpPr>
        <p:spPr>
          <a:xfrm>
            <a:off x="640080" y="4096512"/>
            <a:ext cx="7955279" cy="365760"/>
          </a:xfrm>
          <a:prstGeom prst="rect">
            <a:avLst/>
          </a:prstGeom>
          <a:noFill/>
        </p:spPr>
        <p:txBody>
          <a:bodyPr wrap="square" lIns="0" rIns="0" tIns="0" bIns="0">
            <a:spAutoFit/>
          </a:bodyPr>
          <a:lstStyle/>
          <a:p>
            <a:pPr>
              <a:spcAft>
                <a:spcPts val="500"/>
              </a:spcAft>
              <a:defRPr sz="1200" b="0">
                <a:solidFill>
                  <a:srgbClr val="596477"/>
                </a:solidFill>
                <a:latin typeface="Lato"/>
              </a:defRPr>
            </a:pPr>
            <a:r>
              <a:t>Patrick Batsell · Yun Ying Tsai · Yeonju Kim · Yunfan Bao · Alan Yang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7472" y="265176"/>
            <a:ext cx="237744" cy="36576"/>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94944" y="182880"/>
            <a:ext cx="8092440" cy="182880"/>
          </a:xfrm>
          <a:prstGeom prst="rect">
            <a:avLst/>
          </a:prstGeom>
          <a:noFill/>
        </p:spPr>
        <p:txBody>
          <a:bodyPr wrap="square" lIns="0" rIns="0" tIns="0" bIns="0">
            <a:spAutoFit/>
          </a:bodyPr>
          <a:lstStyle/>
          <a:p>
            <a:pPr>
              <a:spcAft>
                <a:spcPts val="500"/>
              </a:spcAft>
              <a:defRPr sz="800" b="1">
                <a:solidFill>
                  <a:srgbClr val="93451F"/>
                </a:solidFill>
                <a:latin typeface="Lato"/>
              </a:defRPr>
            </a:pPr>
            <a:r>
              <a:t>10 / TAKE-HOME MESSAGE</a:t>
            </a:r>
          </a:p>
        </p:txBody>
      </p:sp>
      <p:sp>
        <p:nvSpPr>
          <p:cNvPr id="5" name="TextBox 4"/>
          <p:cNvSpPr txBox="1"/>
          <p:nvPr/>
        </p:nvSpPr>
        <p:spPr>
          <a:xfrm>
            <a:off x="347472" y="539496"/>
            <a:ext cx="8458200" cy="548640"/>
          </a:xfrm>
          <a:prstGeom prst="rect">
            <a:avLst/>
          </a:prstGeom>
          <a:noFill/>
        </p:spPr>
        <p:txBody>
          <a:bodyPr wrap="square" lIns="0" rIns="0" tIns="0" bIns="0">
            <a:spAutoFit/>
          </a:bodyPr>
          <a:lstStyle/>
          <a:p>
            <a:pPr>
              <a:spcAft>
                <a:spcPts val="500"/>
              </a:spcAft>
              <a:defRPr sz="2400" b="1">
                <a:solidFill>
                  <a:srgbClr val="202D48"/>
                </a:solidFill>
                <a:latin typeface="Lato"/>
              </a:defRPr>
            </a:pPr>
            <a:r>
              <a:t>Make fossil pollen collections easier to study</a:t>
            </a:r>
          </a:p>
        </p:txBody>
      </p:sp>
      <p:sp>
        <p:nvSpPr>
          <p:cNvPr id="6" name="Rectangle 5"/>
          <p:cNvSpPr/>
          <p:nvPr/>
        </p:nvSpPr>
        <p:spPr>
          <a:xfrm>
            <a:off x="347472" y="4809744"/>
            <a:ext cx="8458200" cy="8229"/>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7472" y="4901184"/>
            <a:ext cx="7909560" cy="164592"/>
          </a:xfrm>
          <a:prstGeom prst="rect">
            <a:avLst/>
          </a:prstGeom>
          <a:noFill/>
        </p:spPr>
        <p:txBody>
          <a:bodyPr wrap="square" lIns="0" rIns="0" tIns="0" bIns="0">
            <a:spAutoFit/>
          </a:bodyPr>
          <a:lstStyle/>
          <a:p>
            <a:pPr>
              <a:spcAft>
                <a:spcPts val="500"/>
              </a:spcAft>
              <a:defRPr sz="700" b="0">
                <a:solidFill>
                  <a:srgbClr val="596477"/>
                </a:solidFill>
                <a:latin typeface="Lato"/>
              </a:defRPr>
            </a:pPr>
            <a:r>
              <a:t>SMITHSONIAN × RICE D2K</a:t>
            </a:r>
          </a:p>
        </p:txBody>
      </p:sp>
      <p:sp>
        <p:nvSpPr>
          <p:cNvPr id="8" name="TextBox 7"/>
          <p:cNvSpPr txBox="1"/>
          <p:nvPr/>
        </p:nvSpPr>
        <p:spPr>
          <a:xfrm>
            <a:off x="8549640" y="4882896"/>
            <a:ext cx="274320" cy="182880"/>
          </a:xfrm>
          <a:prstGeom prst="rect">
            <a:avLst/>
          </a:prstGeom>
          <a:noFill/>
        </p:spPr>
        <p:txBody>
          <a:bodyPr wrap="square" lIns="0" rIns="0" tIns="0" bIns="0">
            <a:spAutoFit/>
          </a:bodyPr>
          <a:lstStyle/>
          <a:p>
            <a:pPr>
              <a:spcAft>
                <a:spcPts val="500"/>
              </a:spcAft>
              <a:defRPr sz="800" b="0">
                <a:solidFill>
                  <a:srgbClr val="596477"/>
                </a:solidFill>
                <a:latin typeface="Lato"/>
              </a:defRPr>
            </a:pPr>
            <a:r>
              <a:t>10</a:t>
            </a:r>
          </a:p>
        </p:txBody>
      </p:sp>
      <p:sp>
        <p:nvSpPr>
          <p:cNvPr id="9" name="TextBox 8"/>
          <p:cNvSpPr txBox="1"/>
          <p:nvPr/>
        </p:nvSpPr>
        <p:spPr>
          <a:xfrm>
            <a:off x="411480" y="1179576"/>
            <a:ext cx="8229600" cy="301752"/>
          </a:xfrm>
          <a:prstGeom prst="rect">
            <a:avLst/>
          </a:prstGeom>
          <a:noFill/>
        </p:spPr>
        <p:txBody>
          <a:bodyPr wrap="square" lIns="0" rIns="0" tIns="0" bIns="0">
            <a:spAutoFit/>
          </a:bodyPr>
          <a:lstStyle/>
          <a:p>
            <a:pPr>
              <a:spcAft>
                <a:spcPts val="500"/>
              </a:spcAft>
              <a:defRPr sz="1200" b="1">
                <a:solidFill>
                  <a:srgbClr val="93451F"/>
                </a:solidFill>
                <a:latin typeface="Lato"/>
              </a:defRPr>
            </a:pPr>
            <a:r>
              <a:t>INTENDED OUTPUT: LOCATED, LABELED SPECIMENS FOR EXPERT REVIEW</a:t>
            </a:r>
          </a:p>
        </p:txBody>
      </p:sp>
      <p:pic>
        <p:nvPicPr>
          <p:cNvPr id="10" name="Picture 9" descr="shard_0_target_027.png"/>
          <p:cNvPicPr>
            <a:picLocks noChangeAspect="1"/>
          </p:cNvPicPr>
          <p:nvPr/>
        </p:nvPicPr>
        <p:blipFill>
          <a:blip r:embed="rId2"/>
          <a:stretch>
            <a:fillRect/>
          </a:stretch>
        </p:blipFill>
        <p:spPr>
          <a:xfrm>
            <a:off x="530352" y="1810512"/>
            <a:ext cx="2148840" cy="2148840"/>
          </a:xfrm>
          <a:prstGeom prst="rect">
            <a:avLst/>
          </a:prstGeom>
        </p:spPr>
      </p:pic>
      <p:sp>
        <p:nvSpPr>
          <p:cNvPr id="11" name="Rectangle 10"/>
          <p:cNvSpPr/>
          <p:nvPr/>
        </p:nvSpPr>
        <p:spPr>
          <a:xfrm>
            <a:off x="1475242" y="2755950"/>
            <a:ext cx="259564" cy="259558"/>
          </a:xfrm>
          <a:prstGeom prst="rect">
            <a:avLst/>
          </a:prstGeom>
          <a:noFill/>
          <a:ln w="25400">
            <a:solidFill>
              <a:srgbClr val="9345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71216" y="2505456"/>
            <a:ext cx="411480" cy="365760"/>
          </a:xfrm>
          <a:prstGeom prst="rect">
            <a:avLst/>
          </a:prstGeom>
          <a:noFill/>
        </p:spPr>
        <p:txBody>
          <a:bodyPr wrap="square" lIns="0" rIns="0" tIns="0" bIns="0">
            <a:spAutoFit/>
          </a:bodyPr>
          <a:lstStyle/>
          <a:p>
            <a:pPr>
              <a:spcAft>
                <a:spcPts val="500"/>
              </a:spcAft>
              <a:defRPr sz="2400" b="1">
                <a:solidFill>
                  <a:srgbClr val="93451F"/>
                </a:solidFill>
                <a:latin typeface="Lato"/>
              </a:defRPr>
            </a:pPr>
            <a:r>
              <a:t>→</a:t>
            </a:r>
          </a:p>
        </p:txBody>
      </p:sp>
      <p:pic>
        <p:nvPicPr>
          <p:cNvPr id="13" name="Picture 12" descr="shard_0_target_027_crop.png"/>
          <p:cNvPicPr>
            <a:picLocks noChangeAspect="1"/>
          </p:cNvPicPr>
          <p:nvPr/>
        </p:nvPicPr>
        <p:blipFill>
          <a:blip r:embed="rId3"/>
          <a:stretch>
            <a:fillRect/>
          </a:stretch>
        </p:blipFill>
        <p:spPr>
          <a:xfrm>
            <a:off x="3529584" y="1874519"/>
            <a:ext cx="1664207" cy="1664207"/>
          </a:xfrm>
          <a:prstGeom prst="rect">
            <a:avLst/>
          </a:prstGeom>
        </p:spPr>
      </p:pic>
      <p:sp>
        <p:nvSpPr>
          <p:cNvPr id="14" name="TextBox 13"/>
          <p:cNvSpPr txBox="1"/>
          <p:nvPr/>
        </p:nvSpPr>
        <p:spPr>
          <a:xfrm>
            <a:off x="5596128" y="1938528"/>
            <a:ext cx="3154680" cy="676656"/>
          </a:xfrm>
          <a:prstGeom prst="rect">
            <a:avLst/>
          </a:prstGeom>
          <a:noFill/>
        </p:spPr>
        <p:txBody>
          <a:bodyPr wrap="square" lIns="0" rIns="0" tIns="0" bIns="0">
            <a:spAutoFit/>
          </a:bodyPr>
          <a:lstStyle/>
          <a:p>
            <a:pPr>
              <a:spcAft>
                <a:spcPts val="500"/>
              </a:spcAft>
              <a:defRPr sz="2100" b="1">
                <a:solidFill>
                  <a:srgbClr val="202D48"/>
                </a:solidFill>
                <a:latin typeface="Lato"/>
              </a:defRPr>
            </a:pPr>
            <a:r>
              <a:t>A suggested category</a:t>
            </a:r>
          </a:p>
          <a:p>
            <a:pPr>
              <a:spcAft>
                <a:spcPts val="500"/>
              </a:spcAft>
              <a:defRPr sz="2100" b="1">
                <a:solidFill>
                  <a:srgbClr val="202D48"/>
                </a:solidFill>
                <a:latin typeface="Lato"/>
              </a:defRPr>
            </a:pPr>
            <a:r>
              <a:t>for the expert to review</a:t>
            </a:r>
          </a:p>
        </p:txBody>
      </p:sp>
      <p:sp>
        <p:nvSpPr>
          <p:cNvPr id="15" name="TextBox 14"/>
          <p:cNvSpPr txBox="1"/>
          <p:nvPr/>
        </p:nvSpPr>
        <p:spPr>
          <a:xfrm>
            <a:off x="5596128" y="2980944"/>
            <a:ext cx="3108960" cy="502920"/>
          </a:xfrm>
          <a:prstGeom prst="rect">
            <a:avLst/>
          </a:prstGeom>
          <a:noFill/>
        </p:spPr>
        <p:txBody>
          <a:bodyPr wrap="square" lIns="0" rIns="0" tIns="0" bIns="0">
            <a:spAutoFit/>
          </a:bodyPr>
          <a:lstStyle/>
          <a:p>
            <a:pPr>
              <a:spcAft>
                <a:spcPts val="500"/>
              </a:spcAft>
              <a:defRPr sz="1500" b="0">
                <a:solidFill>
                  <a:srgbClr val="596477"/>
                </a:solidFill>
                <a:latin typeface="Lato"/>
              </a:defRPr>
            </a:pPr>
            <a:r>
              <a:t>Example: Bombacacidites sp.</a:t>
            </a:r>
          </a:p>
        </p:txBody>
      </p:sp>
      <p:sp>
        <p:nvSpPr>
          <p:cNvPr id="16" name="TextBox 15"/>
          <p:cNvSpPr txBox="1"/>
          <p:nvPr/>
        </p:nvSpPr>
        <p:spPr>
          <a:xfrm>
            <a:off x="3502152" y="3675887"/>
            <a:ext cx="5212080" cy="219456"/>
          </a:xfrm>
          <a:prstGeom prst="rect">
            <a:avLst/>
          </a:prstGeom>
          <a:noFill/>
        </p:spPr>
        <p:txBody>
          <a:bodyPr wrap="square" lIns="0" rIns="0" tIns="0" bIns="0">
            <a:spAutoFit/>
          </a:bodyPr>
          <a:lstStyle/>
          <a:p>
            <a:pPr>
              <a:spcAft>
                <a:spcPts val="500"/>
              </a:spcAft>
              <a:defRPr sz="1000" b="0">
                <a:solidFill>
                  <a:srgbClr val="596477"/>
                </a:solidFill>
                <a:latin typeface="Lato"/>
              </a:defRPr>
            </a:pPr>
            <a:r>
              <a:t>Illustration uses an expert label, not a model prediction.</a:t>
            </a:r>
          </a:p>
        </p:txBody>
      </p:sp>
      <p:sp>
        <p:nvSpPr>
          <p:cNvPr id="17" name="TextBox 16"/>
          <p:cNvSpPr txBox="1"/>
          <p:nvPr/>
        </p:nvSpPr>
        <p:spPr>
          <a:xfrm>
            <a:off x="411480" y="4206240"/>
            <a:ext cx="8321040" cy="338328"/>
          </a:xfrm>
          <a:prstGeom prst="rect">
            <a:avLst/>
          </a:prstGeom>
          <a:noFill/>
        </p:spPr>
        <p:txBody>
          <a:bodyPr wrap="square" lIns="0" rIns="0" tIns="0" bIns="0">
            <a:spAutoFit/>
          </a:bodyPr>
          <a:lstStyle/>
          <a:p>
            <a:pPr>
              <a:spcAft>
                <a:spcPts val="500"/>
              </a:spcAft>
              <a:defRPr sz="1700" b="1">
                <a:solidFill>
                  <a:srgbClr val="93451F"/>
                </a:solidFill>
                <a:latin typeface="Lato"/>
              </a:defRPr>
            </a:pPr>
            <a:r>
              <a:t>Less manual identification. More evidence about past vegetation.</a:t>
            </a:r>
          </a:p>
        </p:txBody>
      </p:sp>
      <p:sp>
        <p:nvSpPr>
          <p:cNvPr id="18" name="TextBox 17"/>
          <p:cNvSpPr txBox="1"/>
          <p:nvPr/>
        </p:nvSpPr>
        <p:spPr>
          <a:xfrm>
            <a:off x="411480" y="4581144"/>
            <a:ext cx="8321040" cy="182880"/>
          </a:xfrm>
          <a:prstGeom prst="rect">
            <a:avLst/>
          </a:prstGeom>
          <a:noFill/>
        </p:spPr>
        <p:txBody>
          <a:bodyPr wrap="square" lIns="0" rIns="0" tIns="0" bIns="0">
            <a:spAutoFit/>
          </a:bodyPr>
          <a:lstStyle/>
          <a:p>
            <a:pPr>
              <a:spcAft>
                <a:spcPts val="500"/>
              </a:spcAft>
              <a:defRPr sz="1100" b="0">
                <a:solidFill>
                  <a:srgbClr val="596477"/>
                </a:solidFill>
                <a:latin typeface="Lato"/>
              </a:defRPr>
            </a:pPr>
            <a:r>
              <a:t>NEXT: prepare crops → train both approaches → compare their errors</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